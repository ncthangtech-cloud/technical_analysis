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theme/themeOverride1.xml" ContentType="application/vnd.openxmlformats-officedocument.themeOverrid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7.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6.xml" ContentType="application/vnd.openxmlformats-officedocument.presentationml.notesSlid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7.xml" ContentType="application/vnd.openxmlformats-officedocument.presentationml.notesSlid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8.xml" ContentType="application/vnd.openxmlformats-officedocument.presentationml.notesSlid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drawings/drawing1.xml" ContentType="application/vnd.openxmlformats-officedocument.drawingml.chartshapes+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charts/chart13.xml" ContentType="application/vnd.openxmlformats-officedocument.drawingml.chart+xml"/>
  <Override PartName="/ppt/charts/style8.xml" ContentType="application/vnd.ms-office.chartstyle+xml"/>
  <Override PartName="/ppt/charts/colors8.xml" ContentType="application/vnd.ms-office.chartcolorstyle+xml"/>
  <Override PartName="/ppt/drawings/drawing2.xml" ContentType="application/vnd.openxmlformats-officedocument.drawingml.chartshapes+xml"/>
  <Override PartName="/ppt/charts/chart14.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15.xml" ContentType="application/vnd.openxmlformats-officedocument.drawingml.chart+xml"/>
  <Override PartName="/ppt/notesSlides/notesSlide36.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2.xml" ContentType="application/vnd.openxmlformats-officedocument.themeOverride+xml"/>
  <Override PartName="/ppt/notesSlides/notesSlide37.xml" ContentType="application/vnd.openxmlformats-officedocument.presentationml.notesSlide+xml"/>
  <Override PartName="/ppt/charts/chart17.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3.xml" ContentType="application/vnd.openxmlformats-officedocument.themeOverride+xml"/>
  <Override PartName="/ppt/notesSlides/notesSlide38.xml" ContentType="application/vnd.openxmlformats-officedocument.presentationml.notesSlide+xml"/>
  <Override PartName="/ppt/charts/chart18.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4.xml" ContentType="application/vnd.openxmlformats-officedocument.themeOverride+xml"/>
  <Override PartName="/ppt/notesSlides/notesSlide39.xml" ContentType="application/vnd.openxmlformats-officedocument.presentationml.notesSlide+xml"/>
  <Override PartName="/ppt/charts/chart19.xml" ContentType="application/vnd.openxmlformats-officedocument.drawingml.chart+xml"/>
  <Override PartName="/ppt/charts/style13.xml" ContentType="application/vnd.ms-office.chartstyle+xml"/>
  <Override PartName="/ppt/charts/colors13.xml" ContentType="application/vnd.ms-office.chartcolorstyle+xml"/>
  <Override PartName="/ppt/theme/themeOverride5.xml" ContentType="application/vnd.openxmlformats-officedocument.themeOverr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 id="2147483676" r:id="rId5"/>
    <p:sldMasterId id="2147483678" r:id="rId6"/>
    <p:sldMasterId id="2147483688" r:id="rId7"/>
  </p:sldMasterIdLst>
  <p:notesMasterIdLst>
    <p:notesMasterId r:id="rId81"/>
  </p:notesMasterIdLst>
  <p:sldIdLst>
    <p:sldId id="11485" r:id="rId8"/>
    <p:sldId id="3997" r:id="rId9"/>
    <p:sldId id="3793" r:id="rId10"/>
    <p:sldId id="11837" r:id="rId11"/>
    <p:sldId id="11705" r:id="rId12"/>
    <p:sldId id="11750" r:id="rId13"/>
    <p:sldId id="11838" r:id="rId14"/>
    <p:sldId id="11839" r:id="rId15"/>
    <p:sldId id="11840" r:id="rId16"/>
    <p:sldId id="10903" r:id="rId17"/>
    <p:sldId id="11841" r:id="rId18"/>
    <p:sldId id="11871" r:id="rId19"/>
    <p:sldId id="11842" r:id="rId20"/>
    <p:sldId id="11863" r:id="rId21"/>
    <p:sldId id="11872" r:id="rId22"/>
    <p:sldId id="11843" r:id="rId23"/>
    <p:sldId id="11865" r:id="rId24"/>
    <p:sldId id="11866" r:id="rId25"/>
    <p:sldId id="11867" r:id="rId26"/>
    <p:sldId id="11844" r:id="rId27"/>
    <p:sldId id="11845" r:id="rId28"/>
    <p:sldId id="11846" r:id="rId29"/>
    <p:sldId id="11847" r:id="rId30"/>
    <p:sldId id="11848" r:id="rId31"/>
    <p:sldId id="11849" r:id="rId32"/>
    <p:sldId id="11850" r:id="rId33"/>
    <p:sldId id="11851" r:id="rId34"/>
    <p:sldId id="11852" r:id="rId35"/>
    <p:sldId id="11853" r:id="rId36"/>
    <p:sldId id="11854" r:id="rId37"/>
    <p:sldId id="11855" r:id="rId38"/>
    <p:sldId id="11856" r:id="rId39"/>
    <p:sldId id="11857" r:id="rId40"/>
    <p:sldId id="11858" r:id="rId41"/>
    <p:sldId id="11859" r:id="rId42"/>
    <p:sldId id="11860" r:id="rId43"/>
    <p:sldId id="11861" r:id="rId44"/>
    <p:sldId id="11862" r:id="rId45"/>
    <p:sldId id="11868" r:id="rId46"/>
    <p:sldId id="11869" r:id="rId47"/>
    <p:sldId id="11870" r:id="rId48"/>
    <p:sldId id="11834" r:id="rId49"/>
    <p:sldId id="11835" r:id="rId50"/>
    <p:sldId id="11836" r:id="rId51"/>
    <p:sldId id="11808" r:id="rId52"/>
    <p:sldId id="8509" r:id="rId53"/>
    <p:sldId id="11809" r:id="rId54"/>
    <p:sldId id="11810" r:id="rId55"/>
    <p:sldId id="11811" r:id="rId56"/>
    <p:sldId id="11752" r:id="rId57"/>
    <p:sldId id="11812" r:id="rId58"/>
    <p:sldId id="11813" r:id="rId59"/>
    <p:sldId id="11814" r:id="rId60"/>
    <p:sldId id="11815" r:id="rId61"/>
    <p:sldId id="11816" r:id="rId62"/>
    <p:sldId id="11817" r:id="rId63"/>
    <p:sldId id="11818" r:id="rId64"/>
    <p:sldId id="11819" r:id="rId65"/>
    <p:sldId id="11820" r:id="rId66"/>
    <p:sldId id="11821" r:id="rId67"/>
    <p:sldId id="11822" r:id="rId68"/>
    <p:sldId id="11823" r:id="rId69"/>
    <p:sldId id="11824" r:id="rId70"/>
    <p:sldId id="11825" r:id="rId71"/>
    <p:sldId id="11826" r:id="rId72"/>
    <p:sldId id="11827" r:id="rId73"/>
    <p:sldId id="11828" r:id="rId74"/>
    <p:sldId id="11829" r:id="rId75"/>
    <p:sldId id="11830" r:id="rId76"/>
    <p:sldId id="11831" r:id="rId77"/>
    <p:sldId id="11832" r:id="rId78"/>
    <p:sldId id="11833" r:id="rId79"/>
    <p:sldId id="11486" r:id="rId80"/>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E"/>
    <a:srgbClr val="FFFF00"/>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499" autoAdjust="0"/>
    <p:restoredTop sz="95461" autoAdjust="0"/>
  </p:normalViewPr>
  <p:slideViewPr>
    <p:cSldViewPr>
      <p:cViewPr varScale="1">
        <p:scale>
          <a:sx n="83" d="100"/>
          <a:sy n="83" d="100"/>
        </p:scale>
        <p:origin x="86" y="48"/>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viewProps" Target="viewProps.xml"/><Relationship Id="rId16" Type="http://schemas.openxmlformats.org/officeDocument/2006/relationships/slide" Target="slides/slide9.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slide" Target="slides/slide72.xml"/><Relationship Id="rId5" Type="http://schemas.openxmlformats.org/officeDocument/2006/relationships/slideMaster" Target="slideMasters/slideMaster2.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openxmlformats.org/officeDocument/2006/relationships/slide" Target="slides/slide70.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80" Type="http://schemas.openxmlformats.org/officeDocument/2006/relationships/slide" Target="slides/slide73.xml"/><Relationship Id="rId85"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83"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slide" Target="slides/slide71.xml"/><Relationship Id="rId81"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7" Type="http://schemas.openxmlformats.org/officeDocument/2006/relationships/slideMaster" Target="slideMasters/slideMaster4.xml"/><Relationship Id="rId71" Type="http://schemas.openxmlformats.org/officeDocument/2006/relationships/slide" Target="slides/slide64.xml"/><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61" Type="http://schemas.openxmlformats.org/officeDocument/2006/relationships/slide" Target="slides/slide54.xml"/><Relationship Id="rId82"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01\W01%20(30.12.2024-05.01.2025).xlsx" TargetMode="External"/></Relationships>
</file>

<file path=ppt/charts/_rels/chart2.xml.rels><?xml version="1.0" encoding="UTF-8" standalone="yes"?>
<Relationships xmlns="http://schemas.openxmlformats.org/package/2006/relationships"><Relationship Id="rId3" Type="http://schemas.openxmlformats.org/officeDocument/2006/relationships/oleObject" Target="file:///D:\Documents\01.%20VNA\01.%20MOC\02.%20C&#244;ng%20vi&#7879;c%20chung\03.%20B&#225;o%20c&#225;o%20tu&#7847;n\2025%20W01\W01%20(30.12.2024-05.01.2025).xlsx"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2" Type="http://schemas.openxmlformats.org/officeDocument/2006/relationships/oleObject" Target="file:///D:\Documents\01.%20VNA\01.%20MOC\02.%20C&#244;ng%20vi&#7879;c%20chung\03.%20B&#225;o%20c&#225;o%20tu&#7847;n\2025%20W01\W01%20(30.12.2024-05.01.2025).xlsx" TargetMode="External"/><Relationship Id="rId1" Type="http://schemas.openxmlformats.org/officeDocument/2006/relationships/themeOverride" Target="../theme/themeOverride1.xml"/></Relationships>
</file>

<file path=ppt/charts/_rels/chart4.xml.rels><?xml version="1.0" encoding="UTF-8" standalone="yes"?>
<Relationships xmlns="http://schemas.openxmlformats.org/package/2006/relationships"><Relationship Id="rId3" Type="http://schemas.openxmlformats.org/officeDocument/2006/relationships/oleObject" Target="file:///D:\Documents\01.%20VNA\01.%20MOC\02.%20C&#244;ng%20vi&#7879;c%20chung\03.%20B&#225;o%20c&#225;o%20tu&#7847;n\2025%20W01\W01%20(30.12.2024-05.01.2025).xlsx" TargetMode="External"/><Relationship Id="rId2" Type="http://schemas.microsoft.com/office/2011/relationships/chartColorStyle" Target="colors2.xml"/><Relationship Id="rId1" Type="http://schemas.microsoft.com/office/2011/relationships/chartStyle" Target="style2.xml"/></Relationships>
</file>

<file path=ppt/charts/_rels/chart5.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01\W01%20(30.12.2024-05.01.2025).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01\W01%20(30.12.2024-05.01.2025).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D:\GOOGLE%20DRIVE-cty\BAO%20CAO%20DO%20TIN%20CAY\BAO%20CAO%20TUAN\BC%20chu%20nhat\2025\01\DR\DR-W01.xlsx" TargetMode="Externa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chartUserShapes" Target="../drawings/drawing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chartUserShapes" Target="../drawings/drawing2.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9.xml"/><Relationship Id="rId1" Type="http://schemas.microsoft.com/office/2011/relationships/chartStyle" Target="style9.xml"/></Relationships>
</file>

<file path=ppt/charts/_rels/chart15.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01\W01%20(30.12.2024-05.01.2025).xlsx" TargetMode="Externa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tu&#7847;n%202024.xlsx" TargetMode="External"/></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file:///D:\P.MOC\B&#225;o%20c&#225;o%20tu&#7847;n\L&#7883;ch%20bay%20h&#224;ng%20tu&#7847;n%202024.xlsx" TargetMode="External"/></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oleObject" Target="file:///D:\P.MOC\B&#225;o%20c&#225;o%20tu&#7847;n\L&#7883;ch%20bay%20h&#224;ng%20tu&#7847;n%202024.xlsx" TargetMode="External"/></Relationships>
</file>

<file path=ppt/charts/_rels/chart19.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13.xml"/><Relationship Id="rId1" Type="http://schemas.microsoft.com/office/2011/relationships/chartStyle" Target="style13.xml"/><Relationship Id="rId4" Type="http://schemas.openxmlformats.org/officeDocument/2006/relationships/oleObject" Target="file:///D:\P.MOC\B&#225;o%20c&#225;o%20tu&#7847;n\L&#7883;ch%20bay%20h&#224;ng%20tu&#7847;n%202024.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'[W01 (30.12.2024-05.01.2025).xlsx]Data Chart'!$C$19</c:f>
              <c:strCache>
                <c:ptCount val="1"/>
                <c:pt idx="0">
                  <c:v>Last week</c:v>
                </c:pt>
              </c:strCache>
              <c:extLst xmlns:c15="http://schemas.microsoft.com/office/drawing/2012/chart"/>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'[W01 (30.12.2024-05.01.2025).xlsx]Data Chart'!$B$20:$B$25</c:f>
              <c:strCache>
                <c:ptCount val="6"/>
                <c:pt idx="0">
                  <c:v>A320</c:v>
                </c:pt>
                <c:pt idx="1">
                  <c:v>A321</c:v>
                </c:pt>
                <c:pt idx="2">
                  <c:v>A350</c:v>
                </c:pt>
                <c:pt idx="3">
                  <c:v>B787</c:v>
                </c:pt>
                <c:pt idx="4">
                  <c:v>ATR72</c:v>
                </c:pt>
                <c:pt idx="5">
                  <c:v>Tất cả</c:v>
                </c:pt>
              </c:strCache>
              <c:extLst xmlns:c15="http://schemas.microsoft.com/office/drawing/2012/chart"/>
            </c:strRef>
          </c:cat>
          <c:val>
            <c:numRef>
              <c:f>'[W01 (30.12.2024-05.01.2025).xlsx]Data Chart'!$C$20:$C$25</c:f>
              <c:numCache>
                <c:formatCode>General</c:formatCode>
                <c:ptCount val="6"/>
                <c:pt idx="0">
                  <c:v>0</c:v>
                </c:pt>
                <c:pt idx="1">
                  <c:v>0</c:v>
                </c:pt>
                <c:pt idx="2">
                  <c:v>0</c:v>
                </c:pt>
                <c:pt idx="3">
                  <c:v>1</c:v>
                </c:pt>
                <c:pt idx="4">
                  <c:v>0</c:v>
                </c:pt>
                <c:pt idx="5">
                  <c:v>1</c:v>
                </c:pt>
              </c:numCache>
              <c:extLst xmlns:c15="http://schemas.microsoft.com/office/drawing/2012/chart"/>
            </c:numRef>
          </c:val>
          <c:extLst xmlns:c15="http://schemas.microsoft.com/office/drawing/2012/chart">
            <c:ext xmlns:c16="http://schemas.microsoft.com/office/drawing/2014/chart" uri="{C3380CC4-5D6E-409C-BE32-E72D297353CC}">
              <c16:uniqueId val="{00000000-D852-43B7-8E8B-0FE9CF7C236D}"/>
            </c:ext>
          </c:extLst>
        </c:ser>
        <c:ser>
          <c:idx val="1"/>
          <c:order val="1"/>
          <c:tx>
            <c:strRef>
              <c:f>'[W01 (30.12.2024-05.01.2025).xlsx]Data Chart'!$D$19</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'[W01 (30.12.2024-05.01.2025).xlsx]Data Chart'!$B$20:$B$25</c:f>
              <c:strCache>
                <c:ptCount val="6"/>
                <c:pt idx="0">
                  <c:v>A320</c:v>
                </c:pt>
                <c:pt idx="1">
                  <c:v>A321</c:v>
                </c:pt>
                <c:pt idx="2">
                  <c:v>A350</c:v>
                </c:pt>
                <c:pt idx="3">
                  <c:v>B787</c:v>
                </c:pt>
                <c:pt idx="4">
                  <c:v>ATR72</c:v>
                </c:pt>
                <c:pt idx="5">
                  <c:v>Tất cả</c:v>
                </c:pt>
              </c:strCache>
            </c:strRef>
          </c:cat>
          <c:val>
            <c:numRef>
              <c:f>'[W01 (30.12.2024-05.01.2025).xlsx]Data Chart'!$D$20:$D$25</c:f>
              <c:numCache>
                <c:formatCode>General</c:formatCode>
                <c:ptCount val="6"/>
                <c:pt idx="0">
                  <c:v>0</c:v>
                </c:pt>
                <c:pt idx="1">
                  <c:v>0</c:v>
                </c:pt>
                <c:pt idx="2">
                  <c:v>0</c:v>
                </c:pt>
                <c:pt idx="3">
                  <c:v>0</c:v>
                </c:pt>
                <c:pt idx="4">
                  <c:v>1</c:v>
                </c:pt>
                <c:pt idx="5">
                  <c:v>1</c:v>
                </c:pt>
              </c:numCache>
            </c:numRef>
          </c:val>
          <c:extLst>
            <c:ext xmlns:c16="http://schemas.microsoft.com/office/drawing/2014/chart" uri="{C3380CC4-5D6E-409C-BE32-E72D297353CC}">
              <c16:uniqueId val="{00000001-D852-43B7-8E8B-0FE9CF7C236D}"/>
            </c:ext>
          </c:extLst>
        </c:ser>
        <c:dLbls>
          <c:showLegendKey val="0"/>
          <c:showVal val="0"/>
          <c:showCatName val="0"/>
          <c:showSerName val="0"/>
          <c:showPercent val="0"/>
          <c:showBubbleSize val="0"/>
        </c:dLbls>
        <c:gapWidth val="219"/>
        <c:overlap val="-27"/>
        <c:axId val="355845984"/>
        <c:axId val="355849904"/>
        <c:extLst/>
      </c:barChart>
      <c:catAx>
        <c:axId val="3558459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55849904"/>
        <c:crosses val="autoZero"/>
        <c:auto val="1"/>
        <c:lblAlgn val="ctr"/>
        <c:lblOffset val="100"/>
        <c:noMultiLvlLbl val="0"/>
      </c:catAx>
      <c:valAx>
        <c:axId val="3558499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55845984"/>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'[W01 (30.12.2024-05.01.2025).xlsx]Data Chart'!$C$26</c:f>
              <c:strCache>
                <c:ptCount val="1"/>
                <c:pt idx="0">
                  <c:v>Last week</c:v>
                </c:pt>
              </c:strCache>
              <c:extLst xmlns:c15="http://schemas.microsoft.com/office/drawing/2012/chart"/>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'[W01 (30.12.2024-05.01.2025).xlsx]Data Chart'!$B$27:$B$32</c:f>
              <c:strCache>
                <c:ptCount val="6"/>
                <c:pt idx="0">
                  <c:v>A320</c:v>
                </c:pt>
                <c:pt idx="1">
                  <c:v>A321</c:v>
                </c:pt>
                <c:pt idx="2">
                  <c:v>A350</c:v>
                </c:pt>
                <c:pt idx="3">
                  <c:v>B787</c:v>
                </c:pt>
                <c:pt idx="4">
                  <c:v>ATR72</c:v>
                </c:pt>
                <c:pt idx="5">
                  <c:v>Tất cả</c:v>
                </c:pt>
              </c:strCache>
              <c:extLst xmlns:c15="http://schemas.microsoft.com/office/drawing/2012/chart"/>
            </c:strRef>
          </c:cat>
          <c:val>
            <c:numRef>
              <c:f>'[W01 (30.12.2024-05.01.2025).xlsx]Data Chart'!$C$27:$C$32</c:f>
              <c:numCache>
                <c:formatCode>General</c:formatCode>
                <c:ptCount val="6"/>
                <c:pt idx="0">
                  <c:v>0</c:v>
                </c:pt>
                <c:pt idx="1">
                  <c:v>0</c:v>
                </c:pt>
                <c:pt idx="2">
                  <c:v>0</c:v>
                </c:pt>
                <c:pt idx="3">
                  <c:v>0</c:v>
                </c:pt>
                <c:pt idx="4">
                  <c:v>0</c:v>
                </c:pt>
                <c:pt idx="5">
                  <c:v>0</c:v>
                </c:pt>
              </c:numCache>
              <c:extLst xmlns:c15="http://schemas.microsoft.com/office/drawing/2012/chart"/>
            </c:numRef>
          </c:val>
          <c:extLst xmlns:c15="http://schemas.microsoft.com/office/drawing/2012/chart">
            <c:ext xmlns:c16="http://schemas.microsoft.com/office/drawing/2014/chart" uri="{C3380CC4-5D6E-409C-BE32-E72D297353CC}">
              <c16:uniqueId val="{00000000-475C-4382-A351-CFB4CD7FD949}"/>
            </c:ext>
          </c:extLst>
        </c:ser>
        <c:ser>
          <c:idx val="1"/>
          <c:order val="1"/>
          <c:tx>
            <c:strRef>
              <c:f>'[W01 (30.12.2024-05.01.2025).xlsx]Data Chart'!$D$26</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'[W01 (30.12.2024-05.01.2025).xlsx]Data Chart'!$B$27:$B$32</c:f>
              <c:strCache>
                <c:ptCount val="6"/>
                <c:pt idx="0">
                  <c:v>A320</c:v>
                </c:pt>
                <c:pt idx="1">
                  <c:v>A321</c:v>
                </c:pt>
                <c:pt idx="2">
                  <c:v>A350</c:v>
                </c:pt>
                <c:pt idx="3">
                  <c:v>B787</c:v>
                </c:pt>
                <c:pt idx="4">
                  <c:v>ATR72</c:v>
                </c:pt>
                <c:pt idx="5">
                  <c:v>Tất cả</c:v>
                </c:pt>
              </c:strCache>
            </c:strRef>
          </c:cat>
          <c:val>
            <c:numRef>
              <c:f>'[W01 (30.12.2024-05.01.2025).xlsx]Data Chart'!$D$27:$D$32</c:f>
              <c:numCache>
                <c:formatCode>General</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1-475C-4382-A351-CFB4CD7FD949}"/>
            </c:ext>
          </c:extLst>
        </c:ser>
        <c:dLbls>
          <c:showLegendKey val="0"/>
          <c:showVal val="0"/>
          <c:showCatName val="0"/>
          <c:showSerName val="0"/>
          <c:showPercent val="0"/>
          <c:showBubbleSize val="0"/>
        </c:dLbls>
        <c:gapWidth val="219"/>
        <c:overlap val="-27"/>
        <c:axId val="352122664"/>
        <c:axId val="352127368"/>
        <c:extLst/>
      </c:barChart>
      <c:catAx>
        <c:axId val="352122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52127368"/>
        <c:crosses val="autoZero"/>
        <c:auto val="1"/>
        <c:lblAlgn val="ctr"/>
        <c:lblOffset val="100"/>
        <c:noMultiLvlLbl val="0"/>
      </c:catAx>
      <c:valAx>
        <c:axId val="3521273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52122664"/>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12700" cap="flat" cmpd="sng" algn="ctr">
      <a:solidFill>
        <a:schemeClr val="tx1"/>
      </a:solid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'Data Chart'!$C$9</c:f>
              <c:strCache>
                <c:ptCount val="1"/>
                <c:pt idx="0">
                  <c:v>Last week</c:v>
                </c:pt>
              </c:strCache>
              <c:extLst xmlns:c15="http://schemas.microsoft.com/office/drawing/2012/chart"/>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Chart'!$B$10:$B$15</c:f>
              <c:strCache>
                <c:ptCount val="6"/>
                <c:pt idx="0">
                  <c:v>A320</c:v>
                </c:pt>
                <c:pt idx="1">
                  <c:v>A321</c:v>
                </c:pt>
                <c:pt idx="2">
                  <c:v>A350</c:v>
                </c:pt>
                <c:pt idx="3">
                  <c:v>B787</c:v>
                </c:pt>
                <c:pt idx="4">
                  <c:v>ATR72</c:v>
                </c:pt>
                <c:pt idx="5">
                  <c:v>Tất cả</c:v>
                </c:pt>
              </c:strCache>
              <c:extLst xmlns:c15="http://schemas.microsoft.com/office/drawing/2012/chart"/>
            </c:strRef>
          </c:cat>
          <c:val>
            <c:numRef>
              <c:f>'Data Chart'!$C$10:$C$15</c:f>
              <c:numCache>
                <c:formatCode>General</c:formatCode>
                <c:ptCount val="6"/>
                <c:pt idx="0">
                  <c:v>1</c:v>
                </c:pt>
                <c:pt idx="1">
                  <c:v>3</c:v>
                </c:pt>
                <c:pt idx="2">
                  <c:v>0</c:v>
                </c:pt>
                <c:pt idx="3">
                  <c:v>3</c:v>
                </c:pt>
                <c:pt idx="4">
                  <c:v>0</c:v>
                </c:pt>
                <c:pt idx="5">
                  <c:v>7</c:v>
                </c:pt>
              </c:numCache>
              <c:extLst xmlns:c15="http://schemas.microsoft.com/office/drawing/2012/chart"/>
            </c:numRef>
          </c:val>
          <c:extLst xmlns:c15="http://schemas.microsoft.com/office/drawing/2012/chart">
            <c:ext xmlns:c16="http://schemas.microsoft.com/office/drawing/2014/chart" uri="{C3380CC4-5D6E-409C-BE32-E72D297353CC}">
              <c16:uniqueId val="{00000000-34D4-4B91-A3C5-9E32EE089F65}"/>
            </c:ext>
          </c:extLst>
        </c:ser>
        <c:ser>
          <c:idx val="1"/>
          <c:order val="1"/>
          <c:tx>
            <c:strRef>
              <c:f>'Data Chart'!$D$9</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Chart'!$B$10:$B$15</c:f>
              <c:strCache>
                <c:ptCount val="6"/>
                <c:pt idx="0">
                  <c:v>A320</c:v>
                </c:pt>
                <c:pt idx="1">
                  <c:v>A321</c:v>
                </c:pt>
                <c:pt idx="2">
                  <c:v>A350</c:v>
                </c:pt>
                <c:pt idx="3">
                  <c:v>B787</c:v>
                </c:pt>
                <c:pt idx="4">
                  <c:v>ATR72</c:v>
                </c:pt>
                <c:pt idx="5">
                  <c:v>Tất cả</c:v>
                </c:pt>
              </c:strCache>
            </c:strRef>
          </c:cat>
          <c:val>
            <c:numRef>
              <c:f>'Data Chart'!$D$10:$D$15</c:f>
              <c:numCache>
                <c:formatCode>General</c:formatCode>
                <c:ptCount val="6"/>
                <c:pt idx="0">
                  <c:v>0</c:v>
                </c:pt>
                <c:pt idx="1">
                  <c:v>5</c:v>
                </c:pt>
                <c:pt idx="2">
                  <c:v>1</c:v>
                </c:pt>
                <c:pt idx="3">
                  <c:v>1</c:v>
                </c:pt>
                <c:pt idx="4">
                  <c:v>0</c:v>
                </c:pt>
                <c:pt idx="5">
                  <c:v>7</c:v>
                </c:pt>
              </c:numCache>
            </c:numRef>
          </c:val>
          <c:extLst>
            <c:ext xmlns:c16="http://schemas.microsoft.com/office/drawing/2014/chart" uri="{C3380CC4-5D6E-409C-BE32-E72D297353CC}">
              <c16:uniqueId val="{00000001-34D4-4B91-A3C5-9E32EE089F65}"/>
            </c:ext>
          </c:extLst>
        </c:ser>
        <c:dLbls>
          <c:dLblPos val="outEnd"/>
          <c:showLegendKey val="0"/>
          <c:showVal val="1"/>
          <c:showCatName val="0"/>
          <c:showSerName val="0"/>
          <c:showPercent val="0"/>
          <c:showBubbleSize val="0"/>
        </c:dLbls>
        <c:gapWidth val="219"/>
        <c:overlap val="-27"/>
        <c:axId val="355849120"/>
        <c:axId val="355846376"/>
        <c:extLst/>
      </c:barChart>
      <c:catAx>
        <c:axId val="35584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55846376"/>
        <c:crosses val="autoZero"/>
        <c:auto val="1"/>
        <c:lblAlgn val="ctr"/>
        <c:lblOffset val="100"/>
        <c:noMultiLvlLbl val="0"/>
      </c:catAx>
      <c:valAx>
        <c:axId val="3558463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55849120"/>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Chart'!$C$1</c:f>
              <c:strCache>
                <c:ptCount val="1"/>
                <c:pt idx="0">
                  <c:v>Last week</c:v>
                </c:pt>
              </c:strCache>
              <c:extLst xmlns:c15="http://schemas.microsoft.com/office/drawing/2012/chart"/>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Chart'!$B$2:$B$7</c:f>
              <c:strCache>
                <c:ptCount val="6"/>
                <c:pt idx="0">
                  <c:v>A320</c:v>
                </c:pt>
                <c:pt idx="1">
                  <c:v>A321</c:v>
                </c:pt>
                <c:pt idx="2">
                  <c:v>A350</c:v>
                </c:pt>
                <c:pt idx="3">
                  <c:v>B787</c:v>
                </c:pt>
                <c:pt idx="4">
                  <c:v>ATR72</c:v>
                </c:pt>
                <c:pt idx="5">
                  <c:v>Tất cả</c:v>
                </c:pt>
              </c:strCache>
              <c:extLst xmlns:c15="http://schemas.microsoft.com/office/drawing/2012/chart"/>
            </c:strRef>
          </c:cat>
          <c:val>
            <c:numRef>
              <c:f>'Data Chart'!$C$2:$C$7</c:f>
              <c:numCache>
                <c:formatCode>General</c:formatCode>
                <c:ptCount val="6"/>
                <c:pt idx="0">
                  <c:v>0</c:v>
                </c:pt>
                <c:pt idx="1">
                  <c:v>0</c:v>
                </c:pt>
                <c:pt idx="2">
                  <c:v>0</c:v>
                </c:pt>
                <c:pt idx="3">
                  <c:v>1</c:v>
                </c:pt>
                <c:pt idx="4">
                  <c:v>0</c:v>
                </c:pt>
                <c:pt idx="5">
                  <c:v>1</c:v>
                </c:pt>
              </c:numCache>
              <c:extLst xmlns:c15="http://schemas.microsoft.com/office/drawing/2012/chart"/>
            </c:numRef>
          </c:val>
          <c:extLst xmlns:c15="http://schemas.microsoft.com/office/drawing/2012/chart">
            <c:ext xmlns:c16="http://schemas.microsoft.com/office/drawing/2014/chart" uri="{C3380CC4-5D6E-409C-BE32-E72D297353CC}">
              <c16:uniqueId val="{00000000-DB3D-491E-88F8-211CC2D678FF}"/>
            </c:ext>
          </c:extLst>
        </c:ser>
        <c:ser>
          <c:idx val="1"/>
          <c:order val="1"/>
          <c:tx>
            <c:strRef>
              <c:f>'Data Chart'!$D$1</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Chart'!$B$2:$B$7</c:f>
              <c:strCache>
                <c:ptCount val="6"/>
                <c:pt idx="0">
                  <c:v>A320</c:v>
                </c:pt>
                <c:pt idx="1">
                  <c:v>A321</c:v>
                </c:pt>
                <c:pt idx="2">
                  <c:v>A350</c:v>
                </c:pt>
                <c:pt idx="3">
                  <c:v>B787</c:v>
                </c:pt>
                <c:pt idx="4">
                  <c:v>ATR72</c:v>
                </c:pt>
                <c:pt idx="5">
                  <c:v>Tất cả</c:v>
                </c:pt>
              </c:strCache>
            </c:strRef>
          </c:cat>
          <c:val>
            <c:numRef>
              <c:f>'Data Chart'!$D$2:$D$7</c:f>
              <c:numCache>
                <c:formatCode>General</c:formatCode>
                <c:ptCount val="6"/>
                <c:pt idx="0">
                  <c:v>0</c:v>
                </c:pt>
                <c:pt idx="1">
                  <c:v>1</c:v>
                </c:pt>
                <c:pt idx="2">
                  <c:v>2</c:v>
                </c:pt>
                <c:pt idx="3">
                  <c:v>1</c:v>
                </c:pt>
                <c:pt idx="4">
                  <c:v>1</c:v>
                </c:pt>
                <c:pt idx="5">
                  <c:v>5</c:v>
                </c:pt>
              </c:numCache>
            </c:numRef>
          </c:val>
          <c:extLst>
            <c:ext xmlns:c16="http://schemas.microsoft.com/office/drawing/2014/chart" uri="{C3380CC4-5D6E-409C-BE32-E72D297353CC}">
              <c16:uniqueId val="{00000001-DB3D-491E-88F8-211CC2D678FF}"/>
            </c:ext>
          </c:extLst>
        </c:ser>
        <c:dLbls>
          <c:dLblPos val="outEnd"/>
          <c:showLegendKey val="0"/>
          <c:showVal val="1"/>
          <c:showCatName val="0"/>
          <c:showSerName val="0"/>
          <c:showPercent val="0"/>
          <c:showBubbleSize val="0"/>
        </c:dLbls>
        <c:gapWidth val="219"/>
        <c:overlap val="-27"/>
        <c:axId val="352121096"/>
        <c:axId val="352128152"/>
        <c:extLst/>
      </c:barChart>
      <c:catAx>
        <c:axId val="352121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52128152"/>
        <c:crosses val="autoZero"/>
        <c:auto val="1"/>
        <c:lblAlgn val="ctr"/>
        <c:lblOffset val="100"/>
        <c:noMultiLvlLbl val="0"/>
      </c:catAx>
      <c:valAx>
        <c:axId val="3521281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52121096"/>
        <c:crosses val="autoZero"/>
        <c:crossBetween val="between"/>
        <c:majorUnit val="3"/>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'[W01 (30.12.2024-05.01.2025).xlsx]Thống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'[W01 (30.12.2024-05.01.2025).xlsx]Thống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c:ext xmlns:c16="http://schemas.microsoft.com/office/drawing/2014/chart" uri="{C3380CC4-5D6E-409C-BE32-E72D297353CC}">
              <c16:uniqueId val="{00000000-AC39-44EE-B8B6-F3B1DC58C401}"/>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'[W01 (30.12.2024-05.01.2025).xlsx]Thống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'[W01 (30.12.2024-05.01.2025).xlsx]Thống kê ATB, GTB'!$F$3:$F$54</c:f>
              <c:numCache>
                <c:formatCode>General</c:formatCode>
                <c:ptCount val="52"/>
                <c:pt idx="0">
                  <c:v>0</c:v>
                </c:pt>
              </c:numCache>
            </c:numRef>
          </c:val>
          <c:smooth val="0"/>
          <c:extLst>
            <c:ext xmlns:c16="http://schemas.microsoft.com/office/drawing/2014/chart" uri="{C3380CC4-5D6E-409C-BE32-E72D297353CC}">
              <c16:uniqueId val="{00000001-AC39-44EE-B8B6-F3B1DC58C401}"/>
            </c:ext>
          </c:extLst>
        </c:ser>
        <c:dLbls>
          <c:showLegendKey val="0"/>
          <c:showVal val="0"/>
          <c:showCatName val="0"/>
          <c:showSerName val="0"/>
          <c:showPercent val="0"/>
          <c:showBubbleSize val="0"/>
        </c:dLbls>
        <c:marker val="1"/>
        <c:smooth val="0"/>
        <c:axId val="355034976"/>
        <c:axId val="350014944"/>
      </c:lineChart>
      <c:catAx>
        <c:axId val="355034976"/>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50014944"/>
        <c:crosses val="autoZero"/>
        <c:auto val="1"/>
        <c:lblAlgn val="ctr"/>
        <c:lblOffset val="100"/>
        <c:noMultiLvlLbl val="0"/>
      </c:catAx>
      <c:valAx>
        <c:axId val="35001494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55034976"/>
        <c:crosses val="autoZero"/>
        <c:crossBetween val="between"/>
        <c:majorUnit val="1"/>
        <c:minorUnit val="1"/>
      </c:valAx>
      <c:spPr>
        <a:noFill/>
        <a:ln>
          <a:solidFill>
            <a:schemeClr val="tx1">
              <a:lumMod val="25000"/>
              <a:lumOff val="75000"/>
            </a:schemeClr>
          </a:solid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'[W01 (30.12.2024-05.01.2025).xlsx]Thống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c:ext xmlns:c16="http://schemas.microsoft.com/office/drawing/2014/chart" uri="{C3380CC4-5D6E-409C-BE32-E72D297353CC}">
              <c16:uniqueId val="{00000000-16BD-4390-8B66-D3ACCFEF3751}"/>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'[W01 (30.12.2024-05.01.2025).xlsx]Thống kê ATB, GTB'!$G$3:$G$54</c:f>
              <c:numCache>
                <c:formatCode>General</c:formatCode>
                <c:ptCount val="52"/>
                <c:pt idx="0">
                  <c:v>1</c:v>
                </c:pt>
              </c:numCache>
            </c:numRef>
          </c:val>
          <c:smooth val="0"/>
          <c:extLst>
            <c:ext xmlns:c16="http://schemas.microsoft.com/office/drawing/2014/chart" uri="{C3380CC4-5D6E-409C-BE32-E72D297353CC}">
              <c16:uniqueId val="{00000001-16BD-4390-8B66-D3ACCFEF3751}"/>
            </c:ext>
          </c:extLst>
        </c:ser>
        <c:dLbls>
          <c:showLegendKey val="0"/>
          <c:showVal val="0"/>
          <c:showCatName val="0"/>
          <c:showSerName val="0"/>
          <c:showPercent val="0"/>
          <c:showBubbleSize val="0"/>
        </c:dLbls>
        <c:marker val="1"/>
        <c:smooth val="0"/>
        <c:axId val="355260400"/>
        <c:axId val="355264888"/>
      </c:lineChart>
      <c:catAx>
        <c:axId val="355260400"/>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55264888"/>
        <c:crosses val="autoZero"/>
        <c:auto val="1"/>
        <c:lblAlgn val="ctr"/>
        <c:lblOffset val="100"/>
        <c:noMultiLvlLbl val="0"/>
      </c:catAx>
      <c:valAx>
        <c:axId val="355264888"/>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5526040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W52</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c:ext xmlns:c15="http://schemas.microsoft.com/office/drawing/2012/chart" uri="{CE6537A1-D6FC-4f65-9D91-7224C49458BB}">
                  <c15:layout>
                    <c:manualLayout>
                      <c:w val="4.8703937780973254E-2"/>
                      <c:h val="6.3644067796610151E-2"/>
                    </c:manualLayout>
                  </c15:layout>
                </c:ext>
                <c:ext xmlns:c16="http://schemas.microsoft.com/office/drawing/2014/chart" uri="{C3380CC4-5D6E-409C-BE32-E72D297353CC}">
                  <c16:uniqueId val="{00000000-9060-4319-861D-25250F693BDD}"/>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99.789140748550338</c:v>
                </c:pt>
                <c:pt idx="1">
                  <c:v>100</c:v>
                </c:pt>
                <c:pt idx="2">
                  <c:v>99.438202247191015</c:v>
                </c:pt>
                <c:pt idx="3">
                  <c:v>100</c:v>
                </c:pt>
              </c:numCache>
            </c:numRef>
          </c:val>
          <c:extLst>
            <c:ext xmlns:c16="http://schemas.microsoft.com/office/drawing/2014/chart" uri="{C3380CC4-5D6E-409C-BE32-E72D297353CC}">
              <c16:uniqueId val="{00000001-9060-4319-861D-25250F693BDD}"/>
            </c:ext>
          </c:extLst>
        </c:ser>
        <c:ser>
          <c:idx val="1"/>
          <c:order val="1"/>
          <c:tx>
            <c:strRef>
              <c:f>DR!$D$3</c:f>
              <c:strCache>
                <c:ptCount val="1"/>
                <c:pt idx="0">
                  <c:v>W01</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99.73147153598282</c:v>
                </c:pt>
                <c:pt idx="1">
                  <c:v>99.375</c:v>
                </c:pt>
                <c:pt idx="2">
                  <c:v>99.714285714285708</c:v>
                </c:pt>
                <c:pt idx="3">
                  <c:v>99.53051643192488</c:v>
                </c:pt>
              </c:numCache>
            </c:numRef>
          </c:val>
          <c:extLst>
            <c:ext xmlns:c16="http://schemas.microsoft.com/office/drawing/2014/chart" uri="{C3380CC4-5D6E-409C-BE32-E72D297353CC}">
              <c16:uniqueId val="{00000002-9060-4319-861D-25250F693BDD}"/>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9060-4319-861D-25250F693BDD}"/>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c:ext xmlns:c16="http://schemas.microsoft.com/office/drawing/2014/chart" uri="{C3380CC4-5D6E-409C-BE32-E72D297353CC}">
              <c16:uniqueId val="{00000004-9060-4319-861D-25250F693BDD}"/>
            </c:ext>
          </c:extLst>
        </c:ser>
        <c:dLbls>
          <c:showLegendKey val="0"/>
          <c:showVal val="0"/>
          <c:showCatName val="0"/>
          <c:showSerName val="0"/>
          <c:showPercent val="0"/>
          <c:showBubbleSize val="0"/>
        </c:dLbls>
        <c:gapWidth val="219"/>
        <c:overlap val="-27"/>
        <c:axId val="-95521472"/>
        <c:axId val="-95499712"/>
        <c:extLst>
          <c:ext xmlns:c15="http://schemas.microsoft.com/office/drawing/2012/chart" uri="{02D57815-91ED-43cb-92C2-25804820EDAC}">
            <c15:filteredBarSeries>
              <c15:ser>
                <c:idx val="3"/>
                <c:order val="2"/>
                <c:tx>
                  <c:strRef>
                    <c:extLs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uri="{CE6537A1-D6FC-4f65-9D91-7224C49458BB}">
                      <c15:showLeaderLines val="1"/>
                    </c:ext>
                  </c:extLst>
                </c:dLbls>
                <c:cat>
                  <c:strRef>
                    <c:extLst>
                      <c:ext uri="{02D57815-91ED-43cb-92C2-25804820EDAC}">
                        <c15:formulaRef>
                          <c15:sqref>DR!$B$5:$B$8</c15:sqref>
                        </c15:formulaRef>
                      </c:ext>
                    </c:extLst>
                    <c:strCache>
                      <c:ptCount val="4"/>
                      <c:pt idx="0">
                        <c:v>A321</c:v>
                      </c:pt>
                      <c:pt idx="1">
                        <c:v>A350</c:v>
                      </c:pt>
                      <c:pt idx="2">
                        <c:v>B787</c:v>
                      </c:pt>
                      <c:pt idx="3">
                        <c:v>ATR72</c:v>
                      </c:pt>
                    </c:strCache>
                  </c:strRef>
                </c:cat>
                <c:val>
                  <c:numRef>
                    <c:extLst>
                      <c:ext uri="{02D57815-91ED-43cb-92C2-25804820EDAC}">
                        <c15:formulaRef>
                          <c15:sqref>DR!$E$5:$E$8</c15:sqref>
                        </c15:formulaRef>
                      </c:ext>
                    </c:extLst>
                    <c:numCache>
                      <c:formatCode>General</c:formatCode>
                      <c:ptCount val="4"/>
                    </c:numCache>
                  </c:numRef>
                </c:val>
                <c:extLst>
                  <c:ext xmlns:c16="http://schemas.microsoft.com/office/drawing/2014/chart" uri="{C3380CC4-5D6E-409C-BE32-E72D297353CC}">
                    <c16:uniqueId val="{00000005-9060-4319-861D-25250F693BDD}"/>
                  </c:ext>
                </c:extLst>
              </c15:ser>
            </c15:filteredBarSeries>
          </c:ext>
        </c:extLst>
      </c:barChart>
      <c:catAx>
        <c:axId val="-95521472"/>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95499712"/>
        <c:crosses val="autoZero"/>
        <c:auto val="1"/>
        <c:lblAlgn val="ctr"/>
        <c:lblOffset val="100"/>
        <c:noMultiLvlLbl val="0"/>
      </c:catAx>
      <c:valAx>
        <c:axId val="-95499712"/>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95521472"/>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789942122619287E-2"/>
          <c:y val="4.4293689684825485E-2"/>
          <c:w val="0.93681234355610998"/>
          <c:h val="0.8358298845569484"/>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Sheet1!$D$8:$AC$8</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0-D6AD-4063-8EE1-45911A2334ED}"/>
            </c:ext>
          </c:extLst>
        </c:ser>
        <c:ser>
          <c:idx val="2"/>
          <c:order val="2"/>
          <c:tx>
            <c:strRef>
              <c:f>Sheet1!$C$10</c:f>
              <c:strCache>
                <c:ptCount val="1"/>
                <c:pt idx="0">
                  <c:v>A350</c:v>
                </c:pt>
              </c:strCache>
            </c:strRef>
          </c:tx>
          <c:spPr>
            <a:ln w="19050" cap="rnd">
              <a:solidFill>
                <a:srgbClr val="00B0F0"/>
              </a:solidFill>
              <a:round/>
            </a:ln>
            <a:effectLst/>
          </c:spPr>
          <c:marker>
            <c:symbol val="circle"/>
            <c:size val="23"/>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Sheet1!$D$10:$AC$10</c:f>
              <c:numCache>
                <c:formatCode>General</c:formatCode>
                <c:ptCount val="6"/>
                <c:pt idx="0">
                  <c:v>8</c:v>
                </c:pt>
                <c:pt idx="1">
                  <c:v>9</c:v>
                </c:pt>
                <c:pt idx="2">
                  <c:v>9</c:v>
                </c:pt>
                <c:pt idx="3">
                  <c:v>8</c:v>
                </c:pt>
                <c:pt idx="4">
                  <c:v>5</c:v>
                </c:pt>
                <c:pt idx="5">
                  <c:v>3</c:v>
                </c:pt>
              </c:numCache>
            </c:numRef>
          </c:val>
          <c:smooth val="0"/>
          <c:extLst>
            <c:ext xmlns:c16="http://schemas.microsoft.com/office/drawing/2014/chart" uri="{C3380CC4-5D6E-409C-BE32-E72D297353CC}">
              <c16:uniqueId val="{00000001-D6AD-4063-8EE1-45911A2334ED}"/>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Sheet1!$D$11:$AC$11</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2-D6AD-4063-8EE1-45911A2334ED}"/>
            </c:ext>
          </c:extLst>
        </c:ser>
        <c:dLbls>
          <c:dLblPos val="ctr"/>
          <c:showLegendKey val="0"/>
          <c:showVal val="1"/>
          <c:showCatName val="0"/>
          <c:showSerName val="0"/>
          <c:showPercent val="0"/>
          <c:showBubbleSize val="0"/>
        </c:dLbls>
        <c:marker val="1"/>
        <c:smooth val="0"/>
        <c:axId val="369124040"/>
        <c:axId val="369143248"/>
      </c:lineChart>
      <c:lineChart>
        <c:grouping val="standard"/>
        <c:varyColors val="0"/>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Sheet1!$D$9:$AC$9</c:f>
              <c:numCache>
                <c:formatCode>General</c:formatCode>
                <c:ptCount val="6"/>
                <c:pt idx="0">
                  <c:v>27.25</c:v>
                </c:pt>
                <c:pt idx="1">
                  <c:v>26.75</c:v>
                </c:pt>
                <c:pt idx="2">
                  <c:v>26.5</c:v>
                </c:pt>
                <c:pt idx="3">
                  <c:v>23.5</c:v>
                </c:pt>
                <c:pt idx="4">
                  <c:v>23</c:v>
                </c:pt>
                <c:pt idx="5">
                  <c:v>22.5</c:v>
                </c:pt>
              </c:numCache>
            </c:numRef>
          </c:val>
          <c:smooth val="0"/>
          <c:extLst>
            <c:ext xmlns:c16="http://schemas.microsoft.com/office/drawing/2014/chart" uri="{C3380CC4-5D6E-409C-BE32-E72D297353CC}">
              <c16:uniqueId val="{00000003-D6AD-4063-8EE1-45911A2334ED}"/>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Sheet1!$D$12:$AC$12</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4-D6AD-4063-8EE1-45911A2334ED}"/>
            </c:ext>
          </c:extLst>
        </c:ser>
        <c:dLbls>
          <c:showLegendKey val="0"/>
          <c:showVal val="0"/>
          <c:showCatName val="0"/>
          <c:showSerName val="0"/>
          <c:showPercent val="0"/>
          <c:showBubbleSize val="0"/>
        </c:dLbls>
        <c:marker val="1"/>
        <c:smooth val="0"/>
        <c:axId val="369141680"/>
        <c:axId val="369140112"/>
      </c:lineChart>
      <c:catAx>
        <c:axId val="36912404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3248"/>
        <c:crosses val="autoZero"/>
        <c:auto val="1"/>
        <c:lblAlgn val="ctr"/>
        <c:lblOffset val="100"/>
        <c:noMultiLvlLbl val="0"/>
      </c:catAx>
      <c:valAx>
        <c:axId val="369143248"/>
        <c:scaling>
          <c:orientation val="minMax"/>
          <c:max val="2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24040"/>
        <c:crosses val="autoZero"/>
        <c:crossBetween val="between"/>
      </c:valAx>
      <c:valAx>
        <c:axId val="369140112"/>
        <c:scaling>
          <c:orientation val="minMax"/>
          <c:max val="35"/>
          <c:min val="0"/>
        </c:scaling>
        <c:delete val="0"/>
        <c:axPos val="r"/>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1680"/>
        <c:crosses val="max"/>
        <c:crossBetween val="between"/>
      </c:valAx>
      <c:catAx>
        <c:axId val="369141680"/>
        <c:scaling>
          <c:orientation val="minMax"/>
        </c:scaling>
        <c:delete val="1"/>
        <c:axPos val="b"/>
        <c:numFmt formatCode="General" sourceLinked="1"/>
        <c:majorTickMark val="out"/>
        <c:minorTickMark val="none"/>
        <c:tickLblPos val="nextTo"/>
        <c:crossAx val="369140112"/>
        <c:crosses val="autoZero"/>
        <c:auto val="1"/>
        <c:lblAlgn val="ctr"/>
        <c:lblOffset val="100"/>
        <c:noMultiLvlLbl val="0"/>
      </c:catAx>
      <c:spPr>
        <a:noFill/>
        <a:ln>
          <a:noFill/>
        </a:ln>
        <a:effectLst/>
      </c:spPr>
    </c:plotArea>
    <c:legend>
      <c:legendPos val="b"/>
      <c:layout>
        <c:manualLayout>
          <c:xMode val="edge"/>
          <c:yMode val="edge"/>
          <c:x val="3.2108065818695741E-2"/>
          <c:y val="1.3638679970698371E-2"/>
          <c:w val="0.89903166467431961"/>
          <c:h val="7.3197199055431955E-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Sheet1!$D$7:$AI$7</c:f>
              <c:strCache>
                <c:ptCount val="12"/>
                <c:pt idx="0">
                  <c:v>Jan-W1/25</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Sheet1!$D$8:$AI$8</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Sheet1!$D$7:$AI$7</c:f>
              <c:strCache>
                <c:ptCount val="12"/>
                <c:pt idx="0">
                  <c:v>Jan-W1/25</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Sheet1!$D$9:$AI$9</c:f>
              <c:numCache>
                <c:formatCode>General</c:formatCode>
                <c:ptCount val="12"/>
                <c:pt idx="0">
                  <c:v>29</c:v>
                </c:pt>
                <c:pt idx="1">
                  <c:v>28</c:v>
                </c:pt>
                <c:pt idx="2">
                  <c:v>26</c:v>
                </c:pt>
                <c:pt idx="3">
                  <c:v>26</c:v>
                </c:pt>
                <c:pt idx="4">
                  <c:v>26</c:v>
                </c:pt>
                <c:pt idx="5">
                  <c:v>26</c:v>
                </c:pt>
                <c:pt idx="6">
                  <c:v>28</c:v>
                </c:pt>
                <c:pt idx="7">
                  <c:v>27</c:v>
                </c:pt>
                <c:pt idx="8">
                  <c:v>28</c:v>
                </c:pt>
                <c:pt idx="9">
                  <c:v>28</c:v>
                </c:pt>
                <c:pt idx="10">
                  <c:v>26</c:v>
                </c:pt>
                <c:pt idx="11">
                  <c:v>24</c:v>
                </c:pt>
              </c:numCache>
            </c:numRef>
          </c:val>
          <c:smooth val="0"/>
          <c:extLs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chemeClr val="accent6"/>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Sheet1!$D$7:$AI$7</c:f>
              <c:strCache>
                <c:ptCount val="12"/>
                <c:pt idx="0">
                  <c:v>Jan-W1/25</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Sheet1!$D$10:$AI$10</c:f>
              <c:numCache>
                <c:formatCode>General</c:formatCode>
                <c:ptCount val="12"/>
                <c:pt idx="0">
                  <c:v>8</c:v>
                </c:pt>
                <c:pt idx="1">
                  <c:v>8</c:v>
                </c:pt>
                <c:pt idx="2">
                  <c:v>8</c:v>
                </c:pt>
                <c:pt idx="3">
                  <c:v>8</c:v>
                </c:pt>
                <c:pt idx="4">
                  <c:v>8</c:v>
                </c:pt>
                <c:pt idx="5">
                  <c:v>8</c:v>
                </c:pt>
                <c:pt idx="6">
                  <c:v>10</c:v>
                </c:pt>
                <c:pt idx="7">
                  <c:v>10</c:v>
                </c:pt>
                <c:pt idx="8">
                  <c:v>10</c:v>
                </c:pt>
                <c:pt idx="9">
                  <c:v>9</c:v>
                </c:pt>
                <c:pt idx="10">
                  <c:v>9</c:v>
                </c:pt>
                <c:pt idx="11">
                  <c:v>8</c:v>
                </c:pt>
              </c:numCache>
            </c:numRef>
          </c:val>
          <c:smooth val="0"/>
          <c:extLs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chemeClr val="accent2">
                  <a:lumMod val="50000"/>
                </a:schemeClr>
              </a:solidFill>
              <a:ln w="9525">
                <a:solidFill>
                  <a:schemeClr val="accent2">
                    <a:lumMod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Sheet1!$D$7:$AI$7</c:f>
              <c:strCache>
                <c:ptCount val="12"/>
                <c:pt idx="0">
                  <c:v>Jan-W1/25</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Sheet1!$D$11:$AI$11</c:f>
              <c:numCache>
                <c:formatCode>General</c:formatCode>
                <c:ptCount val="12"/>
                <c:pt idx="0">
                  <c:v>0</c:v>
                </c:pt>
                <c:pt idx="1">
                  <c:v>0</c:v>
                </c:pt>
                <c:pt idx="2">
                  <c:v>0</c:v>
                </c:pt>
                <c:pt idx="3">
                  <c:v>0</c:v>
                </c:pt>
                <c:pt idx="4">
                  <c:v>0</c:v>
                </c:pt>
                <c:pt idx="5">
                  <c:v>0</c:v>
                </c:pt>
                <c:pt idx="6">
                  <c:v>0</c:v>
                </c:pt>
                <c:pt idx="7">
                  <c:v>0</c:v>
                </c:pt>
              </c:numCache>
            </c:numRef>
          </c:val>
          <c:smooth val="0"/>
          <c:extLs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rgbClr val="FFC000"/>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Sheet1!$D$7:$AI$7</c:f>
              <c:strCache>
                <c:ptCount val="12"/>
                <c:pt idx="0">
                  <c:v>Jan-W1/25</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Sheet1!$D$12:$AI$12</c:f>
              <c:numCache>
                <c:formatCode>General</c:formatCode>
                <c:ptCount val="12"/>
                <c:pt idx="0">
                  <c:v>0</c:v>
                </c:pt>
                <c:pt idx="1">
                  <c:v>0</c:v>
                </c:pt>
                <c:pt idx="2">
                  <c:v>0</c:v>
                </c:pt>
                <c:pt idx="3">
                  <c:v>0</c:v>
                </c:pt>
                <c:pt idx="4">
                  <c:v>0</c:v>
                </c:pt>
                <c:pt idx="5">
                  <c:v>0</c:v>
                </c:pt>
                <c:pt idx="6">
                  <c:v>0</c:v>
                </c:pt>
                <c:pt idx="7">
                  <c:v>0</c:v>
                </c:pt>
              </c:numCache>
            </c:numRef>
          </c:val>
          <c:smooth val="0"/>
          <c:extLs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369136192"/>
        <c:axId val="369138152"/>
      </c:lineChart>
      <c:catAx>
        <c:axId val="369136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8152"/>
        <c:crosses val="autoZero"/>
        <c:auto val="1"/>
        <c:lblAlgn val="ctr"/>
        <c:lblOffset val="100"/>
        <c:tickMarkSkip val="1"/>
        <c:noMultiLvlLbl val="0"/>
      </c:catAx>
      <c:valAx>
        <c:axId val="369138152"/>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6192"/>
        <c:crosses val="autoZero"/>
        <c:crossBetween val="between"/>
      </c:valAx>
      <c:spPr>
        <a:noFill/>
        <a:ln>
          <a:noFill/>
        </a:ln>
        <a:effectLst/>
      </c:spPr>
    </c:plotArea>
    <c:legend>
      <c:legendPos val="b"/>
      <c:layout>
        <c:manualLayout>
          <c:xMode val="edge"/>
          <c:yMode val="edge"/>
          <c:x val="0.45427866677955575"/>
          <c:y val="0.36957218535300551"/>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5445543480618638E-2"/>
          <c:y val="2.2682228076795662E-2"/>
          <c:w val="0.943893299494588"/>
          <c:h val="0.90560716838710642"/>
        </c:manualLayout>
      </c:layout>
      <c:lineChart>
        <c:grouping val="standard"/>
        <c:varyColors val="0"/>
        <c:ser>
          <c:idx val="0"/>
          <c:order val="0"/>
          <c:tx>
            <c:strRef>
              <c:f>Sheet1!$B$1</c:f>
              <c:strCache>
                <c:ptCount val="1"/>
                <c:pt idx="0">
                  <c:v>KH Hiện tại</c:v>
                </c:pt>
              </c:strCache>
            </c:strRef>
          </c:tx>
          <c:spPr>
            <a:ln w="28575" cap="rnd">
              <a:solidFill>
                <a:srgbClr val="00B0F0"/>
              </a:solidFill>
              <a:round/>
            </a:ln>
            <a:effectLst/>
          </c:spPr>
          <c:marker>
            <c:symbol val="circle"/>
            <c:size val="25"/>
            <c:spPr>
              <a:solidFill>
                <a:srgbClr val="0099FF"/>
              </a:solidFill>
              <a:ln w="9525">
                <a:solidFill>
                  <a:srgbClr val="0099FF"/>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5"/>
                <c:pt idx="0">
                  <c:v>T11</c:v>
                </c:pt>
                <c:pt idx="1">
                  <c:v>T12</c:v>
                </c:pt>
                <c:pt idx="2">
                  <c:v>T1/25</c:v>
                </c:pt>
                <c:pt idx="3">
                  <c:v>T2</c:v>
                </c:pt>
                <c:pt idx="4">
                  <c:v>T3</c:v>
                </c:pt>
              </c:strCache>
            </c:strRef>
          </c:cat>
          <c:val>
            <c:numRef>
              <c:f>Sheet1!$B$2:$B$16</c:f>
              <c:numCache>
                <c:formatCode>General</c:formatCode>
                <c:ptCount val="5"/>
                <c:pt idx="0">
                  <c:v>15</c:v>
                </c:pt>
                <c:pt idx="1">
                  <c:v>15.5</c:v>
                </c:pt>
                <c:pt idx="2">
                  <c:v>14.25</c:v>
                </c:pt>
                <c:pt idx="3">
                  <c:v>13.75</c:v>
                </c:pt>
                <c:pt idx="4">
                  <c:v>14</c:v>
                </c:pt>
              </c:numCache>
            </c:numRef>
          </c:val>
          <c:smooth val="1"/>
          <c:extLst>
            <c:ext xmlns:c16="http://schemas.microsoft.com/office/drawing/2014/chart" uri="{C3380CC4-5D6E-409C-BE32-E72D297353CC}">
              <c16:uniqueId val="{00000000-1A84-4B14-B83A-F9020AB8809D}"/>
            </c:ext>
          </c:extLst>
        </c:ser>
        <c:ser>
          <c:idx val="1"/>
          <c:order val="1"/>
          <c:tx>
            <c:strRef>
              <c:f>Sheet1!$C$1</c:f>
              <c:strCache>
                <c:ptCount val="1"/>
                <c:pt idx="0">
                  <c:v>KB cũ </c:v>
                </c:pt>
              </c:strCache>
            </c:strRef>
          </c:tx>
          <c:spPr>
            <a:ln w="28575" cap="rnd">
              <a:solidFill>
                <a:srgbClr val="C00000"/>
              </a:solidFill>
              <a:prstDash val="sysDash"/>
              <a:round/>
            </a:ln>
            <a:effectLst/>
          </c:spPr>
          <c:marker>
            <c:symbol val="circle"/>
            <c:size val="25"/>
            <c:spPr>
              <a:solidFill>
                <a:schemeClr val="bg1"/>
              </a:solidFill>
              <a:ln w="222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FF0000"/>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5"/>
                <c:pt idx="0">
                  <c:v>T11</c:v>
                </c:pt>
                <c:pt idx="1">
                  <c:v>T12</c:v>
                </c:pt>
                <c:pt idx="2">
                  <c:v>T1/25</c:v>
                </c:pt>
                <c:pt idx="3">
                  <c:v>T2</c:v>
                </c:pt>
                <c:pt idx="4">
                  <c:v>T3</c:v>
                </c:pt>
              </c:strCache>
            </c:strRef>
          </c:cat>
          <c:val>
            <c:numRef>
              <c:f>Sheet1!$C$2:$C$16</c:f>
              <c:numCache>
                <c:formatCode>General</c:formatCode>
                <c:ptCount val="5"/>
                <c:pt idx="0">
                  <c:v>14</c:v>
                </c:pt>
                <c:pt idx="1">
                  <c:v>15</c:v>
                </c:pt>
                <c:pt idx="2">
                  <c:v>13</c:v>
                </c:pt>
                <c:pt idx="3">
                  <c:v>12.5</c:v>
                </c:pt>
                <c:pt idx="4">
                  <c:v>13</c:v>
                </c:pt>
              </c:numCache>
            </c:numRef>
          </c:val>
          <c:smooth val="1"/>
          <c:extLst>
            <c:ext xmlns:c16="http://schemas.microsoft.com/office/drawing/2014/chart" uri="{C3380CC4-5D6E-409C-BE32-E72D297353CC}">
              <c16:uniqueId val="{00000001-1A84-4B14-B83A-F9020AB8809D}"/>
            </c:ext>
          </c:extLst>
        </c:ser>
        <c:ser>
          <c:idx val="3"/>
          <c:order val="2"/>
          <c:tx>
            <c:strRef>
              <c:f>Sheet1!$E$1</c:f>
              <c:strCache>
                <c:ptCount val="1"/>
                <c:pt idx="0">
                  <c:v>Giải pháp triển khai thêm để giảm 01 AOG (khả thi)</c:v>
                </c:pt>
              </c:strCache>
            </c:strRef>
          </c:tx>
          <c:spPr>
            <a:ln w="28575" cap="rnd">
              <a:solidFill>
                <a:schemeClr val="accent4"/>
              </a:solidFill>
              <a:round/>
            </a:ln>
            <a:effectLst/>
          </c:spPr>
          <c:marker>
            <c:symbol val="circle"/>
            <c:size val="3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5"/>
                <c:pt idx="0">
                  <c:v>T11</c:v>
                </c:pt>
                <c:pt idx="1">
                  <c:v>T12</c:v>
                </c:pt>
                <c:pt idx="2">
                  <c:v>T1/25</c:v>
                </c:pt>
                <c:pt idx="3">
                  <c:v>T2</c:v>
                </c:pt>
                <c:pt idx="4">
                  <c:v>T3</c:v>
                </c:pt>
              </c:strCache>
            </c:strRef>
          </c:cat>
          <c:val>
            <c:numRef>
              <c:f>Sheet1!$E$2:$E$16</c:f>
            </c:numRef>
          </c:val>
          <c:smooth val="1"/>
          <c:extLst>
            <c:ext xmlns:c16="http://schemas.microsoft.com/office/drawing/2014/chart" uri="{C3380CC4-5D6E-409C-BE32-E72D297353CC}">
              <c16:uniqueId val="{00000002-1A84-4B14-B83A-F9020AB8809D}"/>
            </c:ext>
          </c:extLst>
        </c:ser>
        <c:dLbls>
          <c:showLegendKey val="0"/>
          <c:showVal val="0"/>
          <c:showCatName val="0"/>
          <c:showSerName val="0"/>
          <c:showPercent val="0"/>
          <c:showBubbleSize val="0"/>
        </c:dLbls>
        <c:marker val="1"/>
        <c:smooth val="0"/>
        <c:axId val="369140504"/>
        <c:axId val="369142464"/>
      </c:lineChart>
      <c:catAx>
        <c:axId val="3691405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69142464"/>
        <c:crosses val="autoZero"/>
        <c:auto val="1"/>
        <c:lblAlgn val="ctr"/>
        <c:lblOffset val="100"/>
        <c:noMultiLvlLbl val="0"/>
      </c:catAx>
      <c:valAx>
        <c:axId val="369142464"/>
        <c:scaling>
          <c:orientation val="minMax"/>
          <c:max val="16"/>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69140504"/>
        <c:crosses val="autoZero"/>
        <c:crossBetween val="between"/>
        <c:majorUnit val="1"/>
      </c:valAx>
      <c:spPr>
        <a:noFill/>
        <a:ln>
          <a:noFill/>
        </a:ln>
        <a:effectLst/>
      </c:spPr>
    </c:plotArea>
    <c:legend>
      <c:legendPos val="r"/>
      <c:layout>
        <c:manualLayout>
          <c:xMode val="edge"/>
          <c:yMode val="edge"/>
          <c:x val="0.74928376782223216"/>
          <c:y val="0.76358296622613808"/>
          <c:w val="0.16189253624902974"/>
          <c:h val="0.16291558268872777"/>
        </c:manualLayout>
      </c:layout>
      <c:overlay val="0"/>
      <c:spPr>
        <a:solidFill>
          <a:schemeClr val="bg1"/>
        </a:solidFill>
        <a:ln>
          <a:solidFill>
            <a:srgbClr val="0070C0"/>
          </a:solid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9400996275743063"/>
        </c:manualLayout>
      </c:layout>
      <c:lineChart>
        <c:grouping val="standard"/>
        <c:varyColors val="0"/>
        <c:ser>
          <c:idx val="5"/>
          <c:order val="0"/>
          <c:tx>
            <c:strRef>
              <c:f>Sheet1!$G$1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Sheet1!$A$100:$A$111</c:f>
              <c:strCache>
                <c:ptCount val="12"/>
                <c:pt idx="0">
                  <c:v>Dec-W1</c:v>
                </c:pt>
                <c:pt idx="1">
                  <c:v>Dec-W2</c:v>
                </c:pt>
                <c:pt idx="2">
                  <c:v>Dec-W3</c:v>
                </c:pt>
                <c:pt idx="3">
                  <c:v>Dec-W4</c:v>
                </c:pt>
                <c:pt idx="4">
                  <c:v>Jan-W1</c:v>
                </c:pt>
                <c:pt idx="5">
                  <c:v>Jan-W2</c:v>
                </c:pt>
                <c:pt idx="6">
                  <c:v>Jan-W3</c:v>
                </c:pt>
                <c:pt idx="7">
                  <c:v>Jan-W4</c:v>
                </c:pt>
                <c:pt idx="8">
                  <c:v>Feb-W1</c:v>
                </c:pt>
                <c:pt idx="9">
                  <c:v>Feb-W2</c:v>
                </c:pt>
                <c:pt idx="10">
                  <c:v>Feb-W3</c:v>
                </c:pt>
                <c:pt idx="11">
                  <c:v>Feb-W4</c:v>
                </c:pt>
              </c:strCache>
            </c:strRef>
          </c:cat>
          <c:val>
            <c:numRef>
              <c:f>Sheet1!$G$100:$G$111</c:f>
              <c:numCache>
                <c:formatCode>General</c:formatCode>
                <c:ptCount val="12"/>
                <c:pt idx="0">
                  <c:v>16</c:v>
                </c:pt>
                <c:pt idx="1">
                  <c:v>16</c:v>
                </c:pt>
                <c:pt idx="2">
                  <c:v>16</c:v>
                </c:pt>
                <c:pt idx="3">
                  <c:v>17</c:v>
                </c:pt>
                <c:pt idx="4">
                  <c:v>17</c:v>
                </c:pt>
                <c:pt idx="5">
                  <c:v>17</c:v>
                </c:pt>
                <c:pt idx="6">
                  <c:v>17</c:v>
                </c:pt>
                <c:pt idx="7">
                  <c:v>17</c:v>
                </c:pt>
                <c:pt idx="8">
                  <c:v>17</c:v>
                </c:pt>
                <c:pt idx="9">
                  <c:v>17</c:v>
                </c:pt>
                <c:pt idx="10">
                  <c:v>17</c:v>
                </c:pt>
                <c:pt idx="11">
                  <c:v>17</c:v>
                </c:pt>
              </c:numCache>
            </c:numRef>
          </c:val>
          <c:smooth val="0"/>
          <c:extLs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322939128"/>
        <c:axId val="322941088"/>
      </c:lineChart>
      <c:catAx>
        <c:axId val="322939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22941088"/>
        <c:crosses val="autoZero"/>
        <c:auto val="1"/>
        <c:lblAlgn val="ctr"/>
        <c:lblOffset val="100"/>
        <c:noMultiLvlLbl val="0"/>
      </c:catAx>
      <c:valAx>
        <c:axId val="322941088"/>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39128"/>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chemeClr val="tx1"/>
      </a:solidFill>
    </a:ln>
    <a:effectLst/>
  </c:spPr>
  <c:txPr>
    <a:bodyPr/>
    <a:lstStyle/>
    <a:p>
      <a:pPr>
        <a:defRPr/>
      </a:pPr>
      <a:endParaRPr lang="en-US"/>
    </a:p>
  </c:txPr>
  <c:externalData r:id="rId3">
    <c:autoUpdate val="0"/>
  </c:externalData>
  <c:userShapes r:id="rId4"/>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sz="1400" b="1">
                <a:solidFill>
                  <a:schemeClr val="tx1"/>
                </a:solidFill>
              </a:rPr>
              <a:t>Số</a:t>
            </a:r>
            <a:r>
              <a:rPr lang="en-US" sz="1400" b="1" baseline="0">
                <a:solidFill>
                  <a:schemeClr val="tx1"/>
                </a:solidFill>
              </a:rPr>
              <a:t> lượng A350 AOG</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4.7242419776671173E-2"/>
          <c:y val="3.2725603332538003E-2"/>
          <c:w val="0.943893299494588"/>
          <c:h val="0.83551920140990887"/>
        </c:manualLayout>
      </c:layout>
      <c:lineChart>
        <c:grouping val="standard"/>
        <c:varyColors val="0"/>
        <c:ser>
          <c:idx val="0"/>
          <c:order val="0"/>
          <c:tx>
            <c:strRef>
              <c:f>Sheet1!$B$1</c:f>
              <c:strCache>
                <c:ptCount val="1"/>
                <c:pt idx="0">
                  <c:v>NL báo KHPT</c:v>
                </c:pt>
              </c:strCache>
            </c:strRef>
          </c:tx>
          <c:spPr>
            <a:ln w="28575" cap="rnd">
              <a:solidFill>
                <a:schemeClr val="accent1"/>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Sheet1!$A$9:$A$23</c:f>
              <c:strCache>
                <c:ptCount val="4"/>
                <c:pt idx="0">
                  <c:v>T12</c:v>
                </c:pt>
                <c:pt idx="1">
                  <c:v>T1/25</c:v>
                </c:pt>
                <c:pt idx="2">
                  <c:v>T2</c:v>
                </c:pt>
                <c:pt idx="3">
                  <c:v>T3</c:v>
                </c:pt>
              </c:strCache>
            </c:strRef>
          </c:cat>
          <c:val>
            <c:numRef>
              <c:f>Sheet1!$B$9:$B$23</c:f>
            </c:numRef>
          </c:val>
          <c:smooth val="1"/>
          <c:extLst>
            <c:ext xmlns:c16="http://schemas.microsoft.com/office/drawing/2014/chart" uri="{C3380CC4-5D6E-409C-BE32-E72D297353CC}">
              <c16:uniqueId val="{00000000-7DB7-40A0-96F5-1D2E7AF0F464}"/>
            </c:ext>
          </c:extLst>
        </c:ser>
        <c:ser>
          <c:idx val="1"/>
          <c:order val="1"/>
          <c:tx>
            <c:strRef>
              <c:f>Sheet1!$C$1</c:f>
              <c:strCache>
                <c:ptCount val="1"/>
                <c:pt idx="0">
                  <c:v>KH hiện tại</c:v>
                </c:pt>
              </c:strCache>
            </c:strRef>
          </c:tx>
          <c:spPr>
            <a:ln w="28575" cap="rnd">
              <a:solidFill>
                <a:srgbClr val="FF0000"/>
              </a:solidFill>
              <a:round/>
            </a:ln>
            <a:effectLst/>
          </c:spPr>
          <c:marker>
            <c:symbol val="circle"/>
            <c:size val="25"/>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Sheet1!$A$9:$A$23</c:f>
              <c:strCache>
                <c:ptCount val="4"/>
                <c:pt idx="0">
                  <c:v>T12</c:v>
                </c:pt>
                <c:pt idx="1">
                  <c:v>T1/25</c:v>
                </c:pt>
                <c:pt idx="2">
                  <c:v>T2</c:v>
                </c:pt>
                <c:pt idx="3">
                  <c:v>T3</c:v>
                </c:pt>
              </c:strCache>
            </c:strRef>
          </c:cat>
          <c:val>
            <c:numRef>
              <c:f>Sheet1!$C$9:$C$23</c:f>
              <c:numCache>
                <c:formatCode>General</c:formatCode>
                <c:ptCount val="4"/>
                <c:pt idx="0">
                  <c:v>4.75</c:v>
                </c:pt>
                <c:pt idx="1">
                  <c:v>4</c:v>
                </c:pt>
                <c:pt idx="2">
                  <c:v>4.25</c:v>
                </c:pt>
                <c:pt idx="3">
                  <c:v>4</c:v>
                </c:pt>
              </c:numCache>
            </c:numRef>
          </c:val>
          <c:smooth val="1"/>
          <c:extLst>
            <c:ext xmlns:c16="http://schemas.microsoft.com/office/drawing/2014/chart" uri="{C3380CC4-5D6E-409C-BE32-E72D297353CC}">
              <c16:uniqueId val="{00000001-7DB7-40A0-96F5-1D2E7AF0F464}"/>
            </c:ext>
          </c:extLst>
        </c:ser>
        <c:ser>
          <c:idx val="2"/>
          <c:order val="2"/>
          <c:tx>
            <c:strRef>
              <c:f>Sheet1!$D$1</c:f>
              <c:strCache>
                <c:ptCount val="1"/>
                <c:pt idx="0">
                  <c:v>Thêm slot QT T10</c:v>
                </c:pt>
              </c:strCache>
            </c:strRef>
          </c:tx>
          <c:spPr>
            <a:ln w="28575" cap="rnd">
              <a:solidFill>
                <a:schemeClr val="accent3"/>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Sheet1!$A$9:$A$23</c:f>
              <c:strCache>
                <c:ptCount val="4"/>
                <c:pt idx="0">
                  <c:v>T12</c:v>
                </c:pt>
                <c:pt idx="1">
                  <c:v>T1/25</c:v>
                </c:pt>
                <c:pt idx="2">
                  <c:v>T2</c:v>
                </c:pt>
                <c:pt idx="3">
                  <c:v>T3</c:v>
                </c:pt>
              </c:strCache>
            </c:strRef>
          </c:cat>
          <c:val>
            <c:numRef>
              <c:f>Sheet1!$D$9:$D$23</c:f>
            </c:numRef>
          </c:val>
          <c:smooth val="1"/>
          <c:extLst>
            <c:ext xmlns:c16="http://schemas.microsoft.com/office/drawing/2014/chart" uri="{C3380CC4-5D6E-409C-BE32-E72D297353CC}">
              <c16:uniqueId val="{00000002-7DB7-40A0-96F5-1D2E7AF0F464}"/>
            </c:ext>
          </c:extLst>
        </c:ser>
        <c:dLbls>
          <c:showLegendKey val="0"/>
          <c:showVal val="0"/>
          <c:showCatName val="0"/>
          <c:showSerName val="0"/>
          <c:showPercent val="0"/>
          <c:showBubbleSize val="0"/>
        </c:dLbls>
        <c:marker val="1"/>
        <c:smooth val="0"/>
        <c:axId val="322945400"/>
        <c:axId val="322952456"/>
      </c:lineChart>
      <c:catAx>
        <c:axId val="322945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en-US"/>
          </a:p>
        </c:txPr>
        <c:crossAx val="322952456"/>
        <c:crosses val="autoZero"/>
        <c:auto val="1"/>
        <c:lblAlgn val="ctr"/>
        <c:lblOffset val="100"/>
        <c:noMultiLvlLbl val="0"/>
      </c:catAx>
      <c:valAx>
        <c:axId val="322952456"/>
        <c:scaling>
          <c:orientation val="minMax"/>
          <c:max val="6"/>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22945400"/>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1"/>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1059458913E-2"/>
          <c:y val="7.9544479126264098E-2"/>
          <c:w val="0.89607850198693251"/>
          <c:h val="0.73802210163219706"/>
        </c:manualLayout>
      </c:layout>
      <c:lineChart>
        <c:grouping val="standard"/>
        <c:varyColors val="0"/>
        <c:ser>
          <c:idx val="3"/>
          <c:order val="0"/>
          <c:tx>
            <c:strRef>
              <c:f>Sheet1!$B$1</c:f>
              <c:strCache>
                <c:ptCount val="1"/>
                <c:pt idx="0">
                  <c:v>A350 đủ động cơ</c:v>
                </c:pt>
              </c:strCache>
            </c:strRef>
          </c:tx>
          <c:spPr>
            <a:ln w="28575" cap="rnd">
              <a:solidFill>
                <a:srgbClr val="FF0000"/>
              </a:solidFill>
              <a:round/>
            </a:ln>
            <a:effectLst/>
          </c:spPr>
          <c:marker>
            <c:symbol val="circle"/>
            <c:size val="20"/>
            <c:spPr>
              <a:solidFill>
                <a:srgbClr val="003300"/>
              </a:solidFill>
              <a:ln w="9525">
                <a:solidFill>
                  <a:srgbClr val="003300"/>
                </a:solidFill>
              </a:ln>
              <a:effectLst/>
            </c:spPr>
          </c:marker>
          <c:dLbls>
            <c:spPr>
              <a:noFill/>
              <a:ln>
                <a:noFill/>
              </a:ln>
              <a:effectLst/>
            </c:spPr>
            <c:txPr>
              <a:bodyPr rot="0" spcFirstLastPara="1" vertOverflow="ellipsis" vert="horz" wrap="square" anchor="ctr" anchorCtr="1"/>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Sheet1!$A$7:$A$107</c:f>
              <c:strCache>
                <c:ptCount val="16"/>
                <c:pt idx="0">
                  <c:v>Nov-W1</c:v>
                </c:pt>
                <c:pt idx="1">
                  <c:v>Nov-W2</c:v>
                </c:pt>
                <c:pt idx="2">
                  <c:v>Nov-W3</c:v>
                </c:pt>
                <c:pt idx="3">
                  <c:v>Nov-W4</c:v>
                </c:pt>
                <c:pt idx="4">
                  <c:v>Dec-W1</c:v>
                </c:pt>
                <c:pt idx="5">
                  <c:v>Dec-W2</c:v>
                </c:pt>
                <c:pt idx="6">
                  <c:v>Dec-W3</c:v>
                </c:pt>
                <c:pt idx="7">
                  <c:v>Dec-W4</c:v>
                </c:pt>
                <c:pt idx="8">
                  <c:v>Jan-W1</c:v>
                </c:pt>
                <c:pt idx="9">
                  <c:v>Jan-W2</c:v>
                </c:pt>
                <c:pt idx="10">
                  <c:v>Jan-W3</c:v>
                </c:pt>
                <c:pt idx="11">
                  <c:v>Jan-W4</c:v>
                </c:pt>
                <c:pt idx="12">
                  <c:v>Feb-W1</c:v>
                </c:pt>
                <c:pt idx="13">
                  <c:v>Feb-W2</c:v>
                </c:pt>
                <c:pt idx="14">
                  <c:v>Feb-W3</c:v>
                </c:pt>
                <c:pt idx="15">
                  <c:v>Feb-W4</c:v>
                </c:pt>
              </c:strCache>
            </c:strRef>
          </c:cat>
          <c:val>
            <c:numRef>
              <c:f>Sheet1!$B$7:$B$107</c:f>
              <c:numCache>
                <c:formatCode>General</c:formatCode>
                <c:ptCount val="16"/>
                <c:pt idx="0">
                  <c:v>10</c:v>
                </c:pt>
                <c:pt idx="1">
                  <c:v>10</c:v>
                </c:pt>
                <c:pt idx="2">
                  <c:v>9</c:v>
                </c:pt>
                <c:pt idx="3">
                  <c:v>9</c:v>
                </c:pt>
                <c:pt idx="4">
                  <c:v>9</c:v>
                </c:pt>
                <c:pt idx="5">
                  <c:v>9</c:v>
                </c:pt>
                <c:pt idx="6">
                  <c:v>9</c:v>
                </c:pt>
                <c:pt idx="7">
                  <c:v>10</c:v>
                </c:pt>
                <c:pt idx="8">
                  <c:v>10</c:v>
                </c:pt>
                <c:pt idx="9">
                  <c:v>10</c:v>
                </c:pt>
                <c:pt idx="10">
                  <c:v>9</c:v>
                </c:pt>
                <c:pt idx="11">
                  <c:v>10</c:v>
                </c:pt>
                <c:pt idx="12">
                  <c:v>10</c:v>
                </c:pt>
                <c:pt idx="13">
                  <c:v>9</c:v>
                </c:pt>
                <c:pt idx="14">
                  <c:v>9</c:v>
                </c:pt>
                <c:pt idx="15">
                  <c:v>9</c:v>
                </c:pt>
              </c:numCache>
            </c:numRef>
          </c:val>
          <c:smooth val="0"/>
          <c:extLst>
            <c:ext xmlns:c16="http://schemas.microsoft.com/office/drawing/2014/chart" uri="{C3380CC4-5D6E-409C-BE32-E72D297353CC}">
              <c16:uniqueId val="{00000000-37CD-47C2-9C96-FB4BA1EFE2D2}"/>
            </c:ext>
          </c:extLst>
        </c:ser>
        <c:ser>
          <c:idx val="0"/>
          <c:order val="1"/>
          <c:tx>
            <c:strRef>
              <c:f>Sheet1!$C$1</c:f>
              <c:strCache>
                <c:ptCount val="1"/>
                <c:pt idx="0">
                  <c:v>Nhu cầu A350</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Sheet1!$A$7:$A$107</c:f>
              <c:strCache>
                <c:ptCount val="16"/>
                <c:pt idx="0">
                  <c:v>Nov-W1</c:v>
                </c:pt>
                <c:pt idx="1">
                  <c:v>Nov-W2</c:v>
                </c:pt>
                <c:pt idx="2">
                  <c:v>Nov-W3</c:v>
                </c:pt>
                <c:pt idx="3">
                  <c:v>Nov-W4</c:v>
                </c:pt>
                <c:pt idx="4">
                  <c:v>Dec-W1</c:v>
                </c:pt>
                <c:pt idx="5">
                  <c:v>Dec-W2</c:v>
                </c:pt>
                <c:pt idx="6">
                  <c:v>Dec-W3</c:v>
                </c:pt>
                <c:pt idx="7">
                  <c:v>Dec-W4</c:v>
                </c:pt>
                <c:pt idx="8">
                  <c:v>Jan-W1</c:v>
                </c:pt>
                <c:pt idx="9">
                  <c:v>Jan-W2</c:v>
                </c:pt>
                <c:pt idx="10">
                  <c:v>Jan-W3</c:v>
                </c:pt>
                <c:pt idx="11">
                  <c:v>Jan-W4</c:v>
                </c:pt>
                <c:pt idx="12">
                  <c:v>Feb-W1</c:v>
                </c:pt>
                <c:pt idx="13">
                  <c:v>Feb-W2</c:v>
                </c:pt>
                <c:pt idx="14">
                  <c:v>Feb-W3</c:v>
                </c:pt>
                <c:pt idx="15">
                  <c:v>Feb-W4</c:v>
                </c:pt>
              </c:strCache>
            </c:strRef>
          </c:cat>
          <c:val>
            <c:numRef>
              <c:f>Sheet1!$C$7:$C$107</c:f>
            </c:numRef>
          </c:val>
          <c:smooth val="0"/>
          <c:extLst>
            <c:ext xmlns:c16="http://schemas.microsoft.com/office/drawing/2014/chart" uri="{C3380CC4-5D6E-409C-BE32-E72D297353CC}">
              <c16:uniqueId val="{00000001-37CD-47C2-9C96-FB4BA1EFE2D2}"/>
            </c:ext>
          </c:extLst>
        </c:ser>
        <c:dLbls>
          <c:dLblPos val="ctr"/>
          <c:showLegendKey val="0"/>
          <c:showVal val="1"/>
          <c:showCatName val="0"/>
          <c:showSerName val="0"/>
          <c:showPercent val="0"/>
          <c:showBubbleSize val="0"/>
        </c:dLbls>
        <c:marker val="1"/>
        <c:smooth val="0"/>
        <c:axId val="322941480"/>
        <c:axId val="322943048"/>
      </c:lineChart>
      <c:catAx>
        <c:axId val="32294148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322943048"/>
        <c:crosses val="autoZero"/>
        <c:auto val="1"/>
        <c:lblAlgn val="ctr"/>
        <c:lblOffset val="100"/>
        <c:noMultiLvlLbl val="0"/>
      </c:catAx>
      <c:valAx>
        <c:axId val="322943048"/>
        <c:scaling>
          <c:orientation val="minMax"/>
          <c:max val="11"/>
          <c:min val="1"/>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322941480"/>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sz="1600" b="1"/>
      </a:pPr>
      <a:endParaRPr lang="en-US"/>
    </a:p>
  </c:txPr>
  <c:externalData r:id="rId3">
    <c:autoUpdate val="0"/>
  </c:externalData>
  <c:userShapes r:id="rId4"/>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rPr>
              <a:t>ĐỘI</a:t>
            </a:r>
            <a:r>
              <a:rPr lang="en-US" sz="1000" baseline="0" dirty="0">
                <a:solidFill>
                  <a:schemeClr val="tx1"/>
                </a:solidFill>
              </a:rPr>
              <a:t> </a:t>
            </a:r>
            <a:r>
              <a:rPr lang="en-US" sz="1000" baseline="0">
                <a:solidFill>
                  <a:schemeClr val="tx1"/>
                </a:solidFill>
              </a:rPr>
              <a:t>BAY ATR72</a:t>
            </a:r>
            <a:endParaRPr lang="en-US" sz="1000" dirty="0">
              <a:solidFill>
                <a:schemeClr val="tx1"/>
              </a:solidFill>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4"/>
                <c:pt idx="0">
                  <c:v>Nov</c:v>
                </c:pt>
                <c:pt idx="1">
                  <c:v>Dec</c:v>
                </c:pt>
                <c:pt idx="2">
                  <c:v>Jan/25</c:v>
                </c:pt>
                <c:pt idx="3">
                  <c:v>Feb</c:v>
                </c:pt>
                <c:pt idx="4">
                  <c:v>Mar</c:v>
                </c:pt>
                <c:pt idx="5">
                  <c:v>Apr</c:v>
                </c:pt>
                <c:pt idx="6">
                  <c:v>May</c:v>
                </c:pt>
                <c:pt idx="7">
                  <c:v>Jun</c:v>
                </c:pt>
                <c:pt idx="8">
                  <c:v>Jul</c:v>
                </c:pt>
                <c:pt idx="9">
                  <c:v>Aug</c:v>
                </c:pt>
                <c:pt idx="10">
                  <c:v>Sep</c:v>
                </c:pt>
                <c:pt idx="11">
                  <c:v>Oct</c:v>
                </c:pt>
                <c:pt idx="12">
                  <c:v>Nov</c:v>
                </c:pt>
                <c:pt idx="13">
                  <c:v>Dec</c:v>
                </c:pt>
              </c:strCache>
            </c:strRef>
          </c:cat>
          <c:val>
            <c:numRef>
              <c:f>Sheet1!$E$10:$E$33</c:f>
              <c:numCache>
                <c:formatCode>General</c:formatCode>
                <c:ptCount val="14"/>
                <c:pt idx="0">
                  <c:v>1</c:v>
                </c:pt>
                <c:pt idx="1">
                  <c:v>1</c:v>
                </c:pt>
                <c:pt idx="2">
                  <c:v>0</c:v>
                </c:pt>
                <c:pt idx="3">
                  <c:v>0</c:v>
                </c:pt>
                <c:pt idx="4">
                  <c:v>0</c:v>
                </c:pt>
                <c:pt idx="5">
                  <c:v>0</c:v>
                </c:pt>
                <c:pt idx="6">
                  <c:v>0</c:v>
                </c:pt>
                <c:pt idx="7">
                  <c:v>0</c:v>
                </c:pt>
                <c:pt idx="8">
                  <c:v>0</c:v>
                </c:pt>
                <c:pt idx="9">
                  <c:v>0</c:v>
                </c:pt>
                <c:pt idx="10">
                  <c:v>0</c:v>
                </c:pt>
                <c:pt idx="11">
                  <c:v>0</c:v>
                </c:pt>
                <c:pt idx="12">
                  <c:v>0</c:v>
                </c:pt>
                <c:pt idx="13">
                  <c:v>0</c:v>
                </c:pt>
              </c:numCache>
            </c:numRef>
          </c:val>
          <c:extLst>
            <c:ext xmlns:c16="http://schemas.microsoft.com/office/drawing/2014/chart" uri="{C3380CC4-5D6E-409C-BE32-E72D297353CC}">
              <c16:uniqueId val="{00000000-5DD9-45B0-A857-E17C1999913E}"/>
            </c:ext>
          </c:extLst>
        </c:ser>
        <c:dLbls>
          <c:dLblPos val="ctr"/>
          <c:showLegendKey val="0"/>
          <c:showVal val="1"/>
          <c:showCatName val="0"/>
          <c:showSerName val="0"/>
          <c:showPercent val="0"/>
          <c:showBubbleSize val="0"/>
        </c:dLbls>
        <c:gapWidth val="150"/>
        <c:axId val="322954024"/>
        <c:axId val="322950888"/>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4"/>
                <c:pt idx="0">
                  <c:v>Nov</c:v>
                </c:pt>
                <c:pt idx="1">
                  <c:v>Dec</c:v>
                </c:pt>
                <c:pt idx="2">
                  <c:v>Jan/25</c:v>
                </c:pt>
                <c:pt idx="3">
                  <c:v>Feb</c:v>
                </c:pt>
                <c:pt idx="4">
                  <c:v>Mar</c:v>
                </c:pt>
                <c:pt idx="5">
                  <c:v>Apr</c:v>
                </c:pt>
                <c:pt idx="6">
                  <c:v>May</c:v>
                </c:pt>
                <c:pt idx="7">
                  <c:v>Jun</c:v>
                </c:pt>
                <c:pt idx="8">
                  <c:v>Jul</c:v>
                </c:pt>
                <c:pt idx="9">
                  <c:v>Aug</c:v>
                </c:pt>
                <c:pt idx="10">
                  <c:v>Sep</c:v>
                </c:pt>
                <c:pt idx="11">
                  <c:v>Oct</c:v>
                </c:pt>
                <c:pt idx="12">
                  <c:v>Nov</c:v>
                </c:pt>
                <c:pt idx="13">
                  <c:v>Dec</c:v>
                </c:pt>
              </c:strCache>
            </c:strRef>
          </c:cat>
          <c:val>
            <c:numRef>
              <c:f>Sheet1!$F$10:$F$33</c:f>
              <c:numCache>
                <c:formatCode>General</c:formatCode>
                <c:ptCount val="14"/>
                <c:pt idx="0">
                  <c:v>5</c:v>
                </c:pt>
                <c:pt idx="1">
                  <c:v>5</c:v>
                </c:pt>
                <c:pt idx="2">
                  <c:v>5</c:v>
                </c:pt>
                <c:pt idx="3">
                  <c:v>5</c:v>
                </c:pt>
                <c:pt idx="4">
                  <c:v>5</c:v>
                </c:pt>
                <c:pt idx="5">
                  <c:v>5</c:v>
                </c:pt>
                <c:pt idx="6">
                  <c:v>5</c:v>
                </c:pt>
                <c:pt idx="7">
                  <c:v>5</c:v>
                </c:pt>
                <c:pt idx="8">
                  <c:v>6</c:v>
                </c:pt>
                <c:pt idx="9">
                  <c:v>6</c:v>
                </c:pt>
                <c:pt idx="10">
                  <c:v>6</c:v>
                </c:pt>
                <c:pt idx="11">
                  <c:v>6</c:v>
                </c:pt>
                <c:pt idx="12">
                  <c:v>6</c:v>
                </c:pt>
                <c:pt idx="13">
                  <c:v>6</c:v>
                </c:pt>
              </c:numCache>
            </c:numRef>
          </c:val>
          <c:smooth val="0"/>
          <c:extLst>
            <c:ext xmlns:c16="http://schemas.microsoft.com/office/drawing/2014/chart" uri="{C3380CC4-5D6E-409C-BE32-E72D297353CC}">
              <c16:uniqueId val="{00000001-5DD9-45B0-A857-E17C1999913E}"/>
            </c:ext>
          </c:extLst>
        </c:ser>
        <c:dLbls>
          <c:showLegendKey val="0"/>
          <c:showVal val="0"/>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50888"/>
        <c:crosses val="autoZero"/>
        <c:auto val="1"/>
        <c:lblAlgn val="ctr"/>
        <c:lblOffset val="100"/>
        <c:noMultiLvlLbl val="0"/>
      </c:catAx>
      <c:valAx>
        <c:axId val="322950888"/>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22954024"/>
        <c:crosses val="autoZero"/>
        <c:crossBetween val="between"/>
      </c:valAx>
      <c:spPr>
        <a:noFill/>
        <a:ln>
          <a:noFill/>
        </a:ln>
        <a:effectLst/>
      </c:spPr>
    </c:plotArea>
    <c:legend>
      <c:legendPos val="b"/>
      <c:layout>
        <c:manualLayout>
          <c:xMode val="edge"/>
          <c:yMode val="edge"/>
          <c:x val="0.67513027291531713"/>
          <c:y val="6.004108159602075E-2"/>
          <c:w val="0.30713392618610735"/>
          <c:h val="5.4412364558412099E-2"/>
        </c:manualLayout>
      </c:layout>
      <c:overlay val="0"/>
      <c:spPr>
        <a:solidFill>
          <a:schemeClr val="bg1"/>
        </a:solidFill>
        <a:ln>
          <a:solidFill>
            <a:srgbClr val="00FF0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US" sz="1600"/>
              <a:t>Số nhân nhượng theo tuần</a:t>
            </a:r>
            <a:endParaRPr lang="vi-VN" sz="1600"/>
          </a:p>
        </c:rich>
      </c:tx>
      <c:overlay val="0"/>
    </c:title>
    <c:autoTitleDeleted val="0"/>
    <c:plotArea>
      <c:layout/>
      <c:barChart>
        <c:barDir val="col"/>
        <c:grouping val="clustered"/>
        <c:varyColors val="0"/>
        <c:ser>
          <c:idx val="0"/>
          <c:order val="0"/>
          <c:tx>
            <c:strRef>
              <c:f>'[W01 (30.12.2024-05.01.2025).xlsx]Data Chart'!$C$34</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'[W01 (30.12.2024-05.01.2025).xlsx]Data Chart'!$A$35:$B$40</c:f>
              <c:strCache>
                <c:ptCount val="6"/>
                <c:pt idx="0">
                  <c:v>A320</c:v>
                </c:pt>
                <c:pt idx="1">
                  <c:v>A321</c:v>
                </c:pt>
                <c:pt idx="2">
                  <c:v>A350</c:v>
                </c:pt>
                <c:pt idx="3">
                  <c:v>B787</c:v>
                </c:pt>
                <c:pt idx="4">
                  <c:v>ATR72</c:v>
                </c:pt>
                <c:pt idx="5">
                  <c:v>Tất cả</c:v>
                </c:pt>
              </c:strCache>
            </c:strRef>
          </c:cat>
          <c:val>
            <c:numRef>
              <c:f>'[W01 (30.12.2024-05.01.2025).xlsx]Data Chart'!$C$35:$C$40</c:f>
              <c:numCache>
                <c:formatCode>General</c:formatCode>
                <c:ptCount val="6"/>
                <c:pt idx="0">
                  <c:v>0</c:v>
                </c:pt>
                <c:pt idx="1">
                  <c:v>0</c:v>
                </c:pt>
                <c:pt idx="2">
                  <c:v>0</c:v>
                </c:pt>
                <c:pt idx="3">
                  <c:v>5</c:v>
                </c:pt>
                <c:pt idx="4">
                  <c:v>0</c:v>
                </c:pt>
                <c:pt idx="5" formatCode="0">
                  <c:v>5</c:v>
                </c:pt>
              </c:numCache>
            </c:numRef>
          </c:val>
          <c:extLst>
            <c:ext xmlns:c16="http://schemas.microsoft.com/office/drawing/2014/chart" uri="{C3380CC4-5D6E-409C-BE32-E72D297353CC}">
              <c16:uniqueId val="{00000000-D06E-4EB0-90DF-A23A7D864C59}"/>
            </c:ext>
          </c:extLst>
        </c:ser>
        <c:ser>
          <c:idx val="1"/>
          <c:order val="1"/>
          <c:tx>
            <c:strRef>
              <c:f>'[W01 (30.12.2024-05.01.2025).xlsx]Data Chart'!$D$34</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'[W01 (30.12.2024-05.01.2025).xlsx]Data Chart'!$A$35:$B$40</c:f>
              <c:strCache>
                <c:ptCount val="6"/>
                <c:pt idx="0">
                  <c:v>A320</c:v>
                </c:pt>
                <c:pt idx="1">
                  <c:v>A321</c:v>
                </c:pt>
                <c:pt idx="2">
                  <c:v>A350</c:v>
                </c:pt>
                <c:pt idx="3">
                  <c:v>B787</c:v>
                </c:pt>
                <c:pt idx="4">
                  <c:v>ATR72</c:v>
                </c:pt>
                <c:pt idx="5">
                  <c:v>Tất cả</c:v>
                </c:pt>
              </c:strCache>
            </c:strRef>
          </c:cat>
          <c:val>
            <c:numRef>
              <c:f>'[W01 (30.12.2024-05.01.2025).xlsx]Data Chart'!$D$35:$D$40</c:f>
              <c:numCache>
                <c:formatCode>General</c:formatCode>
                <c:ptCount val="6"/>
                <c:pt idx="0">
                  <c:v>0</c:v>
                </c:pt>
                <c:pt idx="1">
                  <c:v>2</c:v>
                </c:pt>
                <c:pt idx="2">
                  <c:v>0</c:v>
                </c:pt>
                <c:pt idx="3">
                  <c:v>4</c:v>
                </c:pt>
                <c:pt idx="4">
                  <c:v>1</c:v>
                </c:pt>
                <c:pt idx="5" formatCode="0">
                  <c:v>7</c:v>
                </c:pt>
              </c:numCache>
            </c:numRef>
          </c:val>
          <c:extLst>
            <c:ext xmlns:c16="http://schemas.microsoft.com/office/drawing/2014/chart" uri="{C3380CC4-5D6E-409C-BE32-E72D297353CC}">
              <c16:uniqueId val="{00000001-D06E-4EB0-90DF-A23A7D864C59}"/>
            </c:ext>
          </c:extLst>
        </c:ser>
        <c:dLbls>
          <c:showLegendKey val="0"/>
          <c:showVal val="0"/>
          <c:showCatName val="0"/>
          <c:showSerName val="0"/>
          <c:showPercent val="0"/>
          <c:showBubbleSize val="0"/>
        </c:dLbls>
        <c:gapWidth val="150"/>
        <c:axId val="355846768"/>
        <c:axId val="355847160"/>
      </c:barChart>
      <c:catAx>
        <c:axId val="355846768"/>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355847160"/>
        <c:crosses val="autoZero"/>
        <c:auto val="1"/>
        <c:lblAlgn val="ctr"/>
        <c:lblOffset val="100"/>
        <c:noMultiLvlLbl val="0"/>
      </c:catAx>
      <c:valAx>
        <c:axId val="355847160"/>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355846768"/>
        <c:crosses val="autoZero"/>
        <c:crossBetween val="between"/>
        <c:majorUnit val="4"/>
        <c:minorUnit val="2"/>
      </c:valAx>
    </c:plotArea>
    <c:legend>
      <c:legendPos val="b"/>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5.9895833333333343E-2</c:v>
                </c:pt>
                <c:pt idx="1">
                  <c:v>7.9131765463917675E-2</c:v>
                </c:pt>
                <c:pt idx="2">
                  <c:v>9.3630268199233785E-2</c:v>
                </c:pt>
                <c:pt idx="3">
                  <c:v>0.158531746031746</c:v>
                </c:pt>
                <c:pt idx="4">
                  <c:v>0.2989444444444444</c:v>
                </c:pt>
                <c:pt idx="5">
                  <c:v>0.2598474499089255</c:v>
                </c:pt>
                <c:pt idx="6">
                  <c:v>0.16631504922644166</c:v>
                </c:pt>
                <c:pt idx="7">
                  <c:v>0.14856830289193318</c:v>
                </c:pt>
                <c:pt idx="8">
                  <c:v>4.3209876543209902E-2</c:v>
                </c:pt>
              </c:numCache>
            </c:numRef>
          </c:val>
          <c:extLst>
            <c:ext xmlns:c16="http://schemas.microsoft.com/office/drawing/2014/chart" uri="{C3380CC4-5D6E-409C-BE32-E72D297353CC}">
              <c16:uniqueId val="{00000000-F087-4487-822C-D2AE684BEBE0}"/>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6.276897496087637E-2</c:v>
                </c:pt>
                <c:pt idx="1">
                  <c:v>8.1702998528329795E-2</c:v>
                </c:pt>
                <c:pt idx="2">
                  <c:v>9.1924603174603201E-2</c:v>
                </c:pt>
                <c:pt idx="3">
                  <c:v>0.1755050505050505</c:v>
                </c:pt>
                <c:pt idx="4">
                  <c:v>0.28593223905723919</c:v>
                </c:pt>
                <c:pt idx="5">
                  <c:v>0.25083137715179987</c:v>
                </c:pt>
                <c:pt idx="6">
                  <c:v>0.14909638554216872</c:v>
                </c:pt>
                <c:pt idx="7">
                  <c:v>0.14208770778652682</c:v>
                </c:pt>
                <c:pt idx="8">
                  <c:v>4.3106006647673334E-2</c:v>
                </c:pt>
              </c:numCache>
            </c:numRef>
          </c:val>
          <c:extLst>
            <c:ext xmlns:c16="http://schemas.microsoft.com/office/drawing/2014/chart" uri="{C3380CC4-5D6E-409C-BE32-E72D297353CC}">
              <c16:uniqueId val="{00000001-F087-4487-822C-D2AE684BEBE0}"/>
            </c:ext>
          </c:extLst>
        </c:ser>
        <c:dLbls>
          <c:showLegendKey val="0"/>
          <c:showVal val="0"/>
          <c:showCatName val="0"/>
          <c:showSerName val="0"/>
          <c:showPercent val="0"/>
          <c:showBubbleSize val="0"/>
        </c:dLbls>
        <c:gapWidth val="75"/>
        <c:axId val="1014707104"/>
        <c:axId val="1014707520"/>
      </c:barChart>
      <c:catAx>
        <c:axId val="10147071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520"/>
        <c:crosses val="autoZero"/>
        <c:auto val="1"/>
        <c:lblAlgn val="ctr"/>
        <c:lblOffset val="100"/>
        <c:noMultiLvlLbl val="0"/>
      </c:catAx>
      <c:valAx>
        <c:axId val="101470752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1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6.2857142857142865</c:v>
                </c:pt>
                <c:pt idx="1">
                  <c:v>5.6849816849816843</c:v>
                </c:pt>
                <c:pt idx="2">
                  <c:v>4.9714285714285724</c:v>
                </c:pt>
                <c:pt idx="3">
                  <c:v>2.2857142857142856</c:v>
                </c:pt>
                <c:pt idx="4">
                  <c:v>3.0982142857142856</c:v>
                </c:pt>
                <c:pt idx="5">
                  <c:v>6.1714285714285717</c:v>
                </c:pt>
              </c:numCache>
            </c:numRef>
          </c:val>
          <c:extLst>
            <c:ext xmlns:c16="http://schemas.microsoft.com/office/drawing/2014/chart" uri="{C3380CC4-5D6E-409C-BE32-E72D297353CC}">
              <c16:uniqueId val="{00000000-5B80-47FF-BE3F-F623D952D746}"/>
            </c:ext>
          </c:extLst>
        </c:ser>
        <c:ser>
          <c:idx val="1"/>
          <c:order val="1"/>
          <c:tx>
            <c:strRef>
              <c:f>Week!$K$15</c:f>
              <c:strCache>
                <c:ptCount val="1"/>
                <c:pt idx="0">
                  <c:v>This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6.7619047619047619</c:v>
                </c:pt>
                <c:pt idx="1">
                  <c:v>5.5311355311355319</c:v>
                </c:pt>
                <c:pt idx="2">
                  <c:v>5</c:v>
                </c:pt>
                <c:pt idx="3">
                  <c:v>2.3571428571428572</c:v>
                </c:pt>
                <c:pt idx="4">
                  <c:v>2.9579831932773111</c:v>
                </c:pt>
                <c:pt idx="5">
                  <c:v>6.6857142857142859</c:v>
                </c:pt>
              </c:numCache>
            </c:numRef>
          </c:val>
          <c:extLst>
            <c:ext xmlns:c16="http://schemas.microsoft.com/office/drawing/2014/chart" uri="{C3380CC4-5D6E-409C-BE32-E72D297353CC}">
              <c16:uniqueId val="{00000001-5B80-47FF-BE3F-F623D952D746}"/>
            </c:ext>
          </c:extLst>
        </c:ser>
        <c:dLbls>
          <c:showLegendKey val="0"/>
          <c:showVal val="1"/>
          <c:showCatName val="0"/>
          <c:showSerName val="0"/>
          <c:showPercent val="0"/>
          <c:showBubbleSize val="0"/>
        </c:dLbls>
        <c:gapWidth val="150"/>
        <c:axId val="931954720"/>
        <c:axId val="931955968"/>
      </c:barChart>
      <c:catAx>
        <c:axId val="9319547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5968"/>
        <c:crosses val="autoZero"/>
        <c:auto val="1"/>
        <c:lblAlgn val="ctr"/>
        <c:lblOffset val="100"/>
        <c:noMultiLvlLbl val="0"/>
      </c:catAx>
      <c:valAx>
        <c:axId val="9319559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4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chemeClr val="accent1">
                  <a:shade val="95000"/>
                </a:schemeClr>
              </a:solidFill>
              <a:round/>
            </a:ln>
            <a:effectLst/>
          </c:spPr>
          <c:invertIfNegative val="0"/>
          <c:dPt>
            <c:idx val="0"/>
            <c:invertIfNegative val="0"/>
            <c:bubble3D val="0"/>
            <c:spPr>
              <a:solidFill>
                <a:srgbClr val="ED7D31"/>
              </a:solidFill>
              <a:ln w="9525" cap="flat" cmpd="sng" algn="ctr">
                <a:solidFill>
                  <a:schemeClr val="accent1">
                    <a:shade val="95000"/>
                  </a:schemeClr>
                </a:solidFill>
                <a:round/>
              </a:ln>
              <a:effectLst/>
            </c:spPr>
            <c:extLst>
              <c:ext xmlns:c16="http://schemas.microsoft.com/office/drawing/2014/chart" uri="{C3380CC4-5D6E-409C-BE32-E72D297353CC}">
                <c16:uniqueId val="{00000001-57DB-4B43-BC49-BE75F95E1FBA}"/>
              </c:ext>
            </c:extLst>
          </c:dPt>
          <c:dPt>
            <c:idx val="1"/>
            <c:invertIfNegative val="0"/>
            <c:bubble3D val="0"/>
            <c:spPr>
              <a:solidFill>
                <a:srgbClr val="ED7D31"/>
              </a:solidFill>
              <a:ln w="9525" cap="flat" cmpd="sng" algn="ctr">
                <a:solidFill>
                  <a:schemeClr val="accent1">
                    <a:shade val="95000"/>
                  </a:schemeClr>
                </a:solidFill>
                <a:round/>
              </a:ln>
              <a:effectLst/>
            </c:spPr>
            <c:extLst>
              <c:ext xmlns:c16="http://schemas.microsoft.com/office/drawing/2014/chart" uri="{C3380CC4-5D6E-409C-BE32-E72D297353CC}">
                <c16:uniqueId val="{00000003-57DB-4B43-BC49-BE75F95E1FBA}"/>
              </c:ext>
            </c:extLst>
          </c:dPt>
          <c:dPt>
            <c:idx val="2"/>
            <c:invertIfNegative val="0"/>
            <c:bubble3D val="0"/>
            <c:spPr>
              <a:solidFill>
                <a:srgbClr val="ED7D31"/>
              </a:solidFill>
              <a:ln w="9525" cap="flat" cmpd="sng" algn="ctr">
                <a:solidFill>
                  <a:schemeClr val="accent1">
                    <a:shade val="95000"/>
                  </a:schemeClr>
                </a:solidFill>
                <a:round/>
              </a:ln>
              <a:effectLst/>
            </c:spPr>
            <c:extLst>
              <c:ext xmlns:c16="http://schemas.microsoft.com/office/drawing/2014/chart" uri="{C3380CC4-5D6E-409C-BE32-E72D297353CC}">
                <c16:uniqueId val="{00000005-57DB-4B43-BC49-BE75F95E1FBA}"/>
              </c:ext>
            </c:extLst>
          </c:dPt>
          <c:dPt>
            <c:idx val="3"/>
            <c:invertIfNegative val="0"/>
            <c:bubble3D val="0"/>
            <c:spPr>
              <a:solidFill>
                <a:srgbClr val="ED7D31"/>
              </a:solidFill>
              <a:ln w="9525" cap="flat" cmpd="sng" algn="ctr">
                <a:solidFill>
                  <a:schemeClr val="accent1">
                    <a:shade val="95000"/>
                  </a:schemeClr>
                </a:solidFill>
                <a:round/>
              </a:ln>
              <a:effectLst/>
            </c:spPr>
            <c:extLst>
              <c:ext xmlns:c16="http://schemas.microsoft.com/office/drawing/2014/chart" uri="{C3380CC4-5D6E-409C-BE32-E72D297353CC}">
                <c16:uniqueId val="{00000007-57DB-4B43-BC49-BE75F95E1FBA}"/>
              </c:ext>
            </c:extLst>
          </c:dPt>
          <c:dPt>
            <c:idx val="4"/>
            <c:invertIfNegative val="0"/>
            <c:bubble3D val="0"/>
            <c:spPr>
              <a:solidFill>
                <a:srgbClr val="ED7D31"/>
              </a:solidFill>
              <a:ln w="9525" cap="flat" cmpd="sng" algn="ctr">
                <a:solidFill>
                  <a:schemeClr val="accent1">
                    <a:shade val="95000"/>
                  </a:schemeClr>
                </a:solidFill>
                <a:round/>
              </a:ln>
              <a:effectLst/>
            </c:spPr>
            <c:extLst>
              <c:ext xmlns:c16="http://schemas.microsoft.com/office/drawing/2014/chart" uri="{C3380CC4-5D6E-409C-BE32-E72D297353CC}">
                <c16:uniqueId val="{00000009-57DB-4B43-BC49-BE75F95E1FBA}"/>
              </c:ext>
            </c:extLst>
          </c:dPt>
          <c:dPt>
            <c:idx val="5"/>
            <c:invertIfNegative val="0"/>
            <c:bubble3D val="0"/>
            <c:spPr>
              <a:solidFill>
                <a:srgbClr val="ED7D31"/>
              </a:solidFill>
              <a:ln w="9525" cap="flat" cmpd="sng" algn="ctr">
                <a:solidFill>
                  <a:schemeClr val="accent1">
                    <a:shade val="95000"/>
                  </a:schemeClr>
                </a:solidFill>
                <a:round/>
              </a:ln>
              <a:effectLst/>
            </c:spPr>
            <c:extLst>
              <c:ext xmlns:c16="http://schemas.microsoft.com/office/drawing/2014/chart" uri="{C3380CC4-5D6E-409C-BE32-E72D297353CC}">
                <c16:uniqueId val="{0000000B-57DB-4B43-BC49-BE75F95E1FBA}"/>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Week!$B$35:$BQ$35</c:f>
              <c:numCache>
                <c:formatCode>d\-mmm</c:formatCode>
                <c:ptCount val="68"/>
                <c:pt idx="0">
                  <c:v>45656</c:v>
                </c:pt>
                <c:pt idx="1">
                  <c:v>45657</c:v>
                </c:pt>
                <c:pt idx="2">
                  <c:v>45658</c:v>
                </c:pt>
                <c:pt idx="3">
                  <c:v>45659</c:v>
                </c:pt>
                <c:pt idx="4">
                  <c:v>45660</c:v>
                </c:pt>
                <c:pt idx="5">
                  <c:v>45661</c:v>
                </c:pt>
                <c:pt idx="6">
                  <c:v>45662</c:v>
                </c:pt>
                <c:pt idx="7">
                  <c:v>45663</c:v>
                </c:pt>
                <c:pt idx="8">
                  <c:v>45664</c:v>
                </c:pt>
                <c:pt idx="9">
                  <c:v>45665</c:v>
                </c:pt>
                <c:pt idx="10">
                  <c:v>45666</c:v>
                </c:pt>
                <c:pt idx="11">
                  <c:v>45667</c:v>
                </c:pt>
                <c:pt idx="12">
                  <c:v>45668</c:v>
                </c:pt>
                <c:pt idx="13">
                  <c:v>45669</c:v>
                </c:pt>
                <c:pt idx="14">
                  <c:v>45670</c:v>
                </c:pt>
                <c:pt idx="15">
                  <c:v>45671</c:v>
                </c:pt>
                <c:pt idx="16">
                  <c:v>45672</c:v>
                </c:pt>
                <c:pt idx="17">
                  <c:v>45673</c:v>
                </c:pt>
                <c:pt idx="18">
                  <c:v>45674</c:v>
                </c:pt>
                <c:pt idx="19">
                  <c:v>45675</c:v>
                </c:pt>
                <c:pt idx="20">
                  <c:v>45676</c:v>
                </c:pt>
                <c:pt idx="21">
                  <c:v>45677</c:v>
                </c:pt>
                <c:pt idx="22">
                  <c:v>45678</c:v>
                </c:pt>
                <c:pt idx="23">
                  <c:v>45679</c:v>
                </c:pt>
                <c:pt idx="24">
                  <c:v>45680</c:v>
                </c:pt>
                <c:pt idx="25">
                  <c:v>45681</c:v>
                </c:pt>
                <c:pt idx="26">
                  <c:v>45682</c:v>
                </c:pt>
                <c:pt idx="27">
                  <c:v>45683</c:v>
                </c:pt>
                <c:pt idx="28">
                  <c:v>45684</c:v>
                </c:pt>
                <c:pt idx="29">
                  <c:v>45685</c:v>
                </c:pt>
                <c:pt idx="30">
                  <c:v>45686</c:v>
                </c:pt>
                <c:pt idx="31">
                  <c:v>45687</c:v>
                </c:pt>
                <c:pt idx="32">
                  <c:v>45688</c:v>
                </c:pt>
                <c:pt idx="33">
                  <c:v>45689</c:v>
                </c:pt>
                <c:pt idx="34">
                  <c:v>45690</c:v>
                </c:pt>
                <c:pt idx="35">
                  <c:v>45691</c:v>
                </c:pt>
                <c:pt idx="36">
                  <c:v>45692</c:v>
                </c:pt>
                <c:pt idx="37">
                  <c:v>45693</c:v>
                </c:pt>
                <c:pt idx="38">
                  <c:v>45694</c:v>
                </c:pt>
                <c:pt idx="39">
                  <c:v>45695</c:v>
                </c:pt>
                <c:pt idx="40">
                  <c:v>45696</c:v>
                </c:pt>
                <c:pt idx="41">
                  <c:v>45697</c:v>
                </c:pt>
                <c:pt idx="42">
                  <c:v>45698</c:v>
                </c:pt>
                <c:pt idx="43">
                  <c:v>45699</c:v>
                </c:pt>
                <c:pt idx="44">
                  <c:v>45700</c:v>
                </c:pt>
                <c:pt idx="45">
                  <c:v>45701</c:v>
                </c:pt>
                <c:pt idx="46">
                  <c:v>45702</c:v>
                </c:pt>
                <c:pt idx="47">
                  <c:v>45703</c:v>
                </c:pt>
                <c:pt idx="48">
                  <c:v>45704</c:v>
                </c:pt>
                <c:pt idx="49">
                  <c:v>45705</c:v>
                </c:pt>
                <c:pt idx="50">
                  <c:v>45706</c:v>
                </c:pt>
                <c:pt idx="51">
                  <c:v>45707</c:v>
                </c:pt>
                <c:pt idx="52">
                  <c:v>45708</c:v>
                </c:pt>
                <c:pt idx="53">
                  <c:v>45709</c:v>
                </c:pt>
                <c:pt idx="54">
                  <c:v>45710</c:v>
                </c:pt>
                <c:pt idx="55">
                  <c:v>45711</c:v>
                </c:pt>
                <c:pt idx="56">
                  <c:v>45712</c:v>
                </c:pt>
                <c:pt idx="57">
                  <c:v>45713</c:v>
                </c:pt>
                <c:pt idx="58">
                  <c:v>45714</c:v>
                </c:pt>
                <c:pt idx="59">
                  <c:v>45715</c:v>
                </c:pt>
                <c:pt idx="60">
                  <c:v>45716</c:v>
                </c:pt>
              </c:numCache>
            </c:numRef>
          </c:cat>
          <c:val>
            <c:numRef>
              <c:f>Week!$B$36:$BQ$36</c:f>
              <c:numCache>
                <c:formatCode>General</c:formatCode>
                <c:ptCount val="68"/>
                <c:pt idx="0">
                  <c:v>372</c:v>
                </c:pt>
                <c:pt idx="1">
                  <c:v>365</c:v>
                </c:pt>
                <c:pt idx="2">
                  <c:v>372</c:v>
                </c:pt>
                <c:pt idx="3">
                  <c:v>359</c:v>
                </c:pt>
                <c:pt idx="4">
                  <c:v>379</c:v>
                </c:pt>
                <c:pt idx="5">
                  <c:v>361</c:v>
                </c:pt>
                <c:pt idx="6">
                  <c:v>377</c:v>
                </c:pt>
                <c:pt idx="7">
                  <c:v>362</c:v>
                </c:pt>
                <c:pt idx="8">
                  <c:v>358</c:v>
                </c:pt>
                <c:pt idx="9">
                  <c:v>359</c:v>
                </c:pt>
                <c:pt idx="10">
                  <c:v>367</c:v>
                </c:pt>
                <c:pt idx="11">
                  <c:v>374</c:v>
                </c:pt>
                <c:pt idx="12">
                  <c:v>372</c:v>
                </c:pt>
                <c:pt idx="13">
                  <c:v>379</c:v>
                </c:pt>
                <c:pt idx="14">
                  <c:v>436</c:v>
                </c:pt>
                <c:pt idx="15">
                  <c:v>448</c:v>
                </c:pt>
                <c:pt idx="16">
                  <c:v>456</c:v>
                </c:pt>
                <c:pt idx="17">
                  <c:v>457</c:v>
                </c:pt>
                <c:pt idx="18">
                  <c:v>456</c:v>
                </c:pt>
                <c:pt idx="19">
                  <c:v>454</c:v>
                </c:pt>
                <c:pt idx="20">
                  <c:v>469</c:v>
                </c:pt>
                <c:pt idx="21">
                  <c:v>467</c:v>
                </c:pt>
                <c:pt idx="22">
                  <c:v>512</c:v>
                </c:pt>
                <c:pt idx="23">
                  <c:v>523</c:v>
                </c:pt>
                <c:pt idx="24">
                  <c:v>532</c:v>
                </c:pt>
                <c:pt idx="25">
                  <c:v>544</c:v>
                </c:pt>
                <c:pt idx="26">
                  <c:v>528</c:v>
                </c:pt>
                <c:pt idx="27">
                  <c:v>533</c:v>
                </c:pt>
                <c:pt idx="28">
                  <c:v>541</c:v>
                </c:pt>
                <c:pt idx="29">
                  <c:v>499</c:v>
                </c:pt>
                <c:pt idx="30">
                  <c:v>469</c:v>
                </c:pt>
                <c:pt idx="31">
                  <c:v>493</c:v>
                </c:pt>
                <c:pt idx="32">
                  <c:v>509</c:v>
                </c:pt>
                <c:pt idx="33">
                  <c:v>538</c:v>
                </c:pt>
                <c:pt idx="34">
                  <c:v>565</c:v>
                </c:pt>
                <c:pt idx="35">
                  <c:v>560</c:v>
                </c:pt>
                <c:pt idx="36">
                  <c:v>553</c:v>
                </c:pt>
                <c:pt idx="37">
                  <c:v>549</c:v>
                </c:pt>
                <c:pt idx="38">
                  <c:v>548</c:v>
                </c:pt>
                <c:pt idx="39">
                  <c:v>548</c:v>
                </c:pt>
                <c:pt idx="40">
                  <c:v>533</c:v>
                </c:pt>
                <c:pt idx="41">
                  <c:v>539</c:v>
                </c:pt>
                <c:pt idx="42">
                  <c:v>510</c:v>
                </c:pt>
                <c:pt idx="43">
                  <c:v>506</c:v>
                </c:pt>
                <c:pt idx="44">
                  <c:v>501</c:v>
                </c:pt>
                <c:pt idx="45">
                  <c:v>425</c:v>
                </c:pt>
                <c:pt idx="46">
                  <c:v>425</c:v>
                </c:pt>
                <c:pt idx="47">
                  <c:v>424</c:v>
                </c:pt>
                <c:pt idx="48">
                  <c:v>428</c:v>
                </c:pt>
                <c:pt idx="49">
                  <c:v>399</c:v>
                </c:pt>
                <c:pt idx="50">
                  <c:v>387</c:v>
                </c:pt>
                <c:pt idx="51">
                  <c:v>394</c:v>
                </c:pt>
                <c:pt idx="52">
                  <c:v>397</c:v>
                </c:pt>
                <c:pt idx="53">
                  <c:v>406</c:v>
                </c:pt>
                <c:pt idx="54">
                  <c:v>408</c:v>
                </c:pt>
                <c:pt idx="55">
                  <c:v>408</c:v>
                </c:pt>
                <c:pt idx="56">
                  <c:v>388</c:v>
                </c:pt>
                <c:pt idx="57">
                  <c:v>391</c:v>
                </c:pt>
                <c:pt idx="58">
                  <c:v>384</c:v>
                </c:pt>
                <c:pt idx="59">
                  <c:v>391</c:v>
                </c:pt>
                <c:pt idx="60">
                  <c:v>387</c:v>
                </c:pt>
              </c:numCache>
            </c:numRef>
          </c:val>
          <c:extLst>
            <c:ext xmlns:c16="http://schemas.microsoft.com/office/drawing/2014/chart" uri="{C3380CC4-5D6E-409C-BE32-E72D297353CC}">
              <c16:uniqueId val="{0000000C-57DB-4B43-BC49-BE75F95E1FBA}"/>
            </c:ext>
          </c:extLst>
        </c:ser>
        <c:dLbls>
          <c:showLegendKey val="0"/>
          <c:showVal val="1"/>
          <c:showCatName val="0"/>
          <c:showSerName val="0"/>
          <c:showPercent val="0"/>
          <c:showBubbleSize val="0"/>
        </c:dLbls>
        <c:gapWidth val="75"/>
        <c:axId val="2029441984"/>
        <c:axId val="2029444064"/>
      </c:barChart>
      <c:dateAx>
        <c:axId val="2029441984"/>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4064"/>
        <c:crosses val="autoZero"/>
        <c:auto val="1"/>
        <c:lblOffset val="100"/>
        <c:baseTimeUnit val="days"/>
      </c:dateAx>
      <c:valAx>
        <c:axId val="2029444064"/>
        <c:scaling>
          <c:orientation val="minMax"/>
          <c:max val="590"/>
          <c:min val="25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1984"/>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6.7142857142857144</c:v>
                </c:pt>
                <c:pt idx="1">
                  <c:v>5.8644688644688658</c:v>
                </c:pt>
                <c:pt idx="2">
                  <c:v>5.9142857142857137</c:v>
                </c:pt>
                <c:pt idx="3">
                  <c:v>2.2714285714285714</c:v>
                </c:pt>
                <c:pt idx="4">
                  <c:v>2.9915966386554622</c:v>
                </c:pt>
                <c:pt idx="5">
                  <c:v>7.9642857142857144</c:v>
                </c:pt>
              </c:numCache>
            </c:numRef>
          </c:val>
          <c:extLst>
            <c:ext xmlns:c16="http://schemas.microsoft.com/office/drawing/2014/chart" uri="{C3380CC4-5D6E-409C-BE32-E72D297353CC}">
              <c16:uniqueId val="{00000000-9A96-4039-AA23-8DB47477A6C7}"/>
            </c:ext>
          </c:extLst>
        </c:ser>
        <c:ser>
          <c:idx val="1"/>
          <c:order val="1"/>
          <c:tx>
            <c:strRef>
              <c:f>Week!$K$15</c:f>
              <c:strCache>
                <c:ptCount val="1"/>
                <c:pt idx="0">
                  <c:v>This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6.238095238095239</c:v>
                </c:pt>
                <c:pt idx="1">
                  <c:v>5.9047619047619042</c:v>
                </c:pt>
                <c:pt idx="2">
                  <c:v>4.9142857142857137</c:v>
                </c:pt>
                <c:pt idx="3">
                  <c:v>2.5</c:v>
                </c:pt>
                <c:pt idx="4">
                  <c:v>3.3303571428571428</c:v>
                </c:pt>
                <c:pt idx="5">
                  <c:v>6.8571428571428568</c:v>
                </c:pt>
              </c:numCache>
            </c:numRef>
          </c:val>
          <c:extLst>
            <c:ext xmlns:c16="http://schemas.microsoft.com/office/drawing/2014/chart" uri="{C3380CC4-5D6E-409C-BE32-E72D297353CC}">
              <c16:uniqueId val="{00000001-9A96-4039-AA23-8DB47477A6C7}"/>
            </c:ext>
          </c:extLst>
        </c:ser>
        <c:dLbls>
          <c:showLegendKey val="0"/>
          <c:showVal val="1"/>
          <c:showCatName val="0"/>
          <c:showSerName val="0"/>
          <c:showPercent val="0"/>
          <c:showBubbleSize val="0"/>
        </c:dLbls>
        <c:gapWidth val="150"/>
        <c:axId val="931954720"/>
        <c:axId val="931955968"/>
      </c:barChart>
      <c:catAx>
        <c:axId val="9319547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5968"/>
        <c:crosses val="autoZero"/>
        <c:auto val="1"/>
        <c:lblAlgn val="ctr"/>
        <c:lblOffset val="100"/>
        <c:noMultiLvlLbl val="0"/>
      </c:catAx>
      <c:valAx>
        <c:axId val="9319559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4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13.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0.3797</cdr:x>
      <cdr:y>0.79526</cdr:y>
    </cdr:from>
    <cdr:to>
      <cdr:x>0.48327</cdr:x>
      <cdr:y>0.86114</cdr:y>
    </cdr:to>
    <cdr:sp macro="" textlink="">
      <cdr:nvSpPr>
        <cdr:cNvPr id="2" name="TextBox 1">
          <a:extLst xmlns:a="http://schemas.openxmlformats.org/drawingml/2006/main">
            <a:ext uri="{FF2B5EF4-FFF2-40B4-BE49-F238E27FC236}">
              <a16:creationId xmlns:a16="http://schemas.microsoft.com/office/drawing/2014/main" id="{06015A32-1E3C-6359-2AE7-55045DA3B5A1}"/>
            </a:ext>
          </a:extLst>
        </cdr:cNvPr>
        <cdr:cNvSpPr txBox="1"/>
      </cdr:nvSpPr>
      <cdr:spPr>
        <a:xfrm xmlns:a="http://schemas.openxmlformats.org/drawingml/2006/main">
          <a:off x="1828811" y="2972323"/>
          <a:ext cx="498855" cy="246221"/>
        </a:xfrm>
        <a:prstGeom xmlns:a="http://schemas.openxmlformats.org/drawingml/2006/main" prst="rect">
          <a:avLst/>
        </a:prstGeom>
        <a:noFill xmlns:a="http://schemas.openxmlformats.org/drawingml/2006/main"/>
      </cdr:spPr>
      <cdr:txBody>
        <a:bodyPr xmlns:a="http://schemas.openxmlformats.org/drawingml/2006/main" vertOverflow="clip" wrap="none" rtlCol="0">
          <a:spAutoFit/>
        </a:bodyPr>
        <a:lstStyle xmlns:a="http://schemas.openxmlformats.org/drawingml/2006/main"/>
        <a:p xmlns:a="http://schemas.openxmlformats.org/drawingml/2006/main">
          <a:r>
            <a:rPr lang="en-US" sz="1000" b="1" kern="1200" dirty="0">
              <a:solidFill>
                <a:srgbClr val="D2A43B"/>
              </a:solidFill>
              <a:latin typeface="Montserrat" pitchFamily="2" charset="77"/>
            </a:rPr>
            <a:t>2025</a:t>
          </a:r>
        </a:p>
      </cdr:txBody>
    </cdr:sp>
  </cdr:relSizeAnchor>
</c:userShapes>
</file>

<file path=ppt/drawings/drawing2.xml><?xml version="1.0" encoding="utf-8"?>
<c:userShapes xmlns:c="http://schemas.openxmlformats.org/drawingml/2006/chart">
  <cdr:relSizeAnchor xmlns:cdr="http://schemas.openxmlformats.org/drawingml/2006/chartDrawing">
    <cdr:from>
      <cdr:x>0.07349</cdr:x>
      <cdr:y>0.76219</cdr:y>
    </cdr:from>
    <cdr:to>
      <cdr:x>0.97416</cdr:x>
      <cdr:y>0.82679</cdr:y>
    </cdr:to>
    <cdr:sp macro="" textlink="">
      <cdr:nvSpPr>
        <cdr:cNvPr id="4" name="Rectangle 3">
          <a:extLst xmlns:a="http://schemas.openxmlformats.org/drawingml/2006/main">
            <a:ext uri="{FF2B5EF4-FFF2-40B4-BE49-F238E27FC236}">
              <a16:creationId xmlns:a16="http://schemas.microsoft.com/office/drawing/2014/main" id="{338E3D7E-F7D1-440F-A166-CB5C793E6271}"/>
            </a:ext>
          </a:extLst>
        </cdr:cNvPr>
        <cdr:cNvSpPr/>
      </cdr:nvSpPr>
      <cdr:spPr>
        <a:xfrm xmlns:a="http://schemas.openxmlformats.org/drawingml/2006/main">
          <a:off x="838200" y="2910954"/>
          <a:ext cx="10272399" cy="246705"/>
        </a:xfrm>
        <a:prstGeom xmlns:a="http://schemas.openxmlformats.org/drawingml/2006/main" prst="rect">
          <a:avLst/>
        </a:prstGeom>
        <a:solidFill xmlns:a="http://schemas.openxmlformats.org/drawingml/2006/main">
          <a:srgbClr val="00B0F0"/>
        </a:solidFill>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900" b="1"/>
            <a:t>A886  thiếu 2 động cơ</a:t>
          </a:r>
          <a:endParaRPr lang="en-US" sz="900" b="1" dirty="0"/>
        </a:p>
      </cdr:txBody>
    </cdr:sp>
  </cdr:relSizeAnchor>
  <cdr:relSizeAnchor xmlns:cdr="http://schemas.openxmlformats.org/drawingml/2006/chartDrawing">
    <cdr:from>
      <cdr:x>0.07349</cdr:x>
      <cdr:y>0.68238</cdr:y>
    </cdr:from>
    <cdr:to>
      <cdr:x>0.97416</cdr:x>
      <cdr:y>0.74224</cdr:y>
    </cdr:to>
    <cdr:sp macro="" textlink="">
      <cdr:nvSpPr>
        <cdr:cNvPr id="5" name="Rectangle 4">
          <a:extLst xmlns:a="http://schemas.openxmlformats.org/drawingml/2006/main">
            <a:ext uri="{FF2B5EF4-FFF2-40B4-BE49-F238E27FC236}">
              <a16:creationId xmlns:a16="http://schemas.microsoft.com/office/drawing/2014/main" id="{AC001FB9-20D7-43C4-8A74-EF08DC900745}"/>
            </a:ext>
          </a:extLst>
        </cdr:cNvPr>
        <cdr:cNvSpPr/>
      </cdr:nvSpPr>
      <cdr:spPr>
        <a:xfrm xmlns:a="http://schemas.openxmlformats.org/drawingml/2006/main">
          <a:off x="838201" y="2606136"/>
          <a:ext cx="10272406" cy="228617"/>
        </a:xfrm>
        <a:prstGeom xmlns:a="http://schemas.openxmlformats.org/drawingml/2006/main" prst="rect">
          <a:avLst/>
        </a:prstGeom>
        <a:solidFill xmlns:a="http://schemas.openxmlformats.org/drawingml/2006/main">
          <a:srgbClr val="0070C0"/>
        </a:solidFill>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900" b="1"/>
            <a:t>A887 lắp 2 động cơ đến hạn kiểm tra LPT</a:t>
          </a:r>
        </a:p>
        <a:p xmlns:a="http://schemas.openxmlformats.org/drawingml/2006/main">
          <a:endParaRPr lang="en-US" sz="900" b="1" dirty="0"/>
        </a:p>
      </cdr:txBody>
    </cdr:sp>
  </cdr:relSizeAnchor>
  <cdr:relSizeAnchor xmlns:cdr="http://schemas.openxmlformats.org/drawingml/2006/chartDrawing">
    <cdr:from>
      <cdr:x>0.07702</cdr:x>
      <cdr:y>0.60258</cdr:y>
    </cdr:from>
    <cdr:to>
      <cdr:x>0.97416</cdr:x>
      <cdr:y>0.66243</cdr:y>
    </cdr:to>
    <cdr:sp macro="" textlink="">
      <cdr:nvSpPr>
        <cdr:cNvPr id="3" name="Rectangle 2">
          <a:extLst xmlns:a="http://schemas.openxmlformats.org/drawingml/2006/main">
            <a:ext uri="{FF2B5EF4-FFF2-40B4-BE49-F238E27FC236}">
              <a16:creationId xmlns:a16="http://schemas.microsoft.com/office/drawing/2014/main" id="{8C06442C-9D9E-F4F8-6680-E3EEBE834D35}"/>
            </a:ext>
          </a:extLst>
        </cdr:cNvPr>
        <cdr:cNvSpPr/>
      </cdr:nvSpPr>
      <cdr:spPr>
        <a:xfrm xmlns:a="http://schemas.openxmlformats.org/drawingml/2006/main">
          <a:off x="684017" y="1912981"/>
          <a:ext cx="7967945" cy="190003"/>
        </a:xfrm>
        <a:prstGeom xmlns:a="http://schemas.openxmlformats.org/drawingml/2006/main" prst="rect">
          <a:avLst/>
        </a:prstGeom>
        <a:solidFill xmlns:a="http://schemas.openxmlformats.org/drawingml/2006/main">
          <a:srgbClr val="00B0F0"/>
        </a:solidFill>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900" b="1"/>
            <a:t>A898 lắp 2 động cơ đến hạn kiểm tra LPT</a:t>
          </a:r>
          <a:endParaRPr lang="en-US" sz="900" b="1" dirty="0"/>
        </a:p>
      </cdr:txBody>
    </cdr:sp>
  </cdr:relSizeAnchor>
  <cdr:relSizeAnchor xmlns:cdr="http://schemas.openxmlformats.org/drawingml/2006/chartDrawing">
    <cdr:from>
      <cdr:x>0.07446</cdr:x>
      <cdr:y>0.51411</cdr:y>
    </cdr:from>
    <cdr:to>
      <cdr:x>0.97416</cdr:x>
      <cdr:y>0.57397</cdr:y>
    </cdr:to>
    <cdr:sp macro="" textlink="">
      <cdr:nvSpPr>
        <cdr:cNvPr id="6" name="Rectangle 5">
          <a:extLst xmlns:a="http://schemas.openxmlformats.org/drawingml/2006/main">
            <a:ext uri="{FF2B5EF4-FFF2-40B4-BE49-F238E27FC236}">
              <a16:creationId xmlns:a16="http://schemas.microsoft.com/office/drawing/2014/main" id="{3CB04933-FC0C-D6B1-4ACB-5A3CDF5466E3}"/>
            </a:ext>
          </a:extLst>
        </cdr:cNvPr>
        <cdr:cNvSpPr/>
      </cdr:nvSpPr>
      <cdr:spPr>
        <a:xfrm xmlns:a="http://schemas.openxmlformats.org/drawingml/2006/main">
          <a:off x="661347" y="1632120"/>
          <a:ext cx="7990616" cy="190034"/>
        </a:xfrm>
        <a:prstGeom xmlns:a="http://schemas.openxmlformats.org/drawingml/2006/main" prst="rect">
          <a:avLst/>
        </a:prstGeom>
        <a:solidFill xmlns:a="http://schemas.openxmlformats.org/drawingml/2006/main">
          <a:srgbClr val="0070C0"/>
        </a:solidFill>
        <a:ln xmlns:a="http://schemas.openxmlformats.org/drawingml/2006/main">
          <a:solidFill>
            <a:schemeClr val="accent1">
              <a:lumMod val="50000"/>
            </a:schemeClr>
          </a:solidFill>
        </a:ln>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900" b="1"/>
            <a:t>A895 lắp 2 động cơ hết LLP</a:t>
          </a:r>
          <a:endParaRPr lang="en-US" sz="900" b="1" dirty="0"/>
        </a:p>
      </cdr:txBody>
    </cdr:sp>
  </cdr:relSizeAnchor>
  <cdr:relSizeAnchor xmlns:cdr="http://schemas.openxmlformats.org/drawingml/2006/chartDrawing">
    <cdr:from>
      <cdr:x>0.18916</cdr:x>
      <cdr:y>0.42163</cdr:y>
    </cdr:from>
    <cdr:to>
      <cdr:x>0.46724</cdr:x>
      <cdr:y>0.49663</cdr:y>
    </cdr:to>
    <cdr:sp macro="" textlink="">
      <cdr:nvSpPr>
        <cdr:cNvPr id="7" name="Rectangle 6">
          <a:extLst xmlns:a="http://schemas.openxmlformats.org/drawingml/2006/main">
            <a:ext uri="{FF2B5EF4-FFF2-40B4-BE49-F238E27FC236}">
              <a16:creationId xmlns:a16="http://schemas.microsoft.com/office/drawing/2014/main" id="{36D639A6-0073-B7D2-F93D-836D7CB3B552}"/>
            </a:ext>
          </a:extLst>
        </cdr:cNvPr>
        <cdr:cNvSpPr/>
      </cdr:nvSpPr>
      <cdr:spPr>
        <a:xfrm xmlns:a="http://schemas.openxmlformats.org/drawingml/2006/main">
          <a:off x="1680017" y="1338532"/>
          <a:ext cx="2469786" cy="238095"/>
        </a:xfrm>
        <a:prstGeom xmlns:a="http://schemas.openxmlformats.org/drawingml/2006/main" prst="rect">
          <a:avLst/>
        </a:prstGeom>
        <a:solidFill xmlns:a="http://schemas.openxmlformats.org/drawingml/2006/main">
          <a:srgbClr val="00B0F0"/>
        </a:solidFill>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900" b="1"/>
            <a:t>A896 thay 2 động cơ</a:t>
          </a:r>
          <a:endParaRPr lang="en-US" sz="900" b="1" dirty="0"/>
        </a:p>
      </cdr:txBody>
    </cdr:sp>
  </cdr:relSizeAnchor>
  <cdr:relSizeAnchor xmlns:cdr="http://schemas.openxmlformats.org/drawingml/2006/chartDrawing">
    <cdr:from>
      <cdr:x>0.80201</cdr:x>
      <cdr:y>0.32748</cdr:y>
    </cdr:from>
    <cdr:to>
      <cdr:x>0.86065</cdr:x>
      <cdr:y>0.49229</cdr:y>
    </cdr:to>
    <cdr:sp macro="" textlink="">
      <cdr:nvSpPr>
        <cdr:cNvPr id="8" name="Rectangle 7">
          <a:extLst xmlns:a="http://schemas.openxmlformats.org/drawingml/2006/main">
            <a:ext uri="{FF2B5EF4-FFF2-40B4-BE49-F238E27FC236}">
              <a16:creationId xmlns:a16="http://schemas.microsoft.com/office/drawing/2014/main" id="{6760457E-4D8D-4A41-A351-EB1CFCF9A605}"/>
            </a:ext>
          </a:extLst>
        </cdr:cNvPr>
        <cdr:cNvSpPr/>
      </cdr:nvSpPr>
      <cdr:spPr>
        <a:xfrm xmlns:a="http://schemas.openxmlformats.org/drawingml/2006/main">
          <a:off x="7123019" y="1039630"/>
          <a:ext cx="520833" cy="523219"/>
        </a:xfrm>
        <a:prstGeom xmlns:a="http://schemas.openxmlformats.org/drawingml/2006/main" prst="rect">
          <a:avLst/>
        </a:prstGeom>
        <a:solidFill xmlns:a="http://schemas.openxmlformats.org/drawingml/2006/main">
          <a:srgbClr val="00B0F0"/>
        </a:solidFill>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800" b="1"/>
            <a:t>A899 thay đ/c</a:t>
          </a:r>
          <a:endParaRPr lang="en-US" sz="800" b="1" dirty="0"/>
        </a:p>
      </cdr:txBody>
    </cdr:sp>
  </cdr:relSizeAnchor>
  <cdr:relSizeAnchor xmlns:cdr="http://schemas.openxmlformats.org/drawingml/2006/chartDrawing">
    <cdr:from>
      <cdr:x>0.63879</cdr:x>
      <cdr:y>0.33182</cdr:y>
    </cdr:from>
    <cdr:to>
      <cdr:x>0.69324</cdr:x>
      <cdr:y>0.49663</cdr:y>
    </cdr:to>
    <cdr:sp macro="" textlink="">
      <cdr:nvSpPr>
        <cdr:cNvPr id="9" name="Rectangle 8">
          <a:extLst xmlns:a="http://schemas.openxmlformats.org/drawingml/2006/main">
            <a:ext uri="{FF2B5EF4-FFF2-40B4-BE49-F238E27FC236}">
              <a16:creationId xmlns:a16="http://schemas.microsoft.com/office/drawing/2014/main" id="{89DA79E5-4D55-4BFD-99AB-8A66C78C61D0}"/>
            </a:ext>
          </a:extLst>
        </cdr:cNvPr>
        <cdr:cNvSpPr/>
      </cdr:nvSpPr>
      <cdr:spPr>
        <a:xfrm xmlns:a="http://schemas.openxmlformats.org/drawingml/2006/main">
          <a:off x="5673362" y="1053408"/>
          <a:ext cx="483662" cy="523220"/>
        </a:xfrm>
        <a:prstGeom xmlns:a="http://schemas.openxmlformats.org/drawingml/2006/main" prst="rect">
          <a:avLst/>
        </a:prstGeom>
        <a:solidFill xmlns:a="http://schemas.openxmlformats.org/drawingml/2006/main">
          <a:srgbClr val="00B0F0"/>
        </a:solidFill>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800" b="1"/>
            <a:t>A893 thay đ/c</a:t>
          </a:r>
          <a:endParaRPr lang="en-US" sz="800" b="1"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1/5/2025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0594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1018950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2700868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3563407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Slide Image Placeholder 1"/>
          <p:cNvSpPr>
            <a:spLocks noGrp="1" noRot="1" noChangeAspect="1"/>
          </p:cNvSpPr>
          <p:nvPr>
            <p:ph type="sldImg"/>
          </p:nvPr>
        </p:nvSpPr>
        <p:spPr/>
      </p:sp>
      <p:sp>
        <p:nvSpPr>
          <p:cNvPr id="1048600" name="Notes Placeholder 2"/>
          <p:cNvSpPr>
            <a:spLocks noGrp="1"/>
          </p:cNvSpPr>
          <p:nvPr>
            <p:ph type="body" idx="1"/>
          </p:nvPr>
        </p:nvSpPr>
        <p:spPr/>
        <p:txBody>
          <a:bodyPr/>
          <a:lstStyle/>
          <a:p>
            <a:endParaRPr lang="en-US" dirty="0"/>
          </a:p>
        </p:txBody>
      </p:sp>
      <p:sp>
        <p:nvSpPr>
          <p:cNvPr id="1048601"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19A373DA-F9AA-A644-86AE-7CBAAC24636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64600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5</a:t>
            </a:fld>
            <a:endParaRPr/>
          </a:p>
        </p:txBody>
      </p:sp>
    </p:spTree>
    <p:extLst>
      <p:ext uri="{BB962C8B-B14F-4D97-AF65-F5344CB8AC3E}">
        <p14:creationId xmlns:p14="http://schemas.microsoft.com/office/powerpoint/2010/main" val="40321074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552831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63F3BC7C-BB04-8504-F909-C0EAE5CC5FB3}"/>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9D786FD-1D23-5EEA-C99C-BF22273F5B8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59933066-3312-1634-DCA0-CF2D550D627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29366D3-FD76-861A-3869-C8E328ABA41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707190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C22B6146-1E8D-18EB-8EA9-4106718E3B0B}"/>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FF9E0160-7A27-3BC4-47EF-1905AF219F5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2723B61-4BB6-DB3F-B099-7F4ACE4A6D0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F863280F-43F0-9A98-A82A-BCE6EDB7841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527850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A07728F-659E-4563-8681-F0461742A695}" type="slidenum">
              <a:rPr lang="en-US" altLang="en-US" smtClean="0">
                <a:solidFill>
                  <a:srgbClr val="000000"/>
                </a:solidFill>
              </a:rPr>
              <a:pPr fontAlgn="base">
                <a:spcBef>
                  <a:spcPct val="0"/>
                </a:spcBef>
                <a:spcAft>
                  <a:spcPct val="0"/>
                </a:spcAft>
              </a:pPr>
              <a:t>9</a:t>
            </a:fld>
            <a:endParaRPr lang="en-US" altLang="en-US">
              <a:solidFill>
                <a:srgbClr val="000000"/>
              </a:solidFill>
            </a:endParaRPr>
          </a:p>
        </p:txBody>
      </p:sp>
    </p:spTree>
    <p:extLst>
      <p:ext uri="{BB962C8B-B14F-4D97-AF65-F5344CB8AC3E}">
        <p14:creationId xmlns:p14="http://schemas.microsoft.com/office/powerpoint/2010/main" val="35409684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D244115-3526-86DD-02F0-950DD8271E36}"/>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4741430F-F6E1-ED7F-868B-0C93A76EAD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A96752A-C9F7-32A3-1D55-FC5894623C1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6355F85F-2469-EBF8-BE61-88894DA37A9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665837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D244115-3526-86DD-02F0-950DD8271E36}"/>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4741430F-F6E1-ED7F-868B-0C93A76EAD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A96752A-C9F7-32A3-1D55-FC5894623C1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6355F85F-2469-EBF8-BE61-88894DA37A9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702334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A373DA-F9AA-A644-86AE-7CBAAC24636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745639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13</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4004756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14</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5365700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6D6698A7-A523-FA8F-1560-38B78DE6C5C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D2FE96-8DD4-7F86-2AD5-717EFC1A57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7893F7A7-EB19-4D7A-3CFF-F28D2ED9E1F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163EDE2-855A-FFA1-3437-7A3D1A0D74D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477873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6076638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17</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4229040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18</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41978624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701355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DADAAA05-5C06-C768-C292-51FFDBBC4DCD}"/>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AF45A3EF-64D9-982F-E95B-8F475006C37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4EC7522-C0C4-C599-4E6C-93207866826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65BAF36-02CD-C0C1-A1BE-FAE756886BD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66908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A373DA-F9AA-A644-86AE-7CBAAC24636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241816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275065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186210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C2FA8-72AD-740C-B2A4-D59CA329E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3B04E-D2CA-6404-597A-92820680960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EE61739-826D-7AAF-B33B-18FF92150DF4}"/>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76FAD88-11AB-C429-5B65-435A43FFA94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666ED7-631A-46AF-B451-227D0A8685A0}"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406720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24624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26068CF-38DB-1D6C-6DC7-F7D2D084AA3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65B994C1-1E18-D0D0-66A3-BAFA78B7E1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F0393F5-5A1F-BE21-BFE8-F6468BBE15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4DCB08EB-58F1-3868-A15A-E5412B0FB1B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64302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45BC7C4-A2AF-0A92-C797-AFA7332B9B7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1DE54FAD-9C5B-FBB2-4944-B4F81AD9AC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8D2EAB10-7BA4-F850-28F0-A084C51F22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983371B-1407-FBAF-7F23-5A67DD72E0C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461166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38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703617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39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346673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40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189068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Pts val="1300"/>
                <a:buFont typeface="Times New Roman"/>
                <a:buNone/>
                <a:tabLst/>
                <a:defRPr/>
              </a:pPr>
              <a:t>42</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36537223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43</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7872732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01f5ae314a_0_3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g301f5ae314a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27514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45</a:t>
            </a:fld>
            <a:endParaRPr lang="en-US"/>
          </a:p>
        </p:txBody>
      </p:sp>
    </p:spTree>
    <p:extLst>
      <p:ext uri="{BB962C8B-B14F-4D97-AF65-F5344CB8AC3E}">
        <p14:creationId xmlns:p14="http://schemas.microsoft.com/office/powerpoint/2010/main" val="8793748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071297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838676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210453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49</a:t>
            </a:fld>
            <a:endParaRPr/>
          </a:p>
        </p:txBody>
      </p:sp>
    </p:spTree>
    <p:extLst>
      <p:ext uri="{BB962C8B-B14F-4D97-AF65-F5344CB8AC3E}">
        <p14:creationId xmlns:p14="http://schemas.microsoft.com/office/powerpoint/2010/main" val="24141051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50</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9667839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1ccdae391d_0_25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g31ccdae391d_0_25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g31ccdae391d_0_25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51</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36276901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1ccdae391d_0_26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g31ccdae391d_0_26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g31ccdae391d_0_26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52</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2121375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1ccdae391d_0_27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g31ccdae391d_0_271: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0" name="Google Shape;180;g31ccdae391d_0_271: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53</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2092692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8" name="Google Shape;188;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54</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9547518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55</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88308659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1ccdae391d_0_29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g31ccdae391d_0_29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g31ccdae391d_0_29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56</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81573063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2" name="Google Shape;212;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57</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7802831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2" name="Google Shape;222;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58</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5060206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0" name="Google Shape;230;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59</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33829380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60</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426911791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61</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81497783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62</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03605975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 name="Google Shape;265;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63</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425039338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4" name="Google Shape;274;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64</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63357498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65</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97665809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0" name="Google Shape;290;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66</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10656859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1ccdae391d_0_37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7" name="Google Shape;297;g31ccdae391d_0_375: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8" name="Google Shape;298;g31ccdae391d_0_375: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67</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59818939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68</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52352950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3" name="Google Shape;313;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14" name="Google Shape;314;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69</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40240616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1" name="Google Shape;321;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22" name="Google Shape;322;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70</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96594806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9" name="Google Shape;329;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0" name="Google Shape;330;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71</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6026678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05196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1671437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spTree>
    <p:extLst>
      <p:ext uri="{BB962C8B-B14F-4D97-AF65-F5344CB8AC3E}">
        <p14:creationId xmlns:p14="http://schemas.microsoft.com/office/powerpoint/2010/main" val="5583759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ahoma" pitchFamily="34" charset="0"/>
                <a:ea typeface="Tahoma" pitchFamily="34" charset="0"/>
                <a:cs typeface="Tahoma" pitchFamily="34" charset="0"/>
              </a:defRPr>
            </a:lvl1pPr>
            <a:lvl2pPr>
              <a:lnSpc>
                <a:spcPct val="150000"/>
              </a:lnSpc>
              <a:buFont typeface="Wingdings" pitchFamily="2" charset="2"/>
              <a:buChar char="ü"/>
              <a:defRPr sz="2000">
                <a:latin typeface="Tahoma" pitchFamily="34" charset="0"/>
                <a:ea typeface="Tahoma" pitchFamily="34" charset="0"/>
                <a:cs typeface="Tahoma" pitchFamily="34" charset="0"/>
              </a:defRPr>
            </a:lvl2pPr>
            <a:lvl3pPr>
              <a:lnSpc>
                <a:spcPct val="150000"/>
              </a:lnSpc>
              <a:buFont typeface="Wingdings" pitchFamily="2" charset="2"/>
              <a:buChar char="ü"/>
              <a:defRPr sz="2000">
                <a:latin typeface="Tahoma" pitchFamily="34" charset="0"/>
                <a:ea typeface="Tahoma" pitchFamily="34" charset="0"/>
                <a:cs typeface="Tahoma" pitchFamily="34" charset="0"/>
              </a:defRPr>
            </a:lvl3pPr>
            <a:lvl4pPr>
              <a:lnSpc>
                <a:spcPct val="150000"/>
              </a:lnSpc>
              <a:buFont typeface="Wingdings" pitchFamily="2" charset="2"/>
              <a:buChar char="ü"/>
              <a:defRPr sz="2000">
                <a:latin typeface="Tahoma" pitchFamily="34" charset="0"/>
                <a:ea typeface="Tahoma" pitchFamily="34" charset="0"/>
                <a:cs typeface="Tahoma" pitchFamily="34" charset="0"/>
              </a:defRPr>
            </a:lvl4pPr>
            <a:lvl5pPr>
              <a:lnSpc>
                <a:spcPct val="150000"/>
              </a:lnSpc>
              <a:buFont typeface="Wingdings" pitchFamily="2" charset="2"/>
              <a:buChar char="ü"/>
              <a:defRPr sz="2000">
                <a:latin typeface="Tahoma" pitchFamily="34" charset="0"/>
                <a:ea typeface="Tahoma" pitchFamily="34" charset="0"/>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ahoma" pitchFamily="34" charset="0"/>
                <a:ea typeface="Tahoma" pitchFamily="34" charset="0"/>
                <a:cs typeface="Tahoma" pitchFamily="34"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Tree>
    <p:extLst>
      <p:ext uri="{BB962C8B-B14F-4D97-AF65-F5344CB8AC3E}">
        <p14:creationId xmlns:p14="http://schemas.microsoft.com/office/powerpoint/2010/main" val="20427378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Montserrat" pitchFamily="2" charset="77"/>
              </a:defRPr>
            </a:lvl1p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3874421"/>
          </a:xfrm>
        </p:spPr>
        <p:txBody>
          <a:bodyPr/>
          <a:lstStyle>
            <a:lvl1pPr>
              <a:defRPr>
                <a:latin typeface="Montserrat" pitchFamily="2" charset="77"/>
              </a:defRPr>
            </a:lvl1pPr>
            <a:lvl2pPr>
              <a:defRPr>
                <a:latin typeface="Montserrat" pitchFamily="2" charset="77"/>
              </a:defRPr>
            </a:lvl2pPr>
            <a:lvl3pPr>
              <a:defRPr>
                <a:latin typeface="Montserrat" pitchFamily="2" charset="77"/>
              </a:defRPr>
            </a:lvl3pPr>
            <a:lvl4pPr>
              <a:defRPr>
                <a:latin typeface="Montserrat" pitchFamily="2" charset="77"/>
              </a:defRPr>
            </a:lvl4pPr>
            <a:lvl5pPr>
              <a:defRPr>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6"/>
            <a:ext cx="5181600" cy="3874420"/>
          </a:xfrm>
        </p:spPr>
        <p:txBody>
          <a:bodyPr/>
          <a:lstStyle>
            <a:lvl1pPr>
              <a:defRPr>
                <a:latin typeface="Montserrat" pitchFamily="2" charset="77"/>
              </a:defRPr>
            </a:lvl1pPr>
            <a:lvl2pPr>
              <a:defRPr>
                <a:latin typeface="Montserrat" pitchFamily="2" charset="77"/>
              </a:defRPr>
            </a:lvl2pPr>
            <a:lvl3pPr>
              <a:defRPr>
                <a:latin typeface="Montserrat" pitchFamily="2" charset="77"/>
              </a:defRPr>
            </a:lvl3pPr>
            <a:lvl4pPr>
              <a:defRPr>
                <a:latin typeface="Montserrat" pitchFamily="2" charset="77"/>
              </a:defRPr>
            </a:lvl4pPr>
            <a:lvl5pPr>
              <a:defRPr>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Tree>
    <p:extLst>
      <p:ext uri="{BB962C8B-B14F-4D97-AF65-F5344CB8AC3E}">
        <p14:creationId xmlns:p14="http://schemas.microsoft.com/office/powerpoint/2010/main" val="32052559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Montserrat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Montserrat" pitchFamily="2" charset="77"/>
              </a:defRPr>
            </a:lvl1pPr>
            <a:lvl2pPr>
              <a:defRPr>
                <a:latin typeface="Montserrat" pitchFamily="2" charset="77"/>
              </a:defRPr>
            </a:lvl2pPr>
            <a:lvl3pPr>
              <a:defRPr>
                <a:latin typeface="Montserrat" pitchFamily="2" charset="77"/>
              </a:defRPr>
            </a:lvl3pPr>
            <a:lvl4pPr>
              <a:defRPr>
                <a:latin typeface="Montserrat" pitchFamily="2" charset="77"/>
              </a:defRPr>
            </a:lvl4pPr>
            <a:lvl5pPr>
              <a:defRPr>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Montserrat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Montserrat" pitchFamily="2" charset="77"/>
              </a:defRPr>
            </a:lvl1pPr>
            <a:lvl2pPr>
              <a:defRPr>
                <a:latin typeface="Montserrat" pitchFamily="2" charset="77"/>
              </a:defRPr>
            </a:lvl2pPr>
            <a:lvl3pPr>
              <a:defRPr>
                <a:latin typeface="Montserrat" pitchFamily="2" charset="77"/>
              </a:defRPr>
            </a:lvl3pPr>
            <a:lvl4pPr>
              <a:defRPr>
                <a:latin typeface="Montserrat" pitchFamily="2" charset="77"/>
              </a:defRPr>
            </a:lvl4pPr>
            <a:lvl5pPr>
              <a:defRPr>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Tree>
    <p:extLst>
      <p:ext uri="{BB962C8B-B14F-4D97-AF65-F5344CB8AC3E}">
        <p14:creationId xmlns:p14="http://schemas.microsoft.com/office/powerpoint/2010/main" val="8018624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Montserrat" pitchFamily="2" charset="77"/>
              </a:defRPr>
            </a:lvl1pPr>
          </a:lstStyle>
          <a:p>
            <a:r>
              <a:rPr lang="en-US"/>
              <a:t>Click to edit Master title style</a:t>
            </a:r>
            <a:endParaRPr lang="en-US" dirty="0"/>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Tree>
    <p:extLst>
      <p:ext uri="{BB962C8B-B14F-4D97-AF65-F5344CB8AC3E}">
        <p14:creationId xmlns:p14="http://schemas.microsoft.com/office/powerpoint/2010/main" val="9939111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12534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Montserrat" pitchFamily="2" charset="77"/>
              </a:defRPr>
            </a:lvl1pPr>
            <a:lvl2pPr>
              <a:defRPr sz="2800">
                <a:latin typeface="Montserrat" pitchFamily="2" charset="77"/>
              </a:defRPr>
            </a:lvl2pPr>
            <a:lvl3pPr>
              <a:defRPr sz="2400">
                <a:latin typeface="Montserrat" pitchFamily="2" charset="77"/>
              </a:defRPr>
            </a:lvl3pPr>
            <a:lvl4pPr>
              <a:defRPr sz="2000">
                <a:latin typeface="Montserrat" pitchFamily="2" charset="77"/>
              </a:defRPr>
            </a:lvl4pPr>
            <a:lvl5pPr>
              <a:defRPr sz="2000">
                <a:latin typeface="Montserrat" pitchFamily="2" charset="77"/>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spTree>
    <p:extLst>
      <p:ext uri="{BB962C8B-B14F-4D97-AF65-F5344CB8AC3E}">
        <p14:creationId xmlns:p14="http://schemas.microsoft.com/office/powerpoint/2010/main" val="8801724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Montserrat" pitchFamily="2"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15900847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vi"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5167830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0338305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2"/>
        <p:cNvGrpSpPr/>
        <p:nvPr/>
      </p:nvGrpSpPr>
      <p:grpSpPr>
        <a:xfrm>
          <a:off x="0" y="0"/>
          <a:ext cx="0" cy="0"/>
          <a:chOff x="0" y="0"/>
          <a:chExt cx="0" cy="0"/>
        </a:xfrm>
      </p:grpSpPr>
      <p:sp>
        <p:nvSpPr>
          <p:cNvPr id="83" name="Google Shape;83;g31ccdae391d_0_42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g31ccdae391d_0_42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5" name="Google Shape;85;g31ccdae391d_0_42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g31ccdae391d_0_42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g31ccdae391d_0_42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541105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88"/>
        <p:cNvGrpSpPr/>
        <p:nvPr/>
      </p:nvGrpSpPr>
      <p:grpSpPr>
        <a:xfrm>
          <a:off x="0" y="0"/>
          <a:ext cx="0" cy="0"/>
          <a:chOff x="0" y="0"/>
          <a:chExt cx="0" cy="0"/>
        </a:xfrm>
      </p:grpSpPr>
      <p:sp>
        <p:nvSpPr>
          <p:cNvPr id="89" name="Google Shape;89;g31ccdae391d_0_42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g31ccdae391d_0_4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g31ccdae391d_0_42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g31ccdae391d_0_42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g31ccdae391d_0_4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0708766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94"/>
        <p:cNvGrpSpPr/>
        <p:nvPr/>
      </p:nvGrpSpPr>
      <p:grpSpPr>
        <a:xfrm>
          <a:off x="0" y="0"/>
          <a:ext cx="0" cy="0"/>
          <a:chOff x="0" y="0"/>
          <a:chExt cx="0" cy="0"/>
        </a:xfrm>
      </p:grpSpPr>
      <p:sp>
        <p:nvSpPr>
          <p:cNvPr id="95" name="Google Shape;95;g31ccdae391d_0_433"/>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g31ccdae391d_0_433"/>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97" name="Google Shape;97;g31ccdae391d_0_43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g31ccdae391d_0_43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g31ccdae391d_0_43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350552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100"/>
        <p:cNvGrpSpPr/>
        <p:nvPr/>
      </p:nvGrpSpPr>
      <p:grpSpPr>
        <a:xfrm>
          <a:off x="0" y="0"/>
          <a:ext cx="0" cy="0"/>
          <a:chOff x="0" y="0"/>
          <a:chExt cx="0" cy="0"/>
        </a:xfrm>
      </p:grpSpPr>
      <p:sp>
        <p:nvSpPr>
          <p:cNvPr id="101" name="Google Shape;101;g31ccdae391d_0_43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g31ccdae391d_0_439"/>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g31ccdae391d_0_439"/>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g31ccdae391d_0_43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g31ccdae391d_0_43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g31ccdae391d_0_43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8339163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107"/>
        <p:cNvGrpSpPr/>
        <p:nvPr/>
      </p:nvGrpSpPr>
      <p:grpSpPr>
        <a:xfrm>
          <a:off x="0" y="0"/>
          <a:ext cx="0" cy="0"/>
          <a:chOff x="0" y="0"/>
          <a:chExt cx="0" cy="0"/>
        </a:xfrm>
      </p:grpSpPr>
      <p:sp>
        <p:nvSpPr>
          <p:cNvPr id="108" name="Google Shape;108;g31ccdae391d_0_446"/>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g31ccdae391d_0_446"/>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0" name="Google Shape;110;g31ccdae391d_0_446"/>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g31ccdae391d_0_446"/>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2" name="Google Shape;112;g31ccdae391d_0_446"/>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g31ccdae391d_0_44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g31ccdae391d_0_44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g31ccdae391d_0_44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1382197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16"/>
        <p:cNvGrpSpPr/>
        <p:nvPr/>
      </p:nvGrpSpPr>
      <p:grpSpPr>
        <a:xfrm>
          <a:off x="0" y="0"/>
          <a:ext cx="0" cy="0"/>
          <a:chOff x="0" y="0"/>
          <a:chExt cx="0" cy="0"/>
        </a:xfrm>
      </p:grpSpPr>
      <p:sp>
        <p:nvSpPr>
          <p:cNvPr id="117" name="Google Shape;117;g31ccdae391d_0_45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g31ccdae391d_0_45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g31ccdae391d_0_45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g31ccdae391d_0_45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187146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1"/>
        <p:cNvGrpSpPr/>
        <p:nvPr/>
      </p:nvGrpSpPr>
      <p:grpSpPr>
        <a:xfrm>
          <a:off x="0" y="0"/>
          <a:ext cx="0" cy="0"/>
          <a:chOff x="0" y="0"/>
          <a:chExt cx="0" cy="0"/>
        </a:xfrm>
      </p:grpSpPr>
      <p:sp>
        <p:nvSpPr>
          <p:cNvPr id="122" name="Google Shape;122;g31ccdae391d_0_46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g31ccdae391d_0_46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g31ccdae391d_0_46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526777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125"/>
        <p:cNvGrpSpPr/>
        <p:nvPr/>
      </p:nvGrpSpPr>
      <p:grpSpPr>
        <a:xfrm>
          <a:off x="0" y="0"/>
          <a:ext cx="0" cy="0"/>
          <a:chOff x="0" y="0"/>
          <a:chExt cx="0" cy="0"/>
        </a:xfrm>
      </p:grpSpPr>
      <p:sp>
        <p:nvSpPr>
          <p:cNvPr id="126" name="Google Shape;126;g31ccdae391d_0_464"/>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7" name="Google Shape;127;g31ccdae391d_0_464"/>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28" name="Google Shape;128;g31ccdae391d_0_464"/>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29" name="Google Shape;129;g31ccdae391d_0_46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g31ccdae391d_0_46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g31ccdae391d_0_46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3754758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132"/>
        <p:cNvGrpSpPr/>
        <p:nvPr/>
      </p:nvGrpSpPr>
      <p:grpSpPr>
        <a:xfrm>
          <a:off x="0" y="0"/>
          <a:ext cx="0" cy="0"/>
          <a:chOff x="0" y="0"/>
          <a:chExt cx="0" cy="0"/>
        </a:xfrm>
      </p:grpSpPr>
      <p:sp>
        <p:nvSpPr>
          <p:cNvPr id="133" name="Google Shape;133;g31ccdae391d_0_471"/>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4" name="Google Shape;134;g31ccdae391d_0_471"/>
          <p:cNvSpPr>
            <a:spLocks noGrp="1"/>
          </p:cNvSpPr>
          <p:nvPr>
            <p:ph type="pic" idx="2"/>
          </p:nvPr>
        </p:nvSpPr>
        <p:spPr>
          <a:xfrm>
            <a:off x="5183188" y="987425"/>
            <a:ext cx="6172200" cy="4873500"/>
          </a:xfrm>
          <a:prstGeom prst="rect">
            <a:avLst/>
          </a:prstGeom>
          <a:noFill/>
          <a:ln>
            <a:noFill/>
          </a:ln>
        </p:spPr>
      </p:sp>
      <p:sp>
        <p:nvSpPr>
          <p:cNvPr id="135" name="Google Shape;135;g31ccdae391d_0_471"/>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6" name="Google Shape;136;g31ccdae391d_0_47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 name="Google Shape;137;g31ccdae391d_0_47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g31ccdae391d_0_47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555451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39"/>
        <p:cNvGrpSpPr/>
        <p:nvPr/>
      </p:nvGrpSpPr>
      <p:grpSpPr>
        <a:xfrm>
          <a:off x="0" y="0"/>
          <a:ext cx="0" cy="0"/>
          <a:chOff x="0" y="0"/>
          <a:chExt cx="0" cy="0"/>
        </a:xfrm>
      </p:grpSpPr>
      <p:sp>
        <p:nvSpPr>
          <p:cNvPr id="140" name="Google Shape;140;g31ccdae391d_0_47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g31ccdae391d_0_478"/>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2" name="Google Shape;142;g31ccdae391d_0_47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3" name="Google Shape;143;g31ccdae391d_0_47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4" name="Google Shape;144;g31ccdae391d_0_47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3279168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45"/>
        <p:cNvGrpSpPr/>
        <p:nvPr/>
      </p:nvGrpSpPr>
      <p:grpSpPr>
        <a:xfrm>
          <a:off x="0" y="0"/>
          <a:ext cx="0" cy="0"/>
          <a:chOff x="0" y="0"/>
          <a:chExt cx="0" cy="0"/>
        </a:xfrm>
      </p:grpSpPr>
      <p:sp>
        <p:nvSpPr>
          <p:cNvPr id="146" name="Google Shape;146;g31ccdae391d_0_484"/>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g31ccdae391d_0_484"/>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g31ccdae391d_0_48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g31ccdae391d_0_48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0" name="Google Shape;150;g31ccdae391d_0_48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715100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3.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theme" Target="../theme/theme4.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image" Target="../media/image5.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1/5/2025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vi" smtClean="0"/>
              <a:pPr/>
              <a:t>‹#›</a:t>
            </a:fld>
            <a:endParaRPr lang="vi"/>
          </a:p>
        </p:txBody>
      </p:sp>
    </p:spTree>
    <p:extLst>
      <p:ext uri="{BB962C8B-B14F-4D97-AF65-F5344CB8AC3E}">
        <p14:creationId xmlns:p14="http://schemas.microsoft.com/office/powerpoint/2010/main" val="3466801450"/>
      </p:ext>
    </p:extLst>
  </p:cSld>
  <p:clrMap bg1="lt1" tx1="dk1" bg2="dk2" tx2="lt2" accent1="accent1" accent2="accent2" accent3="accent3" accent4="accent4" accent5="accent5" accent6="accent6" hlink="hlink" folHlink="folHlink"/>
  <p:sldLayoutIdLst>
    <p:sldLayoutId id="2147483677"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1/5/2025</a:t>
            </a:fld>
            <a:endParaRPr kumimoji="0" lang="en-US" sz="120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Tree>
    <p:extLst>
      <p:ext uri="{BB962C8B-B14F-4D97-AF65-F5344CB8AC3E}">
        <p14:creationId xmlns:p14="http://schemas.microsoft.com/office/powerpoint/2010/main" val="1830282212"/>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72"/>
        <p:cNvGrpSpPr/>
        <p:nvPr/>
      </p:nvGrpSpPr>
      <p:grpSpPr>
        <a:xfrm>
          <a:off x="0" y="0"/>
          <a:ext cx="0" cy="0"/>
          <a:chOff x="0" y="0"/>
          <a:chExt cx="0" cy="0"/>
        </a:xfrm>
      </p:grpSpPr>
      <p:sp>
        <p:nvSpPr>
          <p:cNvPr id="73" name="Google Shape;73;g31ccdae391d_0_41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g31ccdae391d_0_41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g31ccdae391d_0_4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6" name="Google Shape;76;g31ccdae391d_0_4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7" name="Google Shape;77;g31ccdae391d_0_4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2895166"/>
      </p:ext>
    </p:extLst>
  </p:cSld>
  <p:clrMap bg1="lt1" tx1="dk1" bg2="dk2" tx2="lt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0.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0.xml"/><Relationship Id="rId5" Type="http://schemas.openxmlformats.org/officeDocument/2006/relationships/image" Target="../media/image14.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20.xml"/><Relationship Id="rId4" Type="http://schemas.openxmlformats.org/officeDocument/2006/relationships/chart" Target="../charts/chart16.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20.xml"/><Relationship Id="rId4" Type="http://schemas.openxmlformats.org/officeDocument/2006/relationships/chart" Target="../charts/chart17.xml"/></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20.xml"/><Relationship Id="rId4" Type="http://schemas.openxmlformats.org/officeDocument/2006/relationships/chart" Target="../charts/chart18.xml"/></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0.xml"/><Relationship Id="rId4" Type="http://schemas.openxmlformats.org/officeDocument/2006/relationships/chart" Target="../charts/chart1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1.xml"/></Relationships>
</file>

<file path=ppt/slides/_rels/slide5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1.xml"/><Relationship Id="rId1" Type="http://schemas.openxmlformats.org/officeDocument/2006/relationships/slideLayout" Target="../slideLayouts/slideLayout2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1.xml"/></Relationships>
</file>

<file path=ppt/slides/_rels/slide5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7.xml"/><Relationship Id="rId1" Type="http://schemas.openxmlformats.org/officeDocument/2006/relationships/slideLayout" Target="../slideLayouts/slideLayout2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1.xml"/></Relationships>
</file>

<file path=ppt/slides/_rels/slide6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9.xml"/><Relationship Id="rId1" Type="http://schemas.openxmlformats.org/officeDocument/2006/relationships/slideLayout" Target="../slideLayouts/slideLayout21.xml"/></Relationships>
</file>

<file path=ppt/slides/_rels/slide6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0.xml"/><Relationship Id="rId1" Type="http://schemas.openxmlformats.org/officeDocument/2006/relationships/slideLayout" Target="../slideLayouts/slideLayout2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1.xml"/></Relationships>
</file>

<file path=ppt/slides/_rels/slide6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2.xml"/><Relationship Id="rId1" Type="http://schemas.openxmlformats.org/officeDocument/2006/relationships/slideLayout" Target="../slideLayouts/slideLayout2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1.xml"/></Relationships>
</file>

<file path=ppt/slides/_rels/slide6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7.xml"/><Relationship Id="rId1" Type="http://schemas.openxmlformats.org/officeDocument/2006/relationships/slideLayout" Target="../slideLayouts/slideLayout2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1.xml"/></Relationships>
</file>

<file path=ppt/slides/_rels/slide7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9.xml"/><Relationship Id="rId1" Type="http://schemas.openxmlformats.org/officeDocument/2006/relationships/slideLayout" Target="../slideLayouts/slideLayout2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1.xml"/></Relationships>
</file>

<file path=ppt/slides/_rels/slide7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1.xml"/><Relationship Id="rId1" Type="http://schemas.openxmlformats.org/officeDocument/2006/relationships/slideLayout" Target="../slideLayouts/slideLayout21.xml"/><Relationship Id="rId4" Type="http://schemas.openxmlformats.org/officeDocument/2006/relationships/image" Target="../media/image26.png"/></Relationships>
</file>

<file path=ppt/slides/_rels/slide7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2.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r>
              <a:rPr lang="vi-VN" sz="4000" dirty="0">
                <a:solidFill>
                  <a:schemeClr val="accent2"/>
                </a:solidFill>
                <a:latin typeface="Times New Roman" panose="02020603050405020304" pitchFamily="18" charset="0"/>
                <a:ea typeface="MS PGothic" panose="020B0600070205080204" pitchFamily="34" charset="-128"/>
                <a:cs typeface="Times New Roman" panose="02020603050405020304" pitchFamily="18" charset="0"/>
              </a:rPr>
              <a:t/>
            </a:r>
            <a:br>
              <a:rPr lang="vi-VN" sz="4000" dirty="0">
                <a:solidFill>
                  <a:schemeClr val="accent2"/>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a:t>
            </a:r>
            <a:r>
              <a:rPr lang="vi-VN" sz="400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smtClean="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01</a:t>
            </a:r>
            <a:r>
              <a:rPr lang="vi-VN" sz="4000" smtClean="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smtClean="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30/12/2024</a:t>
            </a:r>
            <a:r>
              <a:rPr lang="vi-VN" sz="4000" smtClean="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 </a:t>
            </a:r>
            <a:r>
              <a:rPr lang="vi-VN" sz="400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smtClean="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05</a:t>
            </a:r>
            <a:r>
              <a:rPr lang="vi-VN" sz="4000" smtClean="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smtClean="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01</a:t>
            </a:r>
            <a:r>
              <a:rPr lang="vi-VN" sz="4000" smtClean="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smtClean="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smtClean="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D1930F"/>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113371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509166" y="439933"/>
            <a:ext cx="7415633" cy="815200"/>
          </a:xfrm>
        </p:spPr>
        <p:txBody>
          <a:bodyPr>
            <a:noAutofit/>
          </a:bodyPr>
          <a:lstStyle/>
          <a:p>
            <a:r>
              <a:rPr lang="en-US" sz="2800" dirty="0" err="1">
                <a:ln w="0"/>
                <a:solidFill>
                  <a:schemeClr val="accent4"/>
                </a:solidFill>
                <a:latin typeface="Times New Roman" panose="02020603050405020304" pitchFamily="18" charset="0"/>
                <a:cs typeface="Times New Roman" panose="02020603050405020304" pitchFamily="18" charset="0"/>
              </a:rPr>
              <a:t>Tổng</a:t>
            </a:r>
            <a:r>
              <a:rPr lang="en-US" sz="2800" dirty="0">
                <a:ln w="0"/>
                <a:solidFill>
                  <a:schemeClr val="accent4"/>
                </a:solidFill>
                <a:latin typeface="Times New Roman" panose="02020603050405020304" pitchFamily="18" charset="0"/>
                <a:cs typeface="Times New Roman" panose="02020603050405020304" pitchFamily="18" charset="0"/>
              </a:rPr>
              <a:t> </a:t>
            </a:r>
            <a:r>
              <a:rPr lang="en-US" sz="2800" dirty="0" err="1">
                <a:ln w="0"/>
                <a:solidFill>
                  <a:schemeClr val="accent4"/>
                </a:solidFill>
                <a:latin typeface="Times New Roman" panose="02020603050405020304" pitchFamily="18" charset="0"/>
                <a:cs typeface="Times New Roman" panose="02020603050405020304" pitchFamily="18" charset="0"/>
              </a:rPr>
              <a:t>hợp</a:t>
            </a:r>
            <a:r>
              <a:rPr lang="en-US" sz="2800" dirty="0">
                <a:ln w="0"/>
                <a:solidFill>
                  <a:schemeClr val="accent4"/>
                </a:solidFill>
                <a:latin typeface="Times New Roman" panose="02020603050405020304" pitchFamily="18" charset="0"/>
                <a:cs typeface="Times New Roman" panose="02020603050405020304" pitchFamily="18" charset="0"/>
              </a:rPr>
              <a:t> AOG, Delay </a:t>
            </a:r>
            <a:r>
              <a:rPr lang="en-US" sz="2800" dirty="0" err="1">
                <a:ln w="0"/>
                <a:solidFill>
                  <a:schemeClr val="accent4"/>
                </a:solidFill>
                <a:latin typeface="Times New Roman" panose="02020603050405020304" pitchFamily="18" charset="0"/>
                <a:cs typeface="Times New Roman" panose="02020603050405020304" pitchFamily="18" charset="0"/>
              </a:rPr>
              <a:t>và</a:t>
            </a:r>
            <a:r>
              <a:rPr lang="en-US" sz="2800" dirty="0">
                <a:ln w="0"/>
                <a:solidFill>
                  <a:schemeClr val="accent4"/>
                </a:solidFill>
                <a:latin typeface="Times New Roman" panose="02020603050405020304" pitchFamily="18" charset="0"/>
                <a:cs typeface="Times New Roman" panose="02020603050405020304" pitchFamily="18" charset="0"/>
              </a:rPr>
              <a:t>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13" name="Chart 12">
            <a:extLst>
              <a:ext uri="{FF2B5EF4-FFF2-40B4-BE49-F238E27FC236}">
                <a16:creationId xmlns:a16="http://schemas.microsoft.com/office/drawing/2014/main" id="{00000000-0008-0000-0900-000005000000}"/>
              </a:ext>
            </a:extLst>
          </p:cNvPr>
          <p:cNvGraphicFramePr>
            <a:graphicFrameLocks/>
          </p:cNvGraphicFramePr>
          <p:nvPr>
            <p:extLst>
              <p:ext uri="{D42A27DB-BD31-4B8C-83A1-F6EECF244321}">
                <p14:modId xmlns:p14="http://schemas.microsoft.com/office/powerpoint/2010/main" val="2246048881"/>
              </p:ext>
            </p:extLst>
          </p:nvPr>
        </p:nvGraphicFramePr>
        <p:xfrm>
          <a:off x="1209807" y="3992618"/>
          <a:ext cx="4176000" cy="237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14">
            <a:extLst>
              <a:ext uri="{FF2B5EF4-FFF2-40B4-BE49-F238E27FC236}">
                <a16:creationId xmlns:a16="http://schemas.microsoft.com/office/drawing/2014/main" id="{8347F7AA-5E77-475C-B68E-49E6EF5DA0A7}"/>
              </a:ext>
            </a:extLst>
          </p:cNvPr>
          <p:cNvGraphicFramePr>
            <a:graphicFrameLocks/>
          </p:cNvGraphicFramePr>
          <p:nvPr>
            <p:extLst>
              <p:ext uri="{D42A27DB-BD31-4B8C-83A1-F6EECF244321}">
                <p14:modId xmlns:p14="http://schemas.microsoft.com/office/powerpoint/2010/main" val="3284414086"/>
              </p:ext>
            </p:extLst>
          </p:nvPr>
        </p:nvGraphicFramePr>
        <p:xfrm>
          <a:off x="5842785" y="4001347"/>
          <a:ext cx="4176000" cy="2376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a:extLst>
              <a:ext uri="{FF2B5EF4-FFF2-40B4-BE49-F238E27FC236}">
                <a16:creationId xmlns:a16="http://schemas.microsoft.com/office/drawing/2014/main" id="{00000000-0008-0000-0900-000004000000}"/>
              </a:ext>
            </a:extLst>
          </p:cNvPr>
          <p:cNvGraphicFramePr>
            <a:graphicFrameLocks/>
          </p:cNvGraphicFramePr>
          <p:nvPr>
            <p:extLst>
              <p:ext uri="{D42A27DB-BD31-4B8C-83A1-F6EECF244321}">
                <p14:modId xmlns:p14="http://schemas.microsoft.com/office/powerpoint/2010/main" val="2000193086"/>
              </p:ext>
            </p:extLst>
          </p:nvPr>
        </p:nvGraphicFramePr>
        <p:xfrm>
          <a:off x="5842785" y="1429606"/>
          <a:ext cx="4176000" cy="2376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0" name="Chart 9">
            <a:extLst>
              <a:ext uri="{FF2B5EF4-FFF2-40B4-BE49-F238E27FC236}">
                <a16:creationId xmlns:a16="http://schemas.microsoft.com/office/drawing/2014/main" id="{00000000-0008-0000-0900-00000F000000}"/>
              </a:ext>
            </a:extLst>
          </p:cNvPr>
          <p:cNvGraphicFramePr>
            <a:graphicFrameLocks/>
          </p:cNvGraphicFramePr>
          <p:nvPr>
            <p:extLst>
              <p:ext uri="{D42A27DB-BD31-4B8C-83A1-F6EECF244321}">
                <p14:modId xmlns:p14="http://schemas.microsoft.com/office/powerpoint/2010/main" val="2200913744"/>
              </p:ext>
            </p:extLst>
          </p:nvPr>
        </p:nvGraphicFramePr>
        <p:xfrm>
          <a:off x="1212433" y="1433416"/>
          <a:ext cx="4176000" cy="23760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90519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3000" y="419332"/>
            <a:ext cx="9982200" cy="815200"/>
          </a:xfrm>
        </p:spPr>
        <p:txBody>
          <a:bodyPr>
            <a:normAutofit/>
          </a:bodyPr>
          <a:lstStyle/>
          <a:p>
            <a:r>
              <a:rPr lang="en-US" sz="2800" dirty="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7" name="Chart 6">
            <a:extLst>
              <a:ext uri="{FF2B5EF4-FFF2-40B4-BE49-F238E27FC236}">
                <a16:creationId xmlns:a16="http://schemas.microsoft.com/office/drawing/2014/main" id="{00000000-0008-0000-0600-000004000000}"/>
              </a:ext>
            </a:extLst>
          </p:cNvPr>
          <p:cNvGraphicFramePr>
            <a:graphicFrameLocks/>
          </p:cNvGraphicFramePr>
          <p:nvPr>
            <p:extLst>
              <p:ext uri="{D42A27DB-BD31-4B8C-83A1-F6EECF244321}">
                <p14:modId xmlns:p14="http://schemas.microsoft.com/office/powerpoint/2010/main" val="1373119211"/>
              </p:ext>
            </p:extLst>
          </p:nvPr>
        </p:nvGraphicFramePr>
        <p:xfrm>
          <a:off x="990600" y="990305"/>
          <a:ext cx="9603316" cy="2794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00000000-0008-0000-0600-000005000000}"/>
              </a:ext>
            </a:extLst>
          </p:cNvPr>
          <p:cNvGraphicFramePr>
            <a:graphicFrameLocks/>
          </p:cNvGraphicFramePr>
          <p:nvPr>
            <p:extLst>
              <p:ext uri="{D42A27DB-BD31-4B8C-83A1-F6EECF244321}">
                <p14:modId xmlns:p14="http://schemas.microsoft.com/office/powerpoint/2010/main" val="215184899"/>
              </p:ext>
            </p:extLst>
          </p:nvPr>
        </p:nvGraphicFramePr>
        <p:xfrm>
          <a:off x="988840" y="3961047"/>
          <a:ext cx="9593011" cy="279061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68755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p:cNvSpPr>
            <a:spLocks noGrp="1"/>
          </p:cNvSpPr>
          <p:nvPr>
            <p:ph type="title"/>
          </p:nvPr>
        </p:nvSpPr>
        <p:spPr>
          <a:xfrm>
            <a:off x="537454" y="76200"/>
            <a:ext cx="4520033" cy="815200"/>
          </a:xfrm>
        </p:spPr>
        <p:txBody>
          <a:bodyPr>
            <a:normAutofit/>
          </a:bodyPr>
          <a:lstStyle/>
          <a:p>
            <a:pPr algn="ctr" eaLnBrk="1" hangingPunct="1"/>
            <a:r>
              <a:rPr lang="en-US" altLang="en-US" sz="2800" dirty="0" err="1">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a:t>
            </a:r>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altLang="en-US" sz="2800" dirty="0" err="1">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sự</a:t>
            </a:r>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altLang="en-US" sz="2800" dirty="0" err="1">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kiện</a:t>
            </a:r>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CFEE23C1-B7EA-476A-9DFD-176A034D5BAE}"/>
              </a:ext>
            </a:extLst>
          </p:cNvPr>
          <p:cNvSpPr txBox="1"/>
          <p:nvPr/>
        </p:nvSpPr>
        <p:spPr>
          <a:xfrm>
            <a:off x="228602" y="615269"/>
            <a:ext cx="115532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vi-VN" sz="18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1</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smtClean="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01 (Non-tech)</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2" name="Table 1">
            <a:extLst>
              <a:ext uri="{FF2B5EF4-FFF2-40B4-BE49-F238E27FC236}">
                <a16:creationId xmlns:a16="http://schemas.microsoft.com/office/drawing/2014/main" id="{D1E0DBAF-BCB7-A84A-7D2E-B495D927554B}"/>
              </a:ext>
            </a:extLst>
          </p:cNvPr>
          <p:cNvGraphicFramePr>
            <a:graphicFrameLocks noGrp="1"/>
          </p:cNvGraphicFramePr>
          <p:nvPr>
            <p:extLst>
              <p:ext uri="{D42A27DB-BD31-4B8C-83A1-F6EECF244321}">
                <p14:modId xmlns:p14="http://schemas.microsoft.com/office/powerpoint/2010/main" val="2623802372"/>
              </p:ext>
            </p:extLst>
          </p:nvPr>
        </p:nvGraphicFramePr>
        <p:xfrm>
          <a:off x="228602" y="1156232"/>
          <a:ext cx="11553283" cy="5496453"/>
        </p:xfrm>
        <a:graphic>
          <a:graphicData uri="http://schemas.openxmlformats.org/drawingml/2006/table">
            <a:tbl>
              <a:tblPr/>
              <a:tblGrid>
                <a:gridCol w="279812">
                  <a:extLst>
                    <a:ext uri="{9D8B030D-6E8A-4147-A177-3AD203B41FA5}">
                      <a16:colId xmlns:a16="http://schemas.microsoft.com/office/drawing/2014/main" val="2304385553"/>
                    </a:ext>
                  </a:extLst>
                </a:gridCol>
                <a:gridCol w="279812">
                  <a:extLst>
                    <a:ext uri="{9D8B030D-6E8A-4147-A177-3AD203B41FA5}">
                      <a16:colId xmlns:a16="http://schemas.microsoft.com/office/drawing/2014/main" val="3678562531"/>
                    </a:ext>
                  </a:extLst>
                </a:gridCol>
                <a:gridCol w="566988">
                  <a:extLst>
                    <a:ext uri="{9D8B030D-6E8A-4147-A177-3AD203B41FA5}">
                      <a16:colId xmlns:a16="http://schemas.microsoft.com/office/drawing/2014/main" val="4032930408"/>
                    </a:ext>
                  </a:extLst>
                </a:gridCol>
                <a:gridCol w="375537">
                  <a:extLst>
                    <a:ext uri="{9D8B030D-6E8A-4147-A177-3AD203B41FA5}">
                      <a16:colId xmlns:a16="http://schemas.microsoft.com/office/drawing/2014/main" val="3128753018"/>
                    </a:ext>
                  </a:extLst>
                </a:gridCol>
                <a:gridCol w="809981">
                  <a:extLst>
                    <a:ext uri="{9D8B030D-6E8A-4147-A177-3AD203B41FA5}">
                      <a16:colId xmlns:a16="http://schemas.microsoft.com/office/drawing/2014/main" val="3876792813"/>
                    </a:ext>
                  </a:extLst>
                </a:gridCol>
                <a:gridCol w="375537">
                  <a:extLst>
                    <a:ext uri="{9D8B030D-6E8A-4147-A177-3AD203B41FA5}">
                      <a16:colId xmlns:a16="http://schemas.microsoft.com/office/drawing/2014/main" val="1779862182"/>
                    </a:ext>
                  </a:extLst>
                </a:gridCol>
                <a:gridCol w="2128042">
                  <a:extLst>
                    <a:ext uri="{9D8B030D-6E8A-4147-A177-3AD203B41FA5}">
                      <a16:colId xmlns:a16="http://schemas.microsoft.com/office/drawing/2014/main" val="550419673"/>
                    </a:ext>
                  </a:extLst>
                </a:gridCol>
                <a:gridCol w="1907138">
                  <a:extLst>
                    <a:ext uri="{9D8B030D-6E8A-4147-A177-3AD203B41FA5}">
                      <a16:colId xmlns:a16="http://schemas.microsoft.com/office/drawing/2014/main" val="3321294906"/>
                    </a:ext>
                  </a:extLst>
                </a:gridCol>
                <a:gridCol w="287176">
                  <a:extLst>
                    <a:ext uri="{9D8B030D-6E8A-4147-A177-3AD203B41FA5}">
                      <a16:colId xmlns:a16="http://schemas.microsoft.com/office/drawing/2014/main" val="3863235633"/>
                    </a:ext>
                  </a:extLst>
                </a:gridCol>
                <a:gridCol w="4543260">
                  <a:extLst>
                    <a:ext uri="{9D8B030D-6E8A-4147-A177-3AD203B41FA5}">
                      <a16:colId xmlns:a16="http://schemas.microsoft.com/office/drawing/2014/main" val="3389094716"/>
                    </a:ext>
                  </a:extLst>
                </a:gridCol>
              </a:tblGrid>
              <a:tr h="135489">
                <a:tc>
                  <a:txBody>
                    <a:bodyPr/>
                    <a:lstStyle/>
                    <a:p>
                      <a:pPr algn="ctr" fontAlgn="ctr"/>
                      <a:r>
                        <a:rPr lang="en-US" sz="1000" b="0" i="0" u="none" strike="noStrike">
                          <a:solidFill>
                            <a:srgbClr val="000000"/>
                          </a:solidFill>
                          <a:effectLst/>
                          <a:latin typeface="Calibri" panose="020F0502020204030204" pitchFamily="34" charset="0"/>
                        </a:rPr>
                        <a:t>A/C</a:t>
                      </a:r>
                    </a:p>
                  </a:txBody>
                  <a:tcPr marL="3351" marR="3351" marT="3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STA</a:t>
                      </a:r>
                    </a:p>
                  </a:txBody>
                  <a:tcPr marL="3351" marR="3351" marT="3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FLIGHT NO</a:t>
                      </a:r>
                    </a:p>
                  </a:txBody>
                  <a:tcPr marL="3351" marR="3351" marT="3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ROUTE</a:t>
                      </a:r>
                    </a:p>
                  </a:txBody>
                  <a:tcPr marL="3351" marR="3351" marT="3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DATE</a:t>
                      </a:r>
                    </a:p>
                  </a:txBody>
                  <a:tcPr marL="3351" marR="3351" marT="3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EVENT</a:t>
                      </a:r>
                    </a:p>
                  </a:txBody>
                  <a:tcPr marL="3351" marR="3351" marT="3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REASON</a:t>
                      </a:r>
                    </a:p>
                  </a:txBody>
                  <a:tcPr marL="3351" marR="3351" marT="3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ACTION TAKEN</a:t>
                      </a:r>
                    </a:p>
                  </a:txBody>
                  <a:tcPr marL="3351" marR="3351" marT="3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ATA</a:t>
                      </a:r>
                    </a:p>
                  </a:txBody>
                  <a:tcPr marL="3351" marR="3351" marT="3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Engineering Assessment</a:t>
                      </a:r>
                    </a:p>
                  </a:txBody>
                  <a:tcPr marL="3351" marR="3351" marT="3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611015515"/>
                  </a:ext>
                </a:extLst>
              </a:tr>
              <a:tr h="2574310">
                <a:tc>
                  <a:txBody>
                    <a:bodyPr/>
                    <a:lstStyle/>
                    <a:p>
                      <a:pPr algn="l" fontAlgn="t"/>
                      <a:r>
                        <a:rPr lang="en-US" sz="1000" b="0" i="0" u="none" strike="noStrike">
                          <a:solidFill>
                            <a:srgbClr val="000000"/>
                          </a:solidFill>
                          <a:effectLst/>
                          <a:latin typeface="Calibri" panose="020F0502020204030204" pitchFamily="34" charset="0"/>
                        </a:rPr>
                        <a:t>B223</a:t>
                      </a:r>
                    </a:p>
                  </a:txBody>
                  <a:tcPr marL="3351" marR="3351" marT="335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Calibri" panose="020F0502020204030204" pitchFamily="34" charset="0"/>
                        </a:rPr>
                        <a:t>SGN</a:t>
                      </a:r>
                    </a:p>
                  </a:txBody>
                  <a:tcPr marL="3351" marR="3351" marT="335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Calibri" panose="020F0502020204030204" pitchFamily="34" charset="0"/>
                        </a:rPr>
                        <a:t>VN8073</a:t>
                      </a:r>
                    </a:p>
                  </a:txBody>
                  <a:tcPr marL="3351" marR="3351" marT="335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Calibri" panose="020F0502020204030204" pitchFamily="34" charset="0"/>
                        </a:rPr>
                        <a:t>SGN - </a:t>
                      </a:r>
                    </a:p>
                  </a:txBody>
                  <a:tcPr marL="3351" marR="3351" marT="335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Calibri" panose="020F0502020204030204" pitchFamily="34" charset="0"/>
                        </a:rPr>
                        <a:t>05:55 04/01/2025</a:t>
                      </a:r>
                    </a:p>
                  </a:txBody>
                  <a:tcPr marL="3351" marR="3351" marT="335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000" b="0" i="0" u="none" strike="noStrike" smtClean="0">
                          <a:solidFill>
                            <a:srgbClr val="000000"/>
                          </a:solidFill>
                          <a:effectLst/>
                          <a:latin typeface="Calibri" panose="020F0502020204030204" pitchFamily="34" charset="0"/>
                        </a:rPr>
                        <a:t>RTO</a:t>
                      </a:r>
                      <a:endParaRPr lang="en-US" sz="1000" b="0" i="0" u="none" strike="noStrike">
                        <a:solidFill>
                          <a:srgbClr val="000000"/>
                        </a:solidFill>
                        <a:effectLst/>
                        <a:latin typeface="Calibri" panose="020F0502020204030204" pitchFamily="34" charset="0"/>
                      </a:endParaRPr>
                    </a:p>
                  </a:txBody>
                  <a:tcPr marL="3351" marR="3351" marT="335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Calibri" panose="020F0502020204030204" pitchFamily="34" charset="0"/>
                        </a:rPr>
                        <a:t>B223 [RTO] [GTB] TAKE OFF CONFIG (DEFECT REPETITIVE) DURING TAKE OFF CAPT INFORM VIA VHF TAKE OFF CONFIG (DEFECT REPETITIVE), CAPT DECIED RTO &amp;amp; GTB FOR CHECK</a:t>
                      </a:r>
                      <a:br>
                        <a:rPr lang="en-US" sz="1000" b="0" i="0" u="none" strike="noStrike">
                          <a:solidFill>
                            <a:srgbClr val="000000"/>
                          </a:solidFill>
                          <a:effectLst/>
                          <a:latin typeface="Calibri" panose="020F0502020204030204" pitchFamily="34" charset="0"/>
                        </a:rPr>
                      </a:br>
                      <a:endParaRPr lang="en-US" sz="1000" b="0" i="0" u="none" strike="noStrike">
                        <a:solidFill>
                          <a:srgbClr val="000000"/>
                        </a:solidFill>
                        <a:effectLst/>
                        <a:latin typeface="Calibri" panose="020F0502020204030204" pitchFamily="34" charset="0"/>
                      </a:endParaRPr>
                    </a:p>
                  </a:txBody>
                  <a:tcPr marL="3351" marR="3351" marT="335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Calibri" panose="020F0502020204030204" pitchFamily="34" charset="0"/>
                        </a:rPr>
                        <a:t>FINAL ACTION: REPLACED TRANSMITTER 16 CV, CHK FLAP LOCK ACTUATOR NO FOUND LEAK, CHECK SATIS.TAKE OFF CONFIG (DEFECT REPETITIVE) EVENT CLOSED</a:t>
                      </a:r>
                      <a:br>
                        <a:rPr lang="en-US" sz="1000" b="0" i="0" u="none" strike="noStrike">
                          <a:solidFill>
                            <a:srgbClr val="000000"/>
                          </a:solidFill>
                          <a:effectLst/>
                          <a:latin typeface="Calibri" panose="020F0502020204030204" pitchFamily="34" charset="0"/>
                        </a:rPr>
                      </a:br>
                      <a:endParaRPr lang="en-US" sz="1000" b="0" i="0" u="none" strike="noStrike">
                        <a:solidFill>
                          <a:srgbClr val="000000"/>
                        </a:solidFill>
                        <a:effectLst/>
                        <a:latin typeface="Calibri" panose="020F0502020204030204" pitchFamily="34" charset="0"/>
                      </a:endParaRPr>
                    </a:p>
                  </a:txBody>
                  <a:tcPr marL="3351" marR="3351" marT="335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Calibri" panose="020F0502020204030204" pitchFamily="34" charset="0"/>
                        </a:rPr>
                        <a:t> </a:t>
                      </a:r>
                    </a:p>
                  </a:txBody>
                  <a:tcPr marL="3351" marR="3351" marT="335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a:solidFill>
                            <a:srgbClr val="000000"/>
                          </a:solidFill>
                          <a:effectLst/>
                          <a:latin typeface="Calibri" panose="020F0502020204030204" pitchFamily="34" charset="0"/>
                        </a:rPr>
                        <a:t>Hỏng hóc "TO CONFIG" chỉ xảy ra trên B223, các lần bị như sau: </a:t>
                      </a:r>
                      <a:br>
                        <a:rPr lang="vi-VN" sz="1000" b="0" i="0" u="none" strike="noStrike">
                          <a:solidFill>
                            <a:srgbClr val="000000"/>
                          </a:solidFill>
                          <a:effectLst/>
                          <a:latin typeface="Calibri" panose="020F0502020204030204" pitchFamily="34" charset="0"/>
                        </a:rPr>
                      </a:br>
                      <a:r>
                        <a:rPr lang="vi-VN" sz="1000" b="0" i="0" u="none" strike="noStrike">
                          <a:solidFill>
                            <a:srgbClr val="000000"/>
                          </a:solidFill>
                          <a:effectLst/>
                          <a:latin typeface="Calibri" panose="020F0502020204030204" pitchFamily="34" charset="0"/>
                        </a:rPr>
                        <a:t>- Ngày 23/11/2023 =&gt; Kiểm tra hệ thống bình thường, OPT Test hệ thống, cảnh báo biến mất, khắc phục được hỏng hóc. </a:t>
                      </a:r>
                      <a:br>
                        <a:rPr lang="vi-VN" sz="1000" b="0" i="0" u="none" strike="noStrike">
                          <a:solidFill>
                            <a:srgbClr val="000000"/>
                          </a:solidFill>
                          <a:effectLst/>
                          <a:latin typeface="Calibri" panose="020F0502020204030204" pitchFamily="34" charset="0"/>
                        </a:rPr>
                      </a:br>
                      <a:r>
                        <a:rPr lang="vi-VN" sz="1000" b="0" i="0" u="none" strike="noStrike">
                          <a:solidFill>
                            <a:srgbClr val="000000"/>
                          </a:solidFill>
                          <a:effectLst/>
                          <a:latin typeface="Calibri" panose="020F0502020204030204" pitchFamily="34" charset="0"/>
                        </a:rPr>
                        <a:t>- Ngày 09/12/2024=&gt; Kiểm tra hệ thống bình thường, OPT Test hệ thống, cảnh báo biến mất.</a:t>
                      </a:r>
                      <a:br>
                        <a:rPr lang="vi-VN" sz="1000" b="0" i="0" u="none" strike="noStrike">
                          <a:solidFill>
                            <a:srgbClr val="000000"/>
                          </a:solidFill>
                          <a:effectLst/>
                          <a:latin typeface="Calibri" panose="020F0502020204030204" pitchFamily="34" charset="0"/>
                        </a:rPr>
                      </a:br>
                      <a:r>
                        <a:rPr lang="vi-VN" sz="1000" b="0" i="0" u="none" strike="noStrike">
                          <a:solidFill>
                            <a:srgbClr val="000000"/>
                          </a:solidFill>
                          <a:effectLst/>
                          <a:latin typeface="Calibri" panose="020F0502020204030204" pitchFamily="34" charset="0"/>
                        </a:rPr>
                        <a:t>- Ngày 20/12/2024=&gt; Thay Flap Transmitter 15CV, OPT test hệ thống, cảnh báo biến mất</a:t>
                      </a:r>
                      <a:br>
                        <a:rPr lang="vi-VN" sz="1000" b="0" i="0" u="none" strike="noStrike">
                          <a:solidFill>
                            <a:srgbClr val="000000"/>
                          </a:solidFill>
                          <a:effectLst/>
                          <a:latin typeface="Calibri" panose="020F0502020204030204" pitchFamily="34" charset="0"/>
                        </a:rPr>
                      </a:br>
                      <a:r>
                        <a:rPr lang="vi-VN" sz="1000" b="0" i="0" u="none" strike="noStrike">
                          <a:solidFill>
                            <a:srgbClr val="000000"/>
                          </a:solidFill>
                          <a:effectLst/>
                          <a:latin typeface="Calibri" panose="020F0502020204030204" pitchFamily="34" charset="0"/>
                        </a:rPr>
                        <a:t>- Ngày 04/01/2025, phát sinh hỏng hóc gây quay lại, đã thay Flap transmitter 16CV để khắc phục.</a:t>
                      </a:r>
                      <a:br>
                        <a:rPr lang="vi-VN" sz="1000" b="0" i="0" u="none" strike="noStrike">
                          <a:solidFill>
                            <a:srgbClr val="000000"/>
                          </a:solidFill>
                          <a:effectLst/>
                          <a:latin typeface="Calibri" panose="020F0502020204030204" pitchFamily="34" charset="0"/>
                        </a:rPr>
                      </a:br>
                      <a:r>
                        <a:rPr lang="vi-VN" sz="1000" b="0" i="0" u="none" strike="noStrike">
                          <a:solidFill>
                            <a:srgbClr val="000000"/>
                          </a:solidFill>
                          <a:effectLst/>
                          <a:latin typeface="Calibri" panose="020F0502020204030204" pitchFamily="34" charset="0"/>
                        </a:rPr>
                        <a:t>Đánh giá:</a:t>
                      </a:r>
                      <a:br>
                        <a:rPr lang="vi-VN" sz="1000" b="0" i="0" u="none" strike="noStrike">
                          <a:solidFill>
                            <a:srgbClr val="000000"/>
                          </a:solidFill>
                          <a:effectLst/>
                          <a:latin typeface="Calibri" panose="020F0502020204030204" pitchFamily="34" charset="0"/>
                        </a:rPr>
                      </a:br>
                      <a:r>
                        <a:rPr lang="vi-VN" sz="1000" b="0" i="0" u="none" strike="noStrike">
                          <a:solidFill>
                            <a:srgbClr val="000000"/>
                          </a:solidFill>
                          <a:effectLst/>
                          <a:latin typeface="Calibri" panose="020F0502020204030204" pitchFamily="34" charset="0"/>
                        </a:rPr>
                        <a:t>Hỏng hóc lặp lại nhiều lần nhưng khó trouble shooting bởi vì tàu bay ATR72 không có nhiều cảm biến để phát hiện cụ thể thiết bị hỏng hóc mà phải dựa vào sơ đồ nguyên lý làm việc để đánh giá, phân tích khả năng hỏng hóc. Ban KT/VAECO có tổ chức họp trực tiếp với chuyên gia ATR về hỏng hóc này. Chuyên gia ATR có tư vấn một số nguyên nhân hỏng hóc dựa trên các kinh nghiệm từ operator khác, nhưng cũng không chỉ ra được cụ thể hỏng hóc từ thiết bị nào mà phải thay thế từng thiết bị nghi ngờ để khắc phục, do đó mới bị xuất hiện nhiều lần.</a:t>
                      </a:r>
                      <a:br>
                        <a:rPr lang="vi-VN" sz="1000" b="0" i="0" u="none" strike="noStrike">
                          <a:solidFill>
                            <a:srgbClr val="000000"/>
                          </a:solidFill>
                          <a:effectLst/>
                          <a:latin typeface="Calibri" panose="020F0502020204030204" pitchFamily="34" charset="0"/>
                        </a:rPr>
                      </a:br>
                      <a:r>
                        <a:rPr lang="vi-VN" sz="1000" b="0" i="0" u="none" strike="noStrike">
                          <a:solidFill>
                            <a:srgbClr val="000000"/>
                          </a:solidFill>
                          <a:effectLst/>
                          <a:latin typeface="Calibri" panose="020F0502020204030204" pitchFamily="34" charset="0"/>
                        </a:rPr>
                        <a:t>Có 4 nguyên nhân có khả năng gây ra hỏng hóc này:</a:t>
                      </a:r>
                      <a:br>
                        <a:rPr lang="vi-VN" sz="1000" b="0" i="0" u="none" strike="noStrike">
                          <a:solidFill>
                            <a:srgbClr val="000000"/>
                          </a:solidFill>
                          <a:effectLst/>
                          <a:latin typeface="Calibri" panose="020F0502020204030204" pitchFamily="34" charset="0"/>
                        </a:rPr>
                      </a:br>
                      <a:r>
                        <a:rPr lang="vi-VN" sz="1000" b="0" i="0" u="none" strike="noStrike">
                          <a:solidFill>
                            <a:srgbClr val="000000"/>
                          </a:solidFill>
                          <a:effectLst/>
                          <a:latin typeface="Calibri" panose="020F0502020204030204" pitchFamily="34" charset="0"/>
                        </a:rPr>
                        <a:t>- Pitch Trim</a:t>
                      </a:r>
                      <a:br>
                        <a:rPr lang="vi-VN" sz="1000" b="0" i="0" u="none" strike="noStrike">
                          <a:solidFill>
                            <a:srgbClr val="000000"/>
                          </a:solidFill>
                          <a:effectLst/>
                          <a:latin typeface="Calibri" panose="020F0502020204030204" pitchFamily="34" charset="0"/>
                        </a:rPr>
                      </a:br>
                      <a:r>
                        <a:rPr lang="vi-VN" sz="1000" b="0" i="0" u="none" strike="noStrike">
                          <a:solidFill>
                            <a:srgbClr val="000000"/>
                          </a:solidFill>
                          <a:effectLst/>
                          <a:latin typeface="Calibri" panose="020F0502020204030204" pitchFamily="34" charset="0"/>
                        </a:rPr>
                        <a:t>- Flap position</a:t>
                      </a:r>
                      <a:br>
                        <a:rPr lang="vi-VN" sz="1000" b="0" i="0" u="none" strike="noStrike">
                          <a:solidFill>
                            <a:srgbClr val="000000"/>
                          </a:solidFill>
                          <a:effectLst/>
                          <a:latin typeface="Calibri" panose="020F0502020204030204" pitchFamily="34" charset="0"/>
                        </a:rPr>
                      </a:br>
                      <a:r>
                        <a:rPr lang="vi-VN" sz="1000" b="0" i="0" u="none" strike="noStrike">
                          <a:solidFill>
                            <a:srgbClr val="000000"/>
                          </a:solidFill>
                          <a:effectLst/>
                          <a:latin typeface="Calibri" panose="020F0502020204030204" pitchFamily="34" charset="0"/>
                        </a:rPr>
                        <a:t>- TLU</a:t>
                      </a:r>
                      <a:br>
                        <a:rPr lang="vi-VN" sz="1000" b="0" i="0" u="none" strike="noStrike">
                          <a:solidFill>
                            <a:srgbClr val="000000"/>
                          </a:solidFill>
                          <a:effectLst/>
                          <a:latin typeface="Calibri" panose="020F0502020204030204" pitchFamily="34" charset="0"/>
                        </a:rPr>
                      </a:br>
                      <a:r>
                        <a:rPr lang="vi-VN" sz="1000" b="0" i="0" u="none" strike="noStrike">
                          <a:solidFill>
                            <a:srgbClr val="000000"/>
                          </a:solidFill>
                          <a:effectLst/>
                          <a:latin typeface="Calibri" panose="020F0502020204030204" pitchFamily="34" charset="0"/>
                        </a:rPr>
                        <a:t>- Aileron tab lock.</a:t>
                      </a:r>
                      <a:br>
                        <a:rPr lang="vi-VN" sz="1000" b="0" i="0" u="none" strike="noStrike">
                          <a:solidFill>
                            <a:srgbClr val="000000"/>
                          </a:solidFill>
                          <a:effectLst/>
                          <a:latin typeface="Calibri" panose="020F0502020204030204" pitchFamily="34" charset="0"/>
                        </a:rPr>
                      </a:br>
                      <a:r>
                        <a:rPr lang="vi-VN" sz="1000" b="0" i="0" u="none" strike="noStrike">
                          <a:solidFill>
                            <a:srgbClr val="000000"/>
                          </a:solidFill>
                          <a:effectLst/>
                          <a:latin typeface="Calibri" panose="020F0502020204030204" pitchFamily="34" charset="0"/>
                        </a:rPr>
                        <a:t>Qua hiện tượng đánh giá sơ bộ, thì nghi ngờ cao do hệ thống cảm biến vị trí Flap. Có 2 vị trí bên LH và RH, ngày 20/12/2024, mới chỉ thay được 1 bên LH do chỉ có 1 spare trong kho. Đến ngày 03/01/2024 mới có vật tư mới, chưa kịp bố trí dừng tàu bay để khắc phục thì xuất hiện hỏng hóc ngày 04/01/2025.</a:t>
                      </a:r>
                    </a:p>
                  </a:txBody>
                  <a:tcPr marL="3351" marR="3351" marT="335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7491759"/>
                  </a:ext>
                </a:extLst>
              </a:tr>
              <a:tr h="677450">
                <a:tc>
                  <a:txBody>
                    <a:bodyPr/>
                    <a:lstStyle/>
                    <a:p>
                      <a:pPr algn="l" fontAlgn="t"/>
                      <a:r>
                        <a:rPr lang="en-US" sz="1000" b="0" i="0" u="none" strike="noStrike">
                          <a:solidFill>
                            <a:srgbClr val="000000"/>
                          </a:solidFill>
                          <a:effectLst/>
                          <a:latin typeface="Calibri" panose="020F0502020204030204" pitchFamily="34" charset="0"/>
                        </a:rPr>
                        <a:t>B223</a:t>
                      </a:r>
                    </a:p>
                  </a:txBody>
                  <a:tcPr marL="3351" marR="3351" marT="335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Calibri" panose="020F0502020204030204" pitchFamily="34" charset="0"/>
                        </a:rPr>
                        <a:t>SGN</a:t>
                      </a:r>
                    </a:p>
                  </a:txBody>
                  <a:tcPr marL="3351" marR="3351" marT="335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Calibri" panose="020F0502020204030204" pitchFamily="34" charset="0"/>
                        </a:rPr>
                        <a:t>VN1885</a:t>
                      </a:r>
                    </a:p>
                  </a:txBody>
                  <a:tcPr marL="3351" marR="3351" marT="335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Calibri" panose="020F0502020204030204" pitchFamily="34" charset="0"/>
                        </a:rPr>
                        <a:t>SGN-VCS</a:t>
                      </a:r>
                    </a:p>
                  </a:txBody>
                  <a:tcPr marL="3351" marR="3351" marT="335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Calibri" panose="020F0502020204030204" pitchFamily="34" charset="0"/>
                        </a:rPr>
                        <a:t>15:20 01/01/2025</a:t>
                      </a:r>
                    </a:p>
                  </a:txBody>
                  <a:tcPr marL="3351" marR="3351" marT="335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000" b="0" i="0" u="none" strike="noStrike">
                          <a:solidFill>
                            <a:srgbClr val="000000"/>
                          </a:solidFill>
                          <a:effectLst/>
                          <a:latin typeface="Calibri" panose="020F0502020204030204" pitchFamily="34" charset="0"/>
                        </a:rPr>
                        <a:t>OGTB</a:t>
                      </a:r>
                    </a:p>
                  </a:txBody>
                  <a:tcPr marL="3351" marR="3351" marT="335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Calibri" panose="020F0502020204030204" pitchFamily="34" charset="0"/>
                        </a:rPr>
                        <a:t>[GTB] CAPT REPORTED NOISE FROM REAR SECTION A/C DURING TAXI, CAPT REPORTED VIA VHF: FOUND NOISE FROM REAR SECTION A/C AND DECIED A/C GTB FOR CHECK</a:t>
                      </a:r>
                      <a:br>
                        <a:rPr lang="en-US" sz="1000" b="0" i="0" u="none" strike="noStrike">
                          <a:solidFill>
                            <a:srgbClr val="000000"/>
                          </a:solidFill>
                          <a:effectLst/>
                          <a:latin typeface="Calibri" panose="020F0502020204030204" pitchFamily="34" charset="0"/>
                        </a:rPr>
                      </a:br>
                      <a:endParaRPr lang="en-US" sz="1000" b="0" i="0" u="none" strike="noStrike">
                        <a:solidFill>
                          <a:srgbClr val="000000"/>
                        </a:solidFill>
                        <a:effectLst/>
                        <a:latin typeface="Calibri" panose="020F0502020204030204" pitchFamily="34" charset="0"/>
                      </a:endParaRPr>
                    </a:p>
                  </a:txBody>
                  <a:tcPr marL="3351" marR="3351" marT="335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Calibri" panose="020F0502020204030204" pitchFamily="34" charset="0"/>
                        </a:rPr>
                        <a:t> EVENT CLOSED &lt;p&gt;AFT A/C GTB, CRS PERFORMED INSP A/C. NO FINDING</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 ALL ACCESS PNL ARE CLOSED</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 TAIL PROP REMOVED AND SECURED</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 INSPECTION LANDING GEAR. NO FINDING</a:t>
                      </a:r>
                    </a:p>
                  </a:txBody>
                  <a:tcPr marL="3351" marR="3351" marT="335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Calibri" panose="020F0502020204030204" pitchFamily="34" charset="0"/>
                        </a:rPr>
                        <a:t> </a:t>
                      </a:r>
                    </a:p>
                  </a:txBody>
                  <a:tcPr marL="3351" marR="3351" marT="335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dirty="0">
                          <a:solidFill>
                            <a:srgbClr val="000000"/>
                          </a:solidFill>
                          <a:effectLst/>
                          <a:latin typeface="Calibri" panose="020F0502020204030204" pitchFamily="34" charset="0"/>
                        </a:rPr>
                        <a:t>NONE TECH</a:t>
                      </a:r>
                    </a:p>
                  </a:txBody>
                  <a:tcPr marL="3351" marR="3351" marT="335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3492769"/>
                  </a:ext>
                </a:extLst>
              </a:tr>
            </a:tbl>
          </a:graphicData>
        </a:graphic>
      </p:graphicFrame>
    </p:spTree>
    <p:custDataLst>
      <p:tags r:id="rId1"/>
    </p:custDataLst>
    <p:extLst>
      <p:ext uri="{BB962C8B-B14F-4D97-AF65-F5344CB8AC3E}">
        <p14:creationId xmlns:p14="http://schemas.microsoft.com/office/powerpoint/2010/main" val="1768096160"/>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6"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t>4</a:t>
            </a:fld>
            <a:endParaRPr kumimoji="0" lang="en-US" sz="1200" b="0" i="0" u="none" strike="noStrike" kern="1200" cap="none" spc="0" normalizeH="0" baseline="0" noProof="0">
              <a:ln>
                <a:noFill/>
              </a:ln>
              <a:solidFill>
                <a:srgbClr val="D2A43B"/>
              </a:solidFill>
              <a:effectLst/>
              <a:uLnTx/>
              <a:uFillTx/>
              <a:latin typeface="Montserrat" pitchFamily="2" charset="77"/>
              <a:ea typeface="+mn-ea"/>
              <a:cs typeface="+mn-cs"/>
            </a:endParaRPr>
          </a:p>
        </p:txBody>
      </p:sp>
      <p:sp>
        <p:nvSpPr>
          <p:cNvPr id="1048595" name="Title 4"/>
          <p:cNvSpPr>
            <a:spLocks noGrp="1"/>
          </p:cNvSpPr>
          <p:nvPr>
            <p:ph type="title"/>
          </p:nvPr>
        </p:nvSpPr>
        <p:spPr>
          <a:xfrm>
            <a:off x="509166" y="439933"/>
            <a:ext cx="4901033" cy="815200"/>
          </a:xfrm>
        </p:spPr>
        <p:txBody>
          <a:bodyPr>
            <a:normAutofit/>
          </a:bodyPr>
          <a:lstStyle/>
          <a:p>
            <a:r>
              <a:rPr kumimoji="0" lang="en-US" sz="2800" b="1" i="0" u="none" strike="noStrike" kern="1200" cap="none" spc="0" normalizeH="0" baseline="0" noProof="0" dirty="0" err="1">
                <a:ln>
                  <a:noFill/>
                </a:ln>
                <a:solidFill>
                  <a:srgbClr val="FFC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Các</a:t>
            </a:r>
            <a:r>
              <a:rPr kumimoji="0" lang="en-US" sz="2800" b="1" i="0" u="none" strike="noStrike" kern="1200" cap="none" spc="0" normalizeH="0" baseline="0" noProof="0" dirty="0">
                <a:ln>
                  <a:noFill/>
                </a:ln>
                <a:solidFill>
                  <a:srgbClr val="FFC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2800" b="1" i="0" u="none" strike="noStrike" kern="1200" cap="none" spc="0" normalizeH="0" baseline="0" noProof="0" dirty="0" err="1">
                <a:ln>
                  <a:noFill/>
                </a:ln>
                <a:solidFill>
                  <a:srgbClr val="FFC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sự</a:t>
            </a:r>
            <a:r>
              <a:rPr kumimoji="0" lang="en-US" sz="2800" b="1" i="0" u="none" strike="noStrike" kern="1200" cap="none" spc="0" normalizeH="0" baseline="0" noProof="0" dirty="0">
                <a:ln>
                  <a:noFill/>
                </a:ln>
                <a:solidFill>
                  <a:srgbClr val="FFC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2800" b="1" i="0" u="none" strike="noStrike" kern="1200" cap="none" spc="0" normalizeH="0" baseline="0" noProof="0" dirty="0" err="1">
                <a:ln>
                  <a:noFill/>
                </a:ln>
                <a:solidFill>
                  <a:srgbClr val="FFC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kiện</a:t>
            </a:r>
            <a:r>
              <a:rPr kumimoji="0" lang="en-US" sz="2800" b="1" i="0" u="none" strike="noStrike" kern="1200" cap="none" spc="0" normalizeH="0" baseline="0" noProof="0" dirty="0">
                <a:ln>
                  <a:noFill/>
                </a:ln>
                <a:solidFill>
                  <a:srgbClr val="FFC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MOR</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161376661"/>
              </p:ext>
            </p:extLst>
          </p:nvPr>
        </p:nvGraphicFramePr>
        <p:xfrm>
          <a:off x="509166" y="1255133"/>
          <a:ext cx="11149433" cy="1014944"/>
        </p:xfrm>
        <a:graphic>
          <a:graphicData uri="http://schemas.openxmlformats.org/drawingml/2006/table">
            <a:tbl>
              <a:tblPr/>
              <a:tblGrid>
                <a:gridCol w="426193">
                  <a:extLst>
                    <a:ext uri="{9D8B030D-6E8A-4147-A177-3AD203B41FA5}">
                      <a16:colId xmlns:a16="http://schemas.microsoft.com/office/drawing/2014/main" val="3172391082"/>
                    </a:ext>
                  </a:extLst>
                </a:gridCol>
                <a:gridCol w="426193">
                  <a:extLst>
                    <a:ext uri="{9D8B030D-6E8A-4147-A177-3AD203B41FA5}">
                      <a16:colId xmlns:a16="http://schemas.microsoft.com/office/drawing/2014/main" val="2710366593"/>
                    </a:ext>
                  </a:extLst>
                </a:gridCol>
                <a:gridCol w="485859">
                  <a:extLst>
                    <a:ext uri="{9D8B030D-6E8A-4147-A177-3AD203B41FA5}">
                      <a16:colId xmlns:a16="http://schemas.microsoft.com/office/drawing/2014/main" val="643565649"/>
                    </a:ext>
                  </a:extLst>
                </a:gridCol>
                <a:gridCol w="507663">
                  <a:extLst>
                    <a:ext uri="{9D8B030D-6E8A-4147-A177-3AD203B41FA5}">
                      <a16:colId xmlns:a16="http://schemas.microsoft.com/office/drawing/2014/main" val="2919235074"/>
                    </a:ext>
                  </a:extLst>
                </a:gridCol>
                <a:gridCol w="528478">
                  <a:extLst>
                    <a:ext uri="{9D8B030D-6E8A-4147-A177-3AD203B41FA5}">
                      <a16:colId xmlns:a16="http://schemas.microsoft.com/office/drawing/2014/main" val="3729828882"/>
                    </a:ext>
                  </a:extLst>
                </a:gridCol>
                <a:gridCol w="426193">
                  <a:extLst>
                    <a:ext uri="{9D8B030D-6E8A-4147-A177-3AD203B41FA5}">
                      <a16:colId xmlns:a16="http://schemas.microsoft.com/office/drawing/2014/main" val="2002263607"/>
                    </a:ext>
                  </a:extLst>
                </a:gridCol>
                <a:gridCol w="426193">
                  <a:extLst>
                    <a:ext uri="{9D8B030D-6E8A-4147-A177-3AD203B41FA5}">
                      <a16:colId xmlns:a16="http://schemas.microsoft.com/office/drawing/2014/main" val="2056168953"/>
                    </a:ext>
                  </a:extLst>
                </a:gridCol>
                <a:gridCol w="701382">
                  <a:extLst>
                    <a:ext uri="{9D8B030D-6E8A-4147-A177-3AD203B41FA5}">
                      <a16:colId xmlns:a16="http://schemas.microsoft.com/office/drawing/2014/main" val="3326012595"/>
                    </a:ext>
                  </a:extLst>
                </a:gridCol>
                <a:gridCol w="2682830">
                  <a:extLst>
                    <a:ext uri="{9D8B030D-6E8A-4147-A177-3AD203B41FA5}">
                      <a16:colId xmlns:a16="http://schemas.microsoft.com/office/drawing/2014/main" val="4092620201"/>
                    </a:ext>
                  </a:extLst>
                </a:gridCol>
                <a:gridCol w="3686064">
                  <a:extLst>
                    <a:ext uri="{9D8B030D-6E8A-4147-A177-3AD203B41FA5}">
                      <a16:colId xmlns:a16="http://schemas.microsoft.com/office/drawing/2014/main" val="381013377"/>
                    </a:ext>
                  </a:extLst>
                </a:gridCol>
                <a:gridCol w="785319">
                  <a:extLst>
                    <a:ext uri="{9D8B030D-6E8A-4147-A177-3AD203B41FA5}">
                      <a16:colId xmlns:a16="http://schemas.microsoft.com/office/drawing/2014/main" val="2379586800"/>
                    </a:ext>
                  </a:extLst>
                </a:gridCol>
                <a:gridCol w="67066">
                  <a:extLst>
                    <a:ext uri="{9D8B030D-6E8A-4147-A177-3AD203B41FA5}">
                      <a16:colId xmlns:a16="http://schemas.microsoft.com/office/drawing/2014/main" val="2739973553"/>
                    </a:ext>
                  </a:extLst>
                </a:gridCol>
              </a:tblGrid>
              <a:tr h="109253">
                <a:tc>
                  <a:txBody>
                    <a:bodyPr/>
                    <a:lstStyle/>
                    <a:p>
                      <a:pPr algn="ctr" fontAlgn="ctr"/>
                      <a:r>
                        <a:rPr lang="en-US" sz="1100" b="0" i="0" u="none" strike="noStrike">
                          <a:solidFill>
                            <a:srgbClr val="000000"/>
                          </a:solidFill>
                          <a:effectLst/>
                          <a:latin typeface="Calibri" panose="020F0502020204030204" pitchFamily="34" charset="0"/>
                        </a:rPr>
                        <a:t>REG.</a:t>
                      </a:r>
                    </a:p>
                  </a:txBody>
                  <a:tcPr marL="4552" marR="4552" marT="45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FLEET</a:t>
                      </a:r>
                    </a:p>
                  </a:txBody>
                  <a:tcPr marL="4552" marR="4552" marT="45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YEAR</a:t>
                      </a:r>
                    </a:p>
                  </a:txBody>
                  <a:tcPr marL="4552" marR="4552" marT="45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MONTH</a:t>
                      </a:r>
                    </a:p>
                  </a:txBody>
                  <a:tcPr marL="4552" marR="4552" marT="45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DATE</a:t>
                      </a:r>
                    </a:p>
                  </a:txBody>
                  <a:tcPr marL="4552" marR="4552" marT="45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STA.</a:t>
                      </a:r>
                    </a:p>
                  </a:txBody>
                  <a:tcPr marL="4552" marR="4552" marT="45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FLIGHT</a:t>
                      </a:r>
                    </a:p>
                  </a:txBody>
                  <a:tcPr marL="4552" marR="4552" marT="45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DEP-ARV</a:t>
                      </a:r>
                    </a:p>
                  </a:txBody>
                  <a:tcPr marL="4552" marR="4552" marT="45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DEFECT</a:t>
                      </a:r>
                    </a:p>
                  </a:txBody>
                  <a:tcPr marL="4552" marR="4552" marT="45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CORRECTIVE ACTION</a:t>
                      </a:r>
                    </a:p>
                  </a:txBody>
                  <a:tcPr marL="4552" marR="4552" marT="45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ATA</a:t>
                      </a:r>
                    </a:p>
                  </a:txBody>
                  <a:tcPr marL="4552" marR="4552" marT="45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endParaRPr lang="en-150" sz="1100" b="0" i="0" u="none" strike="noStrike">
                        <a:solidFill>
                          <a:srgbClr val="000000"/>
                        </a:solidFill>
                        <a:effectLst/>
                        <a:latin typeface="Calibri" panose="020F0502020204030204" pitchFamily="34" charset="0"/>
                      </a:endParaRPr>
                    </a:p>
                  </a:txBody>
                  <a:tcPr marL="4552" marR="4552" marT="4552" marB="0">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4270678110"/>
                  </a:ext>
                </a:extLst>
              </a:tr>
              <a:tr h="437012">
                <a:tc>
                  <a:txBody>
                    <a:bodyPr/>
                    <a:lstStyle/>
                    <a:p>
                      <a:pPr algn="ctr" fontAlgn="t"/>
                      <a:r>
                        <a:rPr lang="en-US" sz="1100" b="0" i="0" u="none" strike="noStrike">
                          <a:solidFill>
                            <a:srgbClr val="000000"/>
                          </a:solidFill>
                          <a:effectLst/>
                          <a:latin typeface="Calibri" panose="020F0502020204030204" pitchFamily="34" charset="0"/>
                        </a:rPr>
                        <a:t>B223</a:t>
                      </a:r>
                    </a:p>
                  </a:txBody>
                  <a:tcPr marL="4552" marR="4552" marT="455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Calibri" panose="020F0502020204030204" pitchFamily="34" charset="0"/>
                        </a:rPr>
                        <a:t>ATR72</a:t>
                      </a:r>
                    </a:p>
                  </a:txBody>
                  <a:tcPr marL="4552" marR="4552" marT="455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150" sz="1100" b="0" i="0" u="none" strike="noStrike">
                          <a:solidFill>
                            <a:srgbClr val="000000"/>
                          </a:solidFill>
                          <a:effectLst/>
                          <a:latin typeface="Calibri" panose="020F0502020204030204" pitchFamily="34" charset="0"/>
                        </a:rPr>
                        <a:t>2025</a:t>
                      </a:r>
                    </a:p>
                  </a:txBody>
                  <a:tcPr marL="4552" marR="4552" marT="455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150" sz="1100" b="0" i="0" u="none" strike="noStrike">
                          <a:solidFill>
                            <a:srgbClr val="000000"/>
                          </a:solidFill>
                          <a:effectLst/>
                          <a:latin typeface="Calibri" panose="020F0502020204030204" pitchFamily="34" charset="0"/>
                        </a:rPr>
                        <a:t>01</a:t>
                      </a:r>
                    </a:p>
                  </a:txBody>
                  <a:tcPr marL="4552" marR="4552" marT="455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150" sz="1100" b="0" i="0" u="none" strike="noStrike">
                          <a:solidFill>
                            <a:srgbClr val="000000"/>
                          </a:solidFill>
                          <a:effectLst/>
                          <a:latin typeface="Calibri" panose="020F0502020204030204" pitchFamily="34" charset="0"/>
                        </a:rPr>
                        <a:t>04</a:t>
                      </a:r>
                    </a:p>
                  </a:txBody>
                  <a:tcPr marL="4552" marR="4552" marT="455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SGN</a:t>
                      </a:r>
                    </a:p>
                  </a:txBody>
                  <a:tcPr marL="4552" marR="4552" marT="455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VN8073</a:t>
                      </a:r>
                    </a:p>
                  </a:txBody>
                  <a:tcPr marL="4552" marR="4552" marT="455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SGN - </a:t>
                      </a:r>
                    </a:p>
                  </a:txBody>
                  <a:tcPr marL="4552" marR="4552" marT="455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B223 [RTO] [GTB] TAKE OFF CONFIG (DEFECT REPETITIVE) DURING TAKE OFF CAPT INFORM VIA VHF TAKE OFF CONFIG (DEFECT REPETITIVE), CAPT DECIED RTO &amp;amp; GTB FOR CHECK.</a:t>
                      </a:r>
                    </a:p>
                  </a:txBody>
                  <a:tcPr marL="4552" marR="4552" marT="455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FINAL ACTION: REPLACED TRANSMITTER 16 CV, CHK FLAP LOCK ACTUATOR NO FOUND LEAK, CHECK SATIS. TAKE OFF CONFIG (DEFECT REPETITIVE) EVENT CLOSED </a:t>
                      </a:r>
                    </a:p>
                  </a:txBody>
                  <a:tcPr marL="4552" marR="4552" marT="455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150" sz="1100" b="0" i="0" u="none" strike="noStrike">
                          <a:solidFill>
                            <a:srgbClr val="000000"/>
                          </a:solidFill>
                          <a:effectLst/>
                          <a:latin typeface="Calibri" panose="020F0502020204030204" pitchFamily="34" charset="0"/>
                        </a:rPr>
                        <a:t> </a:t>
                      </a:r>
                    </a:p>
                  </a:txBody>
                  <a:tcPr marL="4552" marR="4552" marT="455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endParaRPr lang="en-150" sz="1100" b="0" i="0" u="none" strike="noStrike">
                        <a:solidFill>
                          <a:srgbClr val="000000"/>
                        </a:solidFill>
                        <a:effectLst/>
                        <a:latin typeface="Calibri" panose="020F0502020204030204" pitchFamily="34" charset="0"/>
                      </a:endParaRPr>
                    </a:p>
                  </a:txBody>
                  <a:tcPr marL="4552" marR="4552" marT="4552" marB="0">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920585224"/>
                  </a:ext>
                </a:extLst>
              </a:tr>
            </a:tbl>
          </a:graphicData>
        </a:graphic>
      </p:graphicFrame>
    </p:spTree>
    <p:extLst>
      <p:ext uri="{BB962C8B-B14F-4D97-AF65-F5344CB8AC3E}">
        <p14:creationId xmlns:p14="http://schemas.microsoft.com/office/powerpoint/2010/main" val="2695279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5</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301591" y="344299"/>
            <a:ext cx="11360820" cy="461624"/>
          </a:xfrm>
          <a:prstGeom prst="rect">
            <a:avLst/>
          </a:prstGeom>
          <a:noFill/>
          <a:ln>
            <a:noFill/>
          </a:ln>
        </p:spPr>
        <p:txBody>
          <a:bodyPr spcFirstLastPara="1" wrap="square" lIns="91433" tIns="45700" rIns="91433" bIns="45700" anchor="t" anchorCtr="0">
            <a:spAutoFit/>
          </a:bodyPr>
          <a:lstStyle/>
          <a:p>
            <a:pPr lvl="0"/>
            <a:r>
              <a:rPr lang="en-US" sz="2400" b="1">
                <a:solidFill>
                  <a:srgbClr val="DEA610"/>
                </a:solidFill>
                <a:latin typeface="Times New Roman" panose="02020603050405020304" pitchFamily="18" charset="0"/>
                <a:ea typeface="Montserrat SemiBold"/>
                <a:cs typeface="Times New Roman" panose="02020603050405020304" pitchFamily="18" charset="0"/>
                <a:sym typeface="Montserrat SemiBold"/>
              </a:rPr>
              <a:t>CÁC CHUYẾN BAY DELAY ĐẦU NGÀY VÀ DELAY DO THAY LỐP</a:t>
            </a:r>
            <a:endParaRPr sz="240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02664" y="1053717"/>
            <a:ext cx="11171451" cy="338554"/>
          </a:xfrm>
          <a:prstGeom prst="rect">
            <a:avLst/>
          </a:prstGeom>
          <a:noFill/>
        </p:spPr>
        <p:txBody>
          <a:bodyPr wrap="square">
            <a:spAutoFit/>
          </a:bodyPr>
          <a:lstStyle/>
          <a:p>
            <a:pPr algn="just">
              <a:buClrTx/>
              <a:buFontTx/>
              <a:buNone/>
              <a:defRPr/>
            </a:pPr>
            <a:r>
              <a:rPr lang="en-US" sz="1600" b="1">
                <a:solidFill>
                  <a:prstClr val="black"/>
                </a:solidFill>
                <a:latin typeface="Times New Roman" panose="02020603050405020304" pitchFamily="18" charset="0"/>
                <a:cs typeface="Times New Roman" panose="02020603050405020304" pitchFamily="18" charset="0"/>
              </a:rPr>
              <a:t>CÁC CHUYẾN BAY DELAY ĐẦU NGÀY</a:t>
            </a:r>
            <a:endParaRPr lang="en-US" sz="1600" b="1" dirty="0">
              <a:solidFill>
                <a:prstClr val="black"/>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80D0EF5-CAED-4228-924A-DD9228564476}"/>
              </a:ext>
            </a:extLst>
          </p:cNvPr>
          <p:cNvSpPr txBox="1"/>
          <p:nvPr/>
        </p:nvSpPr>
        <p:spPr>
          <a:xfrm>
            <a:off x="302664" y="4579025"/>
            <a:ext cx="11171451" cy="338554"/>
          </a:xfrm>
          <a:prstGeom prst="rect">
            <a:avLst/>
          </a:prstGeom>
          <a:noFill/>
        </p:spPr>
        <p:txBody>
          <a:bodyPr wrap="square">
            <a:spAutoFit/>
          </a:bodyPr>
          <a:lstStyle/>
          <a:p>
            <a:pPr algn="just">
              <a:buClrTx/>
              <a:buFontTx/>
              <a:buNone/>
              <a:defRPr/>
            </a:pPr>
            <a:r>
              <a:rPr lang="en-US" sz="1600" b="1">
                <a:solidFill>
                  <a:prstClr val="black"/>
                </a:solidFill>
                <a:latin typeface="Times New Roman" panose="02020603050405020304" pitchFamily="18" charset="0"/>
                <a:cs typeface="Times New Roman" panose="02020603050405020304" pitchFamily="18" charset="0"/>
              </a:rPr>
              <a:t>CÁC CHUYẾN BAY DELAY DO THAY LỐP</a:t>
            </a:r>
            <a:endParaRPr lang="en-US" sz="1600" b="1" dirty="0">
              <a:solidFill>
                <a:prstClr val="black"/>
              </a:solidFill>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892490117"/>
              </p:ext>
            </p:extLst>
          </p:nvPr>
        </p:nvGraphicFramePr>
        <p:xfrm>
          <a:off x="301591" y="1389962"/>
          <a:ext cx="11463226" cy="3087420"/>
        </p:xfrm>
        <a:graphic>
          <a:graphicData uri="http://schemas.openxmlformats.org/drawingml/2006/table">
            <a:tbl>
              <a:tblPr/>
              <a:tblGrid>
                <a:gridCol w="427560">
                  <a:extLst>
                    <a:ext uri="{9D8B030D-6E8A-4147-A177-3AD203B41FA5}">
                      <a16:colId xmlns:a16="http://schemas.microsoft.com/office/drawing/2014/main" val="1400939127"/>
                    </a:ext>
                  </a:extLst>
                </a:gridCol>
                <a:gridCol w="531561">
                  <a:extLst>
                    <a:ext uri="{9D8B030D-6E8A-4147-A177-3AD203B41FA5}">
                      <a16:colId xmlns:a16="http://schemas.microsoft.com/office/drawing/2014/main" val="815328117"/>
                    </a:ext>
                  </a:extLst>
                </a:gridCol>
                <a:gridCol w="381337">
                  <a:extLst>
                    <a:ext uri="{9D8B030D-6E8A-4147-A177-3AD203B41FA5}">
                      <a16:colId xmlns:a16="http://schemas.microsoft.com/office/drawing/2014/main" val="1720360630"/>
                    </a:ext>
                  </a:extLst>
                </a:gridCol>
                <a:gridCol w="1155567">
                  <a:extLst>
                    <a:ext uri="{9D8B030D-6E8A-4147-A177-3AD203B41FA5}">
                      <a16:colId xmlns:a16="http://schemas.microsoft.com/office/drawing/2014/main" val="1684777201"/>
                    </a:ext>
                  </a:extLst>
                </a:gridCol>
                <a:gridCol w="392893">
                  <a:extLst>
                    <a:ext uri="{9D8B030D-6E8A-4147-A177-3AD203B41FA5}">
                      <a16:colId xmlns:a16="http://schemas.microsoft.com/office/drawing/2014/main" val="1451179484"/>
                    </a:ext>
                  </a:extLst>
                </a:gridCol>
                <a:gridCol w="751118">
                  <a:extLst>
                    <a:ext uri="{9D8B030D-6E8A-4147-A177-3AD203B41FA5}">
                      <a16:colId xmlns:a16="http://schemas.microsoft.com/office/drawing/2014/main" val="2273417757"/>
                    </a:ext>
                  </a:extLst>
                </a:gridCol>
                <a:gridCol w="658673">
                  <a:extLst>
                    <a:ext uri="{9D8B030D-6E8A-4147-A177-3AD203B41FA5}">
                      <a16:colId xmlns:a16="http://schemas.microsoft.com/office/drawing/2014/main" val="3922052826"/>
                    </a:ext>
                  </a:extLst>
                </a:gridCol>
                <a:gridCol w="774230">
                  <a:extLst>
                    <a:ext uri="{9D8B030D-6E8A-4147-A177-3AD203B41FA5}">
                      <a16:colId xmlns:a16="http://schemas.microsoft.com/office/drawing/2014/main" val="3029852354"/>
                    </a:ext>
                  </a:extLst>
                </a:gridCol>
                <a:gridCol w="2403580">
                  <a:extLst>
                    <a:ext uri="{9D8B030D-6E8A-4147-A177-3AD203B41FA5}">
                      <a16:colId xmlns:a16="http://schemas.microsoft.com/office/drawing/2014/main" val="2636508086"/>
                    </a:ext>
                  </a:extLst>
                </a:gridCol>
                <a:gridCol w="3986707">
                  <a:extLst>
                    <a:ext uri="{9D8B030D-6E8A-4147-A177-3AD203B41FA5}">
                      <a16:colId xmlns:a16="http://schemas.microsoft.com/office/drawing/2014/main" val="1882276902"/>
                    </a:ext>
                  </a:extLst>
                </a:gridCol>
              </a:tblGrid>
              <a:tr h="311652">
                <a:tc>
                  <a:txBody>
                    <a:bodyPr/>
                    <a:lstStyle/>
                    <a:p>
                      <a:pPr algn="ctr" fontAlgn="ctr"/>
                      <a:r>
                        <a:rPr lang="en-US" sz="1100" b="1" i="0" u="none" strike="noStrike">
                          <a:solidFill>
                            <a:srgbClr val="000000"/>
                          </a:solidFill>
                          <a:effectLst/>
                          <a:latin typeface="Times New Roman" panose="02020603050405020304" pitchFamily="18" charset="0"/>
                        </a:rPr>
                        <a:t>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rPr>
                        <a:t>FLEET</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rPr>
                        <a:t>A/C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rPr>
                        <a:t>DELAY DATE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rPr>
                        <a:t>STA</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rPr>
                        <a:t>DELAY MINUTES</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rPr>
                        <a:t>FLIGHT 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rPr>
                        <a:t>ROUTINE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rPr>
                        <a:t>DELAY DESC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rPr>
                        <a:t>DELAY ACTION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39288818"/>
                  </a:ext>
                </a:extLst>
              </a:tr>
              <a:tr h="585142">
                <a:tc>
                  <a:txBody>
                    <a:bodyPr/>
                    <a:lstStyle/>
                    <a:p>
                      <a:pPr algn="l" fontAlgn="ctr"/>
                      <a:r>
                        <a:rPr lang="en-150" sz="1050" b="0" i="0" u="none" strike="noStrike">
                          <a:solidFill>
                            <a:srgbClr val="000000"/>
                          </a:solidFill>
                          <a:effectLst/>
                          <a:latin typeface="Times New Roman" panose="02020603050405020304" pitchFamily="18" charset="0"/>
                        </a:rPr>
                        <a:t>1</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A321</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A512</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rPr>
                        <a:t>04/01/2025 07:43</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SGN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50" b="0" i="0" u="none" strike="noStrike">
                          <a:solidFill>
                            <a:srgbClr val="000000"/>
                          </a:solidFill>
                          <a:effectLst/>
                          <a:latin typeface="Times New Roman" panose="02020603050405020304" pitchFamily="18" charset="0"/>
                        </a:rPr>
                        <a:t>45</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VN242</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SGN-HAN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DURING BOARDING, MGS IP VLV ENG 1 NOT CLOSED APPEARED DURING BOARDING, MGS IP VLV ENG 1 NOT CLOSED APPEARED</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smtClean="0">
                          <a:solidFill>
                            <a:srgbClr val="000000"/>
                          </a:solidFill>
                          <a:effectLst/>
                          <a:latin typeface="Times New Roman" panose="02020603050405020304" pitchFamily="18" charset="0"/>
                        </a:rPr>
                        <a:t>C/O REPLACED 18HA1 (ROBBED FROM A503), ENG #1 RUN UP, BLEED TEST OK. ADD B993 CLEARED. A/C SERVICEABLE </a:t>
                      </a:r>
                      <a:endParaRPr lang="en-US" sz="1050" b="0" i="0" u="none" strike="noStrike">
                        <a:solidFill>
                          <a:srgbClr val="000000"/>
                        </a:solidFill>
                        <a:effectLst/>
                        <a:latin typeface="Times New Roman" panose="02020603050405020304" pitchFamily="18" charset="0"/>
                      </a:endParaRP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7811605"/>
                  </a:ext>
                </a:extLst>
              </a:tr>
              <a:tr h="877713">
                <a:tc>
                  <a:txBody>
                    <a:bodyPr/>
                    <a:lstStyle/>
                    <a:p>
                      <a:pPr algn="l" fontAlgn="ctr"/>
                      <a:r>
                        <a:rPr lang="en-150" sz="1050" b="0" i="0" u="none" strike="noStrike">
                          <a:solidFill>
                            <a:srgbClr val="000000"/>
                          </a:solidFill>
                          <a:effectLst/>
                          <a:latin typeface="Times New Roman" panose="02020603050405020304" pitchFamily="18" charset="0"/>
                        </a:rPr>
                        <a:t>2</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A321</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A393</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rPr>
                        <a:t>01/01/2025 10:50</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HAN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50" b="0" i="0" u="none" strike="noStrike">
                          <a:solidFill>
                            <a:srgbClr val="000000"/>
                          </a:solidFill>
                          <a:effectLst/>
                          <a:latin typeface="Times New Roman" panose="02020603050405020304" pitchFamily="18" charset="0"/>
                        </a:rPr>
                        <a:t>15</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VN1715</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HAN-VII</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X BLEED MAN CTL ON MEMO PAGE VN1715 HAN-VII ETD 07:25 Do thời tiét ở VII xấu nên 10:50 mới boarding (New ETD 11:00)</a:t>
                      </a:r>
                      <a:br>
                        <a:rPr lang="en-US" sz="1050" b="0" i="0" u="none" strike="noStrike">
                          <a:solidFill>
                            <a:srgbClr val="000000"/>
                          </a:solidFill>
                          <a:effectLst/>
                          <a:latin typeface="Times New Roman" panose="02020603050405020304" pitchFamily="18" charset="0"/>
                        </a:rPr>
                      </a:br>
                      <a:r>
                        <a:rPr lang="en-US" sz="1050" b="0" i="0" u="none" strike="noStrike">
                          <a:solidFill>
                            <a:srgbClr val="000000"/>
                          </a:solidFill>
                          <a:effectLst/>
                          <a:latin typeface="Times New Roman" panose="02020603050405020304" pitchFamily="18" charset="0"/>
                        </a:rPr>
                        <a:t>Sau khi Boarding xuất hiện MSG Cross Bleed MAN CTL</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C/O OPS TEST OF X BLEED SYS I.A.W AMM 36-12-00-710-001-A (R NOV 24)</a:t>
                      </a:r>
                      <a:br>
                        <a:rPr lang="en-US" sz="1050" b="0" i="0" u="none" strike="noStrike">
                          <a:solidFill>
                            <a:srgbClr val="000000"/>
                          </a:solidFill>
                          <a:effectLst/>
                          <a:latin typeface="Times New Roman" panose="02020603050405020304" pitchFamily="18" charset="0"/>
                        </a:rPr>
                      </a:br>
                      <a:r>
                        <a:rPr lang="en-US" sz="1050" b="0" i="0" u="none" strike="noStrike">
                          <a:solidFill>
                            <a:srgbClr val="000000"/>
                          </a:solidFill>
                          <a:effectLst/>
                          <a:latin typeface="Times New Roman" panose="02020603050405020304" pitchFamily="18" charset="0"/>
                        </a:rPr>
                        <a:t/>
                      </a:r>
                      <a:br>
                        <a:rPr lang="en-US" sz="1050" b="0" i="0" u="none" strike="noStrike">
                          <a:solidFill>
                            <a:srgbClr val="000000"/>
                          </a:solidFill>
                          <a:effectLst/>
                          <a:latin typeface="Times New Roman" panose="02020603050405020304" pitchFamily="18" charset="0"/>
                        </a:rPr>
                      </a:br>
                      <a:r>
                        <a:rPr lang="en-US" sz="1050" b="0" i="0" u="none" strike="noStrike">
                          <a:solidFill>
                            <a:srgbClr val="000000"/>
                          </a:solidFill>
                          <a:effectLst/>
                          <a:latin typeface="Times New Roman" panose="02020603050405020304" pitchFamily="18" charset="0"/>
                        </a:rPr>
                        <a:t>TEST SATIS MSG DISAPPEAR X BLEED MAN CTL ON MEMO PAGE EVENT CLOSED </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6431190"/>
                  </a:ext>
                </a:extLst>
              </a:tr>
              <a:tr h="877713">
                <a:tc>
                  <a:txBody>
                    <a:bodyPr/>
                    <a:lstStyle/>
                    <a:p>
                      <a:pPr algn="l" fontAlgn="ctr"/>
                      <a:r>
                        <a:rPr lang="en-150" sz="1050" b="0" i="0" u="none" strike="noStrike">
                          <a:solidFill>
                            <a:srgbClr val="000000"/>
                          </a:solidFill>
                          <a:effectLst/>
                          <a:latin typeface="Times New Roman" panose="02020603050405020304" pitchFamily="18" charset="0"/>
                        </a:rPr>
                        <a:t>3</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A321</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A605</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rPr>
                        <a:t>01/01/2025 06:18</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HAN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50" b="0" i="0" u="none" strike="noStrike">
                          <a:solidFill>
                            <a:srgbClr val="000000"/>
                          </a:solidFill>
                          <a:effectLst/>
                          <a:latin typeface="Times New Roman" panose="02020603050405020304" pitchFamily="18" charset="0"/>
                        </a:rPr>
                        <a:t>15</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VN1201</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HAN-VCA</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LEAK FUEL AT DRAIN MAST OF APU A/c Pre-flight, Sau khi nổ APU phát hiện leak fuel at drain mast của APU, cần đánh APU inop, tuy nhiên ở sân VCA không có xe khởi động khí nên MCC đổi sang A338 bay thay</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Run APU of A605 40 mins in ECS MODE i.a.w AMM 49-00-00-710-010 Rev Nov 24 &amp;#61;&amp;gt;Found NO Leak</a:t>
                      </a:r>
                      <a:br>
                        <a:rPr lang="en-US" sz="1050" b="0" i="0" u="none" strike="noStrike">
                          <a:solidFill>
                            <a:srgbClr val="000000"/>
                          </a:solidFill>
                          <a:effectLst/>
                          <a:latin typeface="Times New Roman" panose="02020603050405020304" pitchFamily="18" charset="0"/>
                        </a:rPr>
                      </a:br>
                      <a:r>
                        <a:rPr lang="en-US" sz="1050" b="0" i="0" u="none" strike="noStrike">
                          <a:solidFill>
                            <a:srgbClr val="000000"/>
                          </a:solidFill>
                          <a:effectLst/>
                          <a:latin typeface="Times New Roman" panose="02020603050405020304" pitchFamily="18" charset="0"/>
                        </a:rPr>
                        <a:t>Request futher monitor (Rè AMM 49-00-00-790-003-A).</a:t>
                      </a:r>
                      <a:br>
                        <a:rPr lang="en-US" sz="1050" b="0" i="0" u="none" strike="noStrike">
                          <a:solidFill>
                            <a:srgbClr val="000000"/>
                          </a:solidFill>
                          <a:effectLst/>
                          <a:latin typeface="Times New Roman" panose="02020603050405020304" pitchFamily="18" charset="0"/>
                        </a:rPr>
                      </a:br>
                      <a:r>
                        <a:rPr lang="en-US" sz="1050" b="0" i="0" u="none" strike="noStrike">
                          <a:solidFill>
                            <a:srgbClr val="000000"/>
                          </a:solidFill>
                          <a:effectLst/>
                          <a:latin typeface="Times New Roman" panose="02020603050405020304" pitchFamily="18" charset="0"/>
                        </a:rPr>
                        <a:t>A/C READY TO SERVICE LEAK FUEL AT DRAIN MAST OF APU EVENT CLOSED </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52224921"/>
                  </a:ext>
                </a:extLst>
              </a:tr>
              <a:tr h="152646">
                <a:tc>
                  <a:txBody>
                    <a:bodyPr/>
                    <a:lstStyle/>
                    <a:p>
                      <a:pPr algn="l" fontAlgn="ctr"/>
                      <a:r>
                        <a:rPr lang="en-150" sz="1050" b="0" i="0" u="none" strike="noStrike">
                          <a:solidFill>
                            <a:srgbClr val="000000"/>
                          </a:solidFill>
                          <a:effectLst/>
                          <a:latin typeface="Times New Roman" panose="02020603050405020304" pitchFamily="18" charset="0"/>
                        </a:rPr>
                        <a:t>4</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A321</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A326</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rPr>
                        <a:t>30/12/2024 05:53</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SGN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50" b="0" i="0" u="none" strike="noStrike">
                          <a:solidFill>
                            <a:srgbClr val="000000"/>
                          </a:solidFill>
                          <a:effectLst/>
                          <a:latin typeface="Times New Roman" panose="02020603050405020304" pitchFamily="18" charset="0"/>
                        </a:rPr>
                        <a:t>12</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VN1366</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SGN-HUI</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DENT ON RH WING SLAT #1 </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 APPLIED HST AND RAISED ADD B2100 SATIS EVENT CLOSED </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3004053"/>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536283825"/>
              </p:ext>
            </p:extLst>
          </p:nvPr>
        </p:nvGraphicFramePr>
        <p:xfrm>
          <a:off x="301591" y="4891351"/>
          <a:ext cx="11360820" cy="1713080"/>
        </p:xfrm>
        <a:graphic>
          <a:graphicData uri="http://schemas.openxmlformats.org/drawingml/2006/table">
            <a:tbl>
              <a:tblPr/>
              <a:tblGrid>
                <a:gridCol w="819035">
                  <a:extLst>
                    <a:ext uri="{9D8B030D-6E8A-4147-A177-3AD203B41FA5}">
                      <a16:colId xmlns:a16="http://schemas.microsoft.com/office/drawing/2014/main" val="3344786285"/>
                    </a:ext>
                  </a:extLst>
                </a:gridCol>
                <a:gridCol w="739775">
                  <a:extLst>
                    <a:ext uri="{9D8B030D-6E8A-4147-A177-3AD203B41FA5}">
                      <a16:colId xmlns:a16="http://schemas.microsoft.com/office/drawing/2014/main" val="322199093"/>
                    </a:ext>
                  </a:extLst>
                </a:gridCol>
                <a:gridCol w="1585231">
                  <a:extLst>
                    <a:ext uri="{9D8B030D-6E8A-4147-A177-3AD203B41FA5}">
                      <a16:colId xmlns:a16="http://schemas.microsoft.com/office/drawing/2014/main" val="1388547613"/>
                    </a:ext>
                  </a:extLst>
                </a:gridCol>
                <a:gridCol w="1426708">
                  <a:extLst>
                    <a:ext uri="{9D8B030D-6E8A-4147-A177-3AD203B41FA5}">
                      <a16:colId xmlns:a16="http://schemas.microsoft.com/office/drawing/2014/main" val="1284643589"/>
                    </a:ext>
                  </a:extLst>
                </a:gridCol>
                <a:gridCol w="819035">
                  <a:extLst>
                    <a:ext uri="{9D8B030D-6E8A-4147-A177-3AD203B41FA5}">
                      <a16:colId xmlns:a16="http://schemas.microsoft.com/office/drawing/2014/main" val="128835475"/>
                    </a:ext>
                  </a:extLst>
                </a:gridCol>
                <a:gridCol w="938025">
                  <a:extLst>
                    <a:ext uri="{9D8B030D-6E8A-4147-A177-3AD203B41FA5}">
                      <a16:colId xmlns:a16="http://schemas.microsoft.com/office/drawing/2014/main" val="1041547695"/>
                    </a:ext>
                  </a:extLst>
                </a:gridCol>
                <a:gridCol w="838200">
                  <a:extLst>
                    <a:ext uri="{9D8B030D-6E8A-4147-A177-3AD203B41FA5}">
                      <a16:colId xmlns:a16="http://schemas.microsoft.com/office/drawing/2014/main" val="3181577064"/>
                    </a:ext>
                  </a:extLst>
                </a:gridCol>
                <a:gridCol w="4194811">
                  <a:extLst>
                    <a:ext uri="{9D8B030D-6E8A-4147-A177-3AD203B41FA5}">
                      <a16:colId xmlns:a16="http://schemas.microsoft.com/office/drawing/2014/main" val="1683835414"/>
                    </a:ext>
                  </a:extLst>
                </a:gridCol>
              </a:tblGrid>
              <a:tr h="168739">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AC Type</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DCDC"/>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AC Reg</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DCDC"/>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Event Occur Date</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DCDC"/>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Closed Date</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DCDC"/>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Airport</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DCDC"/>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Flight Number</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DCDC"/>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Route</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DCDC"/>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Event Description</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DCDC"/>
                    </a:solidFill>
                  </a:tcPr>
                </a:tc>
                <a:extLst>
                  <a:ext uri="{0D108BD9-81ED-4DB2-BD59-A6C34878D82A}">
                    <a16:rowId xmlns:a16="http://schemas.microsoft.com/office/drawing/2014/main" val="4249655675"/>
                  </a:ext>
                </a:extLst>
              </a:tr>
              <a:tr h="491543">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A877</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150" sz="1100" b="0" i="0" u="none" strike="noStrike">
                          <a:solidFill>
                            <a:srgbClr val="000000"/>
                          </a:solidFill>
                          <a:effectLst/>
                          <a:latin typeface="Times New Roman" panose="02020603050405020304" pitchFamily="18" charset="0"/>
                          <a:cs typeface="Times New Roman" panose="02020603050405020304" pitchFamily="18" charset="0"/>
                        </a:rPr>
                        <a:t>04/01/2025 17:43</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150" sz="1100" b="0" i="0" u="none" strike="noStrike">
                          <a:solidFill>
                            <a:srgbClr val="000000"/>
                          </a:solidFill>
                          <a:effectLst/>
                          <a:latin typeface="Times New Roman" panose="02020603050405020304" pitchFamily="18" charset="0"/>
                          <a:cs typeface="Times New Roman" panose="02020603050405020304" pitchFamily="18" charset="0"/>
                        </a:rPr>
                        <a:t>04/01/2025 17:46</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VN254</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TRANSIT CHECK FOUND MW #8 SHOULDER WORN TO LIMIT (ABNORMAL). TRANSIT CHECK FOUND MW #8 SHOULDER WORN TO LIMIT (ABNORMAL).</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4790032"/>
                  </a:ext>
                </a:extLst>
              </a:tr>
              <a:tr h="330141">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A877</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150" sz="1100" b="0" i="0" u="none" strike="noStrike">
                          <a:solidFill>
                            <a:srgbClr val="000000"/>
                          </a:solidFill>
                          <a:effectLst/>
                          <a:latin typeface="Times New Roman" panose="02020603050405020304" pitchFamily="18" charset="0"/>
                          <a:cs typeface="Times New Roman" panose="02020603050405020304" pitchFamily="18" charset="0"/>
                        </a:rPr>
                        <a:t>04/01/2025 16:30</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150" sz="1100" b="0" i="0" u="none" strike="noStrike">
                          <a:solidFill>
                            <a:srgbClr val="000000"/>
                          </a:solidFill>
                          <a:effectLst/>
                          <a:latin typeface="Times New Roman" panose="02020603050405020304" pitchFamily="18" charset="0"/>
                          <a:cs typeface="Times New Roman" panose="02020603050405020304" pitchFamily="18" charset="0"/>
                        </a:rPr>
                        <a:t>04/01/2025 19:34</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VN254</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TRANSIT CHECK FOUND MW #8 SHOULDER WORN TO LIMIT (ABNORMAL). </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6462210"/>
                  </a:ext>
                </a:extLst>
              </a:tr>
              <a:tr h="330141">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A395</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150" sz="1100" b="0" i="0" u="none" strike="noStrike">
                          <a:solidFill>
                            <a:srgbClr val="000000"/>
                          </a:solidFill>
                          <a:effectLst/>
                          <a:latin typeface="Times New Roman" panose="02020603050405020304" pitchFamily="18" charset="0"/>
                          <a:cs typeface="Times New Roman" panose="02020603050405020304" pitchFamily="18" charset="0"/>
                        </a:rPr>
                        <a:t>01/01/2025 09:12</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150" sz="1100" b="0" i="0" u="none" strike="noStrike">
                          <a:solidFill>
                            <a:srgbClr val="000000"/>
                          </a:solidFill>
                          <a:effectLst/>
                          <a:latin typeface="Times New Roman" panose="02020603050405020304" pitchFamily="18" charset="0"/>
                          <a:cs typeface="Times New Roman" panose="02020603050405020304" pitchFamily="18" charset="0"/>
                        </a:rPr>
                        <a:t>01/01/2025 10:23</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VN502</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SGN-CAN</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TRANSIT CHECK FOUND MW #4 SHOULDER WORN TO LIMIT (ABNORMAL) </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2970569"/>
                  </a:ext>
                </a:extLst>
              </a:tr>
              <a:tr h="330141">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A879</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150" sz="1100" b="0" i="0" u="none" strike="noStrike">
                          <a:solidFill>
                            <a:srgbClr val="000000"/>
                          </a:solidFill>
                          <a:effectLst/>
                          <a:latin typeface="Times New Roman" panose="02020603050405020304" pitchFamily="18" charset="0"/>
                          <a:cs typeface="Times New Roman" panose="02020603050405020304" pitchFamily="18" charset="0"/>
                        </a:rPr>
                        <a:t>31/12/2024 07:30</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150" sz="1100" b="0" i="0" u="none" strike="noStrike">
                          <a:solidFill>
                            <a:srgbClr val="000000"/>
                          </a:solidFill>
                          <a:effectLst/>
                          <a:latin typeface="Times New Roman" panose="02020603050405020304" pitchFamily="18" charset="0"/>
                          <a:cs typeface="Times New Roman" panose="02020603050405020304" pitchFamily="18" charset="0"/>
                        </a:rPr>
                        <a:t>31/12/2024 12:00</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NRT</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VN311</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NRT-HAN</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MW#8 LOW PRESS TRANSIT FOUND MW#8 LOW PRESS, SUSPECT OVER PRESSURE PORT LEAK</a:t>
                      </a:r>
                    </a:p>
                  </a:txBody>
                  <a:tcPr marL="7336" marR="7336" marT="733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356612"/>
                  </a:ext>
                </a:extLst>
              </a:tr>
            </a:tbl>
          </a:graphicData>
        </a:graphic>
      </p:graphicFrame>
    </p:spTree>
    <p:extLst>
      <p:ext uri="{BB962C8B-B14F-4D97-AF65-F5344CB8AC3E}">
        <p14:creationId xmlns:p14="http://schemas.microsoft.com/office/powerpoint/2010/main" val="3928008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0" y="0"/>
            <a:ext cx="9155467" cy="551496"/>
          </a:xfrm>
        </p:spPr>
        <p:txBody>
          <a:bodyPr rtlCol="0">
            <a:normAutofit fontScale="90000"/>
          </a:bodyPr>
          <a:lstStyle/>
          <a:p>
            <a:pPr>
              <a:defRPr/>
            </a:pPr>
            <a:r>
              <a:rPr lang="en-US" sz="3733" dirty="0">
                <a:ln w="0"/>
                <a:solidFill>
                  <a:schemeClr val="accent4"/>
                </a:solidFill>
                <a:latin typeface="Times New Roman" panose="02020603050405020304" pitchFamily="18" charset="0"/>
                <a:cs typeface="Times New Roman" panose="02020603050405020304" pitchFamily="18" charset="0"/>
              </a:rPr>
              <a:t>TÌNH TRẠNG KỸ THUẬT ĐỘI BAY – A321</a:t>
            </a:r>
            <a:endParaRPr lang="vi-VN" sz="3733" dirty="0">
              <a:ln w="0"/>
              <a:solidFill>
                <a:schemeClr val="accent4"/>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52399" y="1066800"/>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01</a:t>
            </a:r>
          </a:p>
        </p:txBody>
      </p:sp>
      <p:sp>
        <p:nvSpPr>
          <p:cNvPr id="5" name="TextBox 4">
            <a:extLst>
              <a:ext uri="{FF2B5EF4-FFF2-40B4-BE49-F238E27FC236}">
                <a16:creationId xmlns:a16="http://schemas.microsoft.com/office/drawing/2014/main" id="{D468ED0F-3B49-3EDC-2E61-2D9344B836DA}"/>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06</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3" name="Table 2">
            <a:extLst>
              <a:ext uri="{FF2B5EF4-FFF2-40B4-BE49-F238E27FC236}">
                <a16:creationId xmlns:a16="http://schemas.microsoft.com/office/drawing/2014/main" id="{99A4DBA6-750B-346E-E507-AEF906E51186}"/>
              </a:ext>
            </a:extLst>
          </p:cNvPr>
          <p:cNvGraphicFramePr>
            <a:graphicFrameLocks noGrp="1"/>
          </p:cNvGraphicFramePr>
          <p:nvPr>
            <p:extLst>
              <p:ext uri="{D42A27DB-BD31-4B8C-83A1-F6EECF244321}">
                <p14:modId xmlns:p14="http://schemas.microsoft.com/office/powerpoint/2010/main" val="67452558"/>
              </p:ext>
            </p:extLst>
          </p:nvPr>
        </p:nvGraphicFramePr>
        <p:xfrm>
          <a:off x="152398" y="2003036"/>
          <a:ext cx="11688715" cy="1980906"/>
        </p:xfrm>
        <a:graphic>
          <a:graphicData uri="http://schemas.openxmlformats.org/drawingml/2006/table">
            <a:tbl>
              <a:tblPr/>
              <a:tblGrid>
                <a:gridCol w="428323">
                  <a:extLst>
                    <a:ext uri="{9D8B030D-6E8A-4147-A177-3AD203B41FA5}">
                      <a16:colId xmlns:a16="http://schemas.microsoft.com/office/drawing/2014/main" val="2406413270"/>
                    </a:ext>
                  </a:extLst>
                </a:gridCol>
                <a:gridCol w="1239884">
                  <a:extLst>
                    <a:ext uri="{9D8B030D-6E8A-4147-A177-3AD203B41FA5}">
                      <a16:colId xmlns:a16="http://schemas.microsoft.com/office/drawing/2014/main" val="3389570395"/>
                    </a:ext>
                  </a:extLst>
                </a:gridCol>
                <a:gridCol w="1239884">
                  <a:extLst>
                    <a:ext uri="{9D8B030D-6E8A-4147-A177-3AD203B41FA5}">
                      <a16:colId xmlns:a16="http://schemas.microsoft.com/office/drawing/2014/main" val="692532781"/>
                    </a:ext>
                  </a:extLst>
                </a:gridCol>
                <a:gridCol w="428323">
                  <a:extLst>
                    <a:ext uri="{9D8B030D-6E8A-4147-A177-3AD203B41FA5}">
                      <a16:colId xmlns:a16="http://schemas.microsoft.com/office/drawing/2014/main" val="315123178"/>
                    </a:ext>
                  </a:extLst>
                </a:gridCol>
                <a:gridCol w="3336412">
                  <a:extLst>
                    <a:ext uri="{9D8B030D-6E8A-4147-A177-3AD203B41FA5}">
                      <a16:colId xmlns:a16="http://schemas.microsoft.com/office/drawing/2014/main" val="4092994525"/>
                    </a:ext>
                  </a:extLst>
                </a:gridCol>
                <a:gridCol w="5015889">
                  <a:extLst>
                    <a:ext uri="{9D8B030D-6E8A-4147-A177-3AD203B41FA5}">
                      <a16:colId xmlns:a16="http://schemas.microsoft.com/office/drawing/2014/main" val="592002967"/>
                    </a:ext>
                  </a:extLst>
                </a:gridCol>
              </a:tblGrid>
              <a:tr h="147036">
                <a:tc>
                  <a:txBody>
                    <a:bodyPr/>
                    <a:lstStyle/>
                    <a:p>
                      <a:pPr algn="ctr" fontAlgn="ctr"/>
                      <a:r>
                        <a:rPr lang="en-US" sz="900" b="0" i="0" u="none" strike="noStrike">
                          <a:solidFill>
                            <a:srgbClr val="000000"/>
                          </a:solidFill>
                          <a:effectLst/>
                          <a:latin typeface="Calibri" panose="020F0502020204030204" pitchFamily="34" charset="0"/>
                        </a:rPr>
                        <a:t>A/C</a:t>
                      </a:r>
                    </a:p>
                  </a:txBody>
                  <a:tcPr marL="5070" marR="5070" marT="50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Calibri" panose="020F0502020204030204" pitchFamily="34" charset="0"/>
                        </a:rPr>
                        <a:t>OPEN DATE</a:t>
                      </a:r>
                    </a:p>
                  </a:txBody>
                  <a:tcPr marL="5070" marR="5070" marT="50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Calibri" panose="020F0502020204030204" pitchFamily="34" charset="0"/>
                        </a:rPr>
                        <a:t>CLOSED DATE</a:t>
                      </a:r>
                    </a:p>
                  </a:txBody>
                  <a:tcPr marL="5070" marR="5070" marT="50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Calibri" panose="020F0502020204030204" pitchFamily="34" charset="0"/>
                        </a:rPr>
                        <a:t>STA</a:t>
                      </a:r>
                    </a:p>
                  </a:txBody>
                  <a:tcPr marL="5070" marR="5070" marT="50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Calibri" panose="020F0502020204030204" pitchFamily="34" charset="0"/>
                        </a:rPr>
                        <a:t>DEFECT</a:t>
                      </a:r>
                    </a:p>
                  </a:txBody>
                  <a:tcPr marL="5070" marR="5070" marT="50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Calibri" panose="020F0502020204030204" pitchFamily="34" charset="0"/>
                        </a:rPr>
                        <a:t>ACTION</a:t>
                      </a:r>
                    </a:p>
                  </a:txBody>
                  <a:tcPr marL="5070" marR="5070" marT="50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422518368"/>
                  </a:ext>
                </a:extLst>
              </a:tr>
              <a:tr h="1764430">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A512</a:t>
                      </a:r>
                    </a:p>
                  </a:txBody>
                  <a:tcPr marL="5070" marR="5070" marT="507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5/1/2025 10:24</a:t>
                      </a:r>
                    </a:p>
                  </a:txBody>
                  <a:tcPr marL="5070" marR="5070" marT="507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5070" marR="5070" marT="507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HAN</a:t>
                      </a:r>
                    </a:p>
                  </a:txBody>
                  <a:tcPr marL="5070" marR="5070" marT="507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000" b="0" i="0" u="none" strike="noStrike" dirty="0">
                          <a:solidFill>
                            <a:srgbClr val="000000"/>
                          </a:solidFill>
                          <a:effectLst/>
                          <a:latin typeface="Times New Roman" panose="02020603050405020304" pitchFamily="18" charset="0"/>
                          <a:cs typeface="Times New Roman" panose="02020603050405020304" pitchFamily="18" charset="0"/>
                        </a:rPr>
                        <a:t>ADD B993 "ENG1 PRV INOP A512 (HAN-DAD VN165 ETD 09:10)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có</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ADD B993 ENG1 PRV INOP deadline 04/01/24</a:t>
                      </a:r>
                      <a:br>
                        <a:rPr lang="en-US" sz="1000" b="0" i="0" u="none" strike="noStrike" dirty="0">
                          <a:solidFill>
                            <a:srgbClr val="000000"/>
                          </a:solidFill>
                          <a:effectLst/>
                          <a:latin typeface="Times New Roman" panose="02020603050405020304" pitchFamily="18" charset="0"/>
                          <a:cs typeface="Times New Roman" panose="02020603050405020304" pitchFamily="18" charset="0"/>
                        </a:rPr>
                      </a:br>
                      <a:r>
                        <a:rPr lang="en-US" sz="1000" b="0" i="0" u="none" strike="noStrike" dirty="0">
                          <a:solidFill>
                            <a:srgbClr val="000000"/>
                          </a:solidFill>
                          <a:effectLst/>
                          <a:latin typeface="Times New Roman" panose="02020603050405020304" pitchFamily="18" charset="0"/>
                          <a:cs typeface="Times New Roman" panose="02020603050405020304" pitchFamily="18" charset="0"/>
                        </a:rPr>
                        <a:t>Ca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tối</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04/01/2025: C/O REPLACE PRV ON ENGINE#1 REF 36-11-52-000/400-802-A (REV NOV 2024)&amp;#61;&amp;</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gt</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NIL HELP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tàu</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về</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muộn</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ATA 00:35&amp;#43;)</a:t>
                      </a:r>
                      <a:br>
                        <a:rPr lang="en-US" sz="1000" b="0" i="0" u="none" strike="noStrike" dirty="0">
                          <a:solidFill>
                            <a:srgbClr val="000000"/>
                          </a:solidFill>
                          <a:effectLst/>
                          <a:latin typeface="Times New Roman" panose="02020603050405020304" pitchFamily="18" charset="0"/>
                          <a:cs typeface="Times New Roman" panose="02020603050405020304" pitchFamily="18" charset="0"/>
                        </a:rPr>
                      </a:br>
                      <a:r>
                        <a:rPr lang="en-US" sz="1000" b="0" i="0" u="none" strike="noStrike" dirty="0">
                          <a:solidFill>
                            <a:srgbClr val="000000"/>
                          </a:solidFill>
                          <a:effectLst/>
                          <a:latin typeface="Times New Roman" panose="02020603050405020304" pitchFamily="18" charset="0"/>
                          <a:cs typeface="Times New Roman" panose="02020603050405020304" pitchFamily="18" charset="0"/>
                        </a:rPr>
                        <a:t>(MOC/OCC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đổi</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lịch</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tàu</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bay HAN –DAD new ETD 12:00)</a:t>
                      </a:r>
                    </a:p>
                  </a:txBody>
                  <a:tcPr marL="5070" marR="5070" marT="507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00" b="0" i="0" u="none" strike="noStrike" dirty="0">
                          <a:solidFill>
                            <a:srgbClr val="000000"/>
                          </a:solidFill>
                          <a:effectLst/>
                          <a:latin typeface="Times New Roman" panose="02020603050405020304" pitchFamily="18" charset="0"/>
                          <a:cs typeface="Times New Roman" panose="02020603050405020304" pitchFamily="18" charset="0"/>
                        </a:rPr>
                        <a:t>C/O REPLACED 18HA1 (ROBBED FROM A503), ENG #1 RUN UP, BLEED TEST OK.</a:t>
                      </a:r>
                      <a:br>
                        <a:rPr lang="en-US" sz="1000" b="0" i="0" u="none" strike="noStrike" dirty="0">
                          <a:solidFill>
                            <a:srgbClr val="000000"/>
                          </a:solidFill>
                          <a:effectLst/>
                          <a:latin typeface="Times New Roman" panose="02020603050405020304" pitchFamily="18" charset="0"/>
                          <a:cs typeface="Times New Roman" panose="02020603050405020304" pitchFamily="18" charset="0"/>
                        </a:rPr>
                      </a:br>
                      <a:r>
                        <a:rPr lang="en-US" sz="1000" b="0" i="0" u="none" strike="noStrike" dirty="0">
                          <a:solidFill>
                            <a:srgbClr val="000000"/>
                          </a:solidFill>
                          <a:effectLst/>
                          <a:latin typeface="Times New Roman" panose="02020603050405020304" pitchFamily="18" charset="0"/>
                          <a:cs typeface="Times New Roman" panose="02020603050405020304" pitchFamily="18" charset="0"/>
                        </a:rPr>
                        <a:t>ADD B993 CLEARED.</a:t>
                      </a:r>
                      <a:br>
                        <a:rPr lang="en-US" sz="1000" b="0" i="0" u="none" strike="noStrike" dirty="0">
                          <a:solidFill>
                            <a:srgbClr val="000000"/>
                          </a:solidFill>
                          <a:effectLst/>
                          <a:latin typeface="Times New Roman" panose="02020603050405020304" pitchFamily="18" charset="0"/>
                          <a:cs typeface="Times New Roman" panose="02020603050405020304" pitchFamily="18" charset="0"/>
                        </a:rPr>
                      </a:br>
                      <a:r>
                        <a:rPr lang="en-US" sz="1000" b="0" i="0" u="none" strike="noStrike" dirty="0">
                          <a:solidFill>
                            <a:srgbClr val="000000"/>
                          </a:solidFill>
                          <a:effectLst/>
                          <a:latin typeface="Times New Roman" panose="02020603050405020304" pitchFamily="18" charset="0"/>
                          <a:cs typeface="Times New Roman" panose="02020603050405020304" pitchFamily="18" charset="0"/>
                        </a:rPr>
                        <a:t>A/C SERVICEABLE</a:t>
                      </a:r>
                      <a:br>
                        <a:rPr lang="en-US" sz="1000" b="0" i="0" u="none" strike="noStrike" dirty="0">
                          <a:solidFill>
                            <a:srgbClr val="000000"/>
                          </a:solidFill>
                          <a:effectLst/>
                          <a:latin typeface="Times New Roman" panose="02020603050405020304" pitchFamily="18" charset="0"/>
                          <a:cs typeface="Times New Roman" panose="02020603050405020304" pitchFamily="18" charset="0"/>
                        </a:rPr>
                      </a:br>
                      <a:r>
                        <a:rPr lang="en-US" sz="1000" b="0" i="0" u="none" strike="noStrike" dirty="0">
                          <a:solidFill>
                            <a:srgbClr val="000000"/>
                          </a:solidFill>
                          <a:effectLst/>
                          <a:latin typeface="Times New Roman" panose="02020603050405020304" pitchFamily="18" charset="0"/>
                          <a:cs typeface="Times New Roman" panose="02020603050405020304" pitchFamily="18" charset="0"/>
                        </a:rPr>
                        <a:t>ADD B993 "ENG1 PRV INOP" EVENT CLOSED</a:t>
                      </a:r>
                      <a:br>
                        <a:rPr lang="en-US" sz="1000" b="0" i="0" u="none" strike="noStrike" dirty="0">
                          <a:solidFill>
                            <a:srgbClr val="000000"/>
                          </a:solidFill>
                          <a:effectLst/>
                          <a:latin typeface="Times New Roman" panose="02020603050405020304" pitchFamily="18" charset="0"/>
                          <a:cs typeface="Times New Roman" panose="02020603050405020304" pitchFamily="18" charset="0"/>
                        </a:rPr>
                      </a:br>
                      <a:r>
                        <a:rPr lang="en-US" sz="1000" b="0" i="0" u="none" strike="noStrike" dirty="0">
                          <a:solidFill>
                            <a:srgbClr val="000000"/>
                          </a:solidFill>
                          <a:effectLst/>
                          <a:latin typeface="Times New Roman" panose="02020603050405020304" pitchFamily="18" charset="0"/>
                          <a:cs typeface="Times New Roman" panose="02020603050405020304" pitchFamily="18" charset="0"/>
                        </a:rPr>
                        <a:t>- 06:56 OCC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đổi</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lịch</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VN165 new ETD 12:00 </a:t>
                      </a:r>
                      <a:br>
                        <a:rPr lang="en-US" sz="1000" b="0" i="0" u="none" strike="noStrike" dirty="0">
                          <a:solidFill>
                            <a:srgbClr val="000000"/>
                          </a:solidFill>
                          <a:effectLst/>
                          <a:latin typeface="Times New Roman" panose="02020603050405020304" pitchFamily="18" charset="0"/>
                          <a:cs typeface="Times New Roman" panose="02020603050405020304" pitchFamily="18" charset="0"/>
                        </a:rPr>
                      </a:br>
                      <a:r>
                        <a:rPr lang="en-US" sz="1000" b="0" i="0" u="none" strike="noStrike" dirty="0">
                          <a:solidFill>
                            <a:srgbClr val="000000"/>
                          </a:solidFill>
                          <a:effectLst/>
                          <a:latin typeface="Times New Roman" panose="02020603050405020304" pitchFamily="18" charset="0"/>
                          <a:cs typeface="Times New Roman" panose="02020603050405020304" pitchFamily="18" charset="0"/>
                        </a:rPr>
                        <a:t>- 07:18 MCC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giao</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wo 6884112 rob 01 sensor 18HA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từ</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tầu</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A503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cho</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tầu</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A512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khắc</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phục</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ADD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hết</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hạn</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br>
                        <a:rPr lang="en-US" sz="1000" b="0" i="0" u="none" strike="noStrike" dirty="0">
                          <a:solidFill>
                            <a:srgbClr val="000000"/>
                          </a:solidFill>
                          <a:effectLst/>
                          <a:latin typeface="Times New Roman" panose="02020603050405020304" pitchFamily="18" charset="0"/>
                          <a:cs typeface="Times New Roman" panose="02020603050405020304" pitchFamily="18" charset="0"/>
                        </a:rPr>
                      </a:br>
                      <a:r>
                        <a:rPr lang="en-US" sz="1000" b="0" i="0" u="none" strike="noStrike" dirty="0">
                          <a:solidFill>
                            <a:srgbClr val="000000"/>
                          </a:solidFill>
                          <a:effectLst/>
                          <a:latin typeface="Times New Roman" panose="02020603050405020304" pitchFamily="18" charset="0"/>
                          <a:cs typeface="Times New Roman" panose="02020603050405020304" pitchFamily="18" charset="0"/>
                        </a:rPr>
                        <a:t>- 08:17 rob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xong</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sensor 18HA </a:t>
                      </a:r>
                      <a:br>
                        <a:rPr lang="en-US" sz="1000" b="0" i="0" u="none" strike="noStrike" dirty="0">
                          <a:solidFill>
                            <a:srgbClr val="000000"/>
                          </a:solidFill>
                          <a:effectLst/>
                          <a:latin typeface="Times New Roman" panose="02020603050405020304" pitchFamily="18" charset="0"/>
                          <a:cs typeface="Times New Roman" panose="02020603050405020304" pitchFamily="18" charset="0"/>
                        </a:rPr>
                      </a:br>
                      <a:r>
                        <a:rPr lang="en-US" sz="1000" b="0" i="0" u="none" strike="noStrike" dirty="0">
                          <a:solidFill>
                            <a:srgbClr val="000000"/>
                          </a:solidFill>
                          <a:effectLst/>
                          <a:latin typeface="Times New Roman" panose="02020603050405020304" pitchFamily="18" charset="0"/>
                          <a:cs typeface="Times New Roman" panose="02020603050405020304" pitchFamily="18" charset="0"/>
                        </a:rPr>
                        <a:t>- 08:45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thay</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xong</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18HA1, </a:t>
                      </a:r>
                      <a:br>
                        <a:rPr lang="en-US" sz="1000" b="0" i="0" u="none" strike="noStrike" dirty="0">
                          <a:solidFill>
                            <a:srgbClr val="000000"/>
                          </a:solidFill>
                          <a:effectLst/>
                          <a:latin typeface="Times New Roman" panose="02020603050405020304" pitchFamily="18" charset="0"/>
                          <a:cs typeface="Times New Roman" panose="02020603050405020304" pitchFamily="18" charset="0"/>
                        </a:rPr>
                      </a:br>
                      <a:r>
                        <a:rPr lang="en-US" sz="1000" b="0" i="0" u="none" strike="noStrike" dirty="0">
                          <a:solidFill>
                            <a:srgbClr val="000000"/>
                          </a:solidFill>
                          <a:effectLst/>
                          <a:latin typeface="Times New Roman" panose="02020603050405020304" pitchFamily="18" charset="0"/>
                          <a:cs typeface="Times New Roman" panose="02020603050405020304" pitchFamily="18" charset="0"/>
                        </a:rPr>
                        <a:t>- 09:07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eng</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1 run up bleed test ok. </a:t>
                      </a:r>
                      <a:br>
                        <a:rPr lang="en-US" sz="1000" b="0" i="0" u="none" strike="noStrike" dirty="0">
                          <a:solidFill>
                            <a:srgbClr val="000000"/>
                          </a:solidFill>
                          <a:effectLst/>
                          <a:latin typeface="Times New Roman" panose="02020603050405020304" pitchFamily="18" charset="0"/>
                          <a:cs typeface="Times New Roman" panose="02020603050405020304" pitchFamily="18" charset="0"/>
                        </a:rPr>
                      </a:br>
                      <a:r>
                        <a:rPr lang="en-US" sz="1000" b="0" i="0" u="none" strike="noStrike" dirty="0">
                          <a:solidFill>
                            <a:srgbClr val="000000"/>
                          </a:solidFill>
                          <a:effectLst/>
                          <a:latin typeface="Times New Roman" panose="02020603050405020304" pitchFamily="18" charset="0"/>
                          <a:cs typeface="Times New Roman" panose="02020603050405020304" pitchFamily="18" charset="0"/>
                        </a:rPr>
                        <a:t>A/c serviceable. </a:t>
                      </a:r>
                      <a:br>
                        <a:rPr lang="en-US" sz="1000" b="0" i="0" u="none" strike="noStrike" dirty="0">
                          <a:solidFill>
                            <a:srgbClr val="000000"/>
                          </a:solidFill>
                          <a:effectLst/>
                          <a:latin typeface="Times New Roman" panose="02020603050405020304" pitchFamily="18" charset="0"/>
                          <a:cs typeface="Times New Roman" panose="02020603050405020304" pitchFamily="18" charset="0"/>
                        </a:rPr>
                      </a:b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Thời</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gian</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AOG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tính</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từ</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08:17-09:05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là</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50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phút</a:t>
                      </a:r>
                      <a:endParaRPr lang="en-US"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70" marR="5070" marT="507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7361535"/>
                  </a:ext>
                </a:extLst>
              </a:tr>
            </a:tbl>
          </a:graphicData>
        </a:graphic>
      </p:graphicFrame>
    </p:spTree>
    <p:extLst>
      <p:ext uri="{BB962C8B-B14F-4D97-AF65-F5344CB8AC3E}">
        <p14:creationId xmlns:p14="http://schemas.microsoft.com/office/powerpoint/2010/main" val="38653920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1F898FE-1C23-3C3A-4EC0-D12C3C12D8E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98D5E2B8-A451-64AB-368F-F51890140E17}"/>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77A20DB-6B9C-2BCB-67C1-A7901B4C6C83}"/>
              </a:ext>
            </a:extLst>
          </p:cNvPr>
          <p:cNvSpPr>
            <a:spLocks noGrp="1"/>
          </p:cNvSpPr>
          <p:nvPr>
            <p:ph type="title"/>
          </p:nvPr>
        </p:nvSpPr>
        <p:spPr>
          <a:xfrm>
            <a:off x="0" y="0"/>
            <a:ext cx="9155467" cy="551496"/>
          </a:xfrm>
        </p:spPr>
        <p:txBody>
          <a:bodyPr rtlCol="0">
            <a:normAutofit fontScale="90000"/>
          </a:bodyPr>
          <a:lstStyle/>
          <a:p>
            <a:pPr>
              <a:defRPr/>
            </a:pPr>
            <a:r>
              <a:rPr lang="en-US" sz="3733" dirty="0">
                <a:ln w="0"/>
                <a:solidFill>
                  <a:schemeClr val="accent4"/>
                </a:solidFill>
                <a:latin typeface="Times New Roman" panose="02020603050405020304" pitchFamily="18" charset="0"/>
                <a:cs typeface="Times New Roman" panose="02020603050405020304" pitchFamily="18" charset="0"/>
              </a:rPr>
              <a:t>TÌNH TRẠNG KỸ THUẬT ĐỘI BAY – A321</a:t>
            </a:r>
            <a:endParaRPr lang="vi-VN" sz="3733" dirty="0">
              <a:ln w="0"/>
              <a:solidFill>
                <a:schemeClr val="accent4"/>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BD16072-5F16-ABB3-FE39-D6FB0C869166}"/>
              </a:ext>
            </a:extLst>
          </p:cNvPr>
          <p:cNvSpPr txBox="1"/>
          <p:nvPr/>
        </p:nvSpPr>
        <p:spPr>
          <a:xfrm>
            <a:off x="152399" y="1066800"/>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06</a:t>
            </a:r>
          </a:p>
        </p:txBody>
      </p:sp>
      <p:sp>
        <p:nvSpPr>
          <p:cNvPr id="5" name="TextBox 4">
            <a:extLst>
              <a:ext uri="{FF2B5EF4-FFF2-40B4-BE49-F238E27FC236}">
                <a16:creationId xmlns:a16="http://schemas.microsoft.com/office/drawing/2014/main" id="{A231B060-3829-40F5-AE67-6266069959B3}"/>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06</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8" name="Table 7">
            <a:extLst>
              <a:ext uri="{FF2B5EF4-FFF2-40B4-BE49-F238E27FC236}">
                <a16:creationId xmlns:a16="http://schemas.microsoft.com/office/drawing/2014/main" id="{370E69E9-E750-B3C9-7111-5763251EB6B6}"/>
              </a:ext>
            </a:extLst>
          </p:cNvPr>
          <p:cNvGraphicFramePr>
            <a:graphicFrameLocks noGrp="1"/>
          </p:cNvGraphicFramePr>
          <p:nvPr>
            <p:extLst>
              <p:ext uri="{D42A27DB-BD31-4B8C-83A1-F6EECF244321}">
                <p14:modId xmlns:p14="http://schemas.microsoft.com/office/powerpoint/2010/main" val="2187213872"/>
              </p:ext>
            </p:extLst>
          </p:nvPr>
        </p:nvGraphicFramePr>
        <p:xfrm>
          <a:off x="161364" y="1657350"/>
          <a:ext cx="11688716" cy="4438650"/>
        </p:xfrm>
        <a:graphic>
          <a:graphicData uri="http://schemas.openxmlformats.org/drawingml/2006/table">
            <a:tbl>
              <a:tblPr/>
              <a:tblGrid>
                <a:gridCol w="321863">
                  <a:extLst>
                    <a:ext uri="{9D8B030D-6E8A-4147-A177-3AD203B41FA5}">
                      <a16:colId xmlns:a16="http://schemas.microsoft.com/office/drawing/2014/main" val="2097902217"/>
                    </a:ext>
                  </a:extLst>
                </a:gridCol>
                <a:gridCol w="931709">
                  <a:extLst>
                    <a:ext uri="{9D8B030D-6E8A-4147-A177-3AD203B41FA5}">
                      <a16:colId xmlns:a16="http://schemas.microsoft.com/office/drawing/2014/main" val="482249511"/>
                    </a:ext>
                  </a:extLst>
                </a:gridCol>
                <a:gridCol w="321863">
                  <a:extLst>
                    <a:ext uri="{9D8B030D-6E8A-4147-A177-3AD203B41FA5}">
                      <a16:colId xmlns:a16="http://schemas.microsoft.com/office/drawing/2014/main" val="3141079951"/>
                    </a:ext>
                  </a:extLst>
                </a:gridCol>
                <a:gridCol w="872419">
                  <a:extLst>
                    <a:ext uri="{9D8B030D-6E8A-4147-A177-3AD203B41FA5}">
                      <a16:colId xmlns:a16="http://schemas.microsoft.com/office/drawing/2014/main" val="2528314982"/>
                    </a:ext>
                  </a:extLst>
                </a:gridCol>
                <a:gridCol w="652197">
                  <a:extLst>
                    <a:ext uri="{9D8B030D-6E8A-4147-A177-3AD203B41FA5}">
                      <a16:colId xmlns:a16="http://schemas.microsoft.com/office/drawing/2014/main" val="3486977273"/>
                    </a:ext>
                  </a:extLst>
                </a:gridCol>
                <a:gridCol w="542085">
                  <a:extLst>
                    <a:ext uri="{9D8B030D-6E8A-4147-A177-3AD203B41FA5}">
                      <a16:colId xmlns:a16="http://schemas.microsoft.com/office/drawing/2014/main" val="23831459"/>
                    </a:ext>
                  </a:extLst>
                </a:gridCol>
                <a:gridCol w="2380094">
                  <a:extLst>
                    <a:ext uri="{9D8B030D-6E8A-4147-A177-3AD203B41FA5}">
                      <a16:colId xmlns:a16="http://schemas.microsoft.com/office/drawing/2014/main" val="1340125338"/>
                    </a:ext>
                  </a:extLst>
                </a:gridCol>
                <a:gridCol w="2210692">
                  <a:extLst>
                    <a:ext uri="{9D8B030D-6E8A-4147-A177-3AD203B41FA5}">
                      <a16:colId xmlns:a16="http://schemas.microsoft.com/office/drawing/2014/main" val="1781930154"/>
                    </a:ext>
                  </a:extLst>
                </a:gridCol>
                <a:gridCol w="330333">
                  <a:extLst>
                    <a:ext uri="{9D8B030D-6E8A-4147-A177-3AD203B41FA5}">
                      <a16:colId xmlns:a16="http://schemas.microsoft.com/office/drawing/2014/main" val="1974349178"/>
                    </a:ext>
                  </a:extLst>
                </a:gridCol>
                <a:gridCol w="3125461">
                  <a:extLst>
                    <a:ext uri="{9D8B030D-6E8A-4147-A177-3AD203B41FA5}">
                      <a16:colId xmlns:a16="http://schemas.microsoft.com/office/drawing/2014/main" val="2580076602"/>
                    </a:ext>
                  </a:extLst>
                </a:gridCol>
              </a:tblGrid>
              <a:tr h="110490">
                <a:tc>
                  <a:txBody>
                    <a:bodyPr/>
                    <a:lstStyle/>
                    <a:p>
                      <a:pPr algn="ctr" fontAlgn="ctr"/>
                      <a:r>
                        <a:rPr lang="en-US" sz="1000" b="0" i="0" u="none" strike="noStrike">
                          <a:solidFill>
                            <a:srgbClr val="000000"/>
                          </a:solidFill>
                          <a:effectLst/>
                          <a:latin typeface="Calibri" panose="020F0502020204030204" pitchFamily="34" charset="0"/>
                        </a:rPr>
                        <a:t>A/C</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DELAY DATE</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STA</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DELAY MINUTES</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FLIGHT NO</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ROUTINE</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DELAY DESC</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DELAY ACTION</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ATA</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Engineering Assessment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931997735"/>
                  </a:ext>
                </a:extLst>
              </a:tr>
              <a:tr h="773430">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A612</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16:20 01/01/2025</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HAN</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21</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VN1545</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HAN-HUI</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dirty="0">
                          <a:solidFill>
                            <a:srgbClr val="000000"/>
                          </a:solidFill>
                          <a:effectLst/>
                          <a:latin typeface="Times New Roman" panose="02020603050405020304" pitchFamily="18" charset="0"/>
                          <a:cs typeface="Times New Roman" panose="02020603050405020304" pitchFamily="18" charset="0"/>
                        </a:rPr>
                        <a:t>BRAKE RELEASE &lt;p&gt;VN1805-1545 DIN-HAN-HUI (15:50-16:30) CAPT REPORT BRAKE RELEASE</a:t>
                      </a:r>
                      <a:br>
                        <a:rPr lang="en-US" sz="10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&lt;p&gt;C/O Raised deffect B2005 Tachometer # 1 Inop i.a.w MEL 32-42-06C and Deactivate Brake # 1 raise B2006 i.a.w MEL 32-42-01A&lt;br /&gt;</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A/C close door at 17:04&lt;/p&gt; BRAKE RELEASE EVENT CLOSED</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32-00</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a:solidFill>
                            <a:srgbClr val="000000"/>
                          </a:solidFill>
                          <a:effectLst/>
                          <a:latin typeface="Times New Roman" panose="02020603050405020304" pitchFamily="18" charset="0"/>
                          <a:cs typeface="Times New Roman" panose="02020603050405020304" pitchFamily="18" charset="0"/>
                        </a:rPr>
                        <a:t>Nguyên nhân do tachometer bị hỏng không gửi được tín hiệu đến máy tính dẫn tới xuất hiện cảnh báo Brake Release để tránh bó phanh. Có nhiêu nguyên nhân dẫn tới tacho bị hỏng như bụi bẩn, hoạt động trong môi trường rung lắc mạnh và nhiệt độ cao nên có thể gây ra hỏng thật hoặc báo giả. Hiện AIB không có topic nào liên quan đến ĐTC của khối này và cũng không có biện pháp khắc phục. Tiếp tục theo dõi thêm</a:t>
                      </a:r>
                      <a:br>
                        <a:rPr lang="vi-VN" sz="1000" b="0" i="0" u="none" strike="noStrike">
                          <a:solidFill>
                            <a:srgbClr val="000000"/>
                          </a:solidFill>
                          <a:effectLst/>
                          <a:latin typeface="Times New Roman" panose="02020603050405020304" pitchFamily="18" charset="0"/>
                          <a:cs typeface="Times New Roman" panose="02020603050405020304" pitchFamily="18" charset="0"/>
                        </a:rPr>
                      </a:br>
                      <a:endParaRPr lang="vi-VN"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56404757"/>
                  </a:ext>
                </a:extLst>
              </a:tr>
              <a:tr h="662940">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A507</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10:00 02/01/2025</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HAN</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38</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VN1559</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HAN-CXR</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CAPT REPORT “HYD Y ENG 2 PUMP LOW PR”. &lt;p&gt;CAPT REPORT “HYD Y ENG 2 PUMP LOW PR”</a:t>
                      </a:r>
                      <a:br>
                        <a:rPr lang="en-US" sz="1000" b="0" i="0" u="none" strike="noStrike">
                          <a:solidFill>
                            <a:srgbClr val="000000"/>
                          </a:solidFill>
                          <a:effectLst/>
                          <a:latin typeface="Times New Roman" panose="02020603050405020304" pitchFamily="18" charset="0"/>
                          <a:cs typeface="Times New Roman" panose="02020603050405020304" pitchFamily="18" charset="0"/>
                        </a:rPr>
                      </a:b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 EVENT CLOSED &lt;p&gt;ACTION: C/O REPLACE EDP OF ENG #2, ENG #2 RUN TEST Y HYD SYS -&gt; SATIS. A/C SERVICEABLE</a:t>
                      </a:r>
                      <a:br>
                        <a:rPr lang="en-US" sz="1000" b="0" i="0" u="none" strike="noStrike">
                          <a:solidFill>
                            <a:srgbClr val="000000"/>
                          </a:solidFill>
                          <a:effectLst/>
                          <a:latin typeface="Times New Roman" panose="02020603050405020304" pitchFamily="18" charset="0"/>
                          <a:cs typeface="Times New Roman" panose="02020603050405020304" pitchFamily="18" charset="0"/>
                        </a:rPr>
                      </a:b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a:solidFill>
                            <a:srgbClr val="000000"/>
                          </a:solidFill>
                          <a:effectLst/>
                          <a:latin typeface="Times New Roman" panose="02020603050405020304" pitchFamily="18" charset="0"/>
                          <a:cs typeface="Times New Roman" panose="02020603050405020304" pitchFamily="18" charset="0"/>
                        </a:rPr>
                        <a:t>Bơm EDP trên A507 đã khai thác được khoảng 10k FH và là bơm của Eaton. Theo AIB thì có một số bơm Eaton 3031863-002 bị lỗi và gây ra cảnh báo low pressure tuy nhiên tất cả các bơm lỗi đã được gửi trả cho NSX để khắc phục. Trước đó tàu này không có cảnh báo gì và bơm này vẫn còn mới nên cần thêm SFR để đánh giá thêm</a:t>
                      </a:r>
                      <a:br>
                        <a:rPr lang="vi-VN" sz="1000" b="0" i="0" u="none" strike="noStrike">
                          <a:solidFill>
                            <a:srgbClr val="000000"/>
                          </a:solidFill>
                          <a:effectLst/>
                          <a:latin typeface="Times New Roman" panose="02020603050405020304" pitchFamily="18" charset="0"/>
                          <a:cs typeface="Times New Roman" panose="02020603050405020304" pitchFamily="18" charset="0"/>
                        </a:rPr>
                      </a:br>
                      <a:endParaRPr lang="vi-VN"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3910622"/>
                  </a:ext>
                </a:extLst>
              </a:tr>
              <a:tr h="662940">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A507</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14:45 31/12/2024</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BKK</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31</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VN614</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BKK-HAN</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HYD Y ENG#2 PUMP LOW PRESS &lt;p&gt;CAPT REPORT HYD Y ENG#2 PUMP LOW PRESS</a:t>
                      </a:r>
                      <a:br>
                        <a:rPr lang="en-US" sz="1000" b="0" i="0" u="none" strike="noStrike">
                          <a:solidFill>
                            <a:srgbClr val="000000"/>
                          </a:solidFill>
                          <a:effectLst/>
                          <a:latin typeface="Times New Roman" panose="02020603050405020304" pitchFamily="18" charset="0"/>
                          <a:cs typeface="Times New Roman" panose="02020603050405020304" pitchFamily="18" charset="0"/>
                        </a:rPr>
                      </a:b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&lt;p&gt;THAI VJ ON CALL RESET TEST SATIS&lt;/p&gt; RESET EVENT CLOSED</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70-00</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a:solidFill>
                            <a:srgbClr val="000000"/>
                          </a:solidFill>
                          <a:effectLst/>
                          <a:latin typeface="Times New Roman" panose="02020603050405020304" pitchFamily="18" charset="0"/>
                          <a:cs typeface="Times New Roman" panose="02020603050405020304" pitchFamily="18" charset="0"/>
                        </a:rPr>
                        <a:t>Bơm EDP trên A507 đã khai thác được khoảng 10k FH và là bơm của Eaton. Theo AIB thì có một số bơm Eaton 3031863-002 bị lỗi và gây ra cảnh báo low pressure tuy nhiên tất cả các bơm lỗi đã được gửi trả cho NSX để khắc phục. Trước đó tàu này không có cảnh báo gì và bơm này vẫn còn mới nên cần thêm SFR để đánh giá thêm</a:t>
                      </a:r>
                      <a:br>
                        <a:rPr lang="vi-VN" sz="1000" b="0" i="0" u="none" strike="noStrike">
                          <a:solidFill>
                            <a:srgbClr val="000000"/>
                          </a:solidFill>
                          <a:effectLst/>
                          <a:latin typeface="Times New Roman" panose="02020603050405020304" pitchFamily="18" charset="0"/>
                          <a:cs typeface="Times New Roman" panose="02020603050405020304" pitchFamily="18" charset="0"/>
                        </a:rPr>
                      </a:br>
                      <a:endParaRPr lang="vi-VN"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06292009"/>
                  </a:ext>
                </a:extLst>
              </a:tr>
              <a:tr h="552450">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A512</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07:43 04/01/2025</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45</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VN242</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DURING BOARDING, MGS IP VLV ENG 1 NOT CLOSED APPEARED &lt;p&gt;DURING BOARDING, MGS IP VLV ENG 1 NOT CLOSED APPEARED</a:t>
                      </a:r>
                      <a:br>
                        <a:rPr lang="en-US" sz="1000" b="0" i="0" u="none" strike="noStrike">
                          <a:solidFill>
                            <a:srgbClr val="000000"/>
                          </a:solidFill>
                          <a:effectLst/>
                          <a:latin typeface="Times New Roman" panose="02020603050405020304" pitchFamily="18" charset="0"/>
                          <a:cs typeface="Times New Roman" panose="02020603050405020304" pitchFamily="18" charset="0"/>
                        </a:rPr>
                      </a:b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 EVENT CLOSED</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dirty="0">
                          <a:solidFill>
                            <a:srgbClr val="000000"/>
                          </a:solidFill>
                          <a:effectLst/>
                          <a:latin typeface="Times New Roman" panose="02020603050405020304" pitchFamily="18" charset="0"/>
                          <a:cs typeface="Times New Roman" panose="02020603050405020304" pitchFamily="18" charset="0"/>
                        </a:rPr>
                        <a:t>Hỏng hóc liên quan đến LP valve đã được nhận diện và có dấu hiệu tăng trong thời gian gần đây. Hiện task kiểm tra hoạt động của LP valve đang triển khai với tần suất C check. Ban KT sẽ làm việc với Vaeco để tăng cường kiểm tra trong thời gian tới (dự kiến hạ xuống 1 năm làm 1 lần)</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endParaRPr lang="vi-VN"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904542"/>
                  </a:ext>
                </a:extLst>
              </a:tr>
            </a:tbl>
          </a:graphicData>
        </a:graphic>
      </p:graphicFrame>
    </p:spTree>
    <p:extLst>
      <p:ext uri="{BB962C8B-B14F-4D97-AF65-F5344CB8AC3E}">
        <p14:creationId xmlns:p14="http://schemas.microsoft.com/office/powerpoint/2010/main" val="1748096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BE73EF76-5C5F-DA0A-5BDE-65586F1547BF}"/>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10D17F8E-E69B-0741-D369-6D56CDE847E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1A88732-0E3F-CBA5-0A84-44F4937D8FDC}"/>
              </a:ext>
            </a:extLst>
          </p:cNvPr>
          <p:cNvSpPr>
            <a:spLocks noGrp="1"/>
          </p:cNvSpPr>
          <p:nvPr>
            <p:ph type="title"/>
          </p:nvPr>
        </p:nvSpPr>
        <p:spPr>
          <a:xfrm>
            <a:off x="0" y="0"/>
            <a:ext cx="9155467" cy="551496"/>
          </a:xfrm>
        </p:spPr>
        <p:txBody>
          <a:bodyPr rtlCol="0">
            <a:normAutofit fontScale="90000"/>
          </a:bodyPr>
          <a:lstStyle/>
          <a:p>
            <a:pPr>
              <a:defRPr/>
            </a:pPr>
            <a:r>
              <a:rPr lang="en-US" sz="3733" dirty="0">
                <a:ln w="0"/>
                <a:solidFill>
                  <a:schemeClr val="accent4"/>
                </a:solidFill>
                <a:latin typeface="Times New Roman" panose="02020603050405020304" pitchFamily="18" charset="0"/>
                <a:cs typeface="Times New Roman" panose="02020603050405020304" pitchFamily="18" charset="0"/>
              </a:rPr>
              <a:t>TÌNH TRẠNG KỸ THUẬT ĐỘI BAY – A321</a:t>
            </a:r>
            <a:endParaRPr lang="vi-VN" sz="3733" dirty="0">
              <a:ln w="0"/>
              <a:solidFill>
                <a:schemeClr val="accent4"/>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63388E6-39D2-58AF-E3F6-547075DA5BFF}"/>
              </a:ext>
            </a:extLst>
          </p:cNvPr>
          <p:cNvSpPr txBox="1"/>
          <p:nvPr/>
        </p:nvSpPr>
        <p:spPr>
          <a:xfrm>
            <a:off x="152399" y="1066800"/>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06</a:t>
            </a:r>
          </a:p>
        </p:txBody>
      </p:sp>
      <p:sp>
        <p:nvSpPr>
          <p:cNvPr id="5" name="TextBox 4">
            <a:extLst>
              <a:ext uri="{FF2B5EF4-FFF2-40B4-BE49-F238E27FC236}">
                <a16:creationId xmlns:a16="http://schemas.microsoft.com/office/drawing/2014/main" id="{7BA6B86B-D8E9-99A5-4E9A-0077D6225A47}"/>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06</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3" name="Table 2">
            <a:extLst>
              <a:ext uri="{FF2B5EF4-FFF2-40B4-BE49-F238E27FC236}">
                <a16:creationId xmlns:a16="http://schemas.microsoft.com/office/drawing/2014/main" id="{74BDB4E7-3476-0FD5-3DFC-A289F691F81A}"/>
              </a:ext>
            </a:extLst>
          </p:cNvPr>
          <p:cNvGraphicFramePr>
            <a:graphicFrameLocks noGrp="1"/>
          </p:cNvGraphicFramePr>
          <p:nvPr>
            <p:extLst/>
          </p:nvPr>
        </p:nvGraphicFramePr>
        <p:xfrm>
          <a:off x="152399" y="1697219"/>
          <a:ext cx="11734800" cy="4690110"/>
        </p:xfrm>
        <a:graphic>
          <a:graphicData uri="http://schemas.openxmlformats.org/drawingml/2006/table">
            <a:tbl>
              <a:tblPr/>
              <a:tblGrid>
                <a:gridCol w="323132">
                  <a:extLst>
                    <a:ext uri="{9D8B030D-6E8A-4147-A177-3AD203B41FA5}">
                      <a16:colId xmlns:a16="http://schemas.microsoft.com/office/drawing/2014/main" val="1119616685"/>
                    </a:ext>
                  </a:extLst>
                </a:gridCol>
                <a:gridCol w="935382">
                  <a:extLst>
                    <a:ext uri="{9D8B030D-6E8A-4147-A177-3AD203B41FA5}">
                      <a16:colId xmlns:a16="http://schemas.microsoft.com/office/drawing/2014/main" val="1533249512"/>
                    </a:ext>
                  </a:extLst>
                </a:gridCol>
                <a:gridCol w="323132">
                  <a:extLst>
                    <a:ext uri="{9D8B030D-6E8A-4147-A177-3AD203B41FA5}">
                      <a16:colId xmlns:a16="http://schemas.microsoft.com/office/drawing/2014/main" val="1541893463"/>
                    </a:ext>
                  </a:extLst>
                </a:gridCol>
                <a:gridCol w="875859">
                  <a:extLst>
                    <a:ext uri="{9D8B030D-6E8A-4147-A177-3AD203B41FA5}">
                      <a16:colId xmlns:a16="http://schemas.microsoft.com/office/drawing/2014/main" val="512078757"/>
                    </a:ext>
                  </a:extLst>
                </a:gridCol>
                <a:gridCol w="654768">
                  <a:extLst>
                    <a:ext uri="{9D8B030D-6E8A-4147-A177-3AD203B41FA5}">
                      <a16:colId xmlns:a16="http://schemas.microsoft.com/office/drawing/2014/main" val="2145153048"/>
                    </a:ext>
                  </a:extLst>
                </a:gridCol>
                <a:gridCol w="544222">
                  <a:extLst>
                    <a:ext uri="{9D8B030D-6E8A-4147-A177-3AD203B41FA5}">
                      <a16:colId xmlns:a16="http://schemas.microsoft.com/office/drawing/2014/main" val="2546122965"/>
                    </a:ext>
                  </a:extLst>
                </a:gridCol>
                <a:gridCol w="2389478">
                  <a:extLst>
                    <a:ext uri="{9D8B030D-6E8A-4147-A177-3AD203B41FA5}">
                      <a16:colId xmlns:a16="http://schemas.microsoft.com/office/drawing/2014/main" val="1763247786"/>
                    </a:ext>
                  </a:extLst>
                </a:gridCol>
                <a:gridCol w="2219408">
                  <a:extLst>
                    <a:ext uri="{9D8B030D-6E8A-4147-A177-3AD203B41FA5}">
                      <a16:colId xmlns:a16="http://schemas.microsoft.com/office/drawing/2014/main" val="2157927399"/>
                    </a:ext>
                  </a:extLst>
                </a:gridCol>
                <a:gridCol w="331635">
                  <a:extLst>
                    <a:ext uri="{9D8B030D-6E8A-4147-A177-3AD203B41FA5}">
                      <a16:colId xmlns:a16="http://schemas.microsoft.com/office/drawing/2014/main" val="472240777"/>
                    </a:ext>
                  </a:extLst>
                </a:gridCol>
                <a:gridCol w="3137784">
                  <a:extLst>
                    <a:ext uri="{9D8B030D-6E8A-4147-A177-3AD203B41FA5}">
                      <a16:colId xmlns:a16="http://schemas.microsoft.com/office/drawing/2014/main" val="3623024869"/>
                    </a:ext>
                  </a:extLst>
                </a:gridCol>
              </a:tblGrid>
              <a:tr h="110490">
                <a:tc>
                  <a:txBody>
                    <a:bodyPr/>
                    <a:lstStyle/>
                    <a:p>
                      <a:pPr algn="ctr" fontAlgn="ctr"/>
                      <a:r>
                        <a:rPr lang="en-US" sz="700" b="0" i="0" u="none" strike="noStrike">
                          <a:solidFill>
                            <a:srgbClr val="000000"/>
                          </a:solidFill>
                          <a:effectLst/>
                          <a:latin typeface="Calibri" panose="020F0502020204030204" pitchFamily="34" charset="0"/>
                        </a:rPr>
                        <a:t>A/C</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DELAY DATE</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STA</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DELAY MINUTES</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FLIGHT NO</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ROUTINE</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DELAY DESC</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DELAY ACTION</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ATA</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Engineering Assessment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4191117905"/>
                  </a:ext>
                </a:extLst>
              </a:tr>
              <a:tr h="1767840">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A357</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09:05 01/01/2025</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60</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VN208</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RECTIFY ADD B1960 ENG2 FADEC ON MAINT STS &lt;p&gt;REF WO 6848287 RECTIFY ADD B1960 ENG2 FADEC ON MAINT STS WITH EXP DATE 01/01/2025</a:t>
                      </a:r>
                      <a:br>
                        <a:rPr lang="en-US" sz="1000" b="0" i="0" u="none" strike="noStrike">
                          <a:solidFill>
                            <a:srgbClr val="000000"/>
                          </a:solidFill>
                          <a:effectLst/>
                          <a:latin typeface="Times New Roman" panose="02020603050405020304" pitchFamily="18" charset="0"/>
                          <a:cs typeface="Times New Roman" panose="02020603050405020304" pitchFamily="18" charset="0"/>
                        </a:rPr>
                      </a:b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&lt;p&gt;- 23:30 TÀU ĐÁP&lt;br /&gt;</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- 01:00 TÀU KÉO VỀ HG1, MỞ ENG THỔI NGUỘI</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- 04:00 CA ĐÊM THÁO FMU, BÀN GIAO CS LẮP LÊN</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- 06:30 FMU LẮP LÊN BỊ LEAK, TIẾN HÀNH THÁO RA KTRA LẠI SEAL</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- 07:00 FOUND SEAL DAMAGED. THAY SEAL MỚI VÀ LẮP LẠI FMU</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- 09:00 LẮP FMU XONG, NỔ MÁY CHECK FOUND LEAK. TIẾP TỤC T/S. OCC LÙI LB 12:00 (PAX ĐÃ GIẢI TỎA QUA TÀU TO)</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- 10:00 FINAL ACTION</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RPLD SEAL FCOC-IDG. SATIS</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RPLD FMU. ENG RUN UP FOR LEAK CHECK. SATIS TIMELINE (LCT) EVENT CLOSED &lt;p&gt;- RPLD SEAL FCOC-IDG. SATIS</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 RPLD FMU. ENG RUN UP FOR LEAK CHECK. SATIS</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a:solidFill>
                            <a:srgbClr val="000000"/>
                          </a:solidFill>
                          <a:effectLst/>
                          <a:latin typeface="Times New Roman" panose="02020603050405020304" pitchFamily="18" charset="0"/>
                          <a:cs typeface="Times New Roman" panose="02020603050405020304" pitchFamily="18" charset="0"/>
                        </a:rPr>
                        <a:t>Delay do phát hiện leak trong quá trình thay FMU để clear ADD, đã khắc phục bằng việc thay seal. Đánh giá đây là hỏng hóc đơn lẻ. Đề nghị Vaeco chuẩn bị sẵn PTVT để hạn chế delay do phát sinh trong quá trình khắc phục ADD</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35514248"/>
                  </a:ext>
                </a:extLst>
              </a:tr>
              <a:tr h="707898">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A605</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06:18 01/01/2025</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HAN</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15</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VN1201</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HAN-VCA</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LEAK FUEL AT DRAIN MAST OF APU &lt;p&gt;A/c Pre-flight, Sau khi nổ APU phát hiện leak fuel at drain mast của APU, cần đánh APU inop, tuy nhiên ở sân VCA không có xe khởi động khí nên MCC đổi sang A338 bay thay</a:t>
                      </a:r>
                      <a:br>
                        <a:rPr lang="en-US" sz="1000" b="0" i="0" u="none" strike="noStrike">
                          <a:solidFill>
                            <a:srgbClr val="000000"/>
                          </a:solidFill>
                          <a:effectLst/>
                          <a:latin typeface="Times New Roman" panose="02020603050405020304" pitchFamily="18" charset="0"/>
                          <a:cs typeface="Times New Roman" panose="02020603050405020304" pitchFamily="18" charset="0"/>
                        </a:rPr>
                      </a:b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&lt;p&gt;Run APU of A605 40 mins in ECS MODE i.a.w AMM 49-00-00-710-010 Rev Nov Found NO Leak</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Request futher monitor (Rè AMM 49-00-00-790-003-A).&lt;br /&gt;</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A/C READY TO SERVICE&lt;/p&gt; LEAK FUEL AT DRAIN MAST OF APU EVENT CLOSED</a:t>
                      </a:r>
                      <a:br>
                        <a:rPr lang="en-US" sz="1000" b="0" i="0" u="none" strike="noStrike">
                          <a:solidFill>
                            <a:srgbClr val="000000"/>
                          </a:solidFill>
                          <a:effectLst/>
                          <a:latin typeface="Times New Roman" panose="02020603050405020304" pitchFamily="18" charset="0"/>
                          <a:cs typeface="Times New Roman" panose="02020603050405020304" pitchFamily="18" charset="0"/>
                        </a:rPr>
                      </a:b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dirty="0">
                          <a:solidFill>
                            <a:srgbClr val="000000"/>
                          </a:solidFill>
                          <a:effectLst/>
                          <a:latin typeface="Times New Roman" panose="02020603050405020304" pitchFamily="18" charset="0"/>
                          <a:cs typeface="Times New Roman" panose="02020603050405020304" pitchFamily="18" charset="0"/>
                        </a:rPr>
                        <a:t>APU A605 SN P-5177 có TSN/CSN = 19796/16869, TSR/CSR = 5221/4297. APU sau khi ops test và reset hoạt động bình thường và không phát hiện leak, hiện đang được tiếp tục theo dõi.</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endParaRPr lang="vi-VN"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5681127"/>
                  </a:ext>
                </a:extLst>
              </a:tr>
            </a:tbl>
          </a:graphicData>
        </a:graphic>
      </p:graphicFrame>
    </p:spTree>
    <p:extLst>
      <p:ext uri="{BB962C8B-B14F-4D97-AF65-F5344CB8AC3E}">
        <p14:creationId xmlns:p14="http://schemas.microsoft.com/office/powerpoint/2010/main" val="3987495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4F79AF3-24C5-47EC-8B09-710ADAA97244}" type="slidenum">
              <a:rPr lang="en-US" altLang="en-US" sz="1200" smtClean="0">
                <a:solidFill>
                  <a:srgbClr val="D2A43B"/>
                </a:solidFill>
                <a:latin typeface="Montserrat"/>
              </a:rPr>
              <a:pPr fontAlgn="base">
                <a:lnSpc>
                  <a:spcPct val="100000"/>
                </a:lnSpc>
                <a:spcBef>
                  <a:spcPct val="0"/>
                </a:spcBef>
                <a:spcAft>
                  <a:spcPct val="0"/>
                </a:spcAft>
                <a:buFontTx/>
                <a:buNone/>
              </a:pPr>
              <a:t>9</a:t>
            </a:fld>
            <a:endParaRPr lang="en-US" altLang="en-US" sz="1200">
              <a:solidFill>
                <a:srgbClr val="D2A43B"/>
              </a:solidFill>
              <a:latin typeface="Montserrat"/>
            </a:endParaRPr>
          </a:p>
        </p:txBody>
      </p:sp>
      <p:sp>
        <p:nvSpPr>
          <p:cNvPr id="1048638" name="Title 4"/>
          <p:cNvSpPr>
            <a:spLocks noGrp="1"/>
          </p:cNvSpPr>
          <p:nvPr>
            <p:ph type="title"/>
          </p:nvPr>
        </p:nvSpPr>
        <p:spPr>
          <a:xfrm>
            <a:off x="914400" y="439933"/>
            <a:ext cx="8686799" cy="815200"/>
          </a:xfrm>
        </p:spPr>
        <p:txBody>
          <a:bodyPr rtlCol="0">
            <a:normAutofit/>
          </a:bodyPr>
          <a:lstStyle/>
          <a:p>
            <a:pPr eaLnBrk="1" fontAlgn="auto" hangingPunct="1">
              <a:spcAft>
                <a:spcPts val="0"/>
              </a:spcAft>
              <a:defRPr/>
            </a:pPr>
            <a:r>
              <a:rPr lang="en-US" sz="2800" dirty="0">
                <a:ln w="0"/>
                <a:solidFill>
                  <a:schemeClr val="accent4"/>
                </a:solidFill>
                <a:latin typeface="Times New Roman" panose="02020603050405020304" pitchFamily="18" charset="0"/>
                <a:cs typeface="Times New Roman" panose="02020603050405020304" pitchFamily="18" charset="0"/>
              </a:rPr>
              <a:t>TÌNH TRẠNG KỸ THUẬT ĐỘI BAY A320/ A321 </a:t>
            </a:r>
            <a:endParaRPr lang="vi-VN" sz="2800" dirty="0">
              <a:ln w="0"/>
              <a:solidFill>
                <a:schemeClr val="accent4"/>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311CC99-42A4-BD10-390B-EE6B3A4DC329}"/>
              </a:ext>
            </a:extLst>
          </p:cNvPr>
          <p:cNvSpPr txBox="1"/>
          <p:nvPr/>
        </p:nvSpPr>
        <p:spPr>
          <a:xfrm>
            <a:off x="914400" y="1066800"/>
            <a:ext cx="10287000" cy="2062103"/>
          </a:xfrm>
          <a:prstGeom prst="rect">
            <a:avLst/>
          </a:prstGeom>
          <a:noFill/>
        </p:spPr>
        <p:txBody>
          <a:bodyPr wrap="square">
            <a:spAutoFit/>
          </a:bodyPr>
          <a:lstStyle/>
          <a:p>
            <a:pPr lvl="0" algn="just">
              <a:defRPr/>
            </a:pPr>
            <a:r>
              <a:rPr lang="en-US" sz="1600" b="1" dirty="0" err="1">
                <a:latin typeface="Times New Roman" panose="02020603050405020304" pitchFamily="18" charset="0"/>
                <a:cs typeface="Times New Roman" panose="02020603050405020304" pitchFamily="18" charset="0"/>
              </a:rPr>
              <a:t>Nhận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xét</a:t>
            </a:r>
            <a:r>
              <a:rPr lang="en-US" sz="1600" b="1">
                <a:latin typeface="Times New Roman" panose="02020603050405020304" pitchFamily="18" charset="0"/>
                <a:cs typeface="Times New Roman" panose="02020603050405020304" pitchFamily="18" charset="0"/>
              </a:rPr>
              <a:t>: </a:t>
            </a:r>
            <a:r>
              <a:rPr lang="vi-VN" sz="1600">
                <a:cs typeface="Times New Roman" panose="02020603050405020304" pitchFamily="18" charset="0"/>
              </a:rPr>
              <a:t>Một số hỏng hóc nổi cộm đội bay A321 trong tuần:</a:t>
            </a:r>
          </a:p>
          <a:p>
            <a:pPr marL="285750" lvl="0" indent="-285750" algn="just">
              <a:buFont typeface="Arial" panose="020B0604020202020204" pitchFamily="34" charset="0"/>
              <a:buChar char="•"/>
              <a:defRPr/>
            </a:pPr>
            <a:r>
              <a:rPr lang="vi-VN" sz="1600">
                <a:cs typeface="Times New Roman" panose="02020603050405020304" pitchFamily="18" charset="0"/>
              </a:rPr>
              <a:t>A507/BKK/DELAY/31/12: Trên chuyến bay VN615 HAN-BKK phát sinh MSG "HYD Y ENG 2 PUMP LO PR", MOC đã báo thợ máy đối tác tại BKK ra hỗ trợ kiểm tra và reset hết MSG. tàu sau đó về HAN đã thực hiện kiểm tra  và vệ sinh WIRING, CONNECTOR (3074GD) satis. </a:t>
            </a:r>
          </a:p>
          <a:p>
            <a:pPr marL="285750" lvl="0" indent="-285750" algn="just">
              <a:buFont typeface="Arial" panose="020B0604020202020204" pitchFamily="34" charset="0"/>
              <a:buChar char="•"/>
              <a:defRPr/>
            </a:pPr>
            <a:r>
              <a:rPr lang="vi-VN" sz="1600">
                <a:cs typeface="Times New Roman" panose="02020603050405020304" pitchFamily="18" charset="0"/>
              </a:rPr>
              <a:t>A398/NRT/6h20 31/12: tổ bay gọi về báo IR3 ngoài giới hạn. MOC/MCC đã gọi CRS/NRT ra hỗ trợ. CRS mở MEL cho tàu bay về (MEL 34-10-06B).Tàu sau đó đã thay xong ADIRU (khối cao giờ 22K FH, ADD cleared. </a:t>
            </a:r>
          </a:p>
          <a:p>
            <a:pPr marL="285750" lvl="0" indent="-285750" algn="just">
              <a:buFont typeface="Arial" panose="020B0604020202020204" pitchFamily="34" charset="0"/>
              <a:buChar char="•"/>
              <a:defRPr/>
            </a:pPr>
            <a:r>
              <a:rPr lang="vi-VN" sz="1600">
                <a:cs typeface="Times New Roman" panose="02020603050405020304" pitchFamily="18" charset="0"/>
              </a:rPr>
              <a:t>A512 có hỏng hóc vể PRV (MEL cat A theo AD CAAV 28-07-2020/R03) tuy nhiên khắc phục lần đầu không đươc, phải rob từ A503 để khắc phục</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2508908"/>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79E8391B-7B1B-9518-4216-BB3E79E0AEA3}"/>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92B986BE-F1F9-839F-5AB3-0E3AFE71F6B7}"/>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E2E0F42-602D-EFC6-677B-6FED8C5260AA}"/>
              </a:ext>
            </a:extLst>
          </p:cNvPr>
          <p:cNvSpPr>
            <a:spLocks noGrp="1"/>
          </p:cNvSpPr>
          <p:nvPr>
            <p:ph type="title"/>
          </p:nvPr>
        </p:nvSpPr>
        <p:spPr>
          <a:xfrm>
            <a:off x="917620" y="381000"/>
            <a:ext cx="9155467" cy="551496"/>
          </a:xfrm>
        </p:spPr>
        <p:txBody>
          <a:bodyPr rtlCol="0">
            <a:normAutofit fontScale="90000"/>
          </a:bodyPr>
          <a:lstStyle/>
          <a:p>
            <a:pPr>
              <a:defRPr/>
            </a:pPr>
            <a:r>
              <a:rPr lang="en-US" sz="3733" dirty="0">
                <a:ln w="0"/>
                <a:solidFill>
                  <a:schemeClr val="accent4"/>
                </a:solidFill>
                <a:latin typeface="Times New Roman" panose="02020603050405020304" pitchFamily="18" charset="0"/>
                <a:cs typeface="Times New Roman" panose="02020603050405020304" pitchFamily="18" charset="0"/>
              </a:rPr>
              <a:t>TÌNH TRẠNG KỸ THUẬT ĐỘI BAY – </a:t>
            </a:r>
            <a:r>
              <a:rPr lang="vi-VN" sz="3733" dirty="0">
                <a:ln w="0"/>
                <a:solidFill>
                  <a:schemeClr val="accent4"/>
                </a:solidFill>
                <a:latin typeface="Times New Roman" panose="02020603050405020304" pitchFamily="18" charset="0"/>
                <a:cs typeface="Times New Roman" panose="02020603050405020304" pitchFamily="18" charset="0"/>
              </a:rPr>
              <a:t>A350</a:t>
            </a:r>
          </a:p>
        </p:txBody>
      </p:sp>
      <p:sp>
        <p:nvSpPr>
          <p:cNvPr id="9" name="TextBox 8">
            <a:extLst>
              <a:ext uri="{FF2B5EF4-FFF2-40B4-BE49-F238E27FC236}">
                <a16:creationId xmlns:a16="http://schemas.microsoft.com/office/drawing/2014/main" id="{3C339F9F-FDA9-4B7A-A42C-B7C88652310C}"/>
              </a:ext>
            </a:extLst>
          </p:cNvPr>
          <p:cNvSpPr txBox="1"/>
          <p:nvPr/>
        </p:nvSpPr>
        <p:spPr>
          <a:xfrm>
            <a:off x="152399" y="1225344"/>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sp>
        <p:nvSpPr>
          <p:cNvPr id="4" name="TextBox 3">
            <a:extLst>
              <a:ext uri="{FF2B5EF4-FFF2-40B4-BE49-F238E27FC236}">
                <a16:creationId xmlns:a16="http://schemas.microsoft.com/office/drawing/2014/main" id="{F2F29800-2D85-BB73-F094-9BFD6867E529}"/>
              </a:ext>
            </a:extLst>
          </p:cNvPr>
          <p:cNvSpPr txBox="1"/>
          <p:nvPr/>
        </p:nvSpPr>
        <p:spPr>
          <a:xfrm>
            <a:off x="198485" y="1811923"/>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01</a:t>
            </a:r>
          </a:p>
        </p:txBody>
      </p:sp>
      <p:graphicFrame>
        <p:nvGraphicFramePr>
          <p:cNvPr id="5" name="Table 4">
            <a:extLst>
              <a:ext uri="{FF2B5EF4-FFF2-40B4-BE49-F238E27FC236}">
                <a16:creationId xmlns:a16="http://schemas.microsoft.com/office/drawing/2014/main" id="{7B5351C4-8D25-7624-2A83-5C5D780F898C}"/>
              </a:ext>
            </a:extLst>
          </p:cNvPr>
          <p:cNvGraphicFramePr>
            <a:graphicFrameLocks noGrp="1"/>
          </p:cNvGraphicFramePr>
          <p:nvPr>
            <p:extLst>
              <p:ext uri="{D42A27DB-BD31-4B8C-83A1-F6EECF244321}">
                <p14:modId xmlns:p14="http://schemas.microsoft.com/office/powerpoint/2010/main" val="1645105216"/>
              </p:ext>
            </p:extLst>
          </p:nvPr>
        </p:nvGraphicFramePr>
        <p:xfrm>
          <a:off x="152399" y="2438400"/>
          <a:ext cx="11642628" cy="3969968"/>
        </p:xfrm>
        <a:graphic>
          <a:graphicData uri="http://schemas.openxmlformats.org/drawingml/2006/table">
            <a:tbl>
              <a:tblPr/>
              <a:tblGrid>
                <a:gridCol w="426634">
                  <a:extLst>
                    <a:ext uri="{9D8B030D-6E8A-4147-A177-3AD203B41FA5}">
                      <a16:colId xmlns:a16="http://schemas.microsoft.com/office/drawing/2014/main" val="4067894862"/>
                    </a:ext>
                  </a:extLst>
                </a:gridCol>
                <a:gridCol w="1234995">
                  <a:extLst>
                    <a:ext uri="{9D8B030D-6E8A-4147-A177-3AD203B41FA5}">
                      <a16:colId xmlns:a16="http://schemas.microsoft.com/office/drawing/2014/main" val="4008086941"/>
                    </a:ext>
                  </a:extLst>
                </a:gridCol>
                <a:gridCol w="1234995">
                  <a:extLst>
                    <a:ext uri="{9D8B030D-6E8A-4147-A177-3AD203B41FA5}">
                      <a16:colId xmlns:a16="http://schemas.microsoft.com/office/drawing/2014/main" val="3583901208"/>
                    </a:ext>
                  </a:extLst>
                </a:gridCol>
                <a:gridCol w="426634">
                  <a:extLst>
                    <a:ext uri="{9D8B030D-6E8A-4147-A177-3AD203B41FA5}">
                      <a16:colId xmlns:a16="http://schemas.microsoft.com/office/drawing/2014/main" val="1005543531"/>
                    </a:ext>
                  </a:extLst>
                </a:gridCol>
                <a:gridCol w="3323257">
                  <a:extLst>
                    <a:ext uri="{9D8B030D-6E8A-4147-A177-3AD203B41FA5}">
                      <a16:colId xmlns:a16="http://schemas.microsoft.com/office/drawing/2014/main" val="2982443407"/>
                    </a:ext>
                  </a:extLst>
                </a:gridCol>
                <a:gridCol w="4996113">
                  <a:extLst>
                    <a:ext uri="{9D8B030D-6E8A-4147-A177-3AD203B41FA5}">
                      <a16:colId xmlns:a16="http://schemas.microsoft.com/office/drawing/2014/main" val="1780115971"/>
                    </a:ext>
                  </a:extLst>
                </a:gridCol>
              </a:tblGrid>
              <a:tr h="147036">
                <a:tc>
                  <a:txBody>
                    <a:bodyPr/>
                    <a:lstStyle/>
                    <a:p>
                      <a:pPr algn="ctr" fontAlgn="ctr"/>
                      <a:r>
                        <a:rPr lang="en-US" sz="900" b="0" i="0" u="none" strike="noStrike">
                          <a:solidFill>
                            <a:srgbClr val="000000"/>
                          </a:solidFill>
                          <a:effectLst/>
                          <a:latin typeface="Calibri" panose="020F0502020204030204" pitchFamily="34" charset="0"/>
                        </a:rPr>
                        <a:t>A/C</a:t>
                      </a:r>
                    </a:p>
                  </a:txBody>
                  <a:tcPr marL="5070" marR="5070" marT="50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Calibri" panose="020F0502020204030204" pitchFamily="34" charset="0"/>
                        </a:rPr>
                        <a:t>OPEN DATE</a:t>
                      </a:r>
                    </a:p>
                  </a:txBody>
                  <a:tcPr marL="5070" marR="5070" marT="50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Calibri" panose="020F0502020204030204" pitchFamily="34" charset="0"/>
                        </a:rPr>
                        <a:t>CLOSED DATE</a:t>
                      </a:r>
                    </a:p>
                  </a:txBody>
                  <a:tcPr marL="5070" marR="5070" marT="50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Calibri" panose="020F0502020204030204" pitchFamily="34" charset="0"/>
                        </a:rPr>
                        <a:t>STA</a:t>
                      </a:r>
                    </a:p>
                  </a:txBody>
                  <a:tcPr marL="5070" marR="5070" marT="50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Calibri" panose="020F0502020204030204" pitchFamily="34" charset="0"/>
                        </a:rPr>
                        <a:t>DEFECT</a:t>
                      </a:r>
                    </a:p>
                  </a:txBody>
                  <a:tcPr marL="5070" marR="5070" marT="50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Calibri" panose="020F0502020204030204" pitchFamily="34" charset="0"/>
                        </a:rPr>
                        <a:t>ACTION</a:t>
                      </a:r>
                    </a:p>
                  </a:txBody>
                  <a:tcPr marL="5070" marR="5070" marT="50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327054633"/>
                  </a:ext>
                </a:extLst>
              </a:tr>
              <a:tr h="1911466">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A889</a:t>
                      </a:r>
                    </a:p>
                  </a:txBody>
                  <a:tcPr marL="5070" marR="5070" marT="507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05:10 31/12/2024</a:t>
                      </a:r>
                    </a:p>
                  </a:txBody>
                  <a:tcPr marL="5070" marR="5070" marT="507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07:40 31/12/2024</a:t>
                      </a:r>
                    </a:p>
                  </a:txBody>
                  <a:tcPr marL="5070" marR="5070" marT="507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HAN</a:t>
                      </a:r>
                    </a:p>
                  </a:txBody>
                  <a:tcPr marL="5070" marR="5070" marT="507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dirty="0">
                          <a:solidFill>
                            <a:srgbClr val="000000"/>
                          </a:solidFill>
                          <a:effectLst/>
                          <a:latin typeface="Times New Roman" panose="02020603050405020304" pitchFamily="18" charset="0"/>
                          <a:cs typeface="Times New Roman" panose="02020603050405020304" pitchFamily="18" charset="0"/>
                        </a:rPr>
                        <a:t>MSG NO GO “F/CTL PRIM VERSION DISAGREE”. A889 TERM CHECK HAS MSG NO GO “F/CTL PRIM VERSION DISAGREE”.</a:t>
                      </a:r>
                      <a:br>
                        <a:rPr lang="en-US" sz="12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70" marR="5070" marT="507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dirty="0">
                          <a:solidFill>
                            <a:srgbClr val="000000"/>
                          </a:solidFill>
                          <a:effectLst/>
                          <a:latin typeface="Times New Roman" panose="02020603050405020304" pitchFamily="18" charset="0"/>
                          <a:cs typeface="Times New Roman" panose="02020603050405020304" pitchFamily="18" charset="0"/>
                        </a:rPr>
                        <a:t>RPLD 03 PRIM AND 02 SEC (rob from A895), all test ok&lt;/p&gt; RPLD 03 PRIM AND 02 SEC EVENT CLOSED</a:t>
                      </a:r>
                      <a:br>
                        <a:rPr lang="en-US" sz="12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70" marR="5070" marT="507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58204902"/>
                  </a:ext>
                </a:extLst>
              </a:tr>
              <a:tr h="1911466">
                <a:tc>
                  <a:txBody>
                    <a:bodyPr/>
                    <a:lstStyle/>
                    <a:p>
                      <a:pPr algn="l" fontAlgn="t"/>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A896</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070" marR="5070" marT="507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05/01/2025</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070" marR="5070" marT="507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070" marR="5070" marT="507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HAN</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070" marR="5070" marT="507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200" b="0" i="0" u="none" strike="noStrike" smtClean="0">
                          <a:solidFill>
                            <a:srgbClr val="000000"/>
                          </a:solidFill>
                          <a:effectLst/>
                          <a:latin typeface="+mn-lt"/>
                          <a:cs typeface="Times New Roman" panose="02020603050405020304" pitchFamily="18" charset="0"/>
                        </a:rPr>
                        <a:t>Trước khi Boarding VN215 xuất hiện MSG NO GO: F/CTL INR AILERON ELEC ACTUATOR</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70" marR="5070" marT="507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200" b="0" i="0" u="none" strike="noStrike" smtClean="0">
                          <a:solidFill>
                            <a:srgbClr val="000000"/>
                          </a:solidFill>
                          <a:effectLst/>
                          <a:latin typeface="+mn-lt"/>
                          <a:cs typeface="Times New Roman" panose="02020603050405020304" pitchFamily="18" charset="0"/>
                        </a:rPr>
                        <a:t>Trong quá trình thay EHA bị kẹt Bolt không tháo ra được</a:t>
                      </a:r>
                      <a:r>
                        <a:rPr lang="en-US" sz="1200" b="0" i="0" u="none" strike="noStrike" smtClean="0">
                          <a:solidFill>
                            <a:srgbClr val="000000"/>
                          </a:solidFill>
                          <a:effectLst/>
                          <a:latin typeface="+mn-lt"/>
                          <a:cs typeface="Times New Roman" panose="02020603050405020304" pitchFamily="18" charset="0"/>
                        </a:rPr>
                        <a:t>.</a:t>
                      </a:r>
                    </a:p>
                    <a:p>
                      <a:pPr algn="l" fontAlgn="t"/>
                      <a:r>
                        <a:rPr lang="en-US" sz="1200" b="0" i="0" u="none" strike="noStrike" smtClean="0">
                          <a:solidFill>
                            <a:srgbClr val="000000"/>
                          </a:solidFill>
                          <a:effectLst/>
                          <a:latin typeface="+mn-lt"/>
                          <a:cs typeface="Times New Roman" panose="02020603050405020304" pitchFamily="18" charset="0"/>
                        </a:rPr>
                        <a:t>H</a:t>
                      </a:r>
                      <a:r>
                        <a:rPr lang="vi-VN" sz="1200" b="0" i="0" u="none" strike="noStrike" smtClean="0">
                          <a:solidFill>
                            <a:srgbClr val="000000"/>
                          </a:solidFill>
                          <a:effectLst/>
                          <a:latin typeface="+mn-lt"/>
                          <a:cs typeface="Times New Roman" panose="02020603050405020304" pitchFamily="18" charset="0"/>
                        </a:rPr>
                        <a:t>iện đã tháo </a:t>
                      </a:r>
                      <a:r>
                        <a:rPr lang="en-US" sz="1200" b="0" i="0" u="none" strike="noStrike" smtClean="0">
                          <a:solidFill>
                            <a:srgbClr val="000000"/>
                          </a:solidFill>
                          <a:effectLst/>
                          <a:latin typeface="+mn-lt"/>
                          <a:cs typeface="Times New Roman" panose="02020603050405020304" pitchFamily="18" charset="0"/>
                        </a:rPr>
                        <a:t>được</a:t>
                      </a:r>
                      <a:r>
                        <a:rPr lang="en-US" sz="1200" b="0" i="0" u="none" strike="noStrike" baseline="0" smtClean="0">
                          <a:solidFill>
                            <a:srgbClr val="000000"/>
                          </a:solidFill>
                          <a:effectLst/>
                          <a:latin typeface="+mn-lt"/>
                          <a:cs typeface="Times New Roman" panose="02020603050405020304" pitchFamily="18" charset="0"/>
                        </a:rPr>
                        <a:t> Bolt</a:t>
                      </a:r>
                      <a:r>
                        <a:rPr lang="vi-VN" sz="1200" b="0" i="0" u="none" strike="noStrike" smtClean="0">
                          <a:solidFill>
                            <a:srgbClr val="000000"/>
                          </a:solidFill>
                          <a:effectLst/>
                          <a:latin typeface="+mn-lt"/>
                          <a:cs typeface="Times New Roman" panose="02020603050405020304" pitchFamily="18" charset="0"/>
                        </a:rPr>
                        <a:t>, d/k đến 21H30 </a:t>
                      </a:r>
                      <a:r>
                        <a:rPr lang="en-US" sz="1200" b="0" i="0" u="none" strike="noStrike" smtClean="0">
                          <a:solidFill>
                            <a:srgbClr val="000000"/>
                          </a:solidFill>
                          <a:effectLst/>
                          <a:latin typeface="+mn-lt"/>
                          <a:cs typeface="Times New Roman" panose="02020603050405020304" pitchFamily="18" charset="0"/>
                        </a:rPr>
                        <a:t>ngày</a:t>
                      </a:r>
                      <a:r>
                        <a:rPr lang="en-US" sz="1200" b="0" i="0" u="none" strike="noStrike" baseline="0" smtClean="0">
                          <a:solidFill>
                            <a:srgbClr val="000000"/>
                          </a:solidFill>
                          <a:effectLst/>
                          <a:latin typeface="+mn-lt"/>
                          <a:cs typeface="Times New Roman" panose="02020603050405020304" pitchFamily="18" charset="0"/>
                        </a:rPr>
                        <a:t> 05/01/2024 thay </a:t>
                      </a:r>
                      <a:r>
                        <a:rPr lang="vi-VN" sz="1200" b="0" i="0" u="none" strike="noStrike" smtClean="0">
                          <a:solidFill>
                            <a:srgbClr val="000000"/>
                          </a:solidFill>
                          <a:effectLst/>
                          <a:latin typeface="+mn-lt"/>
                          <a:cs typeface="Times New Roman" panose="02020603050405020304" pitchFamily="18" charset="0"/>
                        </a:rPr>
                        <a:t>xong</a:t>
                      </a:r>
                      <a:r>
                        <a:rPr lang="en-US" sz="1200" b="0" i="0" u="none" strike="noStrike" smtClean="0">
                          <a:solidFill>
                            <a:srgbClr val="000000"/>
                          </a:solidFill>
                          <a:effectLst/>
                          <a:latin typeface="+mn-lt"/>
                          <a:cs typeface="Times New Roman" panose="02020603050405020304" pitchFamily="18" charset="0"/>
                        </a:rPr>
                        <a:t>,</a:t>
                      </a:r>
                      <a:r>
                        <a:rPr lang="vi-VN" sz="1200" b="0" i="0" u="none" strike="noStrike" smtClean="0">
                          <a:solidFill>
                            <a:srgbClr val="000000"/>
                          </a:solidFill>
                          <a:effectLst/>
                          <a:latin typeface="+mn-lt"/>
                          <a:cs typeface="Times New Roman" panose="02020603050405020304" pitchFamily="18" charset="0"/>
                        </a:rPr>
                        <a:t> đảm bảo bay VN19 HAN CDG</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70" marR="5070" marT="507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1465410"/>
                  </a:ext>
                </a:extLst>
              </a:tr>
            </a:tbl>
          </a:graphicData>
        </a:graphic>
      </p:graphicFrame>
    </p:spTree>
    <p:extLst>
      <p:ext uri="{BB962C8B-B14F-4D97-AF65-F5344CB8AC3E}">
        <p14:creationId xmlns:p14="http://schemas.microsoft.com/office/powerpoint/2010/main" val="1011999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79E8391B-7B1B-9518-4216-BB3E79E0AEA3}"/>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92B986BE-F1F9-839F-5AB3-0E3AFE71F6B7}"/>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E2E0F42-602D-EFC6-677B-6FED8C5260AA}"/>
              </a:ext>
            </a:extLst>
          </p:cNvPr>
          <p:cNvSpPr>
            <a:spLocks noGrp="1"/>
          </p:cNvSpPr>
          <p:nvPr>
            <p:ph type="title"/>
          </p:nvPr>
        </p:nvSpPr>
        <p:spPr>
          <a:xfrm>
            <a:off x="917620" y="381000"/>
            <a:ext cx="9155467" cy="551496"/>
          </a:xfrm>
        </p:spPr>
        <p:txBody>
          <a:bodyPr rtlCol="0">
            <a:normAutofit fontScale="90000"/>
          </a:bodyPr>
          <a:lstStyle/>
          <a:p>
            <a:pPr>
              <a:defRPr/>
            </a:pPr>
            <a:r>
              <a:rPr lang="en-US" sz="3733" dirty="0">
                <a:ln w="0"/>
                <a:solidFill>
                  <a:schemeClr val="accent4"/>
                </a:solidFill>
                <a:latin typeface="Times New Roman" panose="02020603050405020304" pitchFamily="18" charset="0"/>
                <a:cs typeface="Times New Roman" panose="02020603050405020304" pitchFamily="18" charset="0"/>
              </a:rPr>
              <a:t>TÌNH TRẠNG KỸ THUẬT ĐỘI BAY – </a:t>
            </a:r>
            <a:r>
              <a:rPr lang="vi-VN" sz="3733" dirty="0">
                <a:ln w="0"/>
                <a:solidFill>
                  <a:schemeClr val="accent4"/>
                </a:solidFill>
                <a:latin typeface="Times New Roman" panose="02020603050405020304" pitchFamily="18" charset="0"/>
                <a:cs typeface="Times New Roman" panose="02020603050405020304" pitchFamily="18" charset="0"/>
              </a:rPr>
              <a:t>A350</a:t>
            </a:r>
          </a:p>
        </p:txBody>
      </p:sp>
      <p:sp>
        <p:nvSpPr>
          <p:cNvPr id="9" name="TextBox 8">
            <a:extLst>
              <a:ext uri="{FF2B5EF4-FFF2-40B4-BE49-F238E27FC236}">
                <a16:creationId xmlns:a16="http://schemas.microsoft.com/office/drawing/2014/main" id="{3C339F9F-FDA9-4B7A-A42C-B7C88652310C}"/>
              </a:ext>
            </a:extLst>
          </p:cNvPr>
          <p:cNvSpPr txBox="1"/>
          <p:nvPr/>
        </p:nvSpPr>
        <p:spPr>
          <a:xfrm>
            <a:off x="152399" y="1225344"/>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sp>
        <p:nvSpPr>
          <p:cNvPr id="4" name="TextBox 3">
            <a:extLst>
              <a:ext uri="{FF2B5EF4-FFF2-40B4-BE49-F238E27FC236}">
                <a16:creationId xmlns:a16="http://schemas.microsoft.com/office/drawing/2014/main" id="{F2F29800-2D85-BB73-F094-9BFD6867E529}"/>
              </a:ext>
            </a:extLst>
          </p:cNvPr>
          <p:cNvSpPr txBox="1"/>
          <p:nvPr/>
        </p:nvSpPr>
        <p:spPr>
          <a:xfrm>
            <a:off x="198485" y="1811923"/>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01</a:t>
            </a:r>
          </a:p>
        </p:txBody>
      </p:sp>
      <p:graphicFrame>
        <p:nvGraphicFramePr>
          <p:cNvPr id="7" name="Table 6">
            <a:extLst>
              <a:ext uri="{FF2B5EF4-FFF2-40B4-BE49-F238E27FC236}">
                <a16:creationId xmlns:a16="http://schemas.microsoft.com/office/drawing/2014/main" id="{74BDB4E7-3476-0FD5-3DFC-A289F691F81A}"/>
              </a:ext>
            </a:extLst>
          </p:cNvPr>
          <p:cNvGraphicFramePr>
            <a:graphicFrameLocks noGrp="1"/>
          </p:cNvGraphicFramePr>
          <p:nvPr>
            <p:extLst>
              <p:ext uri="{D42A27DB-BD31-4B8C-83A1-F6EECF244321}">
                <p14:modId xmlns:p14="http://schemas.microsoft.com/office/powerpoint/2010/main" val="605807104"/>
              </p:ext>
            </p:extLst>
          </p:nvPr>
        </p:nvGraphicFramePr>
        <p:xfrm>
          <a:off x="198485" y="2286000"/>
          <a:ext cx="11734800" cy="2407920"/>
        </p:xfrm>
        <a:graphic>
          <a:graphicData uri="http://schemas.openxmlformats.org/drawingml/2006/table">
            <a:tbl>
              <a:tblPr/>
              <a:tblGrid>
                <a:gridCol w="323132">
                  <a:extLst>
                    <a:ext uri="{9D8B030D-6E8A-4147-A177-3AD203B41FA5}">
                      <a16:colId xmlns:a16="http://schemas.microsoft.com/office/drawing/2014/main" val="1119616685"/>
                    </a:ext>
                  </a:extLst>
                </a:gridCol>
                <a:gridCol w="935382">
                  <a:extLst>
                    <a:ext uri="{9D8B030D-6E8A-4147-A177-3AD203B41FA5}">
                      <a16:colId xmlns:a16="http://schemas.microsoft.com/office/drawing/2014/main" val="1533249512"/>
                    </a:ext>
                  </a:extLst>
                </a:gridCol>
                <a:gridCol w="323132">
                  <a:extLst>
                    <a:ext uri="{9D8B030D-6E8A-4147-A177-3AD203B41FA5}">
                      <a16:colId xmlns:a16="http://schemas.microsoft.com/office/drawing/2014/main" val="1541893463"/>
                    </a:ext>
                  </a:extLst>
                </a:gridCol>
                <a:gridCol w="875859">
                  <a:extLst>
                    <a:ext uri="{9D8B030D-6E8A-4147-A177-3AD203B41FA5}">
                      <a16:colId xmlns:a16="http://schemas.microsoft.com/office/drawing/2014/main" val="512078757"/>
                    </a:ext>
                  </a:extLst>
                </a:gridCol>
                <a:gridCol w="654768">
                  <a:extLst>
                    <a:ext uri="{9D8B030D-6E8A-4147-A177-3AD203B41FA5}">
                      <a16:colId xmlns:a16="http://schemas.microsoft.com/office/drawing/2014/main" val="2145153048"/>
                    </a:ext>
                  </a:extLst>
                </a:gridCol>
                <a:gridCol w="544222">
                  <a:extLst>
                    <a:ext uri="{9D8B030D-6E8A-4147-A177-3AD203B41FA5}">
                      <a16:colId xmlns:a16="http://schemas.microsoft.com/office/drawing/2014/main" val="2546122965"/>
                    </a:ext>
                  </a:extLst>
                </a:gridCol>
                <a:gridCol w="2389478">
                  <a:extLst>
                    <a:ext uri="{9D8B030D-6E8A-4147-A177-3AD203B41FA5}">
                      <a16:colId xmlns:a16="http://schemas.microsoft.com/office/drawing/2014/main" val="1763247786"/>
                    </a:ext>
                  </a:extLst>
                </a:gridCol>
                <a:gridCol w="2219408">
                  <a:extLst>
                    <a:ext uri="{9D8B030D-6E8A-4147-A177-3AD203B41FA5}">
                      <a16:colId xmlns:a16="http://schemas.microsoft.com/office/drawing/2014/main" val="2157927399"/>
                    </a:ext>
                  </a:extLst>
                </a:gridCol>
                <a:gridCol w="331635">
                  <a:extLst>
                    <a:ext uri="{9D8B030D-6E8A-4147-A177-3AD203B41FA5}">
                      <a16:colId xmlns:a16="http://schemas.microsoft.com/office/drawing/2014/main" val="472240777"/>
                    </a:ext>
                  </a:extLst>
                </a:gridCol>
                <a:gridCol w="3137784">
                  <a:extLst>
                    <a:ext uri="{9D8B030D-6E8A-4147-A177-3AD203B41FA5}">
                      <a16:colId xmlns:a16="http://schemas.microsoft.com/office/drawing/2014/main" val="3623024869"/>
                    </a:ext>
                  </a:extLst>
                </a:gridCol>
              </a:tblGrid>
              <a:tr h="110490">
                <a:tc>
                  <a:txBody>
                    <a:bodyPr/>
                    <a:lstStyle/>
                    <a:p>
                      <a:pPr algn="ctr" fontAlgn="ctr"/>
                      <a:r>
                        <a:rPr lang="en-US" sz="1050" b="0" i="0" u="none" strike="noStrike">
                          <a:solidFill>
                            <a:srgbClr val="000000"/>
                          </a:solidFill>
                          <a:effectLst/>
                          <a:latin typeface="Calibri" panose="020F0502020204030204" pitchFamily="34" charset="0"/>
                        </a:rPr>
                        <a:t>A/C</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50" b="0" i="0" u="none" strike="noStrike">
                          <a:solidFill>
                            <a:srgbClr val="000000"/>
                          </a:solidFill>
                          <a:effectLst/>
                          <a:latin typeface="Calibri" panose="020F0502020204030204" pitchFamily="34" charset="0"/>
                        </a:rPr>
                        <a:t>DELAY DATE</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50" b="0" i="0" u="none" strike="noStrike">
                          <a:solidFill>
                            <a:srgbClr val="000000"/>
                          </a:solidFill>
                          <a:effectLst/>
                          <a:latin typeface="Calibri" panose="020F0502020204030204" pitchFamily="34" charset="0"/>
                        </a:rPr>
                        <a:t>STA</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50" b="0" i="0" u="none" strike="noStrike">
                          <a:solidFill>
                            <a:srgbClr val="000000"/>
                          </a:solidFill>
                          <a:effectLst/>
                          <a:latin typeface="Calibri" panose="020F0502020204030204" pitchFamily="34" charset="0"/>
                        </a:rPr>
                        <a:t>DELAY MINUTES</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50" b="0" i="0" u="none" strike="noStrike">
                          <a:solidFill>
                            <a:srgbClr val="000000"/>
                          </a:solidFill>
                          <a:effectLst/>
                          <a:latin typeface="Calibri" panose="020F0502020204030204" pitchFamily="34" charset="0"/>
                        </a:rPr>
                        <a:t>FLIGHT NO</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50" b="0" i="0" u="none" strike="noStrike">
                          <a:solidFill>
                            <a:srgbClr val="000000"/>
                          </a:solidFill>
                          <a:effectLst/>
                          <a:latin typeface="Calibri" panose="020F0502020204030204" pitchFamily="34" charset="0"/>
                        </a:rPr>
                        <a:t>ROUTINE</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50" b="0" i="0" u="none" strike="noStrike">
                          <a:solidFill>
                            <a:srgbClr val="000000"/>
                          </a:solidFill>
                          <a:effectLst/>
                          <a:latin typeface="Calibri" panose="020F0502020204030204" pitchFamily="34" charset="0"/>
                        </a:rPr>
                        <a:t>DELAY DESC</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50" b="0" i="0" u="none" strike="noStrike">
                          <a:solidFill>
                            <a:srgbClr val="000000"/>
                          </a:solidFill>
                          <a:effectLst/>
                          <a:latin typeface="Calibri" panose="020F0502020204030204" pitchFamily="34" charset="0"/>
                        </a:rPr>
                        <a:t>DELAY ACTION</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50" b="0" i="0" u="none" strike="noStrike">
                          <a:solidFill>
                            <a:srgbClr val="000000"/>
                          </a:solidFill>
                          <a:effectLst/>
                          <a:latin typeface="Calibri" panose="020F0502020204030204" pitchFamily="34" charset="0"/>
                        </a:rPr>
                        <a:t>ATA</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50" b="0" i="0" u="none" strike="noStrike">
                          <a:solidFill>
                            <a:srgbClr val="000000"/>
                          </a:solidFill>
                          <a:effectLst/>
                          <a:latin typeface="Calibri" panose="020F0502020204030204" pitchFamily="34" charset="0"/>
                        </a:rPr>
                        <a:t>Engineering Assessment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4191117905"/>
                  </a:ext>
                </a:extLst>
              </a:tr>
              <a:tr h="707898">
                <a:tc>
                  <a:txBody>
                    <a:bodyPr/>
                    <a:lstStyle/>
                    <a:p>
                      <a:pPr algn="l" fontAlgn="t"/>
                      <a:r>
                        <a:rPr lang="en-US" sz="1050" b="0" i="0" u="none" strike="noStrike" smtClean="0">
                          <a:solidFill>
                            <a:srgbClr val="000000"/>
                          </a:solidFill>
                          <a:effectLst/>
                          <a:latin typeface="Times New Roman" panose="02020603050405020304" pitchFamily="18" charset="0"/>
                          <a:cs typeface="Times New Roman" panose="02020603050405020304" pitchFamily="18" charset="0"/>
                        </a:rPr>
                        <a:t>A894</a:t>
                      </a:r>
                      <a:endParaRPr lang="en-US" sz="1050" b="0" i="0" u="none" strike="noStrike">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50" b="0" i="0" u="none" strike="noStrike" smtClean="0">
                          <a:solidFill>
                            <a:srgbClr val="000000"/>
                          </a:solidFill>
                          <a:effectLst/>
                          <a:latin typeface="Times New Roman" panose="02020603050405020304" pitchFamily="18" charset="0"/>
                          <a:cs typeface="Times New Roman" panose="02020603050405020304" pitchFamily="18" charset="0"/>
                        </a:rPr>
                        <a:t>05/01/2025</a:t>
                      </a:r>
                      <a:endParaRPr lang="en-US" sz="1050" b="0" i="0" u="none" strike="noStrike">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50" b="0" i="0" u="none" strike="noStrike">
                          <a:solidFill>
                            <a:srgbClr val="000000"/>
                          </a:solidFill>
                          <a:effectLst/>
                          <a:latin typeface="Times New Roman" panose="02020603050405020304" pitchFamily="18" charset="0"/>
                          <a:cs typeface="Times New Roman" panose="02020603050405020304" pitchFamily="18" charset="0"/>
                        </a:rPr>
                        <a:t>HAN</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US" sz="1050" b="0" i="0" u="none" strike="noStrike">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50" b="0" i="0" u="none" strike="noStrike" smtClean="0">
                          <a:solidFill>
                            <a:srgbClr val="000000"/>
                          </a:solidFill>
                          <a:effectLst/>
                          <a:latin typeface="Times New Roman" panose="02020603050405020304" pitchFamily="18" charset="0"/>
                          <a:cs typeface="Times New Roman" panose="02020603050405020304" pitchFamily="18" charset="0"/>
                        </a:rPr>
                        <a:t>VN310</a:t>
                      </a:r>
                      <a:endParaRPr lang="en-US" sz="1050" b="0" i="0" u="none" strike="noStrike">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50" b="0" i="0" u="none" strike="noStrike" smtClean="0">
                          <a:solidFill>
                            <a:srgbClr val="000000"/>
                          </a:solidFill>
                          <a:effectLst/>
                          <a:latin typeface="Times New Roman" panose="02020603050405020304" pitchFamily="18" charset="0"/>
                          <a:cs typeface="Times New Roman" panose="02020603050405020304" pitchFamily="18" charset="0"/>
                        </a:rPr>
                        <a:t>HAN-NRT</a:t>
                      </a:r>
                      <a:endParaRPr lang="en-US" sz="1050" b="0" i="0" u="none" strike="noStrike">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50" b="0" i="0" u="none" strike="noStrike" smtClean="0">
                          <a:solidFill>
                            <a:srgbClr val="000000"/>
                          </a:solidFill>
                          <a:effectLst/>
                          <a:latin typeface="Times New Roman" panose="02020603050405020304" pitchFamily="18" charset="0"/>
                          <a:cs typeface="Times New Roman" panose="02020603050405020304" pitchFamily="18" charset="0"/>
                        </a:rPr>
                        <a:t>T</a:t>
                      </a:r>
                      <a:r>
                        <a:rPr lang="vi-VN" sz="1050" b="0" i="0" u="none" strike="noStrike" smtClean="0">
                          <a:solidFill>
                            <a:srgbClr val="000000"/>
                          </a:solidFill>
                          <a:effectLst/>
                          <a:latin typeface="Times New Roman" panose="02020603050405020304" pitchFamily="18" charset="0"/>
                          <a:cs typeface="Times New Roman" panose="02020603050405020304" pitchFamily="18" charset="0"/>
                        </a:rPr>
                        <a:t>rước VN310 HAN NRT phát sinh h</a:t>
                      </a:r>
                      <a:r>
                        <a:rPr lang="en-US" sz="1050" b="0" i="0" u="none" strike="noStrike" smtClean="0">
                          <a:solidFill>
                            <a:srgbClr val="000000"/>
                          </a:solidFill>
                          <a:effectLst/>
                          <a:latin typeface="Times New Roman" panose="02020603050405020304" pitchFamily="18" charset="0"/>
                          <a:cs typeface="Times New Roman" panose="02020603050405020304" pitchFamily="18" charset="0"/>
                        </a:rPr>
                        <a:t>ỏng</a:t>
                      </a:r>
                      <a:r>
                        <a:rPr lang="en-US" sz="1050" b="0" i="0" u="none" strike="noStrike" baseline="0" smtClean="0">
                          <a:solidFill>
                            <a:srgbClr val="000000"/>
                          </a:solidFill>
                          <a:effectLst/>
                          <a:latin typeface="Times New Roman" panose="02020603050405020304" pitchFamily="18" charset="0"/>
                          <a:cs typeface="Times New Roman" panose="02020603050405020304" pitchFamily="18" charset="0"/>
                        </a:rPr>
                        <a:t> </a:t>
                      </a:r>
                      <a:r>
                        <a:rPr lang="vi-VN" sz="1050" b="0" i="0" u="none" strike="noStrike" smtClean="0">
                          <a:solidFill>
                            <a:srgbClr val="000000"/>
                          </a:solidFill>
                          <a:effectLst/>
                          <a:latin typeface="Times New Roman" panose="02020603050405020304" pitchFamily="18" charset="0"/>
                          <a:cs typeface="Times New Roman" panose="02020603050405020304" pitchFamily="18" charset="0"/>
                        </a:rPr>
                        <a:t>h</a:t>
                      </a:r>
                      <a:r>
                        <a:rPr lang="en-US" sz="1050" b="0" i="0" u="none" strike="noStrike" smtClean="0">
                          <a:solidFill>
                            <a:srgbClr val="000000"/>
                          </a:solidFill>
                          <a:effectLst/>
                          <a:latin typeface="Times New Roman" panose="02020603050405020304" pitchFamily="18" charset="0"/>
                          <a:cs typeface="Times New Roman" panose="02020603050405020304" pitchFamily="18" charset="0"/>
                        </a:rPr>
                        <a:t>óc</a:t>
                      </a:r>
                      <a:r>
                        <a:rPr lang="vi-VN" sz="1050" b="0" i="0" u="none" strike="noStrike" smtClean="0">
                          <a:solidFill>
                            <a:srgbClr val="000000"/>
                          </a:solidFill>
                          <a:effectLst/>
                          <a:latin typeface="Times New Roman" panose="02020603050405020304" pitchFamily="18" charset="0"/>
                          <a:cs typeface="Times New Roman" panose="02020603050405020304" pitchFamily="18" charset="0"/>
                        </a:rPr>
                        <a:t> Pack 1</a:t>
                      </a:r>
                      <a:endParaRPr lang="en-US" sz="1050" b="0" i="0" u="none" strike="noStrike">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50" b="0" i="0" u="none" strike="noStrike" smtClean="0">
                          <a:solidFill>
                            <a:srgbClr val="000000"/>
                          </a:solidFill>
                          <a:effectLst/>
                          <a:latin typeface="Times New Roman" panose="02020603050405020304" pitchFamily="18" charset="0"/>
                          <a:cs typeface="Times New Roman" panose="02020603050405020304" pitchFamily="18" charset="0"/>
                        </a:rPr>
                        <a:t>M</a:t>
                      </a:r>
                      <a:r>
                        <a:rPr lang="vi-VN" sz="1050" b="0" i="0" u="none" strike="noStrike" smtClean="0">
                          <a:solidFill>
                            <a:srgbClr val="000000"/>
                          </a:solidFill>
                          <a:effectLst/>
                          <a:latin typeface="Times New Roman" panose="02020603050405020304" pitchFamily="18" charset="0"/>
                          <a:cs typeface="Times New Roman" panose="02020603050405020304" pitchFamily="18" charset="0"/>
                        </a:rPr>
                        <a:t>ở ADD B1068”PACK #1 INOP” IS RAISED IAW MEL 21-50-01B CAT C DEALINE 15/01/2025.ETOP BEYOND 180 MIN IS NOT CON-DUCTED</a:t>
                      </a:r>
                      <a:endParaRPr lang="en-US" sz="1050" b="0" i="0" u="none" strike="noStrike" smtClean="0">
                        <a:solidFill>
                          <a:srgbClr val="000000"/>
                        </a:solidFill>
                        <a:effectLst/>
                        <a:latin typeface="Times New Roman" panose="02020603050405020304" pitchFamily="18" charset="0"/>
                        <a:cs typeface="Times New Roman" panose="02020603050405020304" pitchFamily="18" charset="0"/>
                      </a:endParaRPr>
                    </a:p>
                    <a:p>
                      <a:pPr algn="l" fontAlgn="t"/>
                      <a:endParaRPr lang="en-US" sz="1050" b="0" i="0" u="none" strike="noStrike" smtClean="0">
                        <a:solidFill>
                          <a:srgbClr val="000000"/>
                        </a:solidFill>
                        <a:effectLst/>
                        <a:latin typeface="Times New Roman" panose="02020603050405020304" pitchFamily="18" charset="0"/>
                        <a:cs typeface="Times New Roman" panose="02020603050405020304" pitchFamily="18" charset="0"/>
                      </a:endParaRPr>
                    </a:p>
                    <a:p>
                      <a:pPr algn="l" fontAlgn="t"/>
                      <a:r>
                        <a:rPr lang="en-US" sz="1050" b="0" i="0" u="none" strike="noStrike" smtClean="0">
                          <a:solidFill>
                            <a:srgbClr val="000000"/>
                          </a:solidFill>
                          <a:effectLst/>
                          <a:latin typeface="Times New Roman" panose="02020603050405020304" pitchFamily="18" charset="0"/>
                          <a:cs typeface="Times New Roman" panose="02020603050405020304" pitchFamily="18" charset="0"/>
                        </a:rPr>
                        <a:t>KT xin dừng 14h tại HAN (dừng bay từ 21h LT 05/Jan sau VN311 NRT HAN) sửa chữa pack #1</a:t>
                      </a:r>
                      <a:br>
                        <a:rPr lang="en-US" sz="1050" b="0" i="0" u="none" strike="noStrike" smtClean="0">
                          <a:solidFill>
                            <a:srgbClr val="000000"/>
                          </a:solidFill>
                          <a:effectLst/>
                          <a:latin typeface="Times New Roman" panose="02020603050405020304" pitchFamily="18" charset="0"/>
                          <a:cs typeface="Times New Roman" panose="02020603050405020304" pitchFamily="18" charset="0"/>
                        </a:rPr>
                      </a:br>
                      <a:endParaRPr lang="en-US" sz="1050" b="0" i="0" u="none" strike="noStrike">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50" b="0" i="0" u="none" strike="noStrike">
                          <a:solidFill>
                            <a:srgbClr val="000000"/>
                          </a:solidFill>
                          <a:effectLst/>
                          <a:latin typeface="Times New Roman" panose="02020603050405020304" pitchFamily="18" charset="0"/>
                          <a:cs typeface="Times New Roman" panose="02020603050405020304" pitchFamily="18" charset="0"/>
                        </a:rPr>
                        <a:t> </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smtClean="0">
                          <a:ln>
                            <a:noFill/>
                          </a:ln>
                          <a:solidFill>
                            <a:srgbClr val="212529"/>
                          </a:solidFill>
                          <a:effectLst/>
                          <a:uLnTx/>
                          <a:uFillTx/>
                          <a:latin typeface="Times New Roman" panose="02020603050405020304" pitchFamily="18" charset="0"/>
                          <a:ea typeface="+mn-ea"/>
                          <a:cs typeface="Times New Roman" panose="02020603050405020304" pitchFamily="18" charset="0"/>
                        </a:rPr>
                        <a:t>Phát hiện header của HX bị crack như nêu trong ISI 21.53.00032. Đây là hỏng hóc worldwide do lỗi trong quá trình sản xuất (quy trình hàn) của Honeywell. Đội tàu bay VNA đã có 3 lần thay HX do lỗi này.</a:t>
                      </a:r>
                    </a:p>
                    <a:p>
                      <a:pPr marL="0" marR="0" lvl="0" indent="0" algn="l" defTabSz="914400" rtl="0" eaLnBrk="1" fontAlgn="t"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smtClean="0">
                        <a:ln>
                          <a:noFill/>
                        </a:ln>
                        <a:solidFill>
                          <a:srgbClr val="212529"/>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t"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smtClean="0">
                          <a:ln>
                            <a:noFill/>
                          </a:ln>
                          <a:solidFill>
                            <a:srgbClr val="212529"/>
                          </a:solidFill>
                          <a:effectLst/>
                          <a:uLnTx/>
                          <a:uFillTx/>
                          <a:latin typeface="Times New Roman" panose="02020603050405020304" pitchFamily="18" charset="0"/>
                          <a:ea typeface="+mn-ea"/>
                          <a:cs typeface="Times New Roman" panose="02020603050405020304" pitchFamily="18" charset="0"/>
                        </a:rPr>
                        <a:t>Hỏng hóc này xuất hiện đối với các khối có prior S/N 67200152-1398 (sử dụng quy trình hàn thủ công). Đội tàu bay VNA đang có 20 khối có S/N trước S/N 1398 (gồm cả khối trên A894)</a:t>
                      </a:r>
                    </a:p>
                    <a:p>
                      <a:pPr marL="0" marR="0" lvl="0" indent="0" algn="l" defTabSz="914400" rtl="0" eaLnBrk="1" fontAlgn="t"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smtClean="0">
                        <a:ln>
                          <a:noFill/>
                        </a:ln>
                        <a:solidFill>
                          <a:srgbClr val="212529"/>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t"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smtClean="0">
                          <a:ln>
                            <a:noFill/>
                          </a:ln>
                          <a:solidFill>
                            <a:srgbClr val="212529"/>
                          </a:solidFill>
                          <a:effectLst/>
                          <a:uLnTx/>
                          <a:uFillTx/>
                          <a:latin typeface="Times New Roman" panose="02020603050405020304" pitchFamily="18" charset="0"/>
                          <a:ea typeface="+mn-ea"/>
                          <a:cs typeface="Times New Roman" panose="02020603050405020304" pitchFamily="18" charset="0"/>
                        </a:rPr>
                        <a:t>Hỏng hóc có thể raise MEL với PACK INOP để sớm đưa tàu bay vào khai thác</a:t>
                      </a:r>
                      <a:r>
                        <a:rPr lang="vi-VN" sz="1050" b="0" i="0" u="none" strike="noStrike" dirty="0">
                          <a:solidFill>
                            <a:srgbClr val="000000"/>
                          </a:solidFill>
                          <a:effectLst/>
                          <a:latin typeface="Times New Roman" panose="02020603050405020304" pitchFamily="18" charset="0"/>
                          <a:cs typeface="Times New Roman" panose="02020603050405020304" pitchFamily="18" charset="0"/>
                        </a:rPr>
                        <a:t/>
                      </a:r>
                      <a:br>
                        <a:rPr lang="vi-VN" sz="1050" b="0" i="0" u="none" strike="noStrike" dirty="0">
                          <a:solidFill>
                            <a:srgbClr val="000000"/>
                          </a:solidFill>
                          <a:effectLst/>
                          <a:latin typeface="Times New Roman" panose="02020603050405020304" pitchFamily="18" charset="0"/>
                          <a:cs typeface="Times New Roman" panose="02020603050405020304" pitchFamily="18" charset="0"/>
                        </a:rPr>
                      </a:br>
                      <a:endParaRPr lang="vi-VN" sz="105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5681127"/>
                  </a:ext>
                </a:extLst>
              </a:tr>
            </a:tbl>
          </a:graphicData>
        </a:graphic>
      </p:graphicFrame>
    </p:spTree>
    <p:extLst>
      <p:ext uri="{BB962C8B-B14F-4D97-AF65-F5344CB8AC3E}">
        <p14:creationId xmlns:p14="http://schemas.microsoft.com/office/powerpoint/2010/main" val="1097854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5" name="Title 4"/>
          <p:cNvSpPr>
            <a:spLocks noGrp="1"/>
          </p:cNvSpPr>
          <p:nvPr>
            <p:ph type="title"/>
          </p:nvPr>
        </p:nvSpPr>
        <p:spPr>
          <a:xfrm>
            <a:off x="381000" y="76200"/>
            <a:ext cx="11277600" cy="815200"/>
          </a:xfrm>
        </p:spPr>
        <p:txBody>
          <a:bodyPr>
            <a:normAutofit/>
          </a:bodyPr>
          <a:lstStyle/>
          <a:p>
            <a:r>
              <a:rPr lang="en-US" sz="2800" dirty="0">
                <a:ln w="0"/>
                <a:solidFill>
                  <a:srgbClr val="FFC000"/>
                </a:solidFill>
                <a:latin typeface="Times New Roman" panose="02020603050405020304" pitchFamily="18" charset="0"/>
                <a:cs typeface="Times New Roman" panose="02020603050405020304" pitchFamily="18" charset="0"/>
              </a:rPr>
              <a:t>A894-</a:t>
            </a:r>
            <a:r>
              <a:rPr lang="en-US" dirty="0">
                <a:ln w="0"/>
                <a:solidFill>
                  <a:srgbClr val="FFC000"/>
                </a:solidFill>
                <a:latin typeface="Times New Roman" panose="02020603050405020304" pitchFamily="18" charset="0"/>
                <a:cs typeface="Times New Roman" panose="02020603050405020304" pitchFamily="18" charset="0"/>
              </a:rPr>
              <a:t>Delay due to Pack 1 INOP</a:t>
            </a:r>
            <a:endParaRPr lang="vi-VN" sz="2800" dirty="0">
              <a:ln w="0"/>
              <a:solidFill>
                <a:srgbClr val="FF00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DC0E96D-68E0-8586-2D38-AA83269AAE71}"/>
              </a:ext>
            </a:extLst>
          </p:cNvPr>
          <p:cNvSpPr txBox="1"/>
          <p:nvPr/>
        </p:nvSpPr>
        <p:spPr>
          <a:xfrm>
            <a:off x="95074" y="804023"/>
            <a:ext cx="8137352" cy="1015663"/>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vi-VN" sz="1600" b="1" i="0" u="none" strike="noStrike" kern="1200" cap="none" spc="0" normalizeH="0" baseline="0" noProof="0" dirty="0">
                <a:ln>
                  <a:noFill/>
                </a:ln>
                <a:solidFill>
                  <a:srgbClr val="00B0F0"/>
                </a:solidFill>
                <a:effectLst/>
                <a:uLnTx/>
                <a:uFillTx/>
                <a:latin typeface="Tahoma" panose="020B0604030504040204" pitchFamily="34" charset="0"/>
                <a:ea typeface="+mn-ea"/>
                <a:cs typeface="+mn-cs"/>
              </a:rPr>
              <a:t>Đánh giá: </a:t>
            </a:r>
            <a:endParaRPr kumimoji="0" lang="en-US" sz="1600" b="1" i="0" u="none" strike="noStrike" kern="1200" cap="none" spc="0" normalizeH="0" baseline="0" noProof="0" dirty="0">
              <a:ln>
                <a:noFill/>
              </a:ln>
              <a:solidFill>
                <a:srgbClr val="00B0F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00B0F0"/>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Phát</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hiện</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header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của</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HX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bị</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crack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như</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nêu</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trong</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ISI 21.53.00032.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Đây</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là</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hỏng</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hóc</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worldwide do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lỗi</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trong</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quá</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trình</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sản</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xuất</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quy</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trình</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hàn</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của</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Honeywell.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Đội</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bay VNA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3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lần</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thay</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HX do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lỗi</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này.</a:t>
            </a:r>
          </a:p>
        </p:txBody>
      </p:sp>
      <p:pic>
        <p:nvPicPr>
          <p:cNvPr id="12" name="Picture 11">
            <a:extLst>
              <a:ext uri="{FF2B5EF4-FFF2-40B4-BE49-F238E27FC236}">
                <a16:creationId xmlns:a16="http://schemas.microsoft.com/office/drawing/2014/main" id="{89AF516F-89A2-1604-9F61-811ECB14D62E}"/>
              </a:ext>
            </a:extLst>
          </p:cNvPr>
          <p:cNvPicPr>
            <a:picLocks noChangeAspect="1"/>
          </p:cNvPicPr>
          <p:nvPr/>
        </p:nvPicPr>
        <p:blipFill>
          <a:blip r:embed="rId3"/>
          <a:stretch>
            <a:fillRect/>
          </a:stretch>
        </p:blipFill>
        <p:spPr>
          <a:xfrm>
            <a:off x="8670752" y="483800"/>
            <a:ext cx="3426174" cy="2222383"/>
          </a:xfrm>
          <a:prstGeom prst="rect">
            <a:avLst/>
          </a:prstGeom>
        </p:spPr>
      </p:pic>
      <p:pic>
        <p:nvPicPr>
          <p:cNvPr id="14" name="Picture 13">
            <a:extLst>
              <a:ext uri="{FF2B5EF4-FFF2-40B4-BE49-F238E27FC236}">
                <a16:creationId xmlns:a16="http://schemas.microsoft.com/office/drawing/2014/main" id="{CA781028-BDDB-B30A-DA8A-437DA3D0014F}"/>
              </a:ext>
            </a:extLst>
          </p:cNvPr>
          <p:cNvPicPr>
            <a:picLocks noChangeAspect="1"/>
          </p:cNvPicPr>
          <p:nvPr/>
        </p:nvPicPr>
        <p:blipFill>
          <a:blip r:embed="rId4"/>
          <a:stretch>
            <a:fillRect/>
          </a:stretch>
        </p:blipFill>
        <p:spPr>
          <a:xfrm>
            <a:off x="9141205" y="2840839"/>
            <a:ext cx="2955721" cy="3940961"/>
          </a:xfrm>
          <a:prstGeom prst="rect">
            <a:avLst/>
          </a:prstGeom>
        </p:spPr>
      </p:pic>
      <p:pic>
        <p:nvPicPr>
          <p:cNvPr id="16" name="Picture 15">
            <a:extLst>
              <a:ext uri="{FF2B5EF4-FFF2-40B4-BE49-F238E27FC236}">
                <a16:creationId xmlns:a16="http://schemas.microsoft.com/office/drawing/2014/main" id="{49620A11-FA43-94D8-8E92-77077D3BCC14}"/>
              </a:ext>
            </a:extLst>
          </p:cNvPr>
          <p:cNvPicPr>
            <a:picLocks noChangeAspect="1"/>
          </p:cNvPicPr>
          <p:nvPr/>
        </p:nvPicPr>
        <p:blipFill>
          <a:blip r:embed="rId5"/>
          <a:stretch>
            <a:fillRect/>
          </a:stretch>
        </p:blipFill>
        <p:spPr>
          <a:xfrm>
            <a:off x="1870045" y="4399085"/>
            <a:ext cx="4149755" cy="2337479"/>
          </a:xfrm>
          <a:prstGeom prst="rect">
            <a:avLst/>
          </a:prstGeom>
        </p:spPr>
      </p:pic>
      <p:sp>
        <p:nvSpPr>
          <p:cNvPr id="22" name="TextBox 21">
            <a:extLst>
              <a:ext uri="{FF2B5EF4-FFF2-40B4-BE49-F238E27FC236}">
                <a16:creationId xmlns:a16="http://schemas.microsoft.com/office/drawing/2014/main" id="{0F78C89E-9E55-0A2A-1864-CEACA1C1C7B3}"/>
              </a:ext>
            </a:extLst>
          </p:cNvPr>
          <p:cNvSpPr txBox="1"/>
          <p:nvPr/>
        </p:nvSpPr>
        <p:spPr>
          <a:xfrm>
            <a:off x="478172" y="1936829"/>
            <a:ext cx="7754254" cy="523220"/>
          </a:xfrm>
          <a:prstGeom prst="rect">
            <a:avLst/>
          </a:prstGeom>
          <a:noFill/>
          <a:ln>
            <a:solidFill>
              <a:schemeClr val="accent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Honeywell has not identified any reliable on or off wing inspection that could be performed that would enable a pro-active identification of this failure mode.</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24" name="TextBox 23">
            <a:extLst>
              <a:ext uri="{FF2B5EF4-FFF2-40B4-BE49-F238E27FC236}">
                <a16:creationId xmlns:a16="http://schemas.microsoft.com/office/drawing/2014/main" id="{E80BDBED-E6F8-2D70-331A-B5B5DBA1577C}"/>
              </a:ext>
            </a:extLst>
          </p:cNvPr>
          <p:cNvSpPr txBox="1"/>
          <p:nvPr/>
        </p:nvSpPr>
        <p:spPr>
          <a:xfrm>
            <a:off x="155193" y="2568068"/>
            <a:ext cx="6109463" cy="181588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Hỏng</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hóc</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này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xuất</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hiện</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đối</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với</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các</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khối</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prior S/N 67200152-1398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sử</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dụng</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quy</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trình</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hàn</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thủ</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công</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Đội</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bay VNA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đang</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20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khối</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S/N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trước</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S/N 1398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gồm</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cả</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khối</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trên</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A894)</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HX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là</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thiết</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bị</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HT,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thuộc</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hợp</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đồng</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Pooling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với</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FHS,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tần</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suất</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tháo</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gửi</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đi</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clean 18000 FH,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khối</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LH HX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trên</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A894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lắp</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lên</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từ</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02/04/2024,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TSN, TSO = 15,504 FH, TSR= 3514 FH</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Hỏng</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hóc</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thể</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raise MEL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với</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PACK INOP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để</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sớm</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đưa</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bay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vào</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khai</a:t>
            </a:r>
            <a:r>
              <a:rPr kumimoji="0" lang="en-US" sz="1400" b="0" i="0" u="none" strike="noStrike" kern="1200" cap="none" spc="0" normalizeH="0" baseline="0" noProof="0" dirty="0">
                <a:ln>
                  <a:noFill/>
                </a:ln>
                <a:solidFill>
                  <a:srgbClr val="212529"/>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12529"/>
                </a:solidFill>
                <a:effectLst/>
                <a:uLnTx/>
                <a:uFillTx/>
                <a:latin typeface="Times New Roman" panose="02020603050405020304" pitchFamily="18" charset="0"/>
                <a:ea typeface="+mn-ea"/>
                <a:cs typeface="Times New Roman" panose="02020603050405020304" pitchFamily="18" charset="0"/>
              </a:rPr>
              <a:t>thác</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pic>
        <p:nvPicPr>
          <p:cNvPr id="26" name="Picture 25">
            <a:extLst>
              <a:ext uri="{FF2B5EF4-FFF2-40B4-BE49-F238E27FC236}">
                <a16:creationId xmlns:a16="http://schemas.microsoft.com/office/drawing/2014/main" id="{B26A0122-D517-742F-104B-FBC3841CD7F6}"/>
              </a:ext>
            </a:extLst>
          </p:cNvPr>
          <p:cNvPicPr>
            <a:picLocks noChangeAspect="1"/>
          </p:cNvPicPr>
          <p:nvPr/>
        </p:nvPicPr>
        <p:blipFill>
          <a:blip r:embed="rId6"/>
          <a:stretch>
            <a:fillRect/>
          </a:stretch>
        </p:blipFill>
        <p:spPr>
          <a:xfrm>
            <a:off x="6286152" y="2840839"/>
            <a:ext cx="2686398" cy="3895725"/>
          </a:xfrm>
          <a:prstGeom prst="rect">
            <a:avLst/>
          </a:prstGeom>
        </p:spPr>
      </p:pic>
      <p:sp>
        <p:nvSpPr>
          <p:cNvPr id="27" name="TextBox 26">
            <a:extLst>
              <a:ext uri="{FF2B5EF4-FFF2-40B4-BE49-F238E27FC236}">
                <a16:creationId xmlns:a16="http://schemas.microsoft.com/office/drawing/2014/main" id="{DA8D6955-0070-D410-7348-47CCAC34126F}"/>
              </a:ext>
            </a:extLst>
          </p:cNvPr>
          <p:cNvSpPr txBox="1"/>
          <p:nvPr/>
        </p:nvSpPr>
        <p:spPr>
          <a:xfrm>
            <a:off x="218842" y="5048072"/>
            <a:ext cx="1482548" cy="116955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HW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sang robotic welding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để</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tiến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quy</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sản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xuất</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701723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defTabSz="1219170">
              <a:buClr>
                <a:srgbClr val="000000"/>
              </a:buClr>
            </a:pPr>
            <a:fld id="{00000000-1234-1234-1234-123412341234}" type="slidenum">
              <a:rPr lang="vi" kern="0">
                <a:solidFill>
                  <a:srgbClr val="595959"/>
                </a:solidFill>
                <a:latin typeface="Arial"/>
                <a:cs typeface="Arial"/>
                <a:sym typeface="Arial"/>
              </a:rPr>
              <a:pPr defTabSz="1219170">
                <a:buClr>
                  <a:srgbClr val="000000"/>
                </a:buClr>
              </a:pPr>
              <a:t>13</a:t>
            </a:fld>
            <a:endParaRPr kern="0">
              <a:solidFill>
                <a:srgbClr val="595959"/>
              </a:solidFill>
              <a:latin typeface="Arial"/>
              <a:cs typeface="Arial"/>
              <a:sym typeface="Arial"/>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57575" y="66596"/>
            <a:ext cx="6995727" cy="523180"/>
          </a:xfrm>
          <a:prstGeom prst="rect">
            <a:avLst/>
          </a:prstGeom>
          <a:noFill/>
          <a:ln>
            <a:noFill/>
          </a:ln>
        </p:spPr>
        <p:txBody>
          <a:bodyPr spcFirstLastPara="1" wrap="square" lIns="91433" tIns="45700" rIns="91433" bIns="45700" anchor="t" anchorCtr="0">
            <a:spAutoFit/>
          </a:bodyPr>
          <a:lstStyle/>
          <a:p>
            <a:pPr defTabSz="1219170">
              <a:buClr>
                <a:srgbClr val="000000"/>
              </a:buClr>
            </a:pPr>
            <a:r>
              <a:rPr lang="en-US" sz="2800" b="1" kern="0">
                <a:solidFill>
                  <a:srgbClr val="DEA610"/>
                </a:solidFill>
                <a:latin typeface="Montserrat SemiBold"/>
                <a:ea typeface="Montserrat SemiBold"/>
                <a:cs typeface="Montserrat SemiBold"/>
                <a:sym typeface="Montserrat SemiBold"/>
              </a:rPr>
              <a:t>Tình trạng kỹ thuật tàu A350</a:t>
            </a:r>
            <a:endParaRPr sz="1467" kern="0">
              <a:solidFill>
                <a:srgbClr val="000000"/>
              </a:solidFill>
              <a:latin typeface="Arial"/>
              <a:cs typeface="Arial"/>
              <a:sym typeface="Arial"/>
            </a:endParaRPr>
          </a:p>
        </p:txBody>
      </p:sp>
      <p:graphicFrame>
        <p:nvGraphicFramePr>
          <p:cNvPr id="3" name="Table 2">
            <a:extLst>
              <a:ext uri="{FF2B5EF4-FFF2-40B4-BE49-F238E27FC236}">
                <a16:creationId xmlns:a16="http://schemas.microsoft.com/office/drawing/2014/main" id="{DF50EF68-F151-D4E7-0943-8C370DDCE4E8}"/>
              </a:ext>
            </a:extLst>
          </p:cNvPr>
          <p:cNvGraphicFramePr>
            <a:graphicFrameLocks noGrp="1"/>
          </p:cNvGraphicFramePr>
          <p:nvPr>
            <p:extLst/>
          </p:nvPr>
        </p:nvGraphicFramePr>
        <p:xfrm>
          <a:off x="179220" y="589775"/>
          <a:ext cx="11755204" cy="6168534"/>
        </p:xfrm>
        <a:graphic>
          <a:graphicData uri="http://schemas.openxmlformats.org/drawingml/2006/table">
            <a:tbl>
              <a:tblPr/>
              <a:tblGrid>
                <a:gridCol w="395687">
                  <a:extLst>
                    <a:ext uri="{9D8B030D-6E8A-4147-A177-3AD203B41FA5}">
                      <a16:colId xmlns:a16="http://schemas.microsoft.com/office/drawing/2014/main" val="4043980862"/>
                    </a:ext>
                  </a:extLst>
                </a:gridCol>
                <a:gridCol w="664117">
                  <a:extLst>
                    <a:ext uri="{9D8B030D-6E8A-4147-A177-3AD203B41FA5}">
                      <a16:colId xmlns:a16="http://schemas.microsoft.com/office/drawing/2014/main" val="2226330791"/>
                    </a:ext>
                  </a:extLst>
                </a:gridCol>
                <a:gridCol w="683941">
                  <a:extLst>
                    <a:ext uri="{9D8B030D-6E8A-4147-A177-3AD203B41FA5}">
                      <a16:colId xmlns:a16="http://schemas.microsoft.com/office/drawing/2014/main" val="1127219057"/>
                    </a:ext>
                  </a:extLst>
                </a:gridCol>
                <a:gridCol w="1417444">
                  <a:extLst>
                    <a:ext uri="{9D8B030D-6E8A-4147-A177-3AD203B41FA5}">
                      <a16:colId xmlns:a16="http://schemas.microsoft.com/office/drawing/2014/main" val="3050485122"/>
                    </a:ext>
                  </a:extLst>
                </a:gridCol>
                <a:gridCol w="1298497">
                  <a:extLst>
                    <a:ext uri="{9D8B030D-6E8A-4147-A177-3AD203B41FA5}">
                      <a16:colId xmlns:a16="http://schemas.microsoft.com/office/drawing/2014/main" val="1595211070"/>
                    </a:ext>
                  </a:extLst>
                </a:gridCol>
                <a:gridCol w="1457093">
                  <a:extLst>
                    <a:ext uri="{9D8B030D-6E8A-4147-A177-3AD203B41FA5}">
                      <a16:colId xmlns:a16="http://schemas.microsoft.com/office/drawing/2014/main" val="823472516"/>
                    </a:ext>
                  </a:extLst>
                </a:gridCol>
                <a:gridCol w="5838425">
                  <a:extLst>
                    <a:ext uri="{9D8B030D-6E8A-4147-A177-3AD203B41FA5}">
                      <a16:colId xmlns:a16="http://schemas.microsoft.com/office/drawing/2014/main" val="4089581946"/>
                    </a:ext>
                  </a:extLst>
                </a:gridCol>
              </a:tblGrid>
              <a:tr h="190773">
                <a:tc>
                  <a:txBody>
                    <a:bodyPr/>
                    <a:lstStyle/>
                    <a:p>
                      <a:pPr algn="ctr" fontAlgn="ctr"/>
                      <a:r>
                        <a:rPr lang="en-US" sz="1200" b="0" i="0" u="none" strike="noStrike">
                          <a:solidFill>
                            <a:srgbClr val="000000"/>
                          </a:solidFill>
                          <a:effectLst/>
                          <a:latin typeface="Calibri" panose="020F0502020204030204" pitchFamily="34" charset="0"/>
                        </a:rPr>
                        <a:t>No</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Fleet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Tình trạng tàu bay</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Tình trạng KT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200" b="0" i="0" u="none" strike="noStrike">
                          <a:solidFill>
                            <a:srgbClr val="000000"/>
                          </a:solidFill>
                          <a:effectLst/>
                          <a:latin typeface="Calibri" panose="020F0502020204030204" pitchFamily="34" charset="0"/>
                        </a:rPr>
                        <a:t>Điều kiện chuyên cơ</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Ghi chú</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9709379"/>
                  </a:ext>
                </a:extLst>
              </a:tr>
              <a:tr h="565245">
                <a:tc>
                  <a:txBody>
                    <a:bodyPr/>
                    <a:lstStyle/>
                    <a:p>
                      <a:pPr algn="ctr" fontAlgn="ctr"/>
                      <a:r>
                        <a:rPr lang="en-US" sz="1200" b="0" i="0" u="none" strike="noStrike">
                          <a:solidFill>
                            <a:srgbClr val="000000"/>
                          </a:solidFill>
                          <a:effectLst/>
                          <a:latin typeface="Calibri" panose="020F0502020204030204" pitchFamily="34" charset="0"/>
                        </a:rPr>
                        <a:t>1</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A886</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ADD B1372 RAISED DM AIR REDUNDANCY LOSS ON FUEL INERTING</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ADD B1379 RAISED PACK 1 REGULATION REDUNDANCY</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3. ADD B1381 RAISED F/CTL R OUT R AILERON G ACTUATOR</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5661804"/>
                  </a:ext>
                </a:extLst>
              </a:tr>
              <a:tr h="190773">
                <a:tc>
                  <a:txBody>
                    <a:bodyPr/>
                    <a:lstStyle/>
                    <a:p>
                      <a:pPr algn="ctr" fontAlgn="ctr"/>
                      <a:r>
                        <a:rPr lang="en-US" sz="1200" b="0" i="0" u="none" strike="noStrike">
                          <a:solidFill>
                            <a:srgbClr val="000000"/>
                          </a:solidFill>
                          <a:effectLst/>
                          <a:latin typeface="Calibri" panose="020F0502020204030204" pitchFamily="34" charset="0"/>
                        </a:rPr>
                        <a:t>2</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A887</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1. ADD B1246 RAISED AIR PACK 2 REGUL REDUNDANCY</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7802382"/>
                  </a:ext>
                </a:extLst>
              </a:tr>
              <a:tr h="190773">
                <a:tc>
                  <a:txBody>
                    <a:bodyPr/>
                    <a:lstStyle/>
                    <a:p>
                      <a:pPr algn="ctr" fontAlgn="ctr"/>
                      <a:r>
                        <a:rPr lang="en-US" sz="1200" b="0" i="0" u="none" strike="noStrike">
                          <a:solidFill>
                            <a:srgbClr val="000000"/>
                          </a:solidFill>
                          <a:effectLst/>
                          <a:latin typeface="Calibri" panose="020F0502020204030204" pitchFamily="34" charset="0"/>
                        </a:rPr>
                        <a:t>3</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A888</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FM: PROBE 1-N1 TURBINE SPEED,ENG2(4088KS12)</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22797440"/>
                  </a:ext>
                </a:extLst>
              </a:tr>
              <a:tr h="565245">
                <a:tc>
                  <a:txBody>
                    <a:bodyPr/>
                    <a:lstStyle/>
                    <a:p>
                      <a:pPr algn="ctr" fontAlgn="ctr"/>
                      <a:r>
                        <a:rPr lang="en-US" sz="1200" b="0" i="0" u="none" strike="noStrike">
                          <a:solidFill>
                            <a:srgbClr val="000000"/>
                          </a:solidFill>
                          <a:effectLst/>
                          <a:latin typeface="Calibri" panose="020F0502020204030204" pitchFamily="34" charset="0"/>
                        </a:rPr>
                        <a:t>4</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A889</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Định kỳ</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Calibri" panose="020F0502020204030204" pitchFamily="34" charset="0"/>
                        </a:rPr>
                        <a:t>1. Cabin báo: Ghế 1A có vết xước lớn ở bên hông, ảnh hưởng thẩm mỹ khi VIP ngồi (có thể chọn bay VIP nếu cần gấp ko có tàu thay)</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2. Eng 1 21088 giảm tần suất soi HPT blade 1200FH/150FC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8557204"/>
                  </a:ext>
                </a:extLst>
              </a:tr>
              <a:tr h="471627">
                <a:tc>
                  <a:txBody>
                    <a:bodyPr/>
                    <a:lstStyle/>
                    <a:p>
                      <a:pPr algn="ctr" fontAlgn="ctr"/>
                      <a:r>
                        <a:rPr lang="en-US" sz="1200" b="0" i="0" u="none" strike="noStrike">
                          <a:solidFill>
                            <a:srgbClr val="000000"/>
                          </a:solidFill>
                          <a:effectLst/>
                          <a:latin typeface="Calibri" panose="020F0502020204030204" pitchFamily="34" charset="0"/>
                        </a:rPr>
                        <a:t>5</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TR 81489576: PREVENTIVE RECOMMENDATION PACK 2 INTERNAL LEAKAGE</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TR 81519423: SERVO CTL-RUD,G (2CY) PRESSURE SENSOR DEGRADATION</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92404653"/>
                  </a:ext>
                </a:extLst>
              </a:tr>
              <a:tr h="185952">
                <a:tc>
                  <a:txBody>
                    <a:bodyPr/>
                    <a:lstStyle/>
                    <a:p>
                      <a:pPr algn="ctr" fontAlgn="ctr"/>
                      <a:r>
                        <a:rPr lang="en-US" sz="1200" b="0" i="0" u="none" strike="noStrike">
                          <a:solidFill>
                            <a:srgbClr val="000000"/>
                          </a:solidFill>
                          <a:effectLst/>
                          <a:latin typeface="Calibri" panose="020F0502020204030204" pitchFamily="34" charset="0"/>
                        </a:rPr>
                        <a:t>6</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A891</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 </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6002058"/>
                  </a:ext>
                </a:extLst>
              </a:tr>
              <a:tr h="190773">
                <a:tc>
                  <a:txBody>
                    <a:bodyPr/>
                    <a:lstStyle/>
                    <a:p>
                      <a:pPr algn="ctr" fontAlgn="ctr"/>
                      <a:r>
                        <a:rPr lang="en-US" sz="1200" b="0" i="0" u="none" strike="noStrike">
                          <a:solidFill>
                            <a:srgbClr val="000000"/>
                          </a:solidFill>
                          <a:effectLst/>
                          <a:latin typeface="Calibri" panose="020F0502020204030204" pitchFamily="34" charset="0"/>
                        </a:rPr>
                        <a:t>7</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A892</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1. ADD B1455 RAISED THE DROOP-NOSE END-FILLING PANEL AT R/H MISSING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53215056"/>
                  </a:ext>
                </a:extLst>
              </a:tr>
              <a:tr h="734592">
                <a:tc>
                  <a:txBody>
                    <a:bodyPr/>
                    <a:lstStyle/>
                    <a:p>
                      <a:pPr algn="ctr" fontAlgn="ctr"/>
                      <a:r>
                        <a:rPr lang="en-US" sz="1200" b="0" i="0" u="none" strike="noStrike">
                          <a:solidFill>
                            <a:srgbClr val="000000"/>
                          </a:solidFill>
                          <a:effectLst/>
                          <a:latin typeface="Calibri" panose="020F0502020204030204" pitchFamily="34" charset="0"/>
                        </a:rPr>
                        <a:t>8</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A893</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Calibri" panose="020F0502020204030204" pitchFamily="34" charset="0"/>
                        </a:rPr>
                        <a:t>1. Không chọn chuyên cơ do hỏng hóc Fan Track Liner đã thực hiện phương án sửa permanent nhưng vẫn phát sinh hỏng hóc</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2. ENG#2 HIGH OIL CONSUMPTION</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3. ADD B1261 RAISED REPLACE FAN TRACK LINER OF ENG1 IN 100 FC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9968641"/>
                  </a:ext>
                </a:extLst>
              </a:tr>
              <a:tr h="378009">
                <a:tc>
                  <a:txBody>
                    <a:bodyPr/>
                    <a:lstStyle/>
                    <a:p>
                      <a:pPr algn="ctr" fontAlgn="ctr"/>
                      <a:r>
                        <a:rPr lang="en-US" sz="1200" b="0" i="0" u="none" strike="noStrike">
                          <a:solidFill>
                            <a:srgbClr val="000000"/>
                          </a:solidFill>
                          <a:effectLst/>
                          <a:latin typeface="Calibri" panose="020F0502020204030204" pitchFamily="34" charset="0"/>
                        </a:rPr>
                        <a:t>9</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A894</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2 21425 giảm tần suất soi HPT blade 800FH/100FC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TR 81449512/009: DEGRADATION STILL ONGOING FOR PACK 1</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4844875"/>
                  </a:ext>
                </a:extLst>
              </a:tr>
              <a:tr h="378009">
                <a:tc>
                  <a:txBody>
                    <a:bodyPr/>
                    <a:lstStyle/>
                    <a:p>
                      <a:pPr algn="ctr" fontAlgn="ctr"/>
                      <a:r>
                        <a:rPr lang="en-US" sz="1200" b="0" i="0" u="none" strike="noStrike">
                          <a:solidFill>
                            <a:srgbClr val="000000"/>
                          </a:solidFill>
                          <a:effectLst/>
                          <a:latin typeface="Calibri" panose="020F0502020204030204" pitchFamily="34" charset="0"/>
                        </a:rPr>
                        <a:t>10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A895</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1. ADD B995 RAISED ENGINE #1 SN 21604 HAVE LOW LIFE TIME </a:t>
                      </a:r>
                      <a:br>
                        <a:rPr lang="en-SG" sz="1200" b="0" i="0" u="none" strike="noStrike">
                          <a:solidFill>
                            <a:srgbClr val="000000"/>
                          </a:solidFill>
                          <a:effectLst/>
                          <a:latin typeface="Calibri" panose="020F0502020204030204" pitchFamily="34" charset="0"/>
                        </a:rPr>
                      </a:br>
                      <a:r>
                        <a:rPr lang="en-SG" sz="1200" b="0" i="0" u="none" strike="noStrike">
                          <a:solidFill>
                            <a:srgbClr val="000000"/>
                          </a:solidFill>
                          <a:effectLst/>
                          <a:latin typeface="Calibri" panose="020F0502020204030204" pitchFamily="34" charset="0"/>
                        </a:rPr>
                        <a:t>2. ADD B996 RAISED ENGINE #2 SN 21414 HAVE LOW LIFE TIME</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8202183"/>
                  </a:ext>
                </a:extLst>
              </a:tr>
              <a:tr h="185952">
                <a:tc>
                  <a:txBody>
                    <a:bodyPr/>
                    <a:lstStyle/>
                    <a:p>
                      <a:pPr algn="ctr" fontAlgn="ctr"/>
                      <a:r>
                        <a:rPr lang="en-US" sz="1200" b="0" i="0" u="none" strike="noStrike">
                          <a:solidFill>
                            <a:srgbClr val="000000"/>
                          </a:solidFill>
                          <a:effectLst/>
                          <a:latin typeface="Calibri" panose="020F0502020204030204" pitchFamily="34" charset="0"/>
                        </a:rPr>
                        <a:t>11</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A896</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 </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9464798"/>
                  </a:ext>
                </a:extLst>
              </a:tr>
              <a:tr h="185952">
                <a:tc>
                  <a:txBody>
                    <a:bodyPr/>
                    <a:lstStyle/>
                    <a:p>
                      <a:pPr algn="ctr" fontAlgn="ctr"/>
                      <a:r>
                        <a:rPr lang="en-US" sz="1200" b="0" i="0" u="none" strike="noStrike">
                          <a:solidFill>
                            <a:srgbClr val="000000"/>
                          </a:solidFill>
                          <a:effectLst/>
                          <a:latin typeface="Calibri" panose="020F0502020204030204" pitchFamily="34" charset="0"/>
                        </a:rPr>
                        <a:t>12</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A897</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 Logo Skyteam</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9263741"/>
                  </a:ext>
                </a:extLst>
              </a:tr>
              <a:tr h="1283232">
                <a:tc>
                  <a:txBody>
                    <a:bodyPr/>
                    <a:lstStyle/>
                    <a:p>
                      <a:pPr algn="ctr" fontAlgn="ctr"/>
                      <a:r>
                        <a:rPr lang="en-US" sz="1200" b="0" i="0" u="none" strike="noStrike">
                          <a:solidFill>
                            <a:srgbClr val="000000"/>
                          </a:solidFill>
                          <a:effectLst/>
                          <a:latin typeface="Calibri" panose="020F0502020204030204" pitchFamily="34" charset="0"/>
                        </a:rPr>
                        <a:t>13</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A898</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1 21214 giảm tần suất soi heatshield 2400FH/400FC. Eng 2 21268 giảm tần suất soi HPT blade 800FH/100FC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CABIN tồn đọng hỏng hóc MID SCS CHILLER, cân nhắc chọn tầu VIP chỉ bay nội địa</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3. ADD B1134 RAISED FOR REPAIR OF DENT L/H DROOP NOSE WITHIN 350FC OR 150 DAYS WHICHEVER COME FIRST</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4. ADD B1137 RAISED BRAKE FAN #8 INOP</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5. CAPT OXYGEN CYLINDER (11HT1) PRESSURE IS LOW NEAR LIMIT (&lt;1200 PSI)</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37505405"/>
                  </a:ext>
                </a:extLst>
              </a:tr>
              <a:tr h="471627">
                <a:tc>
                  <a:txBody>
                    <a:bodyPr/>
                    <a:lstStyle/>
                    <a:p>
                      <a:pPr algn="ctr" fontAlgn="ctr"/>
                      <a:r>
                        <a:rPr lang="en-US" sz="1200" b="0" i="0" u="none" strike="noStrike">
                          <a:solidFill>
                            <a:srgbClr val="000000"/>
                          </a:solidFill>
                          <a:effectLst/>
                          <a:latin typeface="Calibri" panose="020F0502020204030204" pitchFamily="34" charset="0"/>
                        </a:rPr>
                        <a:t>14</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A899</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1 21048 giảm tần suất soi HPT blade 1200FH/150FC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DM: F/CTL STABILIZER E3 ACTUATOR INTM -&gt; Monitor thêm sau khi thay Harness</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3506160"/>
                  </a:ext>
                </a:extLst>
              </a:tr>
            </a:tbl>
          </a:graphicData>
        </a:graphic>
      </p:graphicFrame>
    </p:spTree>
    <p:extLst>
      <p:ext uri="{BB962C8B-B14F-4D97-AF65-F5344CB8AC3E}">
        <p14:creationId xmlns:p14="http://schemas.microsoft.com/office/powerpoint/2010/main" val="898140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defTabSz="1219170">
              <a:buClr>
                <a:srgbClr val="000000"/>
              </a:buClr>
            </a:pPr>
            <a:fld id="{00000000-1234-1234-1234-123412341234}" type="slidenum">
              <a:rPr lang="vi" kern="0">
                <a:solidFill>
                  <a:srgbClr val="595959"/>
                </a:solidFill>
                <a:latin typeface="Arial"/>
                <a:cs typeface="Arial"/>
                <a:sym typeface="Arial"/>
              </a:rPr>
              <a:pPr defTabSz="1219170">
                <a:buClr>
                  <a:srgbClr val="000000"/>
                </a:buClr>
              </a:pPr>
              <a:t>14</a:t>
            </a:fld>
            <a:endParaRPr kern="0">
              <a:solidFill>
                <a:srgbClr val="595959"/>
              </a:solidFill>
              <a:latin typeface="Arial"/>
              <a:cs typeface="Arial"/>
              <a:sym typeface="Arial"/>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12083" y="107143"/>
            <a:ext cx="8438437" cy="523180"/>
          </a:xfrm>
          <a:prstGeom prst="rect">
            <a:avLst/>
          </a:prstGeom>
          <a:noFill/>
          <a:ln>
            <a:noFill/>
          </a:ln>
        </p:spPr>
        <p:txBody>
          <a:bodyPr spcFirstLastPara="1" wrap="square" lIns="91433" tIns="45700" rIns="91433" bIns="45700" anchor="t" anchorCtr="0">
            <a:spAutoFit/>
          </a:bodyPr>
          <a:lstStyle/>
          <a:p>
            <a:pPr defTabSz="1219170">
              <a:buClr>
                <a:srgbClr val="000000"/>
              </a:buClr>
            </a:pPr>
            <a:r>
              <a:rPr lang="en-US" sz="2800" b="1" kern="0">
                <a:solidFill>
                  <a:srgbClr val="DEA610"/>
                </a:solidFill>
                <a:latin typeface="Montserrat SemiBold"/>
                <a:ea typeface="Montserrat SemiBold"/>
                <a:cs typeface="Montserrat SemiBold"/>
                <a:sym typeface="Montserrat SemiBold"/>
              </a:rPr>
              <a:t>TÌNH TRẠNG KỸ THUẬT ĐỘI BAY – A350</a:t>
            </a:r>
            <a:endParaRPr sz="1467" kern="0">
              <a:solidFill>
                <a:srgbClr val="000000"/>
              </a:solidFill>
              <a:latin typeface="Arial"/>
              <a:cs typeface="Arial"/>
              <a:sym typeface="Arial"/>
            </a:endParaRPr>
          </a:p>
        </p:txBody>
      </p:sp>
      <p:sp>
        <p:nvSpPr>
          <p:cNvPr id="7" name="Rectangle 6">
            <a:extLst>
              <a:ext uri="{FF2B5EF4-FFF2-40B4-BE49-F238E27FC236}">
                <a16:creationId xmlns:a16="http://schemas.microsoft.com/office/drawing/2014/main" id="{5914447B-A879-4C97-AD62-7AFABAF9410A}"/>
              </a:ext>
            </a:extLst>
          </p:cNvPr>
          <p:cNvSpPr/>
          <p:nvPr/>
        </p:nvSpPr>
        <p:spPr>
          <a:xfrm>
            <a:off x="337534" y="730408"/>
            <a:ext cx="11516933" cy="5755422"/>
          </a:xfrm>
          <a:prstGeom prst="rect">
            <a:avLst/>
          </a:prstGeom>
        </p:spPr>
        <p:txBody>
          <a:bodyPr wrap="square">
            <a:spAutoFit/>
          </a:bodyPr>
          <a:lstStyle/>
          <a:p>
            <a:pPr algn="just" defTabSz="1219170"/>
            <a:r>
              <a:rPr lang="en-US" sz="1600" b="1" err="1">
                <a:solidFill>
                  <a:prstClr val="black"/>
                </a:solidFill>
                <a:latin typeface="Times New Roman" panose="02020603050405020304" pitchFamily="18" charset="0"/>
                <a:cs typeface="Times New Roman" panose="02020603050405020304" pitchFamily="18" charset="0"/>
                <a:sym typeface="Arial"/>
              </a:rPr>
              <a:t>Nhận</a:t>
            </a:r>
            <a:r>
              <a:rPr lang="en-US" sz="1600" b="1">
                <a:solidFill>
                  <a:prstClr val="black"/>
                </a:solidFill>
                <a:latin typeface="Times New Roman" panose="02020603050405020304" pitchFamily="18" charset="0"/>
                <a:cs typeface="Times New Roman" panose="02020603050405020304" pitchFamily="18" charset="0"/>
                <a:sym typeface="Arial"/>
              </a:rPr>
              <a:t> </a:t>
            </a:r>
            <a:r>
              <a:rPr lang="en-US" sz="1600" b="1" err="1">
                <a:solidFill>
                  <a:prstClr val="black"/>
                </a:solidFill>
                <a:latin typeface="Times New Roman" panose="02020603050405020304" pitchFamily="18" charset="0"/>
                <a:cs typeface="Times New Roman" panose="02020603050405020304" pitchFamily="18" charset="0"/>
                <a:sym typeface="Arial"/>
              </a:rPr>
              <a:t>xét</a:t>
            </a:r>
            <a:r>
              <a:rPr lang="en-US" sz="1600" b="1">
                <a:solidFill>
                  <a:prstClr val="black"/>
                </a:solidFill>
                <a:latin typeface="Times New Roman" panose="02020603050405020304" pitchFamily="18" charset="0"/>
                <a:cs typeface="Times New Roman" panose="02020603050405020304" pitchFamily="18" charset="0"/>
                <a:sym typeface="Arial"/>
              </a:rPr>
              <a:t>: </a:t>
            </a:r>
          </a:p>
          <a:p>
            <a:pPr marL="380990" indent="-380990" algn="just" defTabSz="1219170">
              <a:buFontTx/>
              <a:buChar char="-"/>
            </a:pPr>
            <a:r>
              <a:rPr lang="vi-VN" sz="1600">
                <a:solidFill>
                  <a:prstClr val="black"/>
                </a:solidFill>
                <a:latin typeface="Times New Roman" panose="02020603050405020304" pitchFamily="18" charset="0"/>
                <a:cs typeface="Times New Roman" panose="02020603050405020304" pitchFamily="18" charset="0"/>
                <a:sym typeface="Arial"/>
              </a:rPr>
              <a:t>Tình hình kỹ thuật đội bay A3</a:t>
            </a:r>
            <a:r>
              <a:rPr lang="en-US" sz="1600">
                <a:solidFill>
                  <a:prstClr val="black"/>
                </a:solidFill>
                <a:latin typeface="Times New Roman" panose="02020603050405020304" pitchFamily="18" charset="0"/>
                <a:cs typeface="Times New Roman" panose="02020603050405020304" pitchFamily="18" charset="0"/>
                <a:sym typeface="Arial"/>
              </a:rPr>
              <a:t>50 trong tuần tốt.</a:t>
            </a:r>
          </a:p>
          <a:p>
            <a:pPr marL="380990" indent="-380990" algn="just" defTabSz="1219170">
              <a:buFontTx/>
              <a:buChar char="-"/>
            </a:pPr>
            <a:r>
              <a:rPr lang="en-US" sz="1600" err="1">
                <a:solidFill>
                  <a:prstClr val="black"/>
                </a:solidFill>
                <a:latin typeface="Times New Roman" panose="02020603050405020304" pitchFamily="18" charset="0"/>
                <a:cs typeface="Times New Roman" panose="02020603050405020304" pitchFamily="18" charset="0"/>
                <a:sym typeface="Arial"/>
              </a:rPr>
              <a:t>Hỏng</a:t>
            </a:r>
            <a:r>
              <a:rPr lang="en-US" sz="1600">
                <a:solidFill>
                  <a:prstClr val="black"/>
                </a:solidFill>
                <a:latin typeface="Times New Roman" panose="02020603050405020304" pitchFamily="18" charset="0"/>
                <a:cs typeface="Times New Roman" panose="02020603050405020304" pitchFamily="18" charset="0"/>
                <a:sym typeface="Arial"/>
              </a:rPr>
              <a:t> </a:t>
            </a:r>
            <a:r>
              <a:rPr lang="en-US" sz="1600" err="1">
                <a:solidFill>
                  <a:prstClr val="black"/>
                </a:solidFill>
                <a:latin typeface="Times New Roman" panose="02020603050405020304" pitchFamily="18" charset="0"/>
                <a:cs typeface="Times New Roman" panose="02020603050405020304" pitchFamily="18" charset="0"/>
                <a:sym typeface="Arial"/>
              </a:rPr>
              <a:t>hóc</a:t>
            </a:r>
            <a:r>
              <a:rPr lang="en-US" sz="1600">
                <a:solidFill>
                  <a:prstClr val="black"/>
                </a:solidFill>
                <a:latin typeface="Times New Roman" panose="02020603050405020304" pitchFamily="18" charset="0"/>
                <a:cs typeface="Times New Roman" panose="02020603050405020304" pitchFamily="18" charset="0"/>
                <a:sym typeface="Arial"/>
              </a:rPr>
              <a:t> </a:t>
            </a:r>
            <a:r>
              <a:rPr lang="en-US" sz="1600" err="1">
                <a:solidFill>
                  <a:prstClr val="black"/>
                </a:solidFill>
                <a:latin typeface="Times New Roman" panose="02020603050405020304" pitchFamily="18" charset="0"/>
                <a:cs typeface="Times New Roman" panose="02020603050405020304" pitchFamily="18" charset="0"/>
                <a:sym typeface="Arial"/>
              </a:rPr>
              <a:t>nổi</a:t>
            </a:r>
            <a:r>
              <a:rPr lang="en-US" sz="1600">
                <a:solidFill>
                  <a:prstClr val="black"/>
                </a:solidFill>
                <a:latin typeface="Times New Roman" panose="02020603050405020304" pitchFamily="18" charset="0"/>
                <a:cs typeface="Times New Roman" panose="02020603050405020304" pitchFamily="18" charset="0"/>
                <a:sym typeface="Arial"/>
              </a:rPr>
              <a:t> </a:t>
            </a:r>
            <a:r>
              <a:rPr lang="en-US" sz="1600" err="1">
                <a:solidFill>
                  <a:prstClr val="black"/>
                </a:solidFill>
                <a:latin typeface="Times New Roman" panose="02020603050405020304" pitchFamily="18" charset="0"/>
                <a:cs typeface="Times New Roman" panose="02020603050405020304" pitchFamily="18" charset="0"/>
                <a:sym typeface="Arial"/>
              </a:rPr>
              <a:t>cộm</a:t>
            </a:r>
            <a:r>
              <a:rPr lang="en-US" sz="1600">
                <a:solidFill>
                  <a:prstClr val="black"/>
                </a:solidFill>
                <a:latin typeface="Times New Roman" panose="02020603050405020304" pitchFamily="18" charset="0"/>
                <a:cs typeface="Times New Roman" panose="02020603050405020304" pitchFamily="18" charset="0"/>
                <a:sym typeface="Arial"/>
              </a:rPr>
              <a:t>: </a:t>
            </a:r>
          </a:p>
          <a:p>
            <a:pPr marL="609585" lvl="1" algn="just" defTabSz="1219170"/>
            <a:r>
              <a:rPr lang="en-US" sz="1600">
                <a:solidFill>
                  <a:prstClr val="black"/>
                </a:solidFill>
                <a:latin typeface="Times New Roman" panose="02020603050405020304" pitchFamily="18" charset="0"/>
                <a:cs typeface="Times New Roman" panose="02020603050405020304" pitchFamily="18" charset="0"/>
                <a:sym typeface="Arial"/>
              </a:rPr>
              <a:t>+ A889 AOG ngày 31/12 tại HAN do </a:t>
            </a:r>
            <a:r>
              <a:rPr lang="en-SG" sz="1600">
                <a:solidFill>
                  <a:prstClr val="black"/>
                </a:solidFill>
                <a:latin typeface="Times New Roman" panose="02020603050405020304" pitchFamily="18" charset="0"/>
                <a:cs typeface="Times New Roman" panose="02020603050405020304" pitchFamily="18" charset="0"/>
                <a:sym typeface="Arial"/>
              </a:rPr>
              <a:t>MSG NO GO “F/CTL PRIM VERSION DISAGREE”-&gt; RPLD 03 PRIM AND 02 SEC (rob from A895), all test ok. </a:t>
            </a:r>
            <a:r>
              <a:rPr lang="vi-VN" sz="1600">
                <a:solidFill>
                  <a:srgbClr val="FF0000"/>
                </a:solidFill>
                <a:latin typeface="Times New Roman" panose="02020603050405020304" pitchFamily="18" charset="0"/>
                <a:cs typeface="Times New Roman" panose="02020603050405020304" pitchFamily="18" charset="0"/>
                <a:sym typeface="Arial"/>
              </a:rPr>
              <a:t>NONE TECH, </a:t>
            </a:r>
          </a:p>
          <a:p>
            <a:pPr marL="609585" lvl="1" algn="just" defTabSz="1219170"/>
            <a:r>
              <a:rPr lang="vi-VN" sz="1600">
                <a:solidFill>
                  <a:srgbClr val="FF0000"/>
                </a:solidFill>
                <a:latin typeface="Times New Roman" panose="02020603050405020304" pitchFamily="18" charset="0"/>
                <a:cs typeface="Times New Roman" panose="02020603050405020304" pitchFamily="18" charset="0"/>
                <a:sym typeface="Arial"/>
              </a:rPr>
              <a:t>Hỏng hóc phát sinh khi thợ máy thực hiện clear ADD ADD B1184 RAISED: DM: F/CTL SEC 3</a:t>
            </a:r>
            <a:r>
              <a:rPr lang="en-US" sz="1600">
                <a:solidFill>
                  <a:srgbClr val="FF0000"/>
                </a:solidFill>
                <a:latin typeface="Times New Roman" panose="02020603050405020304" pitchFamily="18" charset="0"/>
                <a:cs typeface="Times New Roman" panose="02020603050405020304" pitchFamily="18" charset="0"/>
                <a:sym typeface="Arial"/>
              </a:rPr>
              <a:t>.</a:t>
            </a:r>
            <a:r>
              <a:rPr lang="vi-VN" sz="1600">
                <a:solidFill>
                  <a:srgbClr val="FF0000"/>
                </a:solidFill>
                <a:latin typeface="Times New Roman" panose="02020603050405020304" pitchFamily="18" charset="0"/>
                <a:cs typeface="Times New Roman" panose="02020603050405020304" pitchFamily="18" charset="0"/>
                <a:sym typeface="Arial"/>
              </a:rPr>
              <a:t>Nghi ngờ do thợ máy thao tác sai khi khi load phần mềm hoặc thực hiện sai bước nào đó trong quá trình T/S</a:t>
            </a:r>
          </a:p>
          <a:p>
            <a:pPr marL="609585" lvl="1" algn="just" defTabSz="1219170"/>
            <a:r>
              <a:rPr lang="vi-VN" sz="1600">
                <a:solidFill>
                  <a:srgbClr val="FF0000"/>
                </a:solidFill>
                <a:latin typeface="Times New Roman" panose="02020603050405020304" pitchFamily="18" charset="0"/>
                <a:cs typeface="Times New Roman" panose="02020603050405020304" pitchFamily="18" charset="0"/>
                <a:sym typeface="Arial"/>
              </a:rPr>
              <a:t>Airbus would like to share the following advice with A350 operators:</a:t>
            </a:r>
          </a:p>
          <a:p>
            <a:pPr marL="609585" lvl="1" algn="just" defTabSz="1219170"/>
            <a:r>
              <a:rPr lang="vi-VN" sz="1600">
                <a:solidFill>
                  <a:srgbClr val="FF0000"/>
                </a:solidFill>
                <a:latin typeface="Times New Roman" panose="02020603050405020304" pitchFamily="18" charset="0"/>
                <a:cs typeface="Times New Roman" panose="02020603050405020304" pitchFamily="18" charset="0"/>
                <a:sym typeface="Arial"/>
              </a:rPr>
              <a:t>-         It is not recommended to perform a FCGS software upgrade while an aircraft is under MMEL of a FCGS equipment.</a:t>
            </a:r>
          </a:p>
          <a:p>
            <a:pPr marL="609585" lvl="1" algn="just" defTabSz="1219170"/>
            <a:r>
              <a:rPr lang="vi-VN" sz="1600">
                <a:solidFill>
                  <a:srgbClr val="FF0000"/>
                </a:solidFill>
                <a:latin typeface="Times New Roman" panose="02020603050405020304" pitchFamily="18" charset="0"/>
                <a:cs typeface="Times New Roman" panose="02020603050405020304" pitchFamily="18" charset="0"/>
                <a:sym typeface="Arial"/>
              </a:rPr>
              <a:t>-         In case some T/S is performed during MMEL validity, appropriate BITE test must be run before and after T/S is initiated, to de-activate and then re-activate MMEL logics.</a:t>
            </a:r>
          </a:p>
          <a:p>
            <a:pPr marL="609585" lvl="1" algn="just" defTabSz="1219170"/>
            <a:r>
              <a:rPr lang="vi-VN" sz="1600">
                <a:solidFill>
                  <a:srgbClr val="FF0000"/>
                </a:solidFill>
                <a:latin typeface="Times New Roman" panose="02020603050405020304" pitchFamily="18" charset="0"/>
                <a:cs typeface="Times New Roman" panose="02020603050405020304" pitchFamily="18" charset="0"/>
                <a:sym typeface="Arial"/>
              </a:rPr>
              <a:t>In addition, it is necessary to re-load the software of any PRIM/SEC unit after installation on an aircraft, as requested in applicable MPs.</a:t>
            </a:r>
            <a:endParaRPr lang="en-US" sz="1600">
              <a:solidFill>
                <a:srgbClr val="FF0000"/>
              </a:solidFill>
              <a:latin typeface="Times New Roman" panose="02020603050405020304" pitchFamily="18" charset="0"/>
              <a:cs typeface="Times New Roman" panose="02020603050405020304" pitchFamily="18" charset="0"/>
              <a:sym typeface="Arial"/>
            </a:endParaRPr>
          </a:p>
          <a:p>
            <a:pPr marL="609585" lvl="1" algn="just" defTabSz="1219170"/>
            <a:endParaRPr lang="en-US" sz="1600">
              <a:solidFill>
                <a:srgbClr val="FF0000"/>
              </a:solidFill>
              <a:latin typeface="Times New Roman" panose="02020603050405020304" pitchFamily="18" charset="0"/>
              <a:cs typeface="Times New Roman" panose="02020603050405020304" pitchFamily="18" charset="0"/>
              <a:sym typeface="Arial"/>
            </a:endParaRPr>
          </a:p>
          <a:p>
            <a:pPr marL="609585" lvl="1" algn="just" defTabSz="1219170"/>
            <a:r>
              <a:rPr lang="en-US" sz="1600">
                <a:solidFill>
                  <a:srgbClr val="000000"/>
                </a:solidFill>
                <a:latin typeface="Times New Roman" panose="02020603050405020304" pitchFamily="18" charset="0"/>
                <a:cs typeface="Times New Roman" panose="02020603050405020304" pitchFamily="18" charset="0"/>
                <a:sym typeface="Arial"/>
              </a:rPr>
              <a:t>+ A894 delay VN310 HAN-NRT ngày 05/01 do phát sinh </a:t>
            </a:r>
            <a:r>
              <a:rPr lang="en-SG" sz="1600">
                <a:solidFill>
                  <a:srgbClr val="000000"/>
                </a:solidFill>
                <a:latin typeface="Times New Roman" panose="02020603050405020304" pitchFamily="18" charset="0"/>
                <a:cs typeface="Times New Roman" panose="02020603050405020304" pitchFamily="18" charset="0"/>
                <a:sym typeface="Arial"/>
              </a:rPr>
              <a:t>PACK 1 MAKES NOISE DURING OPERATION AND HIGH OUTLET TEMP -&gt;Phát hiện crack ở HX header, Mở MEL PACK1 INOP để khai thác. Tàu dừng tại HAN sau VN311 để thay HX.</a:t>
            </a:r>
            <a:endParaRPr lang="en-US" sz="1600">
              <a:solidFill>
                <a:srgbClr val="000000"/>
              </a:solidFill>
              <a:latin typeface="Times New Roman" panose="02020603050405020304" pitchFamily="18" charset="0"/>
              <a:cs typeface="Times New Roman" panose="02020603050405020304" pitchFamily="18" charset="0"/>
              <a:sym typeface="Arial"/>
            </a:endParaRPr>
          </a:p>
          <a:p>
            <a:pPr marL="609585" lvl="1" algn="just" defTabSz="1219170"/>
            <a:r>
              <a:rPr lang="vi-VN" sz="1600">
                <a:solidFill>
                  <a:srgbClr val="FF0000"/>
                </a:solidFill>
                <a:latin typeface="Times New Roman" panose="02020603050405020304" pitchFamily="18" charset="0"/>
                <a:cs typeface="Times New Roman" panose="02020603050405020304" pitchFamily="18" charset="0"/>
                <a:sym typeface="Arial"/>
              </a:rPr>
              <a:t>Phát hiện header của HX bị crack như nêu trong ISI 21.53.00032. Đây là hỏng hóc worldwide do lỗi trong quá trình sản xuất (quy trình hàn) của Honeywell. Đội tàu bay VNA đã có 3 lần thay HX do lỗi này (A893 năm 2023, A894 vào 02/2024 và trường hợp này). Theo HW, hỏng hóc này không thể đánh chặn trước được. Hỏng hóc này xuất hiện đối với các khối có prior S/N 67200152-1398 (sử dụng quy trình hàn thủ công). Đội tàu bay VNA đang có 20 khối có S/N trước S/N 1398 (gồm cả khối trên A894) HX là thiết bị HT, thuộc hợp đồng Pooling với FHS, có tần suất tháo gửi đi clean 18000 FH, khối LH HX trên A894 lắp lên từ 02/04/2024, có TSN, TSO = 15,504 FH, TSR= 3514 FH Giải pháp: Hỏng hóc có thể raise MEL với PACK INOP để sớm đưa tàu bay vào khai thác HW đã chuyển sang robotic welding để cải tiến quy trình sản xuất từ 2018.</a:t>
            </a:r>
            <a:endParaRPr lang="en-US" sz="1600">
              <a:solidFill>
                <a:srgbClr val="FF0000"/>
              </a:solidFill>
              <a:latin typeface="Times New Roman" panose="02020603050405020304" pitchFamily="18" charset="0"/>
              <a:cs typeface="Times New Roman" panose="02020603050405020304" pitchFamily="18" charset="0"/>
              <a:sym typeface="Arial"/>
            </a:endParaRPr>
          </a:p>
        </p:txBody>
      </p:sp>
    </p:spTree>
    <p:extLst>
      <p:ext uri="{BB962C8B-B14F-4D97-AF65-F5344CB8AC3E}">
        <p14:creationId xmlns:p14="http://schemas.microsoft.com/office/powerpoint/2010/main" val="2424375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2D70F59A-F75E-2F2B-E505-E3D07F7E24A1}"/>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AEA3FCE7-A57A-5EAD-1892-C0E7A4FE0C3C}"/>
              </a:ext>
            </a:extLst>
          </p:cNvPr>
          <p:cNvSpPr txBox="1">
            <a:spLocks noGrp="1"/>
          </p:cNvSpPr>
          <p:nvPr>
            <p:ph type="sldNum" idx="12"/>
          </p:nvPr>
        </p:nvSpPr>
        <p:spPr>
          <a:xfrm>
            <a:off x="11484784" y="6310756"/>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34276AA2-D940-E01C-D7BC-0F3A4DE83381}"/>
              </a:ext>
            </a:extLst>
          </p:cNvPr>
          <p:cNvSpPr>
            <a:spLocks noGrp="1"/>
          </p:cNvSpPr>
          <p:nvPr>
            <p:ph type="title"/>
          </p:nvPr>
        </p:nvSpPr>
        <p:spPr>
          <a:xfrm>
            <a:off x="228600" y="93133"/>
            <a:ext cx="9155467" cy="551496"/>
          </a:xfrm>
        </p:spPr>
        <p:txBody>
          <a:bodyPr rtlCol="0">
            <a:normAutofit fontScale="90000"/>
          </a:bodyPr>
          <a:lstStyle/>
          <a:p>
            <a:pPr>
              <a:defRPr/>
            </a:pPr>
            <a:r>
              <a:rPr lang="en-US" sz="3733" dirty="0">
                <a:ln w="0"/>
                <a:solidFill>
                  <a:schemeClr val="accent4"/>
                </a:solidFill>
                <a:latin typeface="Times New Roman" panose="02020603050405020304" pitchFamily="18" charset="0"/>
                <a:cs typeface="Times New Roman" panose="02020603050405020304" pitchFamily="18" charset="0"/>
              </a:rPr>
              <a:t>TÌNH TRẠNG KỸ THUẬT ĐỘI BAY – </a:t>
            </a:r>
            <a:r>
              <a:rPr lang="vi-VN" sz="3733" dirty="0">
                <a:ln w="0"/>
                <a:solidFill>
                  <a:schemeClr val="accent4"/>
                </a:solidFill>
                <a:latin typeface="Times New Roman" panose="02020603050405020304" pitchFamily="18" charset="0"/>
                <a:cs typeface="Times New Roman" panose="02020603050405020304" pitchFamily="18" charset="0"/>
              </a:rPr>
              <a:t>B787</a:t>
            </a:r>
          </a:p>
        </p:txBody>
      </p:sp>
      <p:sp>
        <p:nvSpPr>
          <p:cNvPr id="8" name="TextBox 7">
            <a:extLst>
              <a:ext uri="{FF2B5EF4-FFF2-40B4-BE49-F238E27FC236}">
                <a16:creationId xmlns:a16="http://schemas.microsoft.com/office/drawing/2014/main" id="{707FA246-4B8B-393F-FE30-333DDD45FBD4}"/>
              </a:ext>
            </a:extLst>
          </p:cNvPr>
          <p:cNvSpPr txBox="1"/>
          <p:nvPr/>
        </p:nvSpPr>
        <p:spPr>
          <a:xfrm>
            <a:off x="714892" y="699251"/>
            <a:ext cx="10943708"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Delay: 02</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sp>
        <p:nvSpPr>
          <p:cNvPr id="11" name="TextBox 10">
            <a:extLst>
              <a:ext uri="{FF2B5EF4-FFF2-40B4-BE49-F238E27FC236}">
                <a16:creationId xmlns:a16="http://schemas.microsoft.com/office/drawing/2014/main" id="{558D2A56-91BF-FE54-8E37-64CC32F5E4E4}"/>
              </a:ext>
            </a:extLst>
          </p:cNvPr>
          <p:cNvSpPr txBox="1"/>
          <p:nvPr/>
        </p:nvSpPr>
        <p:spPr>
          <a:xfrm>
            <a:off x="714892" y="1134765"/>
            <a:ext cx="10943707"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01</a:t>
            </a:r>
          </a:p>
        </p:txBody>
      </p:sp>
      <p:graphicFrame>
        <p:nvGraphicFramePr>
          <p:cNvPr id="4" name="Table 3">
            <a:extLst>
              <a:ext uri="{FF2B5EF4-FFF2-40B4-BE49-F238E27FC236}">
                <a16:creationId xmlns:a16="http://schemas.microsoft.com/office/drawing/2014/main" id="{A1D6FA9B-B16C-67E7-2102-2E091E4D31D8}"/>
              </a:ext>
            </a:extLst>
          </p:cNvPr>
          <p:cNvGraphicFramePr>
            <a:graphicFrameLocks noGrp="1"/>
          </p:cNvGraphicFramePr>
          <p:nvPr>
            <p:extLst/>
          </p:nvPr>
        </p:nvGraphicFramePr>
        <p:xfrm>
          <a:off x="701445" y="1680696"/>
          <a:ext cx="10943707" cy="1382651"/>
        </p:xfrm>
        <a:graphic>
          <a:graphicData uri="http://schemas.openxmlformats.org/drawingml/2006/table">
            <a:tbl>
              <a:tblPr/>
              <a:tblGrid>
                <a:gridCol w="270215">
                  <a:extLst>
                    <a:ext uri="{9D8B030D-6E8A-4147-A177-3AD203B41FA5}">
                      <a16:colId xmlns:a16="http://schemas.microsoft.com/office/drawing/2014/main" val="2653631623"/>
                    </a:ext>
                  </a:extLst>
                </a:gridCol>
                <a:gridCol w="782201">
                  <a:extLst>
                    <a:ext uri="{9D8B030D-6E8A-4147-A177-3AD203B41FA5}">
                      <a16:colId xmlns:a16="http://schemas.microsoft.com/office/drawing/2014/main" val="1081562639"/>
                    </a:ext>
                  </a:extLst>
                </a:gridCol>
                <a:gridCol w="782201">
                  <a:extLst>
                    <a:ext uri="{9D8B030D-6E8A-4147-A177-3AD203B41FA5}">
                      <a16:colId xmlns:a16="http://schemas.microsoft.com/office/drawing/2014/main" val="2347069160"/>
                    </a:ext>
                  </a:extLst>
                </a:gridCol>
                <a:gridCol w="270215">
                  <a:extLst>
                    <a:ext uri="{9D8B030D-6E8A-4147-A177-3AD203B41FA5}">
                      <a16:colId xmlns:a16="http://schemas.microsoft.com/office/drawing/2014/main" val="674938579"/>
                    </a:ext>
                  </a:extLst>
                </a:gridCol>
                <a:gridCol w="2104833">
                  <a:extLst>
                    <a:ext uri="{9D8B030D-6E8A-4147-A177-3AD203B41FA5}">
                      <a16:colId xmlns:a16="http://schemas.microsoft.com/office/drawing/2014/main" val="3162301963"/>
                    </a:ext>
                  </a:extLst>
                </a:gridCol>
                <a:gridCol w="3164360">
                  <a:extLst>
                    <a:ext uri="{9D8B030D-6E8A-4147-A177-3AD203B41FA5}">
                      <a16:colId xmlns:a16="http://schemas.microsoft.com/office/drawing/2014/main" val="3088006843"/>
                    </a:ext>
                  </a:extLst>
                </a:gridCol>
                <a:gridCol w="270215">
                  <a:extLst>
                    <a:ext uri="{9D8B030D-6E8A-4147-A177-3AD203B41FA5}">
                      <a16:colId xmlns:a16="http://schemas.microsoft.com/office/drawing/2014/main" val="201926741"/>
                    </a:ext>
                  </a:extLst>
                </a:gridCol>
                <a:gridCol w="3299467">
                  <a:extLst>
                    <a:ext uri="{9D8B030D-6E8A-4147-A177-3AD203B41FA5}">
                      <a16:colId xmlns:a16="http://schemas.microsoft.com/office/drawing/2014/main" val="3468489143"/>
                    </a:ext>
                  </a:extLst>
                </a:gridCol>
              </a:tblGrid>
              <a:tr h="99075">
                <a:tc>
                  <a:txBody>
                    <a:bodyPr/>
                    <a:lstStyle/>
                    <a:p>
                      <a:pPr algn="ctr" fontAlgn="ctr"/>
                      <a:r>
                        <a:rPr lang="en-US" sz="600" b="0" i="0" u="none" strike="noStrike">
                          <a:solidFill>
                            <a:srgbClr val="000000"/>
                          </a:solidFill>
                          <a:effectLst/>
                          <a:latin typeface="Calibri" panose="020F0502020204030204" pitchFamily="34" charset="0"/>
                        </a:rPr>
                        <a:t>A/C</a:t>
                      </a:r>
                    </a:p>
                  </a:txBody>
                  <a:tcPr marL="3416" marR="3416" marT="34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OPEN DATE</a:t>
                      </a:r>
                    </a:p>
                  </a:txBody>
                  <a:tcPr marL="3416" marR="3416" marT="34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CLOSED DATE</a:t>
                      </a:r>
                    </a:p>
                  </a:txBody>
                  <a:tcPr marL="3416" marR="3416" marT="34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STA</a:t>
                      </a:r>
                    </a:p>
                  </a:txBody>
                  <a:tcPr marL="3416" marR="3416" marT="34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DEFECT</a:t>
                      </a:r>
                    </a:p>
                  </a:txBody>
                  <a:tcPr marL="3416" marR="3416" marT="34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ACTION</a:t>
                      </a:r>
                    </a:p>
                  </a:txBody>
                  <a:tcPr marL="3416" marR="3416" marT="34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ATA</a:t>
                      </a:r>
                    </a:p>
                  </a:txBody>
                  <a:tcPr marL="3416" marR="3416" marT="34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Engineering Assessment</a:t>
                      </a:r>
                    </a:p>
                  </a:txBody>
                  <a:tcPr marL="3416" marR="3416" marT="34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841197028"/>
                  </a:ext>
                </a:extLst>
              </a:tr>
              <a:tr h="396299">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A879</a:t>
                      </a:r>
                    </a:p>
                  </a:txBody>
                  <a:tcPr marL="3416" marR="3416" marT="341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07:30 31/12/2024</a:t>
                      </a:r>
                    </a:p>
                  </a:txBody>
                  <a:tcPr marL="3416" marR="3416" marT="341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12:00 31/12/2024</a:t>
                      </a:r>
                    </a:p>
                  </a:txBody>
                  <a:tcPr marL="3416" marR="3416" marT="341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NRT</a:t>
                      </a:r>
                    </a:p>
                  </a:txBody>
                  <a:tcPr marL="3416" marR="3416" marT="341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MW#8 LOW PRESS TRANSIT FOUND MW#8 LOW PRESS, SUSPECT OVER PRESSURE PORT LEAK</a:t>
                      </a:r>
                      <a:br>
                        <a:rPr lang="en-US" sz="1200" b="0" i="0" u="none" strike="noStrike">
                          <a:solidFill>
                            <a:srgbClr val="000000"/>
                          </a:solidFill>
                          <a:effectLst/>
                          <a:latin typeface="Times New Roman" panose="02020603050405020304" pitchFamily="18" charset="0"/>
                          <a:cs typeface="Times New Roman" panose="02020603050405020304" pitchFamily="18" charset="0"/>
                        </a:rPr>
                      </a:b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3416" marR="3416" marT="341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A879 MW RPL SATIS ( LOAN ITEM)&lt;/p&gt; MW RPL EVENT CLOSED</a:t>
                      </a:r>
                    </a:p>
                  </a:txBody>
                  <a:tcPr marL="3416" marR="3416" marT="341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3416" marR="3416" marT="341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200" b="0" i="0" u="none" strike="noStrike" dirty="0">
                          <a:solidFill>
                            <a:srgbClr val="000000"/>
                          </a:solidFill>
                          <a:effectLst/>
                          <a:latin typeface="Times New Roman" panose="02020603050405020304" pitchFamily="18" charset="0"/>
                          <a:cs typeface="Times New Roman" panose="02020603050405020304" pitchFamily="18" charset="0"/>
                        </a:rPr>
                        <a:t>SUSPECT OVER PRESSURE PORT LEAK. SN 7087C20649 được lắp lên ngày 5 Dec. Xem xét trên AHM Service report thì thấy áp suất lốp ở dải bình thường, chỉ sụt giảm ở chuyến bay đi NRT ngày 31/12. Hiện wheel đang ở Shop VSTEA đợi kiểm tra. Sẽ xem xét thêm khi có kết quả finding</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416" marR="3416" marT="341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57324118"/>
                  </a:ext>
                </a:extLst>
              </a:tr>
            </a:tbl>
          </a:graphicData>
        </a:graphic>
      </p:graphicFrame>
      <p:sp>
        <p:nvSpPr>
          <p:cNvPr id="6" name="TextBox 5">
            <a:extLst>
              <a:ext uri="{FF2B5EF4-FFF2-40B4-BE49-F238E27FC236}">
                <a16:creationId xmlns:a16="http://schemas.microsoft.com/office/drawing/2014/main" id="{90F46C07-3879-3C1B-F18B-51D95204F1AC}"/>
              </a:ext>
            </a:extLst>
          </p:cNvPr>
          <p:cNvSpPr txBox="1"/>
          <p:nvPr/>
        </p:nvSpPr>
        <p:spPr>
          <a:xfrm>
            <a:off x="674551" y="3259723"/>
            <a:ext cx="10943707"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7" name="Table 6">
            <a:extLst>
              <a:ext uri="{FF2B5EF4-FFF2-40B4-BE49-F238E27FC236}">
                <a16:creationId xmlns:a16="http://schemas.microsoft.com/office/drawing/2014/main" id="{9D60847A-8168-9EF4-F7B0-2987C2DE0297}"/>
              </a:ext>
            </a:extLst>
          </p:cNvPr>
          <p:cNvGraphicFramePr>
            <a:graphicFrameLocks noGrp="1"/>
          </p:cNvGraphicFramePr>
          <p:nvPr>
            <p:extLst>
              <p:ext uri="{D42A27DB-BD31-4B8C-83A1-F6EECF244321}">
                <p14:modId xmlns:p14="http://schemas.microsoft.com/office/powerpoint/2010/main" val="1584287527"/>
              </p:ext>
            </p:extLst>
          </p:nvPr>
        </p:nvGraphicFramePr>
        <p:xfrm>
          <a:off x="674551" y="3877333"/>
          <a:ext cx="10984048" cy="1946910"/>
        </p:xfrm>
        <a:graphic>
          <a:graphicData uri="http://schemas.openxmlformats.org/drawingml/2006/table">
            <a:tbl>
              <a:tblPr/>
              <a:tblGrid>
                <a:gridCol w="302459">
                  <a:extLst>
                    <a:ext uri="{9D8B030D-6E8A-4147-A177-3AD203B41FA5}">
                      <a16:colId xmlns:a16="http://schemas.microsoft.com/office/drawing/2014/main" val="3373533184"/>
                    </a:ext>
                  </a:extLst>
                </a:gridCol>
                <a:gridCol w="875540">
                  <a:extLst>
                    <a:ext uri="{9D8B030D-6E8A-4147-A177-3AD203B41FA5}">
                      <a16:colId xmlns:a16="http://schemas.microsoft.com/office/drawing/2014/main" val="2523114447"/>
                    </a:ext>
                  </a:extLst>
                </a:gridCol>
                <a:gridCol w="302459">
                  <a:extLst>
                    <a:ext uri="{9D8B030D-6E8A-4147-A177-3AD203B41FA5}">
                      <a16:colId xmlns:a16="http://schemas.microsoft.com/office/drawing/2014/main" val="2667296247"/>
                    </a:ext>
                  </a:extLst>
                </a:gridCol>
                <a:gridCol w="819824">
                  <a:extLst>
                    <a:ext uri="{9D8B030D-6E8A-4147-A177-3AD203B41FA5}">
                      <a16:colId xmlns:a16="http://schemas.microsoft.com/office/drawing/2014/main" val="3780264138"/>
                    </a:ext>
                  </a:extLst>
                </a:gridCol>
                <a:gridCol w="612878">
                  <a:extLst>
                    <a:ext uri="{9D8B030D-6E8A-4147-A177-3AD203B41FA5}">
                      <a16:colId xmlns:a16="http://schemas.microsoft.com/office/drawing/2014/main" val="4066853222"/>
                    </a:ext>
                  </a:extLst>
                </a:gridCol>
                <a:gridCol w="509405">
                  <a:extLst>
                    <a:ext uri="{9D8B030D-6E8A-4147-A177-3AD203B41FA5}">
                      <a16:colId xmlns:a16="http://schemas.microsoft.com/office/drawing/2014/main" val="2884936786"/>
                    </a:ext>
                  </a:extLst>
                </a:gridCol>
                <a:gridCol w="2236607">
                  <a:extLst>
                    <a:ext uri="{9D8B030D-6E8A-4147-A177-3AD203B41FA5}">
                      <a16:colId xmlns:a16="http://schemas.microsoft.com/office/drawing/2014/main" val="2038143480"/>
                    </a:ext>
                  </a:extLst>
                </a:gridCol>
                <a:gridCol w="2077418">
                  <a:extLst>
                    <a:ext uri="{9D8B030D-6E8A-4147-A177-3AD203B41FA5}">
                      <a16:colId xmlns:a16="http://schemas.microsoft.com/office/drawing/2014/main" val="1379830122"/>
                    </a:ext>
                  </a:extLst>
                </a:gridCol>
                <a:gridCol w="310419">
                  <a:extLst>
                    <a:ext uri="{9D8B030D-6E8A-4147-A177-3AD203B41FA5}">
                      <a16:colId xmlns:a16="http://schemas.microsoft.com/office/drawing/2014/main" val="1682190469"/>
                    </a:ext>
                  </a:extLst>
                </a:gridCol>
                <a:gridCol w="2937039">
                  <a:extLst>
                    <a:ext uri="{9D8B030D-6E8A-4147-A177-3AD203B41FA5}">
                      <a16:colId xmlns:a16="http://schemas.microsoft.com/office/drawing/2014/main" val="2741340883"/>
                    </a:ext>
                  </a:extLst>
                </a:gridCol>
              </a:tblGrid>
              <a:tr h="110490">
                <a:tc>
                  <a:txBody>
                    <a:bodyPr/>
                    <a:lstStyle/>
                    <a:p>
                      <a:pPr algn="ctr" fontAlgn="ctr"/>
                      <a:r>
                        <a:rPr lang="en-US" sz="700" b="0" i="0" u="none" strike="noStrike">
                          <a:solidFill>
                            <a:srgbClr val="000000"/>
                          </a:solidFill>
                          <a:effectLst/>
                          <a:latin typeface="Calibri" panose="020F0502020204030204" pitchFamily="34" charset="0"/>
                        </a:rPr>
                        <a:t>A/C</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DELAY DATE</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STA</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DELAY MINUTES</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FLIGHT NO</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ROUTINE</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DELAY DESC</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DELAY ACTION</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ATA</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Engineering Assessment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208154621"/>
                  </a:ext>
                </a:extLst>
              </a:tr>
              <a:tr h="552450">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A879</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07:30 31/12/2024</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NRT</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270</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VN311</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NRT-HAN</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MW#8 LOW PRESS &lt;p&gt;TRANSIT FOUND MW#8 LOW PRESS, SUSPECT OVER PRESSURE PORT LEAK</a:t>
                      </a:r>
                      <a:br>
                        <a:rPr lang="en-US" sz="1000" b="0" i="0" u="none" strike="noStrike">
                          <a:solidFill>
                            <a:srgbClr val="000000"/>
                          </a:solidFill>
                          <a:effectLst/>
                          <a:latin typeface="Times New Roman" panose="02020603050405020304" pitchFamily="18" charset="0"/>
                          <a:cs typeface="Times New Roman" panose="02020603050405020304" pitchFamily="18" charset="0"/>
                        </a:rPr>
                      </a:b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A879 MW RPL SATIS ( LOAN ITEM)&lt;/p&gt; MW RPL EVENT CLOSED </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a:solidFill>
                            <a:srgbClr val="000000"/>
                          </a:solidFill>
                          <a:effectLst/>
                          <a:latin typeface="Times New Roman" panose="02020603050405020304" pitchFamily="18" charset="0"/>
                          <a:cs typeface="Times New Roman" panose="02020603050405020304" pitchFamily="18" charset="0"/>
                        </a:rPr>
                        <a:t>SUSPECT OVER PRESSURE PORT LEAK. SN 7087C20649 được lắp lên ngày 5 Dec. Xem xét trên AHM Service report thì thấy áp suất lốp ở dải bình thường, chỉ sụt giảm ở chuyến bay đi NRT ngày 31/12. Hiện wheel đang ở Shop VSTEA đợi kiểm tra. Sẽ xem xét thêm khi có kết quả finding</a:t>
                      </a:r>
                      <a:br>
                        <a:rPr lang="vi-VN" sz="1000" b="0" i="0" u="none" strike="noStrike">
                          <a:solidFill>
                            <a:srgbClr val="000000"/>
                          </a:solidFill>
                          <a:effectLst/>
                          <a:latin typeface="Times New Roman" panose="02020603050405020304" pitchFamily="18" charset="0"/>
                          <a:cs typeface="Times New Roman" panose="02020603050405020304" pitchFamily="18" charset="0"/>
                        </a:rPr>
                      </a:br>
                      <a:endParaRPr lang="vi-VN"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17268769"/>
                  </a:ext>
                </a:extLst>
              </a:tr>
              <a:tr h="331470">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A864</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14:09 02/01/2025</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7</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VN791</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SGN-PER</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T/X FOUND AFT CARGO HANDLING NO POWER &lt;p&gt;T/X FOUND AFT CARGO HANDLING NO POWER</a:t>
                      </a:r>
                      <a:br>
                        <a:rPr lang="en-US" sz="1000" b="0" i="0" u="none" strike="noStrike">
                          <a:solidFill>
                            <a:srgbClr val="000000"/>
                          </a:solidFill>
                          <a:effectLst/>
                          <a:latin typeface="Times New Roman" panose="02020603050405020304" pitchFamily="18" charset="0"/>
                          <a:cs typeface="Times New Roman" panose="02020603050405020304" pitchFamily="18" charset="0"/>
                        </a:rPr>
                      </a:b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 EVENT CLOSED </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50-20</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dirty="0">
                          <a:solidFill>
                            <a:srgbClr val="000000"/>
                          </a:solidFill>
                          <a:effectLst/>
                          <a:latin typeface="Times New Roman" panose="02020603050405020304" pitchFamily="18" charset="0"/>
                          <a:cs typeface="Times New Roman" panose="02020603050405020304" pitchFamily="18" charset="0"/>
                        </a:rPr>
                        <a:t>FOUND CMDU INOP. Dự kiến thay CMDU để khắc phục. MEL deadline 2May25.</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ĐTC: lịch sử khai thác đã từng thay 02 khối. BOE không có issue liên quan. Hỏng hóc dạng đơn </a:t>
                      </a:r>
                      <a:r>
                        <a:rPr lang="vi-VN" sz="1000" b="0" i="0" u="none" strike="noStrike">
                          <a:solidFill>
                            <a:srgbClr val="000000"/>
                          </a:solidFill>
                          <a:effectLst/>
                          <a:latin typeface="Times New Roman" panose="02020603050405020304" pitchFamily="18" charset="0"/>
                          <a:cs typeface="Times New Roman" panose="02020603050405020304" pitchFamily="18" charset="0"/>
                        </a:rPr>
                        <a:t>lẻ</a:t>
                      </a: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en-US" sz="1000" b="0" i="0" u="none" strike="noStrike" smtClean="0">
                        <a:solidFill>
                          <a:srgbClr val="000000"/>
                        </a:solidFill>
                        <a:effectLst/>
                        <a:latin typeface="Times New Roman" panose="02020603050405020304" pitchFamily="18" charset="0"/>
                        <a:cs typeface="Times New Roman" panose="02020603050405020304" pitchFamily="18" charset="0"/>
                      </a:endParaRPr>
                    </a:p>
                    <a:p>
                      <a:pPr algn="l" fontAlgn="t"/>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Delay &lt;=15 mins.</a:t>
                      </a:r>
                      <a:r>
                        <a:rPr lang="en-US" sz="1000" b="0" i="0" u="none" strike="noStrike" baseline="0" smtClean="0">
                          <a:solidFill>
                            <a:srgbClr val="000000"/>
                          </a:solidFill>
                          <a:effectLst/>
                          <a:latin typeface="Times New Roman" panose="02020603050405020304" pitchFamily="18" charset="0"/>
                          <a:cs typeface="Times New Roman" panose="02020603050405020304" pitchFamily="18" charset="0"/>
                        </a:rPr>
                        <a:t> Không tính KPI.</a:t>
                      </a:r>
                      <a:endParaRPr lang="vi-VN"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41712916"/>
                  </a:ext>
                </a:extLst>
              </a:tr>
            </a:tbl>
          </a:graphicData>
        </a:graphic>
      </p:graphicFrame>
    </p:spTree>
    <p:extLst>
      <p:ext uri="{BB962C8B-B14F-4D97-AF65-F5344CB8AC3E}">
        <p14:creationId xmlns:p14="http://schemas.microsoft.com/office/powerpoint/2010/main" val="37415507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defTabSz="1219170">
              <a:buClr>
                <a:srgbClr val="000000"/>
              </a:buClr>
            </a:pPr>
            <a:fld id="{00000000-1234-1234-1234-123412341234}" type="slidenum">
              <a:rPr lang="vi" kern="0">
                <a:solidFill>
                  <a:srgbClr val="595959"/>
                </a:solidFill>
                <a:latin typeface="Arial"/>
                <a:cs typeface="Arial"/>
                <a:sym typeface="Arial"/>
              </a:rPr>
              <a:pPr defTabSz="1219170">
                <a:buClr>
                  <a:srgbClr val="000000"/>
                </a:buClr>
              </a:pPr>
              <a:t>16</a:t>
            </a:fld>
            <a:endParaRPr kern="0">
              <a:solidFill>
                <a:srgbClr val="595959"/>
              </a:solidFill>
              <a:latin typeface="Arial"/>
              <a:cs typeface="Arial"/>
              <a:sym typeface="Arial"/>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175690" y="2906"/>
            <a:ext cx="6995727" cy="523180"/>
          </a:xfrm>
          <a:prstGeom prst="rect">
            <a:avLst/>
          </a:prstGeom>
          <a:noFill/>
          <a:ln>
            <a:noFill/>
          </a:ln>
        </p:spPr>
        <p:txBody>
          <a:bodyPr spcFirstLastPara="1" wrap="square" lIns="91433" tIns="45700" rIns="91433" bIns="45700" anchor="t" anchorCtr="0">
            <a:spAutoFit/>
          </a:bodyPr>
          <a:lstStyle/>
          <a:p>
            <a:pPr defTabSz="1219170">
              <a:buClr>
                <a:srgbClr val="000000"/>
              </a:buClr>
            </a:pPr>
            <a:r>
              <a:rPr lang="en-US" sz="2800" b="1" kern="0">
                <a:solidFill>
                  <a:srgbClr val="DEA610"/>
                </a:solidFill>
                <a:latin typeface="Montserrat SemiBold"/>
                <a:ea typeface="Montserrat SemiBold"/>
                <a:cs typeface="Montserrat SemiBold"/>
                <a:sym typeface="Montserrat SemiBold"/>
              </a:rPr>
              <a:t>Tình trạng kỹ thuật tàu B787</a:t>
            </a:r>
            <a:endParaRPr sz="1467" kern="0">
              <a:solidFill>
                <a:srgbClr val="000000"/>
              </a:solidFill>
              <a:latin typeface="Arial"/>
              <a:cs typeface="Arial"/>
              <a:sym typeface="Arial"/>
            </a:endParaRPr>
          </a:p>
        </p:txBody>
      </p:sp>
      <p:graphicFrame>
        <p:nvGraphicFramePr>
          <p:cNvPr id="3" name="Table 2">
            <a:extLst>
              <a:ext uri="{FF2B5EF4-FFF2-40B4-BE49-F238E27FC236}">
                <a16:creationId xmlns:a16="http://schemas.microsoft.com/office/drawing/2014/main" id="{E84B8470-18DA-6366-8B0D-4769DB03616F}"/>
              </a:ext>
            </a:extLst>
          </p:cNvPr>
          <p:cNvGraphicFramePr>
            <a:graphicFrameLocks noGrp="1"/>
          </p:cNvGraphicFramePr>
          <p:nvPr>
            <p:extLst/>
          </p:nvPr>
        </p:nvGraphicFramePr>
        <p:xfrm>
          <a:off x="258273" y="526087"/>
          <a:ext cx="11666097" cy="6500638"/>
        </p:xfrm>
        <a:graphic>
          <a:graphicData uri="http://schemas.openxmlformats.org/drawingml/2006/table">
            <a:tbl>
              <a:tblPr/>
              <a:tblGrid>
                <a:gridCol w="465317">
                  <a:extLst>
                    <a:ext uri="{9D8B030D-6E8A-4147-A177-3AD203B41FA5}">
                      <a16:colId xmlns:a16="http://schemas.microsoft.com/office/drawing/2014/main" val="1724749855"/>
                    </a:ext>
                  </a:extLst>
                </a:gridCol>
                <a:gridCol w="842536">
                  <a:extLst>
                    <a:ext uri="{9D8B030D-6E8A-4147-A177-3AD203B41FA5}">
                      <a16:colId xmlns:a16="http://schemas.microsoft.com/office/drawing/2014/main" val="1663404700"/>
                    </a:ext>
                  </a:extLst>
                </a:gridCol>
                <a:gridCol w="693853">
                  <a:extLst>
                    <a:ext uri="{9D8B030D-6E8A-4147-A177-3AD203B41FA5}">
                      <a16:colId xmlns:a16="http://schemas.microsoft.com/office/drawing/2014/main" val="2839182026"/>
                    </a:ext>
                  </a:extLst>
                </a:gridCol>
                <a:gridCol w="1486829">
                  <a:extLst>
                    <a:ext uri="{9D8B030D-6E8A-4147-A177-3AD203B41FA5}">
                      <a16:colId xmlns:a16="http://schemas.microsoft.com/office/drawing/2014/main" val="2014085146"/>
                    </a:ext>
                  </a:extLst>
                </a:gridCol>
                <a:gridCol w="1050693">
                  <a:extLst>
                    <a:ext uri="{9D8B030D-6E8A-4147-A177-3AD203B41FA5}">
                      <a16:colId xmlns:a16="http://schemas.microsoft.com/office/drawing/2014/main" val="3639543486"/>
                    </a:ext>
                  </a:extLst>
                </a:gridCol>
                <a:gridCol w="1427356">
                  <a:extLst>
                    <a:ext uri="{9D8B030D-6E8A-4147-A177-3AD203B41FA5}">
                      <a16:colId xmlns:a16="http://schemas.microsoft.com/office/drawing/2014/main" val="405548386"/>
                    </a:ext>
                  </a:extLst>
                </a:gridCol>
                <a:gridCol w="5699513">
                  <a:extLst>
                    <a:ext uri="{9D8B030D-6E8A-4147-A177-3AD203B41FA5}">
                      <a16:colId xmlns:a16="http://schemas.microsoft.com/office/drawing/2014/main" val="3495077576"/>
                    </a:ext>
                  </a:extLst>
                </a:gridCol>
              </a:tblGrid>
              <a:tr h="165993">
                <a:tc>
                  <a:txBody>
                    <a:bodyPr/>
                    <a:lstStyle/>
                    <a:p>
                      <a:pPr algn="ctr" fontAlgn="ctr"/>
                      <a:r>
                        <a:rPr lang="en-US" sz="1100" b="0" i="0" u="none" strike="noStrike">
                          <a:solidFill>
                            <a:srgbClr val="000000"/>
                          </a:solidFill>
                          <a:effectLst/>
                          <a:latin typeface="Calibri" panose="020F0502020204030204" pitchFamily="34" charset="0"/>
                        </a:rPr>
                        <a:t>No</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Fleet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A/C</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Tình trạng tàu bay</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Tình trạng KT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100" b="0" i="0" u="none" strike="noStrike">
                          <a:solidFill>
                            <a:srgbClr val="000000"/>
                          </a:solidFill>
                          <a:effectLst/>
                          <a:latin typeface="Calibri" panose="020F0502020204030204" pitchFamily="34" charset="0"/>
                        </a:rPr>
                        <a:t>Điều kiện chuyên cơ</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Ghi chú</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2156974"/>
                  </a:ext>
                </a:extLst>
              </a:tr>
              <a:tr h="491113">
                <a:tc>
                  <a:txBody>
                    <a:bodyPr/>
                    <a:lstStyle/>
                    <a:p>
                      <a:pPr algn="ctr" fontAlgn="ctr"/>
                      <a:r>
                        <a:rPr lang="en-US" sz="1100" b="0" i="0" u="none" strike="noStrike">
                          <a:solidFill>
                            <a:srgbClr val="000000"/>
                          </a:solidFill>
                          <a:effectLst/>
                          <a:latin typeface="Calibri" panose="020F0502020204030204" pitchFamily="34" charset="0"/>
                        </a:rPr>
                        <a:t>1</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A861</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B1456 TAIL AIR FLOW SYS INOP</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B1503 NITROGEN SYSTEM</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B1505 : STS MSG: CCR GPM 8L</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9543094"/>
                  </a:ext>
                </a:extLst>
              </a:tr>
              <a:tr h="165993">
                <a:tc>
                  <a:txBody>
                    <a:bodyPr/>
                    <a:lstStyle/>
                    <a:p>
                      <a:pPr algn="ctr" fontAlgn="ctr"/>
                      <a:r>
                        <a:rPr lang="en-US" sz="1100" b="0" i="0" u="none" strike="noStrike">
                          <a:solidFill>
                            <a:srgbClr val="000000"/>
                          </a:solidFill>
                          <a:effectLst/>
                          <a:latin typeface="Calibri" panose="020F0502020204030204" pitchFamily="34" charset="0"/>
                        </a:rPr>
                        <a:t>2</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A862</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Đạt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13418593"/>
                  </a:ext>
                </a:extLst>
              </a:tr>
              <a:tr h="491113">
                <a:tc>
                  <a:txBody>
                    <a:bodyPr/>
                    <a:lstStyle/>
                    <a:p>
                      <a:pPr algn="ctr" fontAlgn="ctr"/>
                      <a:r>
                        <a:rPr lang="en-US" sz="1100" b="0" i="0" u="none" strike="noStrike">
                          <a:solidFill>
                            <a:srgbClr val="000000"/>
                          </a:solidFill>
                          <a:effectLst/>
                          <a:latin typeface="Calibri" panose="020F0502020204030204" pitchFamily="34" charset="0"/>
                        </a:rPr>
                        <a:t>3</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A863</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Engine 1 (958170) HPT 1B có hỏng hóc (giảm tần suất 50FC)</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Possible leak detected in the crew oxygen system</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B1601 STS TAIL AIRFLOW SYS</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57524438"/>
                  </a:ext>
                </a:extLst>
              </a:tr>
              <a:tr h="328553">
                <a:tc>
                  <a:txBody>
                    <a:bodyPr/>
                    <a:lstStyle/>
                    <a:p>
                      <a:pPr algn="ctr" fontAlgn="ctr"/>
                      <a:r>
                        <a:rPr lang="en-US" sz="1100" b="0" i="0" u="none" strike="noStrike">
                          <a:solidFill>
                            <a:srgbClr val="000000"/>
                          </a:solidFill>
                          <a:effectLst/>
                          <a:latin typeface="Calibri" panose="020F0502020204030204" pitchFamily="34" charset="0"/>
                        </a:rPr>
                        <a:t>4</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A864</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Engine 2 (956577) HPT 1B có hỏng hóc (giảm tần suất 50FC)</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B1208: AFT CARGO HANDLING SYS NO POWER</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57854352"/>
                  </a:ext>
                </a:extLst>
              </a:tr>
              <a:tr h="165993">
                <a:tc>
                  <a:txBody>
                    <a:bodyPr/>
                    <a:lstStyle/>
                    <a:p>
                      <a:pPr algn="ctr" fontAlgn="ctr"/>
                      <a:r>
                        <a:rPr lang="en-US" sz="1100" b="0" i="0" u="none" strike="noStrike">
                          <a:solidFill>
                            <a:srgbClr val="000000"/>
                          </a:solidFill>
                          <a:effectLst/>
                          <a:latin typeface="Calibri" panose="020F0502020204030204" pitchFamily="34" charset="0"/>
                        </a:rPr>
                        <a:t>5</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A865</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Đạt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23055252"/>
                  </a:ext>
                </a:extLst>
              </a:tr>
              <a:tr h="239597">
                <a:tc>
                  <a:txBody>
                    <a:bodyPr/>
                    <a:lstStyle/>
                    <a:p>
                      <a:pPr algn="ctr" fontAlgn="ctr"/>
                      <a:r>
                        <a:rPr lang="en-US" sz="1100" b="0" i="0" u="none" strike="noStrike">
                          <a:solidFill>
                            <a:srgbClr val="000000"/>
                          </a:solidFill>
                          <a:effectLst/>
                          <a:latin typeface="Calibri" panose="020F0502020204030204" pitchFamily="34" charset="0"/>
                        </a:rPr>
                        <a:t>6</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A866</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Đạt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a:solidFill>
                            <a:srgbClr val="000000"/>
                          </a:solidFill>
                          <a:effectLst/>
                          <a:latin typeface="Calibri" panose="020F0502020204030204" pitchFamily="34" charset="0"/>
                        </a:rPr>
                        <a:t>+ Động cơ số 2 giảm tần suất soi 100 FC HPTS1B missing material </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1608930"/>
                  </a:ext>
                </a:extLst>
              </a:tr>
              <a:tr h="816233">
                <a:tc>
                  <a:txBody>
                    <a:bodyPr/>
                    <a:lstStyle/>
                    <a:p>
                      <a:pPr algn="ctr" fontAlgn="ctr"/>
                      <a:r>
                        <a:rPr lang="en-US" sz="1100" b="0" i="0" u="none" strike="noStrike">
                          <a:solidFill>
                            <a:srgbClr val="000000"/>
                          </a:solidFill>
                          <a:effectLst/>
                          <a:latin typeface="Calibri" panose="020F0502020204030204" pitchFamily="34" charset="0"/>
                        </a:rPr>
                        <a:t>7</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A867</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a:solidFill>
                            <a:srgbClr val="000000"/>
                          </a:solidFill>
                          <a:effectLst/>
                          <a:latin typeface="Calibri" panose="020F0502020204030204" pitchFamily="34" charset="0"/>
                        </a:rPr>
                        <a:t>+ Động cơ số 1 HPT STG 2 CRACK, giảm tần suất soi 250 FC </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B1502 CCR GPM 8L</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B1511: APU INOP</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B1512 RAISED FOR RAM FAN PRIMARY L</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B1515: STS MSG "FUEL QTY RIGHT CHANNEL A".</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9429998"/>
                  </a:ext>
                </a:extLst>
              </a:tr>
              <a:tr h="328553">
                <a:tc>
                  <a:txBody>
                    <a:bodyPr/>
                    <a:lstStyle/>
                    <a:p>
                      <a:pPr algn="ctr" fontAlgn="ctr"/>
                      <a:r>
                        <a:rPr lang="en-US" sz="1100" b="0" i="0" u="none" strike="noStrike">
                          <a:solidFill>
                            <a:srgbClr val="000000"/>
                          </a:solidFill>
                          <a:effectLst/>
                          <a:latin typeface="Calibri" panose="020F0502020204030204" pitchFamily="34" charset="0"/>
                        </a:rPr>
                        <a:t>8</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A868</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Calibri" panose="020F0502020204030204" pitchFamily="34" charset="0"/>
                        </a:rPr>
                        <a:t>B1061 RAISED: ENG#1 REPLACE OR RE-INSPECT NOT TO EXCEED 50 CYCLES, REF DR#02104796, EXP: 6074 FC</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56778735"/>
                  </a:ext>
                </a:extLst>
              </a:tr>
              <a:tr h="491113">
                <a:tc>
                  <a:txBody>
                    <a:bodyPr/>
                    <a:lstStyle/>
                    <a:p>
                      <a:pPr algn="ctr" fontAlgn="ctr"/>
                      <a:r>
                        <a:rPr lang="en-US" sz="1100" b="0" i="0" u="none" strike="noStrike">
                          <a:solidFill>
                            <a:srgbClr val="000000"/>
                          </a:solidFill>
                          <a:effectLst/>
                          <a:latin typeface="Calibri" panose="020F0502020204030204" pitchFamily="34" charset="0"/>
                        </a:rPr>
                        <a:t>9</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A869</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a:solidFill>
                            <a:srgbClr val="000000"/>
                          </a:solidFill>
                          <a:effectLst/>
                          <a:latin typeface="Calibri" panose="020F0502020204030204" pitchFamily="34" charset="0"/>
                        </a:rPr>
                        <a:t>+ Động cơ số 1 giảm tần suất soi 250 FC (HPT S2 blade cracks) và soi giảm tần suất 250 FC (fuel nozzle cup missing materials)</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B982 APU CONSIDERED INOP</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77629061"/>
                  </a:ext>
                </a:extLst>
              </a:tr>
              <a:tr h="165993">
                <a:tc>
                  <a:txBody>
                    <a:bodyPr/>
                    <a:lstStyle/>
                    <a:p>
                      <a:pPr algn="ctr" fontAlgn="ctr"/>
                      <a:r>
                        <a:rPr lang="en-US" sz="1100" b="0" i="0" u="none" strike="noStrike">
                          <a:solidFill>
                            <a:srgbClr val="000000"/>
                          </a:solidFill>
                          <a:effectLst/>
                          <a:latin typeface="Calibri" panose="020F0502020204030204" pitchFamily="34" charset="0"/>
                        </a:rPr>
                        <a:t>10</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A870</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Đạt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9762290"/>
                  </a:ext>
                </a:extLst>
              </a:tr>
              <a:tr h="491113">
                <a:tc>
                  <a:txBody>
                    <a:bodyPr/>
                    <a:lstStyle/>
                    <a:p>
                      <a:pPr algn="ctr" fontAlgn="ctr"/>
                      <a:r>
                        <a:rPr lang="en-US" sz="1100" b="0" i="0" u="none" strike="noStrike">
                          <a:solidFill>
                            <a:srgbClr val="000000"/>
                          </a:solidFill>
                          <a:effectLst/>
                          <a:latin typeface="Calibri" panose="020F0502020204030204" pitchFamily="34" charset="0"/>
                        </a:rPr>
                        <a:t>11</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A871</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a:solidFill>
                            <a:srgbClr val="000000"/>
                          </a:solidFill>
                          <a:effectLst/>
                          <a:latin typeface="Calibri" panose="020F0502020204030204" pitchFamily="34" charset="0"/>
                        </a:rPr>
                        <a:t> Engine 2 (956534) HPT 1B có hỏng hóc (giảm tần suất 25FC)</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B2220 FUEL QTY CENTER CHANNEL A</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B2221 FUEL TEMP INDICATION C (CORRELATED ADD B2220)</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8999885"/>
                  </a:ext>
                </a:extLst>
              </a:tr>
              <a:tr h="653673">
                <a:tc>
                  <a:txBody>
                    <a:bodyPr/>
                    <a:lstStyle/>
                    <a:p>
                      <a:pPr algn="ctr" fontAlgn="ctr"/>
                      <a:r>
                        <a:rPr lang="en-US" sz="1100" b="0" i="0" u="none" strike="noStrike">
                          <a:solidFill>
                            <a:srgbClr val="000000"/>
                          </a:solidFill>
                          <a:effectLst/>
                          <a:latin typeface="Calibri" panose="020F0502020204030204" pitchFamily="34" charset="0"/>
                        </a:rPr>
                        <a:t>12</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A872</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Đạt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a:solidFill>
                            <a:srgbClr val="000000"/>
                          </a:solidFill>
                          <a:effectLst/>
                          <a:latin typeface="Calibri" panose="020F0502020204030204" pitchFamily="34" charset="0"/>
                        </a:rPr>
                        <a:t>+ Động cơ số 1 HPT stage 1 cracked giảm tần suất soi 250 FC; Động cơ số 2 HPT stage 1 cracked giảm tần suất soi 250 FC;</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B1123 : STS MSG: CABIN AIR CPRSR R1</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B1128 RAISED FOR LEFT TAIL POS LIGHT INOP</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21971462"/>
                  </a:ext>
                </a:extLst>
              </a:tr>
              <a:tr h="328553">
                <a:tc>
                  <a:txBody>
                    <a:bodyPr/>
                    <a:lstStyle/>
                    <a:p>
                      <a:pPr algn="ctr" fontAlgn="ctr"/>
                      <a:r>
                        <a:rPr lang="en-US" sz="1100" b="0" i="0" u="none" strike="noStrike">
                          <a:solidFill>
                            <a:srgbClr val="000000"/>
                          </a:solidFill>
                          <a:effectLst/>
                          <a:latin typeface="Calibri" panose="020F0502020204030204" pitchFamily="34" charset="0"/>
                        </a:rPr>
                        <a:t>13</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A873</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Định kỳ</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a:solidFill>
                            <a:srgbClr val="000000"/>
                          </a:solidFill>
                          <a:effectLst/>
                          <a:latin typeface="Calibri" panose="020F0502020204030204" pitchFamily="34" charset="0"/>
                        </a:rPr>
                        <a:t>+ động cơ số 2 giảm tần suất soi HPT 1nd stage 100 FC</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B486 ELEC GEN SYS R1 STATUS</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84870253"/>
                  </a:ext>
                </a:extLst>
              </a:tr>
              <a:tr h="165993">
                <a:tc>
                  <a:txBody>
                    <a:bodyPr/>
                    <a:lstStyle/>
                    <a:p>
                      <a:pPr algn="ctr" fontAlgn="ctr"/>
                      <a:r>
                        <a:rPr lang="en-US" sz="1100" b="0" i="0" u="none" strike="noStrike">
                          <a:solidFill>
                            <a:srgbClr val="000000"/>
                          </a:solidFill>
                          <a:effectLst/>
                          <a:latin typeface="Calibri" panose="020F0502020204030204" pitchFamily="34" charset="0"/>
                        </a:rPr>
                        <a:t>14</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A874</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Đạt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a:solidFill>
                            <a:srgbClr val="000000"/>
                          </a:solidFill>
                          <a:effectLst/>
                          <a:latin typeface="Calibri" panose="020F0502020204030204" pitchFamily="34" charset="0"/>
                        </a:rPr>
                        <a:t>+ động cơ số 2 giảm tần suất soi HPT 1nd stage 100 FC</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50671019"/>
                  </a:ext>
                </a:extLst>
              </a:tr>
              <a:tr h="165993">
                <a:tc>
                  <a:txBody>
                    <a:bodyPr/>
                    <a:lstStyle/>
                    <a:p>
                      <a:pPr algn="ctr" fontAlgn="ctr"/>
                      <a:r>
                        <a:rPr lang="en-US" sz="1100" b="0" i="0" u="none" strike="noStrike">
                          <a:solidFill>
                            <a:srgbClr val="000000"/>
                          </a:solidFill>
                          <a:effectLst/>
                          <a:latin typeface="Calibri" panose="020F0502020204030204" pitchFamily="34" charset="0"/>
                        </a:rPr>
                        <a:t>15</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A877</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Đạt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03330093"/>
                  </a:ext>
                </a:extLst>
              </a:tr>
              <a:tr h="165993">
                <a:tc>
                  <a:txBody>
                    <a:bodyPr/>
                    <a:lstStyle/>
                    <a:p>
                      <a:pPr algn="ctr" fontAlgn="ctr"/>
                      <a:r>
                        <a:rPr lang="en-US" sz="1100" b="0" i="0" u="none" strike="noStrike">
                          <a:solidFill>
                            <a:srgbClr val="000000"/>
                          </a:solidFill>
                          <a:effectLst/>
                          <a:latin typeface="Calibri" panose="020F0502020204030204" pitchFamily="34" charset="0"/>
                        </a:rPr>
                        <a:t>16</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A878</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Đạt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87512852"/>
                  </a:ext>
                </a:extLst>
              </a:tr>
              <a:tr h="491113">
                <a:tc>
                  <a:txBody>
                    <a:bodyPr/>
                    <a:lstStyle/>
                    <a:p>
                      <a:pPr algn="ctr" fontAlgn="ctr"/>
                      <a:r>
                        <a:rPr lang="en-US" sz="1100" b="0" i="0" u="none" strike="noStrike">
                          <a:solidFill>
                            <a:srgbClr val="000000"/>
                          </a:solidFill>
                          <a:effectLst/>
                          <a:latin typeface="Calibri" panose="020F0502020204030204" pitchFamily="34" charset="0"/>
                        </a:rPr>
                        <a:t>17</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A879</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a:solidFill>
                            <a:srgbClr val="000000"/>
                          </a:solidFill>
                          <a:effectLst/>
                          <a:latin typeface="Calibri" panose="020F0502020204030204" pitchFamily="34" charset="0"/>
                        </a:rPr>
                        <a:t>+ Động cơ số 1 HPT blage stg 1 cracked giảm tần suất soi 250 FC; Động cơ số 2 HPT blage stg 1 cracked giảm tần suất soi 100 FCGE DR 01664320 Revision 0.0</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B498 FWD CARGO HANDLING SYSTEM INOP (ELECTRICAL POWER NOT AVAIL)</a:t>
                      </a:r>
                    </a:p>
                  </a:txBody>
                  <a:tcPr marL="3433" marR="3433" marT="3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05783530"/>
                  </a:ext>
                </a:extLst>
              </a:tr>
            </a:tbl>
          </a:graphicData>
        </a:graphic>
      </p:graphicFrame>
    </p:spTree>
    <p:extLst>
      <p:ext uri="{BB962C8B-B14F-4D97-AF65-F5344CB8AC3E}">
        <p14:creationId xmlns:p14="http://schemas.microsoft.com/office/powerpoint/2010/main" val="30765515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defTabSz="1219170">
              <a:buClr>
                <a:srgbClr val="000000"/>
              </a:buClr>
            </a:pPr>
            <a:fld id="{00000000-1234-1234-1234-123412341234}" type="slidenum">
              <a:rPr lang="vi" kern="0">
                <a:solidFill>
                  <a:srgbClr val="595959"/>
                </a:solidFill>
                <a:latin typeface="Arial"/>
                <a:cs typeface="Arial"/>
                <a:sym typeface="Arial"/>
              </a:rPr>
              <a:pPr defTabSz="1219170">
                <a:buClr>
                  <a:srgbClr val="000000"/>
                </a:buClr>
              </a:pPr>
              <a:t>17</a:t>
            </a:fld>
            <a:endParaRPr kern="0">
              <a:solidFill>
                <a:srgbClr val="595959"/>
              </a:solidFill>
              <a:latin typeface="Arial"/>
              <a:cs typeface="Arial"/>
              <a:sym typeface="Arial"/>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39379" y="207227"/>
            <a:ext cx="8037304" cy="523180"/>
          </a:xfrm>
          <a:prstGeom prst="rect">
            <a:avLst/>
          </a:prstGeom>
          <a:noFill/>
          <a:ln>
            <a:noFill/>
          </a:ln>
        </p:spPr>
        <p:txBody>
          <a:bodyPr spcFirstLastPara="1" wrap="square" lIns="91433" tIns="45700" rIns="91433" bIns="45700" anchor="t" anchorCtr="0">
            <a:spAutoFit/>
          </a:bodyPr>
          <a:lstStyle/>
          <a:p>
            <a:pPr defTabSz="1219170">
              <a:buClr>
                <a:srgbClr val="000000"/>
              </a:buClr>
            </a:pPr>
            <a:r>
              <a:rPr lang="en-US" sz="2800" b="1" kern="0">
                <a:solidFill>
                  <a:srgbClr val="DEA610"/>
                </a:solidFill>
                <a:latin typeface="Montserrat SemiBold"/>
                <a:ea typeface="Montserrat SemiBold"/>
                <a:cs typeface="Montserrat SemiBold"/>
                <a:sym typeface="Montserrat SemiBold"/>
              </a:rPr>
              <a:t>TÌNH TRẠNG KỸ THUẬT ĐỘI BAY – B787</a:t>
            </a:r>
            <a:endParaRPr sz="1467" kern="0">
              <a:solidFill>
                <a:srgbClr val="000000"/>
              </a:solidFill>
              <a:latin typeface="Arial"/>
              <a:cs typeface="Arial"/>
              <a:sym typeface="Arial"/>
            </a:endParaRPr>
          </a:p>
        </p:txBody>
      </p:sp>
      <p:sp>
        <p:nvSpPr>
          <p:cNvPr id="7" name="Rectangle 6">
            <a:extLst>
              <a:ext uri="{FF2B5EF4-FFF2-40B4-BE49-F238E27FC236}">
                <a16:creationId xmlns:a16="http://schemas.microsoft.com/office/drawing/2014/main" id="{795CC2F9-72E9-47BD-A040-3231760CEEDB}"/>
              </a:ext>
            </a:extLst>
          </p:cNvPr>
          <p:cNvSpPr/>
          <p:nvPr/>
        </p:nvSpPr>
        <p:spPr>
          <a:xfrm>
            <a:off x="410314" y="730407"/>
            <a:ext cx="11690701" cy="3293209"/>
          </a:xfrm>
          <a:prstGeom prst="rect">
            <a:avLst/>
          </a:prstGeom>
        </p:spPr>
        <p:txBody>
          <a:bodyPr wrap="square">
            <a:spAutoFit/>
          </a:bodyPr>
          <a:lstStyle/>
          <a:p>
            <a:pPr algn="just" defTabSz="1219170"/>
            <a:r>
              <a:rPr lang="en-US" sz="1600" b="1" err="1">
                <a:solidFill>
                  <a:prstClr val="black"/>
                </a:solidFill>
                <a:latin typeface="Times New Roman" panose="02020603050405020304" pitchFamily="18" charset="0"/>
                <a:cs typeface="Times New Roman" panose="02020603050405020304" pitchFamily="18" charset="0"/>
                <a:sym typeface="Arial"/>
              </a:rPr>
              <a:t>Nhận</a:t>
            </a:r>
            <a:r>
              <a:rPr lang="en-US" sz="1600" b="1">
                <a:solidFill>
                  <a:prstClr val="black"/>
                </a:solidFill>
                <a:latin typeface="Times New Roman" panose="02020603050405020304" pitchFamily="18" charset="0"/>
                <a:cs typeface="Times New Roman" panose="02020603050405020304" pitchFamily="18" charset="0"/>
                <a:sym typeface="Arial"/>
              </a:rPr>
              <a:t> </a:t>
            </a:r>
            <a:r>
              <a:rPr lang="en-US" sz="1600" b="1" err="1">
                <a:solidFill>
                  <a:prstClr val="black"/>
                </a:solidFill>
                <a:latin typeface="Times New Roman" panose="02020603050405020304" pitchFamily="18" charset="0"/>
                <a:cs typeface="Times New Roman" panose="02020603050405020304" pitchFamily="18" charset="0"/>
                <a:sym typeface="Arial"/>
              </a:rPr>
              <a:t>xét</a:t>
            </a:r>
            <a:r>
              <a:rPr lang="en-US" sz="1600" b="1">
                <a:solidFill>
                  <a:prstClr val="black"/>
                </a:solidFill>
                <a:latin typeface="Times New Roman" panose="02020603050405020304" pitchFamily="18" charset="0"/>
                <a:cs typeface="Times New Roman" panose="02020603050405020304" pitchFamily="18" charset="0"/>
                <a:sym typeface="Arial"/>
              </a:rPr>
              <a:t>: </a:t>
            </a:r>
          </a:p>
          <a:p>
            <a:pPr marL="380990" indent="-380990" algn="just" defTabSz="1219170">
              <a:buFontTx/>
              <a:buChar char="-"/>
            </a:pPr>
            <a:r>
              <a:rPr lang="vi-VN" sz="1600">
                <a:solidFill>
                  <a:prstClr val="black"/>
                </a:solidFill>
                <a:latin typeface="Times New Roman" panose="02020603050405020304" pitchFamily="18" charset="0"/>
                <a:cs typeface="Times New Roman" panose="02020603050405020304" pitchFamily="18" charset="0"/>
                <a:sym typeface="Arial"/>
              </a:rPr>
              <a:t>Tình hình kỹ thuật đội bay </a:t>
            </a:r>
            <a:r>
              <a:rPr lang="en-US" sz="1600">
                <a:solidFill>
                  <a:prstClr val="black"/>
                </a:solidFill>
                <a:latin typeface="Times New Roman" panose="02020603050405020304" pitchFamily="18" charset="0"/>
                <a:cs typeface="Times New Roman" panose="02020603050405020304" pitchFamily="18" charset="0"/>
                <a:sym typeface="Arial"/>
              </a:rPr>
              <a:t>B787 trong tuần chưa tốt. </a:t>
            </a:r>
          </a:p>
          <a:p>
            <a:pPr marL="380990" indent="-380990" algn="just" defTabSz="1219170">
              <a:buFontTx/>
              <a:buChar char="-"/>
            </a:pPr>
            <a:r>
              <a:rPr lang="en-US" sz="1600" err="1">
                <a:solidFill>
                  <a:prstClr val="black"/>
                </a:solidFill>
                <a:latin typeface="Times New Roman" panose="02020603050405020304" pitchFamily="18" charset="0"/>
                <a:cs typeface="Times New Roman" panose="02020603050405020304" pitchFamily="18" charset="0"/>
                <a:sym typeface="Arial"/>
              </a:rPr>
              <a:t>Hỏng</a:t>
            </a:r>
            <a:r>
              <a:rPr lang="en-US" sz="1600">
                <a:solidFill>
                  <a:prstClr val="black"/>
                </a:solidFill>
                <a:latin typeface="Times New Roman" panose="02020603050405020304" pitchFamily="18" charset="0"/>
                <a:cs typeface="Times New Roman" panose="02020603050405020304" pitchFamily="18" charset="0"/>
                <a:sym typeface="Arial"/>
              </a:rPr>
              <a:t> </a:t>
            </a:r>
            <a:r>
              <a:rPr lang="en-US" sz="1600" err="1">
                <a:solidFill>
                  <a:prstClr val="black"/>
                </a:solidFill>
                <a:latin typeface="Times New Roman" panose="02020603050405020304" pitchFamily="18" charset="0"/>
                <a:cs typeface="Times New Roman" panose="02020603050405020304" pitchFamily="18" charset="0"/>
                <a:sym typeface="Arial"/>
              </a:rPr>
              <a:t>hóc</a:t>
            </a:r>
            <a:r>
              <a:rPr lang="en-US" sz="1600">
                <a:solidFill>
                  <a:prstClr val="black"/>
                </a:solidFill>
                <a:latin typeface="Times New Roman" panose="02020603050405020304" pitchFamily="18" charset="0"/>
                <a:cs typeface="Times New Roman" panose="02020603050405020304" pitchFamily="18" charset="0"/>
                <a:sym typeface="Arial"/>
              </a:rPr>
              <a:t> </a:t>
            </a:r>
            <a:r>
              <a:rPr lang="en-US" sz="1600" err="1">
                <a:solidFill>
                  <a:prstClr val="black"/>
                </a:solidFill>
                <a:latin typeface="Times New Roman" panose="02020603050405020304" pitchFamily="18" charset="0"/>
                <a:cs typeface="Times New Roman" panose="02020603050405020304" pitchFamily="18" charset="0"/>
                <a:sym typeface="Arial"/>
              </a:rPr>
              <a:t>nổi</a:t>
            </a:r>
            <a:r>
              <a:rPr lang="en-US" sz="1600">
                <a:solidFill>
                  <a:prstClr val="black"/>
                </a:solidFill>
                <a:latin typeface="Times New Roman" panose="02020603050405020304" pitchFamily="18" charset="0"/>
                <a:cs typeface="Times New Roman" panose="02020603050405020304" pitchFamily="18" charset="0"/>
                <a:sym typeface="Arial"/>
              </a:rPr>
              <a:t> </a:t>
            </a:r>
            <a:r>
              <a:rPr lang="en-US" sz="1600" err="1">
                <a:solidFill>
                  <a:prstClr val="black"/>
                </a:solidFill>
                <a:latin typeface="Times New Roman" panose="02020603050405020304" pitchFamily="18" charset="0"/>
                <a:cs typeface="Times New Roman" panose="02020603050405020304" pitchFamily="18" charset="0"/>
                <a:sym typeface="Arial"/>
              </a:rPr>
              <a:t>cộm</a:t>
            </a:r>
            <a:r>
              <a:rPr lang="en-US" sz="1600">
                <a:solidFill>
                  <a:prstClr val="black"/>
                </a:solidFill>
                <a:latin typeface="Times New Roman" panose="02020603050405020304" pitchFamily="18" charset="0"/>
                <a:cs typeface="Times New Roman" panose="02020603050405020304" pitchFamily="18" charset="0"/>
                <a:sym typeface="Arial"/>
              </a:rPr>
              <a:t>: </a:t>
            </a:r>
          </a:p>
          <a:p>
            <a:pPr marL="609585" lvl="1" algn="just" defTabSz="1219170"/>
            <a:r>
              <a:rPr lang="en-SG" sz="1600">
                <a:solidFill>
                  <a:prstClr val="black"/>
                </a:solidFill>
                <a:latin typeface="Times New Roman" panose="02020603050405020304" pitchFamily="18" charset="0"/>
                <a:cs typeface="Times New Roman" panose="02020603050405020304" pitchFamily="18" charset="0"/>
                <a:sym typeface="Arial"/>
              </a:rPr>
              <a:t>+ A879 AOG tại NRT ngày 31/12 do phát sinh TRANSIT FOUND MW#8 LOW PRESS, SUSPECT OVER PRESSURE PORT LEAK -&gt; A879 MW RPL SATIS ( LOAN ITEM).</a:t>
            </a:r>
          </a:p>
          <a:p>
            <a:pPr marL="609585" lvl="1" algn="just" defTabSz="1219170"/>
            <a:r>
              <a:rPr lang="vi-VN" sz="1600">
                <a:solidFill>
                  <a:srgbClr val="FF0000"/>
                </a:solidFill>
                <a:latin typeface="Times New Roman" panose="02020603050405020304" pitchFamily="18" charset="0"/>
                <a:cs typeface="Times New Roman" panose="02020603050405020304" pitchFamily="18" charset="0"/>
                <a:sym typeface="Arial"/>
              </a:rPr>
              <a:t>SUSPECT OVER PRESSURE PORT LEAK. SN 7087C20649 được lắp lên ngày 5 Dec. Xem xét trên AHM Service report thì thấy áp suất lốp ở dải bình thường, chỉ sụt giảm ở chuyến bay đi NRT ngày 31/12. Hiện wheel đang ở Shop VSTEA đợi kiểm tra. Sẽ xem xét thêm khi có kết quả finding</a:t>
            </a:r>
            <a:r>
              <a:rPr lang="en-US" sz="1600">
                <a:solidFill>
                  <a:srgbClr val="FF0000"/>
                </a:solidFill>
                <a:latin typeface="Times New Roman" panose="02020603050405020304" pitchFamily="18" charset="0"/>
                <a:cs typeface="Times New Roman" panose="02020603050405020304" pitchFamily="18" charset="0"/>
                <a:sym typeface="Arial"/>
              </a:rPr>
              <a:t>.</a:t>
            </a:r>
          </a:p>
          <a:p>
            <a:pPr marL="609585" lvl="1" algn="just" defTabSz="1219170"/>
            <a:endParaRPr lang="en-SG" sz="1600">
              <a:solidFill>
                <a:prstClr val="black"/>
              </a:solidFill>
              <a:latin typeface="Times New Roman" panose="02020603050405020304" pitchFamily="18" charset="0"/>
              <a:cs typeface="Times New Roman" panose="02020603050405020304" pitchFamily="18" charset="0"/>
              <a:sym typeface="Arial"/>
            </a:endParaRPr>
          </a:p>
          <a:p>
            <a:pPr marL="609585" lvl="1" algn="just" defTabSz="1219170"/>
            <a:r>
              <a:rPr lang="en-US" sz="1600">
                <a:solidFill>
                  <a:prstClr val="black"/>
                </a:solidFill>
                <a:latin typeface="Times New Roman" panose="02020603050405020304" pitchFamily="18" charset="0"/>
                <a:cs typeface="Times New Roman" panose="02020603050405020304" pitchFamily="18" charset="0"/>
                <a:sym typeface="Arial"/>
              </a:rPr>
              <a:t>Hỏng hóc APU: </a:t>
            </a:r>
          </a:p>
          <a:p>
            <a:pPr marL="609585" lvl="1" algn="just" defTabSz="1219170"/>
            <a:r>
              <a:rPr lang="en-US" sz="1600">
                <a:solidFill>
                  <a:prstClr val="black"/>
                </a:solidFill>
                <a:latin typeface="Times New Roman" panose="02020603050405020304" pitchFamily="18" charset="0"/>
                <a:cs typeface="Times New Roman" panose="02020603050405020304" pitchFamily="18" charset="0"/>
                <a:sym typeface="Arial"/>
              </a:rPr>
              <a:t>+ A879 APU INOP đã khắc phục ngày 04/01 sau khi thay FMU.</a:t>
            </a:r>
          </a:p>
          <a:p>
            <a:pPr marL="609585" lvl="1" algn="just" defTabSz="1219170"/>
            <a:r>
              <a:rPr lang="en-US" sz="1600">
                <a:solidFill>
                  <a:prstClr val="black"/>
                </a:solidFill>
                <a:latin typeface="Times New Roman" panose="02020603050405020304" pitchFamily="18" charset="0"/>
                <a:cs typeface="Times New Roman" panose="02020603050405020304" pitchFamily="18" charset="0"/>
                <a:sym typeface="Arial"/>
              </a:rPr>
              <a:t>+ A867 APU INOP (mở 31/12) chờ cung ứng FMU nhưng chưa có dự kiến.</a:t>
            </a:r>
          </a:p>
          <a:p>
            <a:pPr marL="609585" lvl="1" algn="just" defTabSz="1219170"/>
            <a:r>
              <a:rPr lang="en-US" sz="1600">
                <a:solidFill>
                  <a:prstClr val="black"/>
                </a:solidFill>
                <a:latin typeface="Times New Roman" panose="02020603050405020304" pitchFamily="18" charset="0"/>
                <a:cs typeface="Times New Roman" panose="02020603050405020304" pitchFamily="18" charset="0"/>
                <a:sym typeface="Arial"/>
              </a:rPr>
              <a:t>+ A869 APU INOP (mở 02/01) dự kiến KH T/S ngày 07/01.</a:t>
            </a:r>
          </a:p>
        </p:txBody>
      </p:sp>
    </p:spTree>
    <p:extLst>
      <p:ext uri="{BB962C8B-B14F-4D97-AF65-F5344CB8AC3E}">
        <p14:creationId xmlns:p14="http://schemas.microsoft.com/office/powerpoint/2010/main" val="1870263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defTabSz="1219170">
              <a:buClr>
                <a:srgbClr val="000000"/>
              </a:buClr>
            </a:pPr>
            <a:fld id="{00000000-1234-1234-1234-123412341234}" type="slidenum">
              <a:rPr lang="vi" kern="0">
                <a:solidFill>
                  <a:srgbClr val="595959"/>
                </a:solidFill>
                <a:latin typeface="Arial"/>
                <a:cs typeface="Arial"/>
                <a:sym typeface="Arial"/>
              </a:rPr>
              <a:pPr defTabSz="1219170">
                <a:buClr>
                  <a:srgbClr val="000000"/>
                </a:buClr>
              </a:pPr>
              <a:t>18</a:t>
            </a:fld>
            <a:endParaRPr kern="0">
              <a:solidFill>
                <a:srgbClr val="595959"/>
              </a:solidFill>
              <a:latin typeface="Arial"/>
              <a:cs typeface="Arial"/>
              <a:sym typeface="Arial"/>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39379" y="207227"/>
            <a:ext cx="8037304" cy="523180"/>
          </a:xfrm>
          <a:prstGeom prst="rect">
            <a:avLst/>
          </a:prstGeom>
          <a:noFill/>
          <a:ln>
            <a:noFill/>
          </a:ln>
        </p:spPr>
        <p:txBody>
          <a:bodyPr spcFirstLastPara="1" wrap="square" lIns="91433" tIns="45700" rIns="91433" bIns="45700" anchor="t" anchorCtr="0">
            <a:spAutoFit/>
          </a:bodyPr>
          <a:lstStyle/>
          <a:p>
            <a:pPr defTabSz="1219170">
              <a:buClr>
                <a:srgbClr val="000000"/>
              </a:buClr>
            </a:pPr>
            <a:r>
              <a:rPr lang="en-US" sz="2800" b="1" kern="0">
                <a:solidFill>
                  <a:srgbClr val="DEA610"/>
                </a:solidFill>
                <a:latin typeface="Montserrat SemiBold"/>
                <a:ea typeface="Montserrat SemiBold"/>
                <a:cs typeface="Montserrat SemiBold"/>
                <a:sym typeface="Montserrat SemiBold"/>
              </a:rPr>
              <a:t>TÌNH TRẠNG KỸ THUẬT ĐỘI BAY – B787</a:t>
            </a:r>
            <a:endParaRPr sz="1467" kern="0">
              <a:solidFill>
                <a:srgbClr val="000000"/>
              </a:solidFill>
              <a:latin typeface="Arial"/>
              <a:cs typeface="Arial"/>
              <a:sym typeface="Arial"/>
            </a:endParaRPr>
          </a:p>
        </p:txBody>
      </p:sp>
      <p:sp>
        <p:nvSpPr>
          <p:cNvPr id="7" name="Rectangle 6">
            <a:extLst>
              <a:ext uri="{FF2B5EF4-FFF2-40B4-BE49-F238E27FC236}">
                <a16:creationId xmlns:a16="http://schemas.microsoft.com/office/drawing/2014/main" id="{795CC2F9-72E9-47BD-A040-3231760CEEDB}"/>
              </a:ext>
            </a:extLst>
          </p:cNvPr>
          <p:cNvSpPr/>
          <p:nvPr/>
        </p:nvSpPr>
        <p:spPr>
          <a:xfrm>
            <a:off x="533400" y="586175"/>
            <a:ext cx="11125200" cy="6247864"/>
          </a:xfrm>
          <a:prstGeom prst="rect">
            <a:avLst/>
          </a:prstGeom>
        </p:spPr>
        <p:txBody>
          <a:bodyPr wrap="square">
            <a:spAutoFit/>
          </a:bodyPr>
          <a:lstStyle/>
          <a:p>
            <a:pPr algn="just" defTabSz="1219170"/>
            <a:r>
              <a:rPr lang="en-US" sz="1600" b="1" smtClean="0">
                <a:solidFill>
                  <a:prstClr val="black"/>
                </a:solidFill>
                <a:latin typeface="Times New Roman" panose="02020603050405020304" pitchFamily="18" charset="0"/>
                <a:cs typeface="Times New Roman" panose="02020603050405020304" pitchFamily="18" charset="0"/>
                <a:sym typeface="Arial"/>
              </a:rPr>
              <a:t>Nhận xét: </a:t>
            </a:r>
          </a:p>
          <a:p>
            <a:pPr marL="609585" lvl="1" algn="just" defTabSz="1219170"/>
            <a:r>
              <a:rPr lang="en-US" sz="1600" smtClean="0">
                <a:solidFill>
                  <a:srgbClr val="000000"/>
                </a:solidFill>
                <a:latin typeface="Times New Roman" panose="02020603050405020304" pitchFamily="18" charset="0"/>
                <a:cs typeface="Times New Roman" panose="02020603050405020304" pitchFamily="18" charset="0"/>
                <a:sym typeface="Arial"/>
              </a:rPr>
              <a:t>+ </a:t>
            </a:r>
            <a:r>
              <a:rPr lang="en-US" sz="1600">
                <a:solidFill>
                  <a:srgbClr val="000000"/>
                </a:solidFill>
                <a:latin typeface="Times New Roman" panose="02020603050405020304" pitchFamily="18" charset="0"/>
                <a:cs typeface="Times New Roman" panose="02020603050405020304" pitchFamily="18" charset="0"/>
                <a:sym typeface="Arial"/>
              </a:rPr>
              <a:t>A868 AOG tại HAN ngày 04/01 - 12h 05/01 do phát sinh lại hỏng hóc ELEC GEN SYS R2 (phát sinh tại LHR phải xin NN bay về main base) -&gt; Thực hiện WIRING CHECK OK, thay thế các thiết bị MEDC, </a:t>
            </a:r>
            <a:r>
              <a:rPr lang="en-SG" sz="1600">
                <a:solidFill>
                  <a:srgbClr val="000000"/>
                </a:solidFill>
                <a:latin typeface="Times New Roman" panose="02020603050405020304" pitchFamily="18" charset="0"/>
                <a:cs typeface="Times New Roman" panose="02020603050405020304" pitchFamily="18" charset="0"/>
                <a:sym typeface="Arial"/>
              </a:rPr>
              <a:t>P200 LIGHTNING PROTECTION UNIT 2 RIGHT 2 CIRCUIT CARD, RIGHT 2 OVERVOLTAGE TRANSIENT PROTECTION UNIT, VFSG R2.</a:t>
            </a:r>
          </a:p>
          <a:p>
            <a:pPr marL="609585" lvl="1" algn="just" defTabSz="1219170"/>
            <a:r>
              <a:rPr lang="en-SG" sz="1600">
                <a:solidFill>
                  <a:srgbClr val="000000"/>
                </a:solidFill>
                <a:latin typeface="Times New Roman" panose="02020603050405020304" pitchFamily="18" charset="0"/>
                <a:cs typeface="Times New Roman" panose="02020603050405020304" pitchFamily="18" charset="0"/>
                <a:sym typeface="Arial"/>
              </a:rPr>
              <a:t>Lịch sử hỏng hóc:</a:t>
            </a:r>
          </a:p>
          <a:p>
            <a:pPr marL="609585" lvl="1" algn="just" defTabSz="1219170"/>
            <a:r>
              <a:rPr lang="en-SG" sz="1600">
                <a:solidFill>
                  <a:srgbClr val="000000"/>
                </a:solidFill>
                <a:latin typeface="Times New Roman" panose="02020603050405020304" pitchFamily="18" charset="0"/>
                <a:cs typeface="Times New Roman" panose="02020603050405020304" pitchFamily="18" charset="0"/>
                <a:sym typeface="Arial"/>
              </a:rPr>
              <a:t>- 23/12: Mở B1064 ELEC GEN SYS R2 (MMSG 24-18054 -Variable Frequency Start Generator R2 wiring is open or shorted)</a:t>
            </a:r>
          </a:p>
          <a:p>
            <a:pPr marL="609585" lvl="1" algn="just" defTabSz="1219170"/>
            <a:r>
              <a:rPr lang="en-SG" sz="1600">
                <a:solidFill>
                  <a:srgbClr val="000000"/>
                </a:solidFill>
                <a:latin typeface="Times New Roman" panose="02020603050405020304" pitchFamily="18" charset="0"/>
                <a:cs typeface="Times New Roman" panose="02020603050405020304" pitchFamily="18" charset="0"/>
                <a:sym typeface="Arial"/>
              </a:rPr>
              <a:t>- 26/12: Thực hiện clean connectors, nổ máy, MSG gone, B1064 CLRD.</a:t>
            </a:r>
          </a:p>
          <a:p>
            <a:pPr marL="609585" lvl="1" algn="just" defTabSz="1219170"/>
            <a:r>
              <a:rPr lang="en-SG" sz="1600">
                <a:solidFill>
                  <a:srgbClr val="000000"/>
                </a:solidFill>
                <a:latin typeface="Times New Roman" panose="02020603050405020304" pitchFamily="18" charset="0"/>
                <a:cs typeface="Times New Roman" panose="02020603050405020304" pitchFamily="18" charset="0"/>
                <a:sym typeface="Arial"/>
              </a:rPr>
              <a:t>- 28/12: Mở lại </a:t>
            </a:r>
            <a:r>
              <a:rPr lang="nl-NL" sz="1600">
                <a:solidFill>
                  <a:srgbClr val="000000"/>
                </a:solidFill>
                <a:latin typeface="Times New Roman" panose="02020603050405020304" pitchFamily="18" charset="0"/>
                <a:cs typeface="Times New Roman" panose="02020603050405020304" pitchFamily="18" charset="0"/>
                <a:sym typeface="Arial"/>
              </a:rPr>
              <a:t>B1070 "ELEC GEN SYS R2" tại MUC (sau khi bay 04FC gồm 03FC HAN/SGN + 01 HAN-MUC).</a:t>
            </a:r>
          </a:p>
          <a:p>
            <a:pPr marL="609585" lvl="1" algn="just" defTabSz="1219170"/>
            <a:r>
              <a:rPr lang="nl-NL" sz="1600">
                <a:solidFill>
                  <a:srgbClr val="000000"/>
                </a:solidFill>
                <a:latin typeface="Times New Roman" panose="02020603050405020304" pitchFamily="18" charset="0"/>
                <a:cs typeface="Times New Roman" panose="02020603050405020304" pitchFamily="18" charset="0"/>
                <a:sym typeface="Arial"/>
              </a:rPr>
              <a:t>- 29/12: Thay thế VFSG R2 để khắc phục B1070 (VFSG rob từ A862 định kỳ).</a:t>
            </a:r>
          </a:p>
          <a:p>
            <a:pPr marL="609585" lvl="1" algn="just" defTabSz="1219170"/>
            <a:r>
              <a:rPr lang="nl-NL" sz="1600">
                <a:solidFill>
                  <a:srgbClr val="000000"/>
                </a:solidFill>
                <a:latin typeface="Times New Roman" panose="02020603050405020304" pitchFamily="18" charset="0"/>
                <a:cs typeface="Times New Roman" panose="02020603050405020304" pitchFamily="18" charset="0"/>
                <a:sym typeface="Arial"/>
              </a:rPr>
              <a:t>- 30/12: Mở lại B1073 ELEC GEN SYS R2 tại FRA ngay chuyến đầu tiên sau khắc phục (thêm các MMSG: </a:t>
            </a:r>
            <a:r>
              <a:rPr lang="en-SG" sz="1600">
                <a:solidFill>
                  <a:srgbClr val="000000"/>
                </a:solidFill>
                <a:latin typeface="Times New Roman" panose="02020603050405020304" pitchFamily="18" charset="0"/>
                <a:cs typeface="Times New Roman" panose="02020603050405020304" pitchFamily="18" charset="0"/>
                <a:sym typeface="Arial"/>
              </a:rPr>
              <a:t>24-17664 -VARIABLE FREQUENCY START GENERATOR R2 HAS LOW OIL PRESSURE, 24-16184 - VARIABLE FREQUENCY START GENERATOR R2 SPEED IS LOW. ).</a:t>
            </a:r>
            <a:endParaRPr lang="nl-NL" sz="1600">
              <a:solidFill>
                <a:srgbClr val="000000"/>
              </a:solidFill>
              <a:latin typeface="Times New Roman" panose="02020603050405020304" pitchFamily="18" charset="0"/>
              <a:cs typeface="Times New Roman" panose="02020603050405020304" pitchFamily="18" charset="0"/>
              <a:sym typeface="Arial"/>
            </a:endParaRPr>
          </a:p>
          <a:p>
            <a:pPr marL="609585" lvl="1" algn="just" defTabSz="1219170"/>
            <a:r>
              <a:rPr lang="nl-NL" sz="1600">
                <a:solidFill>
                  <a:srgbClr val="000000"/>
                </a:solidFill>
                <a:latin typeface="Times New Roman" panose="02020603050405020304" pitchFamily="18" charset="0"/>
                <a:cs typeface="Times New Roman" panose="02020603050405020304" pitchFamily="18" charset="0"/>
                <a:sym typeface="Arial"/>
              </a:rPr>
              <a:t>- 02/01: T/S check WIRING OK, SWAP </a:t>
            </a:r>
            <a:r>
              <a:rPr lang="pt-BR" sz="1600">
                <a:solidFill>
                  <a:srgbClr val="000000"/>
                </a:solidFill>
                <a:latin typeface="Times New Roman" panose="02020603050405020304" pitchFamily="18" charset="0"/>
                <a:cs typeface="Times New Roman" panose="02020603050405020304" pitchFamily="18" charset="0"/>
                <a:sym typeface="Arial"/>
              </a:rPr>
              <a:t>R AGCU AND R2 GCU OK, thay thế VFSG R2 (rob từ A862).</a:t>
            </a:r>
          </a:p>
          <a:p>
            <a:pPr marL="609585" lvl="1" algn="just" defTabSz="1219170"/>
            <a:r>
              <a:rPr lang="pt-BR" sz="1600">
                <a:solidFill>
                  <a:srgbClr val="000000"/>
                </a:solidFill>
                <a:latin typeface="Times New Roman" panose="02020603050405020304" pitchFamily="18" charset="0"/>
                <a:cs typeface="Times New Roman" panose="02020603050405020304" pitchFamily="18" charset="0"/>
                <a:sym typeface="Arial"/>
              </a:rPr>
              <a:t>- 03/01: Chuyến bay đầu tiên HAN-LHR phát sinh lại hỏng hóc (các MMSG tương tự 30/12) phải xin NN bay 02FC về main base. </a:t>
            </a:r>
          </a:p>
          <a:p>
            <a:pPr marL="609585" lvl="1" algn="just" defTabSz="1219170"/>
            <a:r>
              <a:rPr lang="pt-BR" sz="1600">
                <a:solidFill>
                  <a:srgbClr val="000000"/>
                </a:solidFill>
                <a:latin typeface="Times New Roman" panose="02020603050405020304" pitchFamily="18" charset="0"/>
                <a:cs typeface="Times New Roman" panose="02020603050405020304" pitchFamily="18" charset="0"/>
                <a:sym typeface="Arial"/>
              </a:rPr>
              <a:t>- 04/01: Thực hiện WIRING CHECK OK, thay thế các thiết bị MEDC, P200 LIGHTNING PROTECTION UNIT 2 RIGHT 2 CIRCUIT CARD, RIGHT 2 OVERVOLTAGE TRANSIENT PROTECTION UNIT, VFSG R2 (khối mới về).</a:t>
            </a:r>
            <a:endParaRPr lang="en-SG" sz="1600">
              <a:solidFill>
                <a:srgbClr val="000000"/>
              </a:solidFill>
              <a:latin typeface="Times New Roman" panose="02020603050405020304" pitchFamily="18" charset="0"/>
              <a:cs typeface="Times New Roman" panose="02020603050405020304" pitchFamily="18" charset="0"/>
              <a:sym typeface="Arial"/>
            </a:endParaRPr>
          </a:p>
          <a:p>
            <a:pPr marL="609585" lvl="1" algn="just" defTabSz="1219170"/>
            <a:r>
              <a:rPr lang="en-US" sz="1600">
                <a:solidFill>
                  <a:srgbClr val="FF0000"/>
                </a:solidFill>
                <a:latin typeface="Times New Roman" panose="02020603050405020304" pitchFamily="18" charset="0"/>
                <a:cs typeface="Times New Roman" panose="02020603050405020304" pitchFamily="18" charset="0"/>
                <a:sym typeface="Arial"/>
              </a:rPr>
              <a:t>Đ</a:t>
            </a:r>
            <a:r>
              <a:rPr lang="vi-VN" sz="1600">
                <a:solidFill>
                  <a:srgbClr val="FF0000"/>
                </a:solidFill>
                <a:latin typeface="Times New Roman" panose="02020603050405020304" pitchFamily="18" charset="0"/>
                <a:cs typeface="Times New Roman" panose="02020603050405020304" pitchFamily="18" charset="0"/>
                <a:sym typeface="Arial"/>
              </a:rPr>
              <a:t>ối với hỏng hóc VFSG có trường hợp A868 vừa rồi là bất thường, các tàu khác nguyên nhân đều là do khối cao giờ. KT đang đợi kết quả SFR các khối tháo lắp gần đây để đánh giá thêm. Đối với TH A868, Boeing đánh giá có 2 nguyên nhân do lỗi tháo/lắp hoặc do lỗi Low oil pressure (LOP) trên VFSG. 2 khối thay thế trước đó trên A868 được rob từ A862 đều đã ngưỡng hoạt động cao (15995FH và 26212FH so với GMTBUR=12000FH). Lỗi LOP hiện đã được giảm thiểu bằng cách nâng cấp lên H04, hiện fleet VNA đều đã được nâng cấp lên part này. KT cũng đang làm việc thêm với Collins về lỗi LOP trên các khối đã được nâng cấp. Đối với khả năng về lỗi tháo lắp, Boeing cũng nhận được báo cáo từ một số các airlines về việc hỏng hóc VFSG ngay khi lắp lên. Boeing cũng đã ban hành tài liệu khuyến cáo, lưu ý về quy trình tháo lắp. KT cũng sẽ trao đổi lại và phổ biến với VAECO</a:t>
            </a:r>
            <a:r>
              <a:rPr lang="en-US" sz="1600">
                <a:solidFill>
                  <a:srgbClr val="FF0000"/>
                </a:solidFill>
                <a:latin typeface="Times New Roman" panose="02020603050405020304" pitchFamily="18" charset="0"/>
                <a:cs typeface="Times New Roman" panose="02020603050405020304" pitchFamily="18" charset="0"/>
                <a:sym typeface="Arial"/>
              </a:rPr>
              <a:t>.</a:t>
            </a:r>
            <a:endParaRPr lang="en-SG" sz="1600">
              <a:solidFill>
                <a:prstClr val="black"/>
              </a:solidFill>
              <a:latin typeface="Times New Roman" panose="02020603050405020304" pitchFamily="18" charset="0"/>
              <a:cs typeface="Times New Roman" panose="02020603050405020304" pitchFamily="18" charset="0"/>
              <a:sym typeface="Arial"/>
            </a:endParaRPr>
          </a:p>
        </p:txBody>
      </p:sp>
    </p:spTree>
    <p:extLst>
      <p:ext uri="{BB962C8B-B14F-4D97-AF65-F5344CB8AC3E}">
        <p14:creationId xmlns:p14="http://schemas.microsoft.com/office/powerpoint/2010/main" val="28334201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4D028AA-A55C-EAF0-9D7C-9D32C1075691}"/>
              </a:ext>
            </a:extLst>
          </p:cNvPr>
          <p:cNvSpPr>
            <a:spLocks noGrp="1"/>
          </p:cNvSpPr>
          <p:nvPr>
            <p:ph type="title"/>
          </p:nvPr>
        </p:nvSpPr>
        <p:spPr>
          <a:xfrm>
            <a:off x="709994" y="202040"/>
            <a:ext cx="9155467" cy="551496"/>
          </a:xfrm>
        </p:spPr>
        <p:txBody>
          <a:bodyPr rtlCol="0">
            <a:normAutofit fontScale="90000"/>
          </a:bodyPr>
          <a:lstStyle/>
          <a:p>
            <a:pPr>
              <a:defRPr/>
            </a:pPr>
            <a:r>
              <a:rPr lang="en-US" sz="3733" dirty="0">
                <a:ln w="0"/>
                <a:solidFill>
                  <a:schemeClr val="accent4"/>
                </a:solidFill>
                <a:latin typeface="Times New Roman" panose="02020603050405020304" pitchFamily="18" charset="0"/>
                <a:cs typeface="Times New Roman" panose="02020603050405020304" pitchFamily="18" charset="0"/>
              </a:rPr>
              <a:t>TÌNH TRẠNG KỸ THUẬT ĐỘI BAY – ATR72</a:t>
            </a:r>
            <a:endParaRPr lang="vi-VN" sz="3733" dirty="0">
              <a:ln w="0"/>
              <a:solidFill>
                <a:schemeClr val="accent4"/>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6315A99-7C22-BCBB-51AE-B39776276C50}"/>
              </a:ext>
            </a:extLst>
          </p:cNvPr>
          <p:cNvSpPr txBox="1"/>
          <p:nvPr/>
        </p:nvSpPr>
        <p:spPr>
          <a:xfrm>
            <a:off x="709994" y="967685"/>
            <a:ext cx="1087240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01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 (non-tech)</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 (01 non-tech)</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id="{6F27D0E6-6319-F9BB-EBF8-9A0BC977766E}"/>
              </a:ext>
            </a:extLst>
          </p:cNvPr>
          <p:cNvSpPr txBox="1"/>
          <p:nvPr/>
        </p:nvSpPr>
        <p:spPr>
          <a:xfrm>
            <a:off x="709994" y="1447800"/>
            <a:ext cx="1087240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01</a:t>
            </a:r>
          </a:p>
        </p:txBody>
      </p:sp>
      <p:graphicFrame>
        <p:nvGraphicFramePr>
          <p:cNvPr id="4" name="Table 3">
            <a:extLst>
              <a:ext uri="{FF2B5EF4-FFF2-40B4-BE49-F238E27FC236}">
                <a16:creationId xmlns:a16="http://schemas.microsoft.com/office/drawing/2014/main" id="{9EF188B3-B41C-5E4F-BFDA-EE22AAA2C1E2}"/>
              </a:ext>
            </a:extLst>
          </p:cNvPr>
          <p:cNvGraphicFramePr>
            <a:graphicFrameLocks noGrp="1"/>
          </p:cNvGraphicFramePr>
          <p:nvPr>
            <p:extLst>
              <p:ext uri="{D42A27DB-BD31-4B8C-83A1-F6EECF244321}">
                <p14:modId xmlns:p14="http://schemas.microsoft.com/office/powerpoint/2010/main" val="3159716981"/>
              </p:ext>
            </p:extLst>
          </p:nvPr>
        </p:nvGraphicFramePr>
        <p:xfrm>
          <a:off x="709996" y="1945297"/>
          <a:ext cx="10872404" cy="4731232"/>
        </p:xfrm>
        <a:graphic>
          <a:graphicData uri="http://schemas.openxmlformats.org/drawingml/2006/table">
            <a:tbl>
              <a:tblPr/>
              <a:tblGrid>
                <a:gridCol w="509204">
                  <a:extLst>
                    <a:ext uri="{9D8B030D-6E8A-4147-A177-3AD203B41FA5}">
                      <a16:colId xmlns:a16="http://schemas.microsoft.com/office/drawing/2014/main" val="1032415885"/>
                    </a:ext>
                  </a:extLst>
                </a:gridCol>
                <a:gridCol w="838200">
                  <a:extLst>
                    <a:ext uri="{9D8B030D-6E8A-4147-A177-3AD203B41FA5}">
                      <a16:colId xmlns:a16="http://schemas.microsoft.com/office/drawing/2014/main" val="3065496482"/>
                    </a:ext>
                  </a:extLst>
                </a:gridCol>
                <a:gridCol w="838200">
                  <a:extLst>
                    <a:ext uri="{9D8B030D-6E8A-4147-A177-3AD203B41FA5}">
                      <a16:colId xmlns:a16="http://schemas.microsoft.com/office/drawing/2014/main" val="24283298"/>
                    </a:ext>
                  </a:extLst>
                </a:gridCol>
                <a:gridCol w="533400">
                  <a:extLst>
                    <a:ext uri="{9D8B030D-6E8A-4147-A177-3AD203B41FA5}">
                      <a16:colId xmlns:a16="http://schemas.microsoft.com/office/drawing/2014/main" val="3805210507"/>
                    </a:ext>
                  </a:extLst>
                </a:gridCol>
                <a:gridCol w="2133600">
                  <a:extLst>
                    <a:ext uri="{9D8B030D-6E8A-4147-A177-3AD203B41FA5}">
                      <a16:colId xmlns:a16="http://schemas.microsoft.com/office/drawing/2014/main" val="651607691"/>
                    </a:ext>
                  </a:extLst>
                </a:gridCol>
                <a:gridCol w="2473376">
                  <a:extLst>
                    <a:ext uri="{9D8B030D-6E8A-4147-A177-3AD203B41FA5}">
                      <a16:colId xmlns:a16="http://schemas.microsoft.com/office/drawing/2014/main" val="3575735821"/>
                    </a:ext>
                  </a:extLst>
                </a:gridCol>
                <a:gridCol w="268454">
                  <a:extLst>
                    <a:ext uri="{9D8B030D-6E8A-4147-A177-3AD203B41FA5}">
                      <a16:colId xmlns:a16="http://schemas.microsoft.com/office/drawing/2014/main" val="4108026725"/>
                    </a:ext>
                  </a:extLst>
                </a:gridCol>
                <a:gridCol w="3277970">
                  <a:extLst>
                    <a:ext uri="{9D8B030D-6E8A-4147-A177-3AD203B41FA5}">
                      <a16:colId xmlns:a16="http://schemas.microsoft.com/office/drawing/2014/main" val="1539700478"/>
                    </a:ext>
                  </a:extLst>
                </a:gridCol>
              </a:tblGrid>
              <a:tr h="99075">
                <a:tc>
                  <a:txBody>
                    <a:bodyPr/>
                    <a:lstStyle/>
                    <a:p>
                      <a:pPr algn="ctr" fontAlgn="ctr"/>
                      <a:r>
                        <a:rPr lang="en-US" sz="1000" b="0" i="0" u="none" strike="noStrike">
                          <a:solidFill>
                            <a:srgbClr val="000000"/>
                          </a:solidFill>
                          <a:effectLst/>
                          <a:latin typeface="Calibri" panose="020F0502020204030204" pitchFamily="34" charset="0"/>
                        </a:rPr>
                        <a:t>A/C</a:t>
                      </a:r>
                    </a:p>
                  </a:txBody>
                  <a:tcPr marL="3416" marR="3416" marT="34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OPEN DATE</a:t>
                      </a:r>
                    </a:p>
                  </a:txBody>
                  <a:tcPr marL="3416" marR="3416" marT="34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CLOSED DATE</a:t>
                      </a:r>
                    </a:p>
                  </a:txBody>
                  <a:tcPr marL="3416" marR="3416" marT="34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STA</a:t>
                      </a:r>
                    </a:p>
                  </a:txBody>
                  <a:tcPr marL="3416" marR="3416" marT="34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DEFECT</a:t>
                      </a:r>
                    </a:p>
                  </a:txBody>
                  <a:tcPr marL="3416" marR="3416" marT="34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ACTION</a:t>
                      </a:r>
                    </a:p>
                  </a:txBody>
                  <a:tcPr marL="3416" marR="3416" marT="34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ATA</a:t>
                      </a:r>
                    </a:p>
                  </a:txBody>
                  <a:tcPr marL="3416" marR="3416" marT="34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Engineering Assessment</a:t>
                      </a:r>
                    </a:p>
                  </a:txBody>
                  <a:tcPr marL="3416" marR="3416" marT="34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073915896"/>
                  </a:ext>
                </a:extLst>
              </a:tr>
              <a:tr h="2179647">
                <a:tc>
                  <a:txBody>
                    <a:bodyPr/>
                    <a:lstStyle/>
                    <a:p>
                      <a:pPr algn="l" fontAlgn="t"/>
                      <a:r>
                        <a:rPr lang="en-US" sz="1000" b="0" i="0" u="none" strike="noStrike">
                          <a:solidFill>
                            <a:srgbClr val="000000"/>
                          </a:solidFill>
                          <a:effectLst/>
                          <a:latin typeface="Calibri" panose="020F0502020204030204" pitchFamily="34" charset="0"/>
                        </a:rPr>
                        <a:t>B223</a:t>
                      </a:r>
                    </a:p>
                  </a:txBody>
                  <a:tcPr marL="3416" marR="3416" marT="341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Calibri" panose="020F0502020204030204" pitchFamily="34" charset="0"/>
                        </a:rPr>
                        <a:t>05:55 04/01/2025</a:t>
                      </a:r>
                    </a:p>
                  </a:txBody>
                  <a:tcPr marL="3416" marR="3416" marT="341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Calibri" panose="020F0502020204030204" pitchFamily="34" charset="0"/>
                        </a:rPr>
                        <a:t>09:50 04/01/2025</a:t>
                      </a:r>
                    </a:p>
                  </a:txBody>
                  <a:tcPr marL="3416" marR="3416" marT="341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Calibri" panose="020F0502020204030204" pitchFamily="34" charset="0"/>
                        </a:rPr>
                        <a:t>SGN</a:t>
                      </a:r>
                    </a:p>
                  </a:txBody>
                  <a:tcPr marL="3416" marR="3416" marT="341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Calibri" panose="020F0502020204030204" pitchFamily="34" charset="0"/>
                        </a:rPr>
                        <a:t>B223 [RTO] [GTB] TAKE OFF CONFIG (DEFECT REPETITIVE) DURING TAKE OFF CAPT INFORM VIA VHF TAKE OFF CONFIG (DEFECT REPETITIVE), CAPT DECIED RTO &amp;amp; GTB FOR CHECK</a:t>
                      </a:r>
                    </a:p>
                  </a:txBody>
                  <a:tcPr marL="3416" marR="3416" marT="341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Calibri" panose="020F0502020204030204" pitchFamily="34" charset="0"/>
                        </a:rPr>
                        <a:t>FINAL ACTION: REPLACED TRANSMITTER 16 CV, CHK FLAP LOCK ACTUATOR NO FOUND LEAK, CHECK SATIS.&lt;/p&gt; TAKE OFF CONFIG (DEFECT REPETITIVE) EVENT CLOSED</a:t>
                      </a:r>
                      <a:br>
                        <a:rPr lang="en-US" sz="1000" b="0" i="0" u="none" strike="noStrike">
                          <a:solidFill>
                            <a:srgbClr val="000000"/>
                          </a:solidFill>
                          <a:effectLst/>
                          <a:latin typeface="Calibri" panose="020F0502020204030204" pitchFamily="34" charset="0"/>
                        </a:rPr>
                      </a:br>
                      <a:endParaRPr lang="en-US" sz="1000" b="0" i="0" u="none" strike="noStrike">
                        <a:solidFill>
                          <a:srgbClr val="000000"/>
                        </a:solidFill>
                        <a:effectLst/>
                        <a:latin typeface="Calibri" panose="020F0502020204030204" pitchFamily="34" charset="0"/>
                      </a:endParaRPr>
                    </a:p>
                  </a:txBody>
                  <a:tcPr marL="3416" marR="3416" marT="341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Calibri" panose="020F0502020204030204" pitchFamily="34" charset="0"/>
                        </a:rPr>
                        <a:t> </a:t>
                      </a:r>
                    </a:p>
                  </a:txBody>
                  <a:tcPr marL="3416" marR="3416" marT="341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dirty="0">
                          <a:solidFill>
                            <a:srgbClr val="000000"/>
                          </a:solidFill>
                          <a:effectLst/>
                          <a:latin typeface="Calibri" panose="020F0502020204030204" pitchFamily="34" charset="0"/>
                        </a:rPr>
                        <a:t>Hỏng hóc "TO CONFIG" chỉ xảy ra trên B223, các lần bị như sau: </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 Ngày 23/11/2023 =&gt; Kiểm tra hệ thống bình thường, OPT Test hệ thống, cảnh báo biến mất, khắc phục được hỏng hóc. </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 Ngày 09/12/2024=&gt; Kiểm tra hệ thống bình thường, OPT Test hệ thống, cảnh báo biến mất.</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 Ngày 20/12/2024=&gt; Thay Flap Transmitter 15CV, OPT test hệ thống, cảnh báo biến mất</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 Ngày 04/01/2025, phát sinh hỏng hóc gây quay lại, đã thay Flap transmitter 16CV để khắc phục.</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Đánh giá:</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Hỏng hóc lặp lại nhiều lần nhưng khó trouble shooting bởi vì tàu bay ATR72 không có nhiều cảm biến để phát hiện cụ thể thiết bị hỏng hóc mà phải dựa vào sơ đồ nguyên lý làm việc để đánh giá, phân tích khả năng hỏng hóc. Ban KT/VAECO có tổ chức họp trực tiếp với chuyên gia ATR về hỏng hóc này. Chuyên gia ATR có tư vấn một số nguyên nhân hỏng hóc dựa trên các kinh nghiệm từ operator khác, nhưng cũng không chỉ ra được cụ thể hỏng hóc từ thiết bị nào mà phải thay thế từng thiết bị nghi ngờ để khắc phục, do đó mới bị xuất hiện nhiều lần.</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Có 4 nguyên nhân có khả năng gây ra hỏng hóc này:</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 Pitch Trim</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 Flap position</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 TLU</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 Aileron tab lock.</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Qua hiện tượng đánh giá sơ bộ, thì nghi ngờ cao do hệ thống cảm biến vị trí Flap. Có 2 vị trí bên LH và RH, ngày 20/12/2024, mới chỉ thay được 1 bên LH do chỉ có 1 spare trong kho. Đến ngày 03/01/2024 mới có vật tư mới, chưa kịp bố trí dừng tàu bay để khắc phục thì xuất hiện hỏng hóc ngày 04/01/2025.</a:t>
                      </a:r>
                    </a:p>
                  </a:txBody>
                  <a:tcPr marL="3416" marR="3416" marT="341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96216601"/>
                  </a:ext>
                </a:extLst>
              </a:tr>
            </a:tbl>
          </a:graphicData>
        </a:graphic>
      </p:graphicFrame>
    </p:spTree>
    <p:extLst>
      <p:ext uri="{BB962C8B-B14F-4D97-AF65-F5344CB8AC3E}">
        <p14:creationId xmlns:p14="http://schemas.microsoft.com/office/powerpoint/2010/main" val="3523230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E072B929-1CB1-D96F-634B-889F6DE6479F}"/>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6E34C00-4DE7-E874-626F-BA3C33918A6D}"/>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A959063-29E0-8B39-AD88-2CEA65DBC1C9}"/>
              </a:ext>
            </a:extLst>
          </p:cNvPr>
          <p:cNvSpPr>
            <a:spLocks noGrp="1"/>
          </p:cNvSpPr>
          <p:nvPr>
            <p:ph type="title"/>
          </p:nvPr>
        </p:nvSpPr>
        <p:spPr>
          <a:xfrm>
            <a:off x="709994" y="202040"/>
            <a:ext cx="9155467" cy="551496"/>
          </a:xfrm>
        </p:spPr>
        <p:txBody>
          <a:bodyPr rtlCol="0">
            <a:normAutofit fontScale="90000"/>
          </a:bodyPr>
          <a:lstStyle/>
          <a:p>
            <a:pPr>
              <a:defRPr/>
            </a:pPr>
            <a:r>
              <a:rPr lang="en-US" sz="3733" dirty="0">
                <a:ln w="0"/>
                <a:solidFill>
                  <a:schemeClr val="accent4"/>
                </a:solidFill>
                <a:latin typeface="Times New Roman" panose="02020603050405020304" pitchFamily="18" charset="0"/>
                <a:cs typeface="Times New Roman" panose="02020603050405020304" pitchFamily="18" charset="0"/>
              </a:rPr>
              <a:t>TÌNH TRẠNG KỸ THUẬT ĐỘI BAY – ATR72</a:t>
            </a:r>
            <a:endParaRPr lang="vi-VN" sz="3733" dirty="0">
              <a:ln w="0"/>
              <a:solidFill>
                <a:schemeClr val="accent4"/>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B8E2592-8D12-D791-2D2D-31CAB6014D87}"/>
              </a:ext>
            </a:extLst>
          </p:cNvPr>
          <p:cNvSpPr txBox="1"/>
          <p:nvPr/>
        </p:nvSpPr>
        <p:spPr>
          <a:xfrm>
            <a:off x="709994" y="1447800"/>
            <a:ext cx="1087240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 (non-tech)</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65DCAEF4-0F2C-E96B-A789-E623EB5B125D}"/>
              </a:ext>
            </a:extLst>
          </p:cNvPr>
          <p:cNvGraphicFramePr>
            <a:graphicFrameLocks noGrp="1"/>
          </p:cNvGraphicFramePr>
          <p:nvPr>
            <p:extLst/>
          </p:nvPr>
        </p:nvGraphicFramePr>
        <p:xfrm>
          <a:off x="723441" y="1963774"/>
          <a:ext cx="10872406" cy="4232910"/>
        </p:xfrm>
        <a:graphic>
          <a:graphicData uri="http://schemas.openxmlformats.org/drawingml/2006/table">
            <a:tbl>
              <a:tblPr/>
              <a:tblGrid>
                <a:gridCol w="299385">
                  <a:extLst>
                    <a:ext uri="{9D8B030D-6E8A-4147-A177-3AD203B41FA5}">
                      <a16:colId xmlns:a16="http://schemas.microsoft.com/office/drawing/2014/main" val="4039160500"/>
                    </a:ext>
                  </a:extLst>
                </a:gridCol>
                <a:gridCol w="866641">
                  <a:extLst>
                    <a:ext uri="{9D8B030D-6E8A-4147-A177-3AD203B41FA5}">
                      <a16:colId xmlns:a16="http://schemas.microsoft.com/office/drawing/2014/main" val="63467706"/>
                    </a:ext>
                  </a:extLst>
                </a:gridCol>
                <a:gridCol w="299385">
                  <a:extLst>
                    <a:ext uri="{9D8B030D-6E8A-4147-A177-3AD203B41FA5}">
                      <a16:colId xmlns:a16="http://schemas.microsoft.com/office/drawing/2014/main" val="1496842390"/>
                    </a:ext>
                  </a:extLst>
                </a:gridCol>
                <a:gridCol w="811491">
                  <a:extLst>
                    <a:ext uri="{9D8B030D-6E8A-4147-A177-3AD203B41FA5}">
                      <a16:colId xmlns:a16="http://schemas.microsoft.com/office/drawing/2014/main" val="1357156671"/>
                    </a:ext>
                  </a:extLst>
                </a:gridCol>
                <a:gridCol w="606649">
                  <a:extLst>
                    <a:ext uri="{9D8B030D-6E8A-4147-A177-3AD203B41FA5}">
                      <a16:colId xmlns:a16="http://schemas.microsoft.com/office/drawing/2014/main" val="2144177431"/>
                    </a:ext>
                  </a:extLst>
                </a:gridCol>
                <a:gridCol w="504228">
                  <a:extLst>
                    <a:ext uri="{9D8B030D-6E8A-4147-A177-3AD203B41FA5}">
                      <a16:colId xmlns:a16="http://schemas.microsoft.com/office/drawing/2014/main" val="4213009892"/>
                    </a:ext>
                  </a:extLst>
                </a:gridCol>
                <a:gridCol w="2213874">
                  <a:extLst>
                    <a:ext uri="{9D8B030D-6E8A-4147-A177-3AD203B41FA5}">
                      <a16:colId xmlns:a16="http://schemas.microsoft.com/office/drawing/2014/main" val="3467424706"/>
                    </a:ext>
                  </a:extLst>
                </a:gridCol>
                <a:gridCol w="2056303">
                  <a:extLst>
                    <a:ext uri="{9D8B030D-6E8A-4147-A177-3AD203B41FA5}">
                      <a16:colId xmlns:a16="http://schemas.microsoft.com/office/drawing/2014/main" val="446785187"/>
                    </a:ext>
                  </a:extLst>
                </a:gridCol>
                <a:gridCol w="307263">
                  <a:extLst>
                    <a:ext uri="{9D8B030D-6E8A-4147-A177-3AD203B41FA5}">
                      <a16:colId xmlns:a16="http://schemas.microsoft.com/office/drawing/2014/main" val="704918536"/>
                    </a:ext>
                  </a:extLst>
                </a:gridCol>
                <a:gridCol w="2907187">
                  <a:extLst>
                    <a:ext uri="{9D8B030D-6E8A-4147-A177-3AD203B41FA5}">
                      <a16:colId xmlns:a16="http://schemas.microsoft.com/office/drawing/2014/main" val="2543189334"/>
                    </a:ext>
                  </a:extLst>
                </a:gridCol>
              </a:tblGrid>
              <a:tr h="110490">
                <a:tc>
                  <a:txBody>
                    <a:bodyPr/>
                    <a:lstStyle/>
                    <a:p>
                      <a:pPr algn="ctr" fontAlgn="ctr"/>
                      <a:r>
                        <a:rPr lang="en-US" sz="700" b="0" i="0" u="none" strike="noStrike">
                          <a:solidFill>
                            <a:srgbClr val="000000"/>
                          </a:solidFill>
                          <a:effectLst/>
                          <a:latin typeface="Calibri" panose="020F0502020204030204" pitchFamily="34" charset="0"/>
                        </a:rPr>
                        <a:t>A/C</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DELAY DATE</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STA</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DELAY MINUTES</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FLIGHT NO</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ROUTINE</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DELAY DESC</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DELAY ACTION</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ATA</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700" b="0" i="0" u="none" strike="noStrike">
                          <a:solidFill>
                            <a:srgbClr val="000000"/>
                          </a:solidFill>
                          <a:effectLst/>
                          <a:latin typeface="Calibri" panose="020F0502020204030204" pitchFamily="34" charset="0"/>
                        </a:rPr>
                        <a:t>Engineering Assessment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928060500"/>
                  </a:ext>
                </a:extLst>
              </a:tr>
              <a:tr h="662940">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B223</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15:20 01/01/2025</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VN1885</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SGN-VCS</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[GTB] CAPT REPORTED NOISE FROM REAR SECTION A/C &lt;p&gt;DURING TAXI, CAPT REPORTED VIA VHF: FOUND NOISE FROM REAR SECTION A/C AND DECIED A/C GTB FOR CHECK</a:t>
                      </a:r>
                      <a:br>
                        <a:rPr lang="en-US" sz="1000" b="0" i="0" u="none" strike="noStrike">
                          <a:solidFill>
                            <a:srgbClr val="000000"/>
                          </a:solidFill>
                          <a:effectLst/>
                          <a:latin typeface="Times New Roman" panose="02020603050405020304" pitchFamily="18" charset="0"/>
                          <a:cs typeface="Times New Roman" panose="02020603050405020304" pitchFamily="18" charset="0"/>
                        </a:rPr>
                      </a:b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 EVENT CLOSED &lt;p&gt;AFT A/C GTB, CRS PERFORMED INSP A/C. NO FINDING</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 ALL ACCESS PNL ARE CLOSED</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 TAIL PROP REMOVED AND SECURED</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 INSPECTION LANDING GEAR. NO FINDING</a:t>
                      </a:r>
                      <a:br>
                        <a:rPr lang="en-US" sz="1000" b="0" i="0" u="none" strike="noStrike">
                          <a:solidFill>
                            <a:srgbClr val="000000"/>
                          </a:solidFill>
                          <a:effectLst/>
                          <a:latin typeface="Times New Roman" panose="02020603050405020304" pitchFamily="18" charset="0"/>
                          <a:cs typeface="Times New Roman" panose="02020603050405020304" pitchFamily="18" charset="0"/>
                        </a:rPr>
                      </a:b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NONE TECH</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44328177"/>
                  </a:ext>
                </a:extLst>
              </a:tr>
              <a:tr h="1110234">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B223</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16:30 31/12/2024</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VN7821</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SGN-PQC</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DUE TO B223 HAS ADD B676 BOTH BEACON LT INOP  &lt;p&gt;DUE TO B223 HAS ADD B676 BOTH BEACON LT INOP -&amp;gt; A/C &amp;#160;FLIGHT WITH DAYLIGHT OPERATION CONDITION</a:t>
                      </a:r>
                      <a:br>
                        <a:rPr lang="en-US" sz="1000" b="0" i="0" u="none" strike="noStrike">
                          <a:solidFill>
                            <a:srgbClr val="000000"/>
                          </a:solidFill>
                          <a:effectLst/>
                          <a:latin typeface="Times New Roman" panose="02020603050405020304" pitchFamily="18" charset="0"/>
                          <a:cs typeface="Times New Roman" panose="02020603050405020304" pitchFamily="18" charset="0"/>
                        </a:rPr>
                      </a:b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a:solidFill>
                            <a:srgbClr val="000000"/>
                          </a:solidFill>
                          <a:effectLst/>
                          <a:latin typeface="Times New Roman" panose="02020603050405020304" pitchFamily="18" charset="0"/>
                          <a:cs typeface="Times New Roman" panose="02020603050405020304" pitchFamily="18" charset="0"/>
                        </a:rPr>
                        <a:t>&lt;p&gt;&amp;#160;- 16:30 DO B223 CÓ ADD B676 BOTH BEACON LT INOP KHÔNG BAY ĐÊM, MOC BÁO ĐỔI B225 BAY THAY (CHỜ CẤP GIA HẠN CC COA)&lt;br /&gt;</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- 17:00 TÀU ĐÃ ĐƯỢC CẤP GIA HẠN CC COA, TRIỂN KHAI KÉO LÊN KHAI THÁC&amp;#160;&lt;br /&gt;</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- 18:05 TÀU KÉO QUA CỔNG 9 LÊN BÃI 08&lt;br /&gt;</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- 18:56: TÀU ĐÓNG CỬA VÀ ĐẨY&lt;/p&gt; DUE TO B223 HAS ADD B676 BOTH BEACON LT INOP EVENT CLOSED &lt;p&gt;FINAL ACTION: A/C CHANGED B225 FLT VN7821/SGN-PQC INSTEAD OF B223</a:t>
                      </a:r>
                      <a:br>
                        <a:rPr lang="vi-VN" sz="1000" b="0" i="0" u="none" strike="noStrike">
                          <a:solidFill>
                            <a:srgbClr val="000000"/>
                          </a:solidFill>
                          <a:effectLst/>
                          <a:latin typeface="Times New Roman" panose="02020603050405020304" pitchFamily="18" charset="0"/>
                          <a:cs typeface="Times New Roman" panose="02020603050405020304" pitchFamily="18" charset="0"/>
                        </a:rPr>
                      </a:br>
                      <a:endParaRPr lang="vi-VN"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33-00</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dirty="0">
                          <a:solidFill>
                            <a:srgbClr val="000000"/>
                          </a:solidFill>
                          <a:effectLst/>
                          <a:latin typeface="Times New Roman" panose="02020603050405020304" pitchFamily="18" charset="0"/>
                          <a:cs typeface="Times New Roman" panose="02020603050405020304" pitchFamily="18" charset="0"/>
                        </a:rPr>
                        <a:t>Non-Tech</a:t>
                      </a:r>
                    </a:p>
                  </a:txBody>
                  <a:tcPr marL="3810" marR="3810" marT="38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2060859"/>
                  </a:ext>
                </a:extLst>
              </a:tr>
            </a:tbl>
          </a:graphicData>
        </a:graphic>
      </p:graphicFrame>
      <p:sp>
        <p:nvSpPr>
          <p:cNvPr id="7" name="TextBox 6">
            <a:extLst>
              <a:ext uri="{FF2B5EF4-FFF2-40B4-BE49-F238E27FC236}">
                <a16:creationId xmlns:a16="http://schemas.microsoft.com/office/drawing/2014/main" id="{D6315A99-7C22-BCBB-51AE-B39776276C50}"/>
              </a:ext>
            </a:extLst>
          </p:cNvPr>
          <p:cNvSpPr txBox="1"/>
          <p:nvPr/>
        </p:nvSpPr>
        <p:spPr>
          <a:xfrm>
            <a:off x="709994" y="967685"/>
            <a:ext cx="1087240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01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 (non-tech)</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 (01 non-tech)</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3807461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5" name="Title 4"/>
          <p:cNvSpPr>
            <a:spLocks noGrp="1"/>
          </p:cNvSpPr>
          <p:nvPr>
            <p:ph type="title"/>
          </p:nvPr>
        </p:nvSpPr>
        <p:spPr>
          <a:xfrm>
            <a:off x="381000" y="76200"/>
            <a:ext cx="11277600" cy="815200"/>
          </a:xfrm>
        </p:spPr>
        <p:txBody>
          <a:bodyPr>
            <a:normAutofit/>
          </a:bodyPr>
          <a:lstStyle/>
          <a:p>
            <a:r>
              <a:rPr lang="en-US" sz="2800" dirty="0">
                <a:ln w="0"/>
                <a:solidFill>
                  <a:srgbClr val="FFC000"/>
                </a:solidFill>
                <a:latin typeface="Times New Roman" panose="02020603050405020304" pitchFamily="18" charset="0"/>
                <a:cs typeface="Times New Roman" panose="02020603050405020304" pitchFamily="18" charset="0"/>
              </a:rPr>
              <a:t>B223-GTB </a:t>
            </a:r>
            <a:r>
              <a:rPr lang="en-US" dirty="0">
                <a:ln w="0"/>
                <a:solidFill>
                  <a:srgbClr val="FFC000"/>
                </a:solidFill>
                <a:latin typeface="Times New Roman" panose="02020603050405020304" pitchFamily="18" charset="0"/>
                <a:cs typeface="Times New Roman" panose="02020603050405020304" pitchFamily="18" charset="0"/>
              </a:rPr>
              <a:t>due to </a:t>
            </a:r>
            <a:r>
              <a:rPr lang="en-US" dirty="0" err="1">
                <a:ln w="0"/>
                <a:solidFill>
                  <a:srgbClr val="FF0000"/>
                </a:solidFill>
                <a:latin typeface="Times New Roman" panose="02020603050405020304" pitchFamily="18" charset="0"/>
                <a:cs typeface="Times New Roman" panose="02020603050405020304" pitchFamily="18" charset="0"/>
              </a:rPr>
              <a:t>TO</a:t>
            </a:r>
            <a:r>
              <a:rPr lang="en-US" dirty="0">
                <a:ln w="0"/>
                <a:solidFill>
                  <a:srgbClr val="FF0000"/>
                </a:solidFill>
                <a:latin typeface="Times New Roman" panose="02020603050405020304" pitchFamily="18" charset="0"/>
                <a:cs typeface="Times New Roman" panose="02020603050405020304" pitchFamily="18" charset="0"/>
              </a:rPr>
              <a:t> CONFIG </a:t>
            </a:r>
            <a:r>
              <a:rPr lang="en-US" dirty="0">
                <a:ln w="0"/>
                <a:solidFill>
                  <a:srgbClr val="FFC000"/>
                </a:solidFill>
                <a:latin typeface="Times New Roman" panose="02020603050405020304" pitchFamily="18" charset="0"/>
                <a:cs typeface="Times New Roman" panose="02020603050405020304" pitchFamily="18" charset="0"/>
              </a:rPr>
              <a:t>and </a:t>
            </a:r>
            <a:r>
              <a:rPr lang="en-US" dirty="0">
                <a:ln w="0"/>
                <a:solidFill>
                  <a:srgbClr val="FF0000"/>
                </a:solidFill>
                <a:latin typeface="Times New Roman" panose="02020603050405020304" pitchFamily="18" charset="0"/>
                <a:cs typeface="Times New Roman" panose="02020603050405020304" pitchFamily="18" charset="0"/>
              </a:rPr>
              <a:t>FTL CTL</a:t>
            </a:r>
            <a:endParaRPr lang="vi-VN" sz="2800" dirty="0">
              <a:ln w="0"/>
              <a:solidFill>
                <a:srgbClr val="FF0000"/>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58D7868F-4685-18B8-2D75-5BB712FE8F92}"/>
              </a:ext>
            </a:extLst>
          </p:cNvPr>
          <p:cNvPicPr>
            <a:picLocks noChangeAspect="1"/>
          </p:cNvPicPr>
          <p:nvPr/>
        </p:nvPicPr>
        <p:blipFill>
          <a:blip r:embed="rId3"/>
          <a:stretch>
            <a:fillRect/>
          </a:stretch>
        </p:blipFill>
        <p:spPr>
          <a:xfrm>
            <a:off x="4523413" y="2699379"/>
            <a:ext cx="3437739" cy="954303"/>
          </a:xfrm>
          <a:prstGeom prst="rect">
            <a:avLst/>
          </a:prstGeom>
          <a:ln>
            <a:solidFill>
              <a:schemeClr val="accent1"/>
            </a:solidFill>
          </a:ln>
        </p:spPr>
      </p:pic>
      <p:pic>
        <p:nvPicPr>
          <p:cNvPr id="3" name="Picture 2">
            <a:extLst>
              <a:ext uri="{FF2B5EF4-FFF2-40B4-BE49-F238E27FC236}">
                <a16:creationId xmlns:a16="http://schemas.microsoft.com/office/drawing/2014/main" id="{1096F373-F282-C898-EF26-C65DBAA18D61}"/>
              </a:ext>
            </a:extLst>
          </p:cNvPr>
          <p:cNvPicPr>
            <a:picLocks noChangeAspect="1"/>
          </p:cNvPicPr>
          <p:nvPr/>
        </p:nvPicPr>
        <p:blipFill>
          <a:blip r:embed="rId4"/>
          <a:stretch>
            <a:fillRect/>
          </a:stretch>
        </p:blipFill>
        <p:spPr>
          <a:xfrm>
            <a:off x="8415312" y="489202"/>
            <a:ext cx="3589829" cy="3750884"/>
          </a:xfrm>
          <a:prstGeom prst="rect">
            <a:avLst/>
          </a:prstGeom>
        </p:spPr>
      </p:pic>
      <p:sp>
        <p:nvSpPr>
          <p:cNvPr id="7" name="TextBox 6">
            <a:extLst>
              <a:ext uri="{FF2B5EF4-FFF2-40B4-BE49-F238E27FC236}">
                <a16:creationId xmlns:a16="http://schemas.microsoft.com/office/drawing/2014/main" id="{BDC0E96D-68E0-8586-2D38-AA83269AAE71}"/>
              </a:ext>
            </a:extLst>
          </p:cNvPr>
          <p:cNvSpPr txBox="1"/>
          <p:nvPr/>
        </p:nvSpPr>
        <p:spPr>
          <a:xfrm>
            <a:off x="271243" y="646329"/>
            <a:ext cx="8008691" cy="1877437"/>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vi-VN" sz="1800" b="1" i="0" u="none" strike="noStrike" kern="1200" cap="none" spc="0" normalizeH="0" baseline="0" noProof="0" dirty="0">
                <a:ln>
                  <a:noFill/>
                </a:ln>
                <a:solidFill>
                  <a:srgbClr val="7030A0"/>
                </a:solidFill>
                <a:effectLst/>
                <a:uLnTx/>
                <a:uFillTx/>
                <a:latin typeface="Tahoma" panose="020B0604030504040204" pitchFamily="34" charset="0"/>
                <a:ea typeface="+mn-ea"/>
                <a:cs typeface="+mn-cs"/>
              </a:rPr>
              <a:t>Đánh giá: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400" b="0" i="0" u="none" strike="noStrike" kern="1200" cap="none" spc="0" normalizeH="0" baseline="0" noProof="0" dirty="0">
                <a:ln>
                  <a:noFill/>
                </a:ln>
                <a:solidFill>
                  <a:prstClr val="black"/>
                </a:solidFill>
                <a:effectLst/>
                <a:uLnTx/>
                <a:uFillTx/>
                <a:latin typeface="Tahoma" panose="020B0604030504040204" pitchFamily="34" charset="0"/>
                <a:ea typeface="+mn-ea"/>
                <a:cs typeface="+mn-cs"/>
              </a:rPr>
              <a:t>Hỏng hóc "TO CONFIG" chỉ xảy ra trên B223 với  các lần như sau: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vi-VN" sz="1400" b="0" i="0" u="none" strike="noStrike" kern="1200" cap="none" spc="0" normalizeH="0" baseline="0" noProof="0" dirty="0">
                <a:ln>
                  <a:noFill/>
                </a:ln>
                <a:solidFill>
                  <a:prstClr val="black"/>
                </a:solidFill>
                <a:effectLst/>
                <a:uLnTx/>
                <a:uFillTx/>
                <a:latin typeface="Tahoma" panose="020B0604030504040204" pitchFamily="34" charset="0"/>
                <a:ea typeface="+mn-ea"/>
                <a:cs typeface="+mn-cs"/>
              </a:rPr>
              <a:t>Ngày 23/11/2023 =&gt; Kiểm tra hệ thống bình thường, OPT Test hệ thống, cảnh báo biến mất, khắc phục được hỏng hóc. </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vi-VN" sz="1400" b="0" i="0" u="none" strike="noStrike" kern="1200" cap="none" spc="0" normalizeH="0" baseline="0" noProof="0" dirty="0">
                <a:ln>
                  <a:noFill/>
                </a:ln>
                <a:solidFill>
                  <a:prstClr val="black"/>
                </a:solidFill>
                <a:effectLst/>
                <a:uLnTx/>
                <a:uFillTx/>
                <a:latin typeface="Tahoma" panose="020B0604030504040204" pitchFamily="34" charset="0"/>
                <a:ea typeface="+mn-ea"/>
                <a:cs typeface="+mn-cs"/>
              </a:rPr>
              <a:t>Ngày 09/12/2024=&gt; Kiểm tra hệ thống bình thường, OPT Test hệ thống, cảnh báo biến mất.</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vi-VN" sz="1400" b="0" i="0" u="none" strike="noStrike" kern="1200" cap="none" spc="0" normalizeH="0" baseline="0" noProof="0" dirty="0">
                <a:ln>
                  <a:noFill/>
                </a:ln>
                <a:solidFill>
                  <a:prstClr val="black"/>
                </a:solidFill>
                <a:effectLst/>
                <a:uLnTx/>
                <a:uFillTx/>
                <a:latin typeface="Tahoma" panose="020B0604030504040204" pitchFamily="34" charset="0"/>
                <a:ea typeface="+mn-ea"/>
                <a:cs typeface="+mn-cs"/>
              </a:rPr>
              <a:t>Ngày 20/12/2024=&gt; Thay Flap Transmitter 15CV do chỉ có 1 spare trong kho, tuy nhiên, sau khi OPT Test hệ thống, cảnh báo biến mất.</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vi-VN" sz="1400" b="0" i="0" u="none" strike="noStrike" kern="1200" cap="none" spc="0" normalizeH="0" baseline="0" noProof="0" dirty="0">
                <a:ln>
                  <a:noFill/>
                </a:ln>
                <a:solidFill>
                  <a:prstClr val="black"/>
                </a:solidFill>
                <a:effectLst/>
                <a:uLnTx/>
                <a:uFillTx/>
                <a:latin typeface="Tahoma" panose="020B0604030504040204" pitchFamily="34" charset="0"/>
                <a:ea typeface="+mn-ea"/>
                <a:cs typeface="+mn-cs"/>
              </a:rPr>
              <a:t>Ngày 01/04/2025=&gt; Thay Flap Transmitter 16CV, khắc phục hỏng hóc.</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AC7B7B7E-974B-1768-DBD0-3EAA91BE4E97}"/>
              </a:ext>
            </a:extLst>
          </p:cNvPr>
          <p:cNvSpPr/>
          <p:nvPr/>
        </p:nvSpPr>
        <p:spPr>
          <a:xfrm>
            <a:off x="271242" y="4756749"/>
            <a:ext cx="10558946" cy="1200329"/>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vi-VN" sz="1600" b="1" i="0" u="none" strike="noStrike" kern="1200" cap="none" spc="0" normalizeH="0" baseline="0" noProof="0" dirty="0">
                <a:ln>
                  <a:noFill/>
                </a:ln>
                <a:solidFill>
                  <a:srgbClr val="7030A0"/>
                </a:solidFill>
                <a:effectLst/>
                <a:uLnTx/>
                <a:uFillTx/>
                <a:latin typeface="Tahoma" panose="020B0604030504040204" pitchFamily="34" charset="0"/>
                <a:ea typeface="+mn-ea"/>
                <a:cs typeface="+mn-cs"/>
              </a:rPr>
              <a:t> Kết luận: </a:t>
            </a:r>
            <a:endParaRPr kumimoji="0" lang="en-US" sz="1600" b="1" i="0" u="none" strike="noStrike" kern="1200" cap="none" spc="0" normalizeH="0" baseline="0" noProof="0" dirty="0">
              <a:ln>
                <a:noFill/>
              </a:ln>
              <a:solidFill>
                <a:srgbClr val="7030A0"/>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vi-VN" sz="1400" b="0" i="0" u="none" strike="noStrike" kern="1200" cap="none" spc="0" normalizeH="0" baseline="0" noProof="0" dirty="0">
                <a:ln>
                  <a:noFill/>
                </a:ln>
                <a:solidFill>
                  <a:srgbClr val="121111"/>
                </a:solidFill>
                <a:effectLst/>
                <a:uLnTx/>
                <a:uFillTx/>
                <a:latin typeface="Tahoma" panose="020B0604030504040204" pitchFamily="34" charset="0"/>
                <a:ea typeface="+mn-ea"/>
                <a:cs typeface="+mn-cs"/>
              </a:rPr>
              <a:t>Đây là hỏng hóc đơn lẻ, chỉ xảy ra trên B22</a:t>
            </a:r>
            <a:r>
              <a:rPr kumimoji="0" lang="en-US" sz="1400" b="0" i="0" u="none" strike="noStrike" kern="1200" cap="none" spc="0" normalizeH="0" baseline="0" noProof="0" dirty="0">
                <a:ln>
                  <a:noFill/>
                </a:ln>
                <a:solidFill>
                  <a:srgbClr val="121111"/>
                </a:solidFill>
                <a:effectLst/>
                <a:uLnTx/>
                <a:uFillTx/>
                <a:latin typeface="Calibri"/>
                <a:ea typeface="+mn-ea"/>
                <a:cs typeface="+mn-cs"/>
              </a:rPr>
              <a:t>3</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vi-VN" sz="1400" b="0" i="0" u="none" strike="noStrike" kern="1200" cap="none" spc="0" normalizeH="0" baseline="0" noProof="0" dirty="0">
                <a:ln>
                  <a:noFill/>
                </a:ln>
                <a:solidFill>
                  <a:srgbClr val="121111"/>
                </a:solidFill>
                <a:effectLst/>
                <a:uLnTx/>
                <a:uFillTx/>
                <a:latin typeface="Tahoma" panose="020B0604030504040204" pitchFamily="34" charset="0"/>
                <a:ea typeface="+mn-ea"/>
                <a:cs typeface="+mn-cs"/>
              </a:rPr>
              <a:t>Hỏng hóc lặp lại nhiều lần nhưng khó troubleshooting bởi vì tàu bay ATR72 không có nhiều cảm biến để phát hiện cụ thể thiết bị hỏng hóc. Chỉ có thể dựa vào phân tích sơ đồ nguyên lý để tìm nguyên nhân. ATR cũng tư vấn chỉ có thể thay thế lần lượt từng thiết bị nghi ngờ để khắc phục.</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F53AEDC9-EC53-4810-79E9-B4EF78C523EB}"/>
              </a:ext>
            </a:extLst>
          </p:cNvPr>
          <p:cNvSpPr txBox="1"/>
          <p:nvPr/>
        </p:nvSpPr>
        <p:spPr>
          <a:xfrm>
            <a:off x="271241" y="2562833"/>
            <a:ext cx="4359482" cy="116955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4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nguyên</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nhân</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khả</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năng</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gây</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ra</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hóc</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này</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Pitch Trim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Flap position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TLU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Aileron tab lock.</a:t>
            </a:r>
          </a:p>
        </p:txBody>
      </p:sp>
      <p:sp>
        <p:nvSpPr>
          <p:cNvPr id="15" name="TextBox 14">
            <a:extLst>
              <a:ext uri="{FF2B5EF4-FFF2-40B4-BE49-F238E27FC236}">
                <a16:creationId xmlns:a16="http://schemas.microsoft.com/office/drawing/2014/main" id="{6A9FB60F-EA26-D116-6B3D-08960F4FCC5E}"/>
              </a:ext>
            </a:extLst>
          </p:cNvPr>
          <p:cNvSpPr txBox="1"/>
          <p:nvPr/>
        </p:nvSpPr>
        <p:spPr>
          <a:xfrm>
            <a:off x="271241" y="3855701"/>
            <a:ext cx="10447789"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sơ</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bộ</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của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chuyên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ATR,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thì</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nghi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ngờ</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cao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do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hệ</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thống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biến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vị</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Flap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vấn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đề</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vị</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bên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LH (15CV)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RH (16CV).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Ngày</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20/12/2024,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mới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chỉ</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thay</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được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bên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LH do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chỉ</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 spare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Đến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ngày</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03/01/2024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mới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vật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tư</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mới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MCC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hành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WO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nhưng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kịp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bố</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dừng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để</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thì</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xuất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hóc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ngày</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04/01/2025.</a:t>
            </a:r>
          </a:p>
        </p:txBody>
      </p:sp>
      <p:pic>
        <p:nvPicPr>
          <p:cNvPr id="19" name="Picture 18">
            <a:extLst>
              <a:ext uri="{FF2B5EF4-FFF2-40B4-BE49-F238E27FC236}">
                <a16:creationId xmlns:a16="http://schemas.microsoft.com/office/drawing/2014/main" id="{8E83009A-3E6D-A9ED-A476-0B8AA7EC644C}"/>
              </a:ext>
            </a:extLst>
          </p:cNvPr>
          <p:cNvPicPr>
            <a:picLocks noChangeAspect="1"/>
          </p:cNvPicPr>
          <p:nvPr/>
        </p:nvPicPr>
        <p:blipFill>
          <a:blip r:embed="rId5"/>
          <a:stretch>
            <a:fillRect/>
          </a:stretch>
        </p:blipFill>
        <p:spPr>
          <a:xfrm>
            <a:off x="796954" y="6043746"/>
            <a:ext cx="10033233" cy="767106"/>
          </a:xfrm>
          <a:prstGeom prst="rect">
            <a:avLst/>
          </a:prstGeom>
          <a:solidFill>
            <a:schemeClr val="accent2"/>
          </a:solidFill>
          <a:ln>
            <a:solidFill>
              <a:schemeClr val="accent1"/>
            </a:solidFill>
          </a:ln>
        </p:spPr>
      </p:pic>
    </p:spTree>
    <p:extLst>
      <p:ext uri="{BB962C8B-B14F-4D97-AF65-F5344CB8AC3E}">
        <p14:creationId xmlns:p14="http://schemas.microsoft.com/office/powerpoint/2010/main" val="28418834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76510" y="546733"/>
            <a:ext cx="10515600" cy="444137"/>
          </a:xfrm>
        </p:spPr>
        <p:txBody>
          <a:bodyPr>
            <a:noAutofit/>
          </a:bodyPr>
          <a:lstStyle/>
          <a:p>
            <a:r>
              <a:rPr lang="en-US" sz="2800" dirty="0">
                <a:ln w="0"/>
                <a:solidFill>
                  <a:schemeClr val="accent4"/>
                </a:solidFill>
                <a:latin typeface="Times New Roman" panose="02020603050405020304" pitchFamily="18" charset="0"/>
                <a:cs typeface="Times New Roman" panose="02020603050405020304" pitchFamily="18" charset="0"/>
              </a:rPr>
              <a:t>Dispatch </a:t>
            </a:r>
            <a:r>
              <a:rPr lang="en-US" sz="2800">
                <a:ln w="0"/>
                <a:solidFill>
                  <a:schemeClr val="accent4"/>
                </a:solidFill>
                <a:latin typeface="Times New Roman" panose="02020603050405020304" pitchFamily="18" charset="0"/>
                <a:cs typeface="Times New Roman" panose="02020603050405020304" pitchFamily="18" charset="0"/>
              </a:rPr>
              <a:t>Reliability W01 </a:t>
            </a:r>
            <a:r>
              <a:rPr lang="vi-VN" sz="2800">
                <a:ln w="0"/>
                <a:solidFill>
                  <a:schemeClr val="accent4"/>
                </a:solidFill>
                <a:latin typeface="Times New Roman" panose="02020603050405020304" pitchFamily="18" charset="0"/>
                <a:cs typeface="Times New Roman" panose="02020603050405020304" pitchFamily="18" charset="0"/>
              </a:rPr>
              <a:t>(</a:t>
            </a:r>
            <a:r>
              <a:rPr lang="en-US" sz="2800">
                <a:ln w="0"/>
                <a:solidFill>
                  <a:schemeClr val="accent4"/>
                </a:solidFill>
                <a:latin typeface="Times New Roman" panose="02020603050405020304" pitchFamily="18" charset="0"/>
                <a:cs typeface="Times New Roman" panose="02020603050405020304" pitchFamily="18" charset="0"/>
              </a:rPr>
              <a:t>30/12/2024-05/01/20</a:t>
            </a:r>
            <a:r>
              <a:rPr lang="vi-VN" sz="2800">
                <a:ln w="0"/>
                <a:solidFill>
                  <a:schemeClr val="accent4"/>
                </a:solidFill>
                <a:latin typeface="Times New Roman" panose="02020603050405020304" pitchFamily="18" charset="0"/>
                <a:cs typeface="Times New Roman" panose="02020603050405020304" pitchFamily="18" charset="0"/>
              </a:rPr>
              <a:t>2</a:t>
            </a:r>
            <a:r>
              <a:rPr lang="en-US" sz="2800">
                <a:ln w="0"/>
                <a:solidFill>
                  <a:schemeClr val="accent4"/>
                </a:solidFill>
                <a:latin typeface="Times New Roman" panose="02020603050405020304" pitchFamily="18" charset="0"/>
                <a:cs typeface="Times New Roman" panose="02020603050405020304" pitchFamily="18" charset="0"/>
              </a:rPr>
              <a:t>5)</a:t>
            </a:r>
            <a:endParaRPr lang="vi-VN" sz="2800" dirty="0">
              <a:ln w="0"/>
              <a:solidFill>
                <a:schemeClr val="accent4"/>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4294967295"/>
          </p:nvPr>
        </p:nvSpPr>
        <p:spPr>
          <a:xfrm>
            <a:off x="10789920" y="5809416"/>
            <a:ext cx="56388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t>1</a:t>
            </a:r>
          </a:p>
        </p:txBody>
      </p:sp>
      <p:sp>
        <p:nvSpPr>
          <p:cNvPr id="6" name="TextBox 5"/>
          <p:cNvSpPr txBox="1"/>
          <p:nvPr/>
        </p:nvSpPr>
        <p:spPr>
          <a:xfrm>
            <a:off x="552666" y="4395787"/>
            <a:ext cx="7073084" cy="169277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Trong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tuần 01/2025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chỉ số độ tin cậy cất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cánh đội A321 và B787 đạt mục tiêu, đội A350 và ATR72 xấp xỉ đạt mục tiêu:</a:t>
            </a: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a:t>
            </a:r>
            <a:r>
              <a:rPr kumimoji="0" lang="vi-VN"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21</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99,73% cao hơn 0,10%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so với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mục tiêu.</a:t>
            </a:r>
            <a:endParaRPr kumimoji="0" lang="vi-VN"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A350</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99,38% thấp  hơn 0,06%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so với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mục tiêu do có 01 sự kiện delay KT do tàu A894 Pack1 INOP.</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B787: 99,71% cao </a:t>
            </a:r>
            <a:r>
              <a:rPr kumimoji="0" lang="vi-VN"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hơn</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0,35%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so với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mục tiêu.</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ATR72: 99,53% thấp hơn 0,12%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so với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mục tiêu do 01 sự kiện tàu B223 có cảnh báo TAKE OFF CONFIG.</a:t>
            </a: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5" name="Picture 1" desc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2400" cy="1524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29C63447-9F0E-F5EB-F621-78A1848A848E}"/>
              </a:ext>
            </a:extLst>
          </p:cNvPr>
          <p:cNvGraphicFramePr>
            <a:graphicFrameLocks noGrp="1"/>
          </p:cNvGraphicFramePr>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val="2169649306"/>
                    </a:ext>
                  </a:extLst>
                </a:gridCol>
                <a:gridCol w="1496650">
                  <a:extLst>
                    <a:ext uri="{9D8B030D-6E8A-4147-A177-3AD203B41FA5}">
                      <a16:colId xmlns:a16="http://schemas.microsoft.com/office/drawing/2014/main" val="3397981216"/>
                    </a:ext>
                  </a:extLst>
                </a:gridCol>
                <a:gridCol w="1330690">
                  <a:extLst>
                    <a:ext uri="{9D8B030D-6E8A-4147-A177-3AD203B41FA5}">
                      <a16:colId xmlns:a16="http://schemas.microsoft.com/office/drawing/2014/main"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5</a:t>
                      </a:r>
                      <a:endParaRPr lang="en-US" sz="1200" b="1" i="0" u="none" strike="noStrike" dirty="0">
                        <a:solidFill>
                          <a:srgbClr val="00B05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1862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dirty="0">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dirty="0">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dirty="0">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04591176"/>
                  </a:ext>
                </a:extLst>
              </a:tr>
            </a:tbl>
          </a:graphicData>
        </a:graphic>
      </p:graphicFrame>
      <p:graphicFrame>
        <p:nvGraphicFramePr>
          <p:cNvPr id="9" name="Chart 8"/>
          <p:cNvGraphicFramePr>
            <a:graphicFrameLocks/>
          </p:cNvGraphicFramePr>
          <p:nvPr/>
        </p:nvGraphicFramePr>
        <p:xfrm>
          <a:off x="552666" y="1176337"/>
          <a:ext cx="11155680" cy="32194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399107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nvGraphicFramePr>
        <p:xfrm>
          <a:off x="156784" y="652238"/>
          <a:ext cx="11878434" cy="6021612"/>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542151">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762312">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06/04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draft 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11k$/</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9k$/</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75tr,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kèm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một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điều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SSA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13.5k/10k,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90M.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bao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gồm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2022.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23/10: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đủ</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engine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Shop)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a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l</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SV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 SSA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vẫn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giữ</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nguyên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07/11: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xác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T12 </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tổng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17 slot.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 29/12: HĐ hỗ trợ SSA 2024 đã được 2 PW &amp; VNA ký và đã được ban hành đến các đơn vị liên quan.</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87019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28 (02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đco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956556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T11/2023 induct 12/07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956533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T01/2024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T9/2024)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total 05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còn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ESN 956695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a:t>
                      </a:r>
                      <a:endPar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Group 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rất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chế</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02 ĐC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đáp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ứng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gói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787-10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sắp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Letter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787-10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T7/2024.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Airshow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23/07/2025.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26/11: EVP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cập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tình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bay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Leadership</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1846952">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3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VP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nguồn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lực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A350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xuất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SV...). 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triển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khai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QLVT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toán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draft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nhằm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theo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HĐ TCA.</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Trong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buổi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MRO Asia, 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bổ</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T10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giai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đoạn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17/12 SVP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CEO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đạt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đ</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cụ</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Tree>
    <p:extLst>
      <p:ext uri="{BB962C8B-B14F-4D97-AF65-F5344CB8AC3E}">
        <p14:creationId xmlns:p14="http://schemas.microsoft.com/office/powerpoint/2010/main" val="13028396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15109608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22A72-54FF-8086-CABE-943B9F79B55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4848883-0D37-D0EE-F00E-CA550378B7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523" y="134658"/>
            <a:ext cx="537821" cy="505652"/>
          </a:xfrm>
          <a:prstGeom prst="rect">
            <a:avLst/>
          </a:prstGeom>
        </p:spPr>
      </p:pic>
      <p:sp>
        <p:nvSpPr>
          <p:cNvPr id="7" name="Title 1">
            <a:extLst>
              <a:ext uri="{FF2B5EF4-FFF2-40B4-BE49-F238E27FC236}">
                <a16:creationId xmlns:a16="http://schemas.microsoft.com/office/drawing/2014/main" id="{209F39F1-CDB6-3B62-4B32-ACAA9A730526}"/>
              </a:ext>
            </a:extLst>
          </p:cNvPr>
          <p:cNvSpPr txBox="1">
            <a:spLocks/>
          </p:cNvSpPr>
          <p:nvPr/>
        </p:nvSpPr>
        <p:spPr>
          <a:xfrm>
            <a:off x="844871" y="203761"/>
            <a:ext cx="9132732" cy="458687"/>
          </a:xfrm>
          <a:prstGeom prst="rect">
            <a:avLst/>
          </a:prstGeom>
        </p:spPr>
        <p:txBody>
          <a:bodyPr vert="horz" lIns="91440" tIns="45720" rIns="91440" bIns="45720" rtlCol="0" anchor="ctr">
            <a:noAutofit/>
          </a:bodyPr>
          <a:lstStyle>
            <a:defPPr>
              <a:defRPr lang="en-US"/>
            </a:defPPr>
            <a:lvl1pPr>
              <a:lnSpc>
                <a:spcPct val="90000"/>
              </a:lnSpc>
              <a:spcBef>
                <a:spcPct val="0"/>
              </a:spcBef>
              <a:buNone/>
              <a:defRPr sz="2800" b="1">
                <a:solidFill>
                  <a:srgbClr val="D2A43B"/>
                </a:solidFill>
                <a:latin typeface="Times New Roman" panose="02020603050405020304" pitchFamily="18" charset="0"/>
                <a:ea typeface="Tahoma" pitchFamily="34" charset="0"/>
                <a:cs typeface="Times New Roman" panose="02020603050405020304" pitchFamily="18" charset="0"/>
              </a:defRPr>
            </a:lvl1pPr>
          </a:lstStyle>
          <a:p>
            <a:pPr marL="0" marR="0" lvl="0" indent="0" algn="l" defTabSz="914377"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NHU CẦU ĐỘNG CƠ DỰ </a:t>
            </a:r>
            <a:r>
              <a:rPr kumimoji="0" lang="en-US" sz="2800" b="1" i="0" u="none" strike="noStrike" kern="1200" cap="none" spc="0" normalizeH="0" baseline="0" noProof="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PHÒNG Q1-Q2/2025</a:t>
            </a:r>
            <a:endParaRPr kumimoji="0" lang="vi-VN"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endParaRPr>
          </a:p>
        </p:txBody>
      </p:sp>
      <p:grpSp>
        <p:nvGrpSpPr>
          <p:cNvPr id="8" name="Group 7">
            <a:extLst>
              <a:ext uri="{FF2B5EF4-FFF2-40B4-BE49-F238E27FC236}">
                <a16:creationId xmlns:a16="http://schemas.microsoft.com/office/drawing/2014/main" id="{9743D403-841B-4C88-9A8E-7F9B02422512}"/>
              </a:ext>
            </a:extLst>
          </p:cNvPr>
          <p:cNvGrpSpPr/>
          <p:nvPr/>
        </p:nvGrpSpPr>
        <p:grpSpPr>
          <a:xfrm>
            <a:off x="932601" y="288236"/>
            <a:ext cx="10799027" cy="678753"/>
            <a:chOff x="1363421" y="323070"/>
            <a:chExt cx="10799027" cy="678753"/>
          </a:xfrm>
        </p:grpSpPr>
        <p:cxnSp>
          <p:nvCxnSpPr>
            <p:cNvPr id="9" name="Straight Connector 8">
              <a:extLst>
                <a:ext uri="{FF2B5EF4-FFF2-40B4-BE49-F238E27FC236}">
                  <a16:creationId xmlns:a16="http://schemas.microsoft.com/office/drawing/2014/main" id="{02D9B4C5-DC85-8A40-532D-EB022CFB7B1B}"/>
                </a:ext>
              </a:extLst>
            </p:cNvPr>
            <p:cNvCxnSpPr/>
            <p:nvPr/>
          </p:nvCxnSpPr>
          <p:spPr>
            <a:xfrm>
              <a:off x="1363421"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C0941FC1-E581-6BDB-582E-7D9D8FDE8A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709946" y="323070"/>
              <a:ext cx="452502" cy="678753"/>
            </a:xfrm>
            <a:prstGeom prst="rect">
              <a:avLst/>
            </a:prstGeom>
          </p:spPr>
        </p:pic>
      </p:grpSp>
      <p:graphicFrame>
        <p:nvGraphicFramePr>
          <p:cNvPr id="19" name="Chart 18">
            <a:extLst>
              <a:ext uri="{FF2B5EF4-FFF2-40B4-BE49-F238E27FC236}">
                <a16:creationId xmlns:a16="http://schemas.microsoft.com/office/drawing/2014/main" id="{211010DD-A36B-7A4B-2FF6-01A604A6123F}"/>
              </a:ext>
            </a:extLst>
          </p:cNvPr>
          <p:cNvGraphicFramePr>
            <a:graphicFrameLocks/>
          </p:cNvGraphicFramePr>
          <p:nvPr/>
        </p:nvGraphicFramePr>
        <p:xfrm>
          <a:off x="495300" y="801732"/>
          <a:ext cx="11236328" cy="4078680"/>
        </p:xfrm>
        <a:graphic>
          <a:graphicData uri="http://schemas.openxmlformats.org/drawingml/2006/chart">
            <c:chart xmlns:c="http://schemas.openxmlformats.org/drawingml/2006/chart" xmlns:r="http://schemas.openxmlformats.org/officeDocument/2006/relationships" r:id="rId5"/>
          </a:graphicData>
        </a:graphic>
      </p:graphicFrame>
      <p:sp>
        <p:nvSpPr>
          <p:cNvPr id="20" name="TextBox 19">
            <a:extLst>
              <a:ext uri="{FF2B5EF4-FFF2-40B4-BE49-F238E27FC236}">
                <a16:creationId xmlns:a16="http://schemas.microsoft.com/office/drawing/2014/main" id="{4DD2277F-2B8A-7B9C-24AD-6310EB414239}"/>
              </a:ext>
            </a:extLst>
          </p:cNvPr>
          <p:cNvSpPr txBox="1"/>
          <p:nvPr/>
        </p:nvSpPr>
        <p:spPr>
          <a:xfrm>
            <a:off x="495300" y="4880412"/>
            <a:ext cx="11236328" cy="1815882"/>
          </a:xfrm>
          <a:prstGeom prst="rect">
            <a:avLst/>
          </a:prstGeom>
          <a:noFill/>
          <a:ln>
            <a:solidFill>
              <a:schemeClr val="accent1"/>
            </a:solidFill>
          </a:ln>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*A321CEO: </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Gia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hạn</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các</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tàu</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VALC.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Đang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triển</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khai</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trả</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3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động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cơ</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thuê</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trong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giai</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đoạn</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T9 - T12/2024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đã</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hoàn</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thành</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trả</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7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động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cơ</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trong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2024). </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*A321NEO</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vi-VN"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Rủi ro động cơ đi shop về muộn (thực tế đã bị shop delay nhiều lần) và rủi ro tháo động cơ ngoài KH do Vibration, Oil Leak…</a:t>
            </a:r>
            <a:endParaRPr kumimoji="0" lang="en-US" sz="1600" b="0" i="0" u="none" strike="noStrike" kern="1200" cap="none" spc="0" normalizeH="0" baseline="0" noProof="0" dirty="0">
              <a:ln>
                <a:noFill/>
              </a:ln>
              <a:solidFill>
                <a:prstClr val="black"/>
              </a:solidFill>
              <a:effectLst/>
              <a:highlight>
                <a:srgbClr val="FFFF00"/>
              </a:highlight>
              <a:uLnTx/>
              <a:uFillTx/>
              <a:latin typeface="Arial" panose="020B0604020202020204" pitchFamily="34" charset="0"/>
              <a:ea typeface="+mn-ea"/>
              <a:cs typeface="Arial" panose="020B0604020202020204"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*B787: </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Nhu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cầu</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động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cơ</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dựa</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trên</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kế</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hoạch</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nhận</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02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động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cơ</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thuê</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vào</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T9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và</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T11.</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*ATR: </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Nhu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cầu</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này</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đã</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tính</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nhu</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cầu</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nguồn</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lực</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cho</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05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tàu</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gồm</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B225 RTS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từ</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T1/2025).</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*A350</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Rủi</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ro</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tháo</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động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c</a:t>
            </a:r>
            <a:r>
              <a:rPr kumimoji="0" lang="vi-VN"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ơ</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ngoài</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KH do High oil consumption, HPT Blade, IPC Blade. </a:t>
            </a:r>
          </a:p>
        </p:txBody>
      </p:sp>
    </p:spTree>
    <p:extLst>
      <p:ext uri="{BB962C8B-B14F-4D97-AF65-F5344CB8AC3E}">
        <p14:creationId xmlns:p14="http://schemas.microsoft.com/office/powerpoint/2010/main" val="11269142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600" b="0" i="0" u="none" strike="noStrike" kern="1200" cap="none" spc="0" normalizeH="0" baseline="0" noProof="0">
                <a:ln>
                  <a:noFill/>
                </a:ln>
                <a:solidFill>
                  <a:srgbClr val="D2A43B"/>
                </a:solidFill>
                <a:effectLst/>
                <a:uLnTx/>
                <a:uFillTx/>
                <a:latin typeface="Times New Roman" panose="02020603050405020304" pitchFamily="18" charset="0"/>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6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Arial"/>
              <a:sym typeface="Arial"/>
            </a:endParaRPr>
          </a:p>
        </p:txBody>
      </p:sp>
      <p:sp>
        <p:nvSpPr>
          <p:cNvPr id="7" name="TextBox 6">
            <a:extLst>
              <a:ext uri="{FF2B5EF4-FFF2-40B4-BE49-F238E27FC236}">
                <a16:creationId xmlns:a16="http://schemas.microsoft.com/office/drawing/2014/main" id="{ECD7242A-6EC4-6B1A-A438-79B9107F1CD6}"/>
              </a:ext>
            </a:extLst>
          </p:cNvPr>
          <p:cNvSpPr txBox="1"/>
          <p:nvPr/>
        </p:nvSpPr>
        <p:spPr>
          <a:xfrm>
            <a:off x="203197" y="0"/>
            <a:ext cx="15341603"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NHU CẦU ĐỘNG CƠ DỰ PHÒNG CÁC </a:t>
            </a:r>
            <a:r>
              <a:rPr kumimoji="0" lang="en-US" sz="2667" b="1" i="0" u="none" strike="noStrike" kern="1200" cap="none" spc="0" normalizeH="0" baseline="0" noProof="0">
                <a:ln w="0"/>
                <a:solidFill>
                  <a:srgbClr val="FBAC00"/>
                </a:solidFill>
                <a:effectLst/>
                <a:uLnTx/>
                <a:uFillTx/>
                <a:latin typeface="Times New Roman" panose="02020603050405020304" pitchFamily="18" charset="0"/>
                <a:ea typeface="+mn-ea"/>
                <a:cs typeface="Times New Roman" panose="02020603050405020304" pitchFamily="18" charset="0"/>
              </a:rPr>
              <a:t>FLEET T1-T3/2025</a:t>
            </a:r>
            <a:endPar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8" name="Chart 7">
            <a:extLst>
              <a:ext uri="{FF2B5EF4-FFF2-40B4-BE49-F238E27FC236}">
                <a16:creationId xmlns:a16="http://schemas.microsoft.com/office/drawing/2014/main" id="{3AE6B01F-84E3-881B-E0A6-2DB2CB883A49}"/>
              </a:ext>
            </a:extLst>
          </p:cNvPr>
          <p:cNvGraphicFramePr>
            <a:graphicFrameLocks/>
          </p:cNvGraphicFramePr>
          <p:nvPr/>
        </p:nvGraphicFramePr>
        <p:xfrm>
          <a:off x="190500" y="592816"/>
          <a:ext cx="11811000" cy="4172305"/>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6E40E499-B08B-C67F-623B-F023D733338B}"/>
              </a:ext>
            </a:extLst>
          </p:cNvPr>
          <p:cNvSpPr txBox="1"/>
          <p:nvPr/>
        </p:nvSpPr>
        <p:spPr>
          <a:xfrm>
            <a:off x="203197" y="4824455"/>
            <a:ext cx="11811000" cy="2062103"/>
          </a:xfrm>
          <a:prstGeom prst="rect">
            <a:avLst/>
          </a:prstGeom>
          <a:no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Action </a:t>
            </a:r>
            <a:r>
              <a:rPr kumimoji="0" lang="en-US" sz="16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ngắn</a:t>
            </a:r>
            <a:r>
              <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hạn</a:t>
            </a:r>
            <a:r>
              <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&amp; </a:t>
            </a:r>
            <a:r>
              <a:rPr kumimoji="0" lang="en-US" sz="16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rủi</a:t>
            </a:r>
            <a:r>
              <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ro</a:t>
            </a:r>
            <a:r>
              <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nhận</a:t>
            </a:r>
            <a:r>
              <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diện</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r>
              <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A321CEO </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Đang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triển</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khai</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trả</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động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cơ</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thuê</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trong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giai</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đoạn</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T1/2025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đã</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hoàn</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thành</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trả</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8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động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cơ</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trong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2024).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r>
              <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A321NEO </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Rủi</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ro</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động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c</a:t>
            </a:r>
            <a:r>
              <a:rPr kumimoji="0" lang="vi-VN"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ơ</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đi</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shop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về</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muộn</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thực</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tế</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đã</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bị</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shop delay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nhiều</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lần</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và</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rủi</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ro</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tháo</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động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c</a:t>
            </a:r>
            <a:r>
              <a:rPr kumimoji="0" lang="vi-VN"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ơ</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ngoài</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KH do Vibration, Oil Leak, HPT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Balde</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en-US" sz="1600" b="0" i="0" u="none" strike="noStrike" kern="1200" cap="none" spc="0" normalizeH="0" baseline="0" noProof="0" dirty="0">
              <a:ln>
                <a:noFill/>
              </a:ln>
              <a:solidFill>
                <a:prstClr val="black"/>
              </a:solidFill>
              <a:effectLst/>
              <a:highlight>
                <a:srgbClr val="FFFF00"/>
              </a:highlight>
              <a:uLnTx/>
              <a:uFillTx/>
              <a:latin typeface="Arial" panose="020B0604020202020204" pitchFamily="34" charset="0"/>
              <a:ea typeface="+mn-ea"/>
              <a:cs typeface="Arial" panose="020B0604020202020204" pitchFamily="34" charset="0"/>
            </a:endParaRP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r>
              <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B787 </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Nhu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cầu</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động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cơ</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cập</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nhật</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sau</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khi</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có</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kế</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hoạch</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nhận</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thêm</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02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động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cơ</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thuê</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và</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T9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và</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T12/2024.</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r>
              <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A350: </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Rủi</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ro</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tháo</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động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c</a:t>
            </a:r>
            <a:r>
              <a:rPr kumimoji="0" lang="vi-VN"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ơ</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ngoài</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KH do High oil consumption, HPT Blade, IPC Blade. </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*ATR72: </a:t>
            </a:r>
            <a:r>
              <a:rPr kumimoji="0" lang="vi-VN"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B225</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dùng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động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cơ</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ED0214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trong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kho</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còn</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151 FC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và</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động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cơ</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ED0241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từ</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shop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về</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Dự</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kiến</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giữa</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tháng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1/25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sẽ</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lấy</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động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cơ</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ED0181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từ</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Shop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về</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thay</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cho</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ED0214.</a:t>
            </a:r>
          </a:p>
        </p:txBody>
      </p:sp>
    </p:spTree>
    <p:extLst>
      <p:ext uri="{BB962C8B-B14F-4D97-AF65-F5344CB8AC3E}">
        <p14:creationId xmlns:p14="http://schemas.microsoft.com/office/powerpoint/2010/main" val="207052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366920A6-6915-5AA0-8C7B-86FFAA7C86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36F650-D34B-32F5-0EFD-8481BE8666F3}"/>
              </a:ext>
            </a:extLst>
          </p:cNvPr>
          <p:cNvSpPr txBox="1"/>
          <p:nvPr/>
        </p:nvSpPr>
        <p:spPr>
          <a:xfrm>
            <a:off x="690253" y="115968"/>
            <a:ext cx="14875495"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DỰ BÁO AOG </a:t>
            </a:r>
            <a:r>
              <a:rPr kumimoji="0" lang="en-US" sz="2667" b="1" i="0" u="none" strike="noStrike" kern="1200" cap="none" spc="0" normalizeH="0" baseline="0" noProof="0">
                <a:ln w="0"/>
                <a:solidFill>
                  <a:srgbClr val="FBAC00"/>
                </a:solidFill>
                <a:effectLst/>
                <a:uLnTx/>
                <a:uFillTx/>
                <a:latin typeface="Times New Roman" panose="02020603050405020304" pitchFamily="18" charset="0"/>
                <a:ea typeface="+mn-ea"/>
                <a:cs typeface="Times New Roman" panose="02020603050405020304" pitchFamily="18" charset="0"/>
              </a:rPr>
              <a:t>A321NEO 2024-T3/2025 </a:t>
            </a: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DO HPT HUB</a:t>
            </a:r>
          </a:p>
        </p:txBody>
      </p:sp>
      <p:graphicFrame>
        <p:nvGraphicFramePr>
          <p:cNvPr id="3" name="Chart 2">
            <a:extLst>
              <a:ext uri="{FF2B5EF4-FFF2-40B4-BE49-F238E27FC236}">
                <a16:creationId xmlns:a16="http://schemas.microsoft.com/office/drawing/2014/main" id="{AB08D076-E070-83E5-6CED-DDB5B772B9A8}"/>
              </a:ext>
            </a:extLst>
          </p:cNvPr>
          <p:cNvGraphicFramePr/>
          <p:nvPr/>
        </p:nvGraphicFramePr>
        <p:xfrm>
          <a:off x="690251" y="812800"/>
          <a:ext cx="11247749" cy="5765800"/>
        </p:xfrm>
        <a:graphic>
          <a:graphicData uri="http://schemas.openxmlformats.org/drawingml/2006/chart">
            <c:chart xmlns:c="http://schemas.openxmlformats.org/drawingml/2006/chart" xmlns:r="http://schemas.openxmlformats.org/officeDocument/2006/relationships" r:id="rId3"/>
          </a:graphicData>
        </a:graphic>
      </p:graphicFrame>
      <p:sp>
        <p:nvSpPr>
          <p:cNvPr id="4" name="Speech Bubble: Rectangle with Corners Rounded 3">
            <a:extLst>
              <a:ext uri="{FF2B5EF4-FFF2-40B4-BE49-F238E27FC236}">
                <a16:creationId xmlns:a16="http://schemas.microsoft.com/office/drawing/2014/main" id="{0150AF5E-F5A5-9E6E-EAD9-8B1ADB9D348C}"/>
              </a:ext>
            </a:extLst>
          </p:cNvPr>
          <p:cNvSpPr/>
          <p:nvPr/>
        </p:nvSpPr>
        <p:spPr>
          <a:xfrm>
            <a:off x="2164119" y="3989254"/>
            <a:ext cx="4368800" cy="1707257"/>
          </a:xfrm>
          <a:prstGeom prst="wedgeRoundRectCallout">
            <a:avLst>
              <a:gd name="adj1" fmla="val 40811"/>
              <a:gd name="adj2" fmla="val -78033"/>
              <a:gd name="adj3" fmla="val 16667"/>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a:ea typeface="+mn-ea"/>
                <a:cs typeface="+mn-cs"/>
              </a:rPr>
              <a:t>Đầu T12 NSX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thông</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báo</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hàng</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loạt</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động</a:t>
            </a:r>
            <a:r>
              <a:rPr kumimoji="0" lang="en-US" sz="1600" b="0" i="0" u="none" strike="noStrike" kern="1200" cap="none" spc="0" normalizeH="0" baseline="0" noProof="0" dirty="0">
                <a:ln>
                  <a:noFill/>
                </a:ln>
                <a:solidFill>
                  <a:prstClr val="black"/>
                </a:solidFill>
                <a:effectLst/>
                <a:uLnTx/>
                <a:uFillTx/>
                <a:latin typeface="Calibri"/>
                <a:ea typeface="+mn-ea"/>
                <a:cs typeface="+mn-cs"/>
              </a:rPr>
              <a:t> c</a:t>
            </a:r>
            <a:r>
              <a:rPr kumimoji="0" lang="vi-VN" sz="1600" b="0" i="0" u="none" strike="noStrike" kern="1200" cap="none" spc="0" normalizeH="0" baseline="0" noProof="0" dirty="0">
                <a:ln>
                  <a:noFill/>
                </a:ln>
                <a:solidFill>
                  <a:prstClr val="black"/>
                </a:solidFill>
                <a:effectLst/>
                <a:uLnTx/>
                <a:uFillTx/>
                <a:latin typeface="Calibri"/>
                <a:ea typeface="+mn-ea"/>
                <a:cs typeface="+mn-cs"/>
              </a:rPr>
              <a:t>ơ</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bị</a:t>
            </a:r>
            <a:r>
              <a:rPr kumimoji="0" lang="en-US" sz="1600" b="0" i="0" u="none" strike="noStrike" kern="1200" cap="none" spc="0" normalizeH="0" baseline="0" noProof="0" dirty="0">
                <a:ln>
                  <a:noFill/>
                </a:ln>
                <a:solidFill>
                  <a:prstClr val="black"/>
                </a:solidFill>
                <a:effectLst/>
                <a:uLnTx/>
                <a:uFillTx/>
                <a:latin typeface="Calibri"/>
                <a:ea typeface="+mn-ea"/>
                <a:cs typeface="+mn-cs"/>
              </a:rPr>
              <a:t> extend TAT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dẫn</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đến</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tất</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cả</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các</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động</a:t>
            </a:r>
            <a:r>
              <a:rPr kumimoji="0" lang="en-US" sz="1600" b="0" i="0" u="none" strike="noStrike" kern="1200" cap="none" spc="0" normalizeH="0" baseline="0" noProof="0" dirty="0">
                <a:ln>
                  <a:noFill/>
                </a:ln>
                <a:solidFill>
                  <a:prstClr val="black"/>
                </a:solidFill>
                <a:effectLst/>
                <a:uLnTx/>
                <a:uFillTx/>
                <a:latin typeface="Calibri"/>
                <a:ea typeface="+mn-ea"/>
                <a:cs typeface="+mn-cs"/>
              </a:rPr>
              <a:t> c</a:t>
            </a:r>
            <a:r>
              <a:rPr kumimoji="0" lang="vi-VN" sz="1600" b="0" i="0" u="none" strike="noStrike" kern="1200" cap="none" spc="0" normalizeH="0" baseline="0" noProof="0" dirty="0">
                <a:ln>
                  <a:noFill/>
                </a:ln>
                <a:solidFill>
                  <a:prstClr val="black"/>
                </a:solidFill>
                <a:effectLst/>
                <a:uLnTx/>
                <a:uFillTx/>
                <a:latin typeface="Calibri"/>
                <a:ea typeface="+mn-ea"/>
                <a:cs typeface="+mn-cs"/>
              </a:rPr>
              <a:t>ơ</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của</a:t>
            </a:r>
            <a:r>
              <a:rPr kumimoji="0" lang="en-US" sz="1600" b="0" i="0" u="none" strike="noStrike" kern="1200" cap="none" spc="0" normalizeH="0" baseline="0" noProof="0" dirty="0">
                <a:ln>
                  <a:noFill/>
                </a:ln>
                <a:solidFill>
                  <a:prstClr val="black"/>
                </a:solidFill>
                <a:effectLst/>
                <a:uLnTx/>
                <a:uFillTx/>
                <a:latin typeface="Calibri"/>
                <a:ea typeface="+mn-ea"/>
                <a:cs typeface="+mn-cs"/>
              </a:rPr>
              <a:t> VNA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về</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trong</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vòng</a:t>
            </a:r>
            <a:r>
              <a:rPr kumimoji="0" lang="en-US" sz="1600" b="0" i="0" u="none" strike="noStrike" kern="1200" cap="none" spc="0" normalizeH="0" baseline="0" noProof="0" dirty="0">
                <a:ln>
                  <a:noFill/>
                </a:ln>
                <a:solidFill>
                  <a:prstClr val="black"/>
                </a:solidFill>
                <a:effectLst/>
                <a:uLnTx/>
                <a:uFillTx/>
                <a:latin typeface="Calibri"/>
                <a:ea typeface="+mn-ea"/>
                <a:cs typeface="+mn-cs"/>
              </a:rPr>
              <a:t> 4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tháng</a:t>
            </a:r>
            <a:r>
              <a:rPr kumimoji="0" lang="en-US" sz="1600" b="0" i="0" u="none" strike="noStrike" kern="1200" cap="none" spc="0" normalizeH="0" baseline="0" noProof="0" dirty="0">
                <a:ln>
                  <a:noFill/>
                </a:ln>
                <a:solidFill>
                  <a:prstClr val="black"/>
                </a:solidFill>
                <a:effectLst/>
                <a:uLnTx/>
                <a:uFillTx/>
                <a:latin typeface="Calibri"/>
                <a:ea typeface="+mn-ea"/>
                <a:cs typeface="+mn-cs"/>
              </a:rPr>
              <a:t> t</a:t>
            </a:r>
            <a:r>
              <a:rPr kumimoji="0" lang="en-US" sz="1600" b="0" i="0" u="none" strike="noStrike" kern="1200" cap="none" spc="0" normalizeH="0" baseline="0" noProof="0" dirty="0" err="1">
                <a:ln>
                  <a:noFill/>
                </a:ln>
                <a:solidFill>
                  <a:prstClr val="black"/>
                </a:solidFill>
                <a:effectLst/>
                <a:uLnTx/>
                <a:uFillTx/>
                <a:latin typeface="Calibri"/>
                <a:ea typeface="+mn-ea"/>
                <a:cs typeface="+mn-cs"/>
              </a:rPr>
              <a:t>ới</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đều</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bị</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lùi</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lịch</a:t>
            </a:r>
            <a:r>
              <a:rPr kumimoji="0" lang="en-US" sz="1600" b="0" i="0" u="none" strike="noStrike" kern="1200" cap="none" spc="0" normalizeH="0" baseline="0" noProof="0" dirty="0">
                <a:ln>
                  <a:noFill/>
                </a:ln>
                <a:solidFill>
                  <a:prstClr val="black"/>
                </a:solidFill>
                <a:effectLst/>
                <a:uLnTx/>
                <a:uFillTx/>
                <a:latin typeface="Calibri"/>
                <a:ea typeface="+mn-ea"/>
                <a:cs typeface="+mn-cs"/>
              </a:rPr>
              <a:t> 10 – 30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ngày</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Hệ</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quả</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là</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đội</a:t>
            </a:r>
            <a:r>
              <a:rPr kumimoji="0" lang="en-US" sz="1600" b="0" i="0" u="none" strike="noStrike" kern="1200" cap="none" spc="0" normalizeH="0" baseline="0" noProof="0" dirty="0">
                <a:ln>
                  <a:noFill/>
                </a:ln>
                <a:solidFill>
                  <a:prstClr val="black"/>
                </a:solidFill>
                <a:effectLst/>
                <a:uLnTx/>
                <a:uFillTx/>
                <a:latin typeface="Calibri"/>
                <a:ea typeface="+mn-ea"/>
                <a:cs typeface="+mn-cs"/>
              </a:rPr>
              <a:t> bay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tăng</a:t>
            </a:r>
            <a:r>
              <a:rPr kumimoji="0" lang="en-US" sz="1600" b="0" i="0" u="none" strike="noStrike" kern="1200" cap="none" spc="0" normalizeH="0" baseline="0" noProof="0" dirty="0">
                <a:ln>
                  <a:noFill/>
                </a:ln>
                <a:solidFill>
                  <a:prstClr val="black"/>
                </a:solidFill>
                <a:effectLst/>
                <a:uLnTx/>
                <a:uFillTx/>
                <a:latin typeface="Calibri"/>
                <a:ea typeface="+mn-ea"/>
                <a:cs typeface="+mn-cs"/>
              </a:rPr>
              <a:t> 01 AOG bao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gồm</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cả</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cao</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điểm</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Tết</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p>
        </p:txBody>
      </p:sp>
      <p:sp>
        <p:nvSpPr>
          <p:cNvPr id="7" name="Speech Bubble: Rectangle with Corners Rounded 6">
            <a:extLst>
              <a:ext uri="{FF2B5EF4-FFF2-40B4-BE49-F238E27FC236}">
                <a16:creationId xmlns:a16="http://schemas.microsoft.com/office/drawing/2014/main" id="{DC56874D-4E6C-1D0F-C9BC-DCA9D7A2D2DE}"/>
              </a:ext>
            </a:extLst>
          </p:cNvPr>
          <p:cNvSpPr/>
          <p:nvPr/>
        </p:nvSpPr>
        <p:spPr>
          <a:xfrm>
            <a:off x="6885481" y="649449"/>
            <a:ext cx="3105168" cy="1449175"/>
          </a:xfrm>
          <a:prstGeom prst="wedgeRoundRectCallout">
            <a:avLst>
              <a:gd name="adj1" fmla="val 4444"/>
              <a:gd name="adj2" fmla="val 92174"/>
              <a:gd name="adj3" fmla="val 16667"/>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0000"/>
                </a:solidFill>
                <a:effectLst/>
                <a:uLnTx/>
                <a:uFillTx/>
                <a:latin typeface="Calibri"/>
                <a:ea typeface="+mn-ea"/>
                <a:cs typeface="+mn-cs"/>
              </a:rPr>
              <a:t>26/12 PW </a:t>
            </a:r>
            <a:r>
              <a:rPr kumimoji="0" lang="en-US" sz="1600" b="0" i="0" u="none" strike="noStrike" kern="1200" cap="none" spc="0" normalizeH="0" baseline="0" noProof="0" dirty="0" err="1">
                <a:ln>
                  <a:noFill/>
                </a:ln>
                <a:solidFill>
                  <a:srgbClr val="FF0000"/>
                </a:solidFill>
                <a:effectLst/>
                <a:uLnTx/>
                <a:uFillTx/>
                <a:latin typeface="Calibri"/>
                <a:ea typeface="+mn-ea"/>
                <a:cs typeface="+mn-cs"/>
              </a:rPr>
              <a:t>tiếp</a:t>
            </a:r>
            <a:r>
              <a:rPr kumimoji="0" lang="en-US" sz="1600" b="0" i="0" u="none" strike="noStrike" kern="1200" cap="none" spc="0" normalizeH="0" baseline="0" noProof="0" dirty="0">
                <a:ln>
                  <a:noFill/>
                </a:ln>
                <a:solidFill>
                  <a:srgbClr val="FF0000"/>
                </a:solidFill>
                <a:effectLst/>
                <a:uLnTx/>
                <a:uFillTx/>
                <a:latin typeface="Calibri"/>
                <a:ea typeface="+mn-ea"/>
                <a:cs typeface="+mn-cs"/>
              </a:rPr>
              <a:t> </a:t>
            </a:r>
            <a:r>
              <a:rPr kumimoji="0" lang="en-US" sz="1600" b="0" i="0" u="none" strike="noStrike" kern="1200" cap="none" spc="0" normalizeH="0" baseline="0" noProof="0" dirty="0" err="1">
                <a:ln>
                  <a:noFill/>
                </a:ln>
                <a:solidFill>
                  <a:srgbClr val="FF0000"/>
                </a:solidFill>
                <a:effectLst/>
                <a:uLnTx/>
                <a:uFillTx/>
                <a:latin typeface="Calibri"/>
                <a:ea typeface="+mn-ea"/>
                <a:cs typeface="+mn-cs"/>
              </a:rPr>
              <a:t>tục</a:t>
            </a:r>
            <a:r>
              <a:rPr kumimoji="0" lang="en-US" sz="1600" b="0" i="0" u="none" strike="noStrike" kern="1200" cap="none" spc="0" normalizeH="0" baseline="0" noProof="0" dirty="0">
                <a:ln>
                  <a:noFill/>
                </a:ln>
                <a:solidFill>
                  <a:srgbClr val="FF0000"/>
                </a:solidFill>
                <a:effectLst/>
                <a:uLnTx/>
                <a:uFillTx/>
                <a:latin typeface="Calibri"/>
                <a:ea typeface="+mn-ea"/>
                <a:cs typeface="+mn-cs"/>
              </a:rPr>
              <a:t> </a:t>
            </a:r>
            <a:r>
              <a:rPr kumimoji="0" lang="en-US" sz="1600" b="0" i="0" u="none" strike="noStrike" kern="1200" cap="none" spc="0" normalizeH="0" baseline="0" noProof="0" dirty="0" err="1">
                <a:ln>
                  <a:noFill/>
                </a:ln>
                <a:solidFill>
                  <a:srgbClr val="FF0000"/>
                </a:solidFill>
                <a:effectLst/>
                <a:uLnTx/>
                <a:uFillTx/>
                <a:latin typeface="Calibri"/>
                <a:ea typeface="+mn-ea"/>
                <a:cs typeface="+mn-cs"/>
              </a:rPr>
              <a:t>báo</a:t>
            </a:r>
            <a:r>
              <a:rPr kumimoji="0" lang="en-US" sz="1600" b="0" i="0" u="none" strike="noStrike" kern="1200" cap="none" spc="0" normalizeH="0" baseline="0" noProof="0" dirty="0">
                <a:ln>
                  <a:noFill/>
                </a:ln>
                <a:solidFill>
                  <a:srgbClr val="FF0000"/>
                </a:solidFill>
                <a:effectLst/>
                <a:uLnTx/>
                <a:uFillTx/>
                <a:latin typeface="Calibri"/>
                <a:ea typeface="+mn-ea"/>
                <a:cs typeface="+mn-cs"/>
              </a:rPr>
              <a:t> delay 4 </a:t>
            </a:r>
            <a:r>
              <a:rPr kumimoji="0" lang="en-US" sz="1600" b="0" i="0" u="none" strike="noStrike" kern="1200" cap="none" spc="0" normalizeH="0" baseline="0" noProof="0" dirty="0" err="1">
                <a:ln>
                  <a:noFill/>
                </a:ln>
                <a:solidFill>
                  <a:srgbClr val="FF0000"/>
                </a:solidFill>
                <a:effectLst/>
                <a:uLnTx/>
                <a:uFillTx/>
                <a:latin typeface="Calibri"/>
                <a:ea typeface="+mn-ea"/>
                <a:cs typeface="+mn-cs"/>
              </a:rPr>
              <a:t>động</a:t>
            </a:r>
            <a:r>
              <a:rPr kumimoji="0" lang="en-US" sz="1600" b="0" i="0" u="none" strike="noStrike" kern="1200" cap="none" spc="0" normalizeH="0" baseline="0" noProof="0" dirty="0">
                <a:ln>
                  <a:noFill/>
                </a:ln>
                <a:solidFill>
                  <a:srgbClr val="FF0000"/>
                </a:solidFill>
                <a:effectLst/>
                <a:uLnTx/>
                <a:uFillTx/>
                <a:latin typeface="Calibri"/>
                <a:ea typeface="+mn-ea"/>
                <a:cs typeface="+mn-cs"/>
              </a:rPr>
              <a:t> </a:t>
            </a:r>
            <a:r>
              <a:rPr kumimoji="0" lang="en-US" sz="1600" b="0" i="0" u="none" strike="noStrike" kern="1200" cap="none" spc="0" normalizeH="0" baseline="0" noProof="0" dirty="0" err="1">
                <a:ln>
                  <a:noFill/>
                </a:ln>
                <a:solidFill>
                  <a:srgbClr val="FF0000"/>
                </a:solidFill>
                <a:effectLst/>
                <a:uLnTx/>
                <a:uFillTx/>
                <a:latin typeface="Calibri"/>
                <a:ea typeface="+mn-ea"/>
                <a:cs typeface="+mn-cs"/>
              </a:rPr>
              <a:t>cơ</a:t>
            </a:r>
            <a:r>
              <a:rPr kumimoji="0" lang="en-US" sz="1600" b="0" i="0" u="none" strike="noStrike" kern="1200" cap="none" spc="0" normalizeH="0" baseline="0" noProof="0" dirty="0">
                <a:ln>
                  <a:noFill/>
                </a:ln>
                <a:solidFill>
                  <a:srgbClr val="FF0000"/>
                </a:solidFill>
                <a:effectLst/>
                <a:uLnTx/>
                <a:uFillTx/>
                <a:latin typeface="Calibri"/>
                <a:ea typeface="+mn-ea"/>
                <a:cs typeface="+mn-cs"/>
              </a:rPr>
              <a:t> 14 – 29 </a:t>
            </a:r>
            <a:r>
              <a:rPr kumimoji="0" lang="en-US" sz="1600" b="0" i="0" u="none" strike="noStrike" kern="1200" cap="none" spc="0" normalizeH="0" baseline="0" noProof="0" dirty="0" err="1">
                <a:ln>
                  <a:noFill/>
                </a:ln>
                <a:solidFill>
                  <a:srgbClr val="FF0000"/>
                </a:solidFill>
                <a:effectLst/>
                <a:uLnTx/>
                <a:uFillTx/>
                <a:latin typeface="Calibri"/>
                <a:ea typeface="+mn-ea"/>
                <a:cs typeface="+mn-cs"/>
              </a:rPr>
              <a:t>ngày</a:t>
            </a:r>
            <a:r>
              <a:rPr kumimoji="0" lang="en-US" sz="1600" b="0" i="0" u="none" strike="noStrike" kern="1200" cap="none" spc="0" normalizeH="0" baseline="0" noProof="0" dirty="0">
                <a:ln>
                  <a:noFill/>
                </a:ln>
                <a:solidFill>
                  <a:srgbClr val="FF0000"/>
                </a:solidFill>
                <a:effectLst/>
                <a:uLnTx/>
                <a:uFillTx/>
                <a:latin typeface="Calibri"/>
                <a:ea typeface="+mn-ea"/>
                <a:cs typeface="+mn-cs"/>
              </a:rPr>
              <a:t>, </a:t>
            </a:r>
            <a:r>
              <a:rPr kumimoji="0" lang="en-US" sz="1600" b="0" i="0" u="none" strike="noStrike" kern="1200" cap="none" spc="0" normalizeH="0" baseline="0" noProof="0" dirty="0" err="1">
                <a:ln>
                  <a:noFill/>
                </a:ln>
                <a:solidFill>
                  <a:srgbClr val="FF0000"/>
                </a:solidFill>
                <a:effectLst/>
                <a:uLnTx/>
                <a:uFillTx/>
                <a:latin typeface="Calibri"/>
                <a:ea typeface="+mn-ea"/>
                <a:cs typeface="+mn-cs"/>
              </a:rPr>
              <a:t>làm</a:t>
            </a:r>
            <a:r>
              <a:rPr kumimoji="0" lang="en-US" sz="1600" b="0" i="0" u="none" strike="noStrike" kern="1200" cap="none" spc="0" normalizeH="0" baseline="0" noProof="0" dirty="0">
                <a:ln>
                  <a:noFill/>
                </a:ln>
                <a:solidFill>
                  <a:srgbClr val="FF0000"/>
                </a:solidFill>
                <a:effectLst/>
                <a:uLnTx/>
                <a:uFillTx/>
                <a:latin typeface="Calibri"/>
                <a:ea typeface="+mn-ea"/>
                <a:cs typeface="+mn-cs"/>
              </a:rPr>
              <a:t> </a:t>
            </a:r>
            <a:r>
              <a:rPr kumimoji="0" lang="en-US" sz="1600" b="0" i="0" u="none" strike="noStrike" kern="1200" cap="none" spc="0" normalizeH="0" baseline="0" noProof="0" dirty="0" err="1">
                <a:ln>
                  <a:noFill/>
                </a:ln>
                <a:solidFill>
                  <a:srgbClr val="FF0000"/>
                </a:solidFill>
                <a:effectLst/>
                <a:uLnTx/>
                <a:uFillTx/>
                <a:latin typeface="Calibri"/>
                <a:ea typeface="+mn-ea"/>
                <a:cs typeface="+mn-cs"/>
              </a:rPr>
              <a:t>tăng</a:t>
            </a:r>
            <a:r>
              <a:rPr kumimoji="0" lang="en-US" sz="1600" b="0" i="0" u="none" strike="noStrike" kern="1200" cap="none" spc="0" normalizeH="0" baseline="0" noProof="0" dirty="0">
                <a:ln>
                  <a:noFill/>
                </a:ln>
                <a:solidFill>
                  <a:srgbClr val="FF0000"/>
                </a:solidFill>
                <a:effectLst/>
                <a:uLnTx/>
                <a:uFillTx/>
                <a:latin typeface="Calibri"/>
                <a:ea typeface="+mn-ea"/>
                <a:cs typeface="+mn-cs"/>
              </a:rPr>
              <a:t> </a:t>
            </a:r>
            <a:r>
              <a:rPr kumimoji="0" lang="en-US" sz="1600" b="0" i="0" u="none" strike="noStrike" kern="1200" cap="none" spc="0" normalizeH="0" baseline="0" noProof="0" dirty="0" err="1">
                <a:ln>
                  <a:noFill/>
                </a:ln>
                <a:solidFill>
                  <a:srgbClr val="FF0000"/>
                </a:solidFill>
                <a:effectLst/>
                <a:uLnTx/>
                <a:uFillTx/>
                <a:latin typeface="Calibri"/>
                <a:ea typeface="+mn-ea"/>
                <a:cs typeface="+mn-cs"/>
              </a:rPr>
              <a:t>số</a:t>
            </a:r>
            <a:r>
              <a:rPr kumimoji="0" lang="en-US" sz="1600" b="0" i="0" u="none" strike="noStrike" kern="1200" cap="none" spc="0" normalizeH="0" baseline="0" noProof="0" dirty="0">
                <a:ln>
                  <a:noFill/>
                </a:ln>
                <a:solidFill>
                  <a:srgbClr val="FF0000"/>
                </a:solidFill>
                <a:effectLst/>
                <a:uLnTx/>
                <a:uFillTx/>
                <a:latin typeface="Calibri"/>
                <a:ea typeface="+mn-ea"/>
                <a:cs typeface="+mn-cs"/>
              </a:rPr>
              <a:t> AOG </a:t>
            </a:r>
            <a:r>
              <a:rPr kumimoji="0" lang="en-US" sz="1600" b="0" i="0" u="none" strike="noStrike" kern="1200" cap="none" spc="0" normalizeH="0" baseline="0" noProof="0" dirty="0" err="1">
                <a:ln>
                  <a:noFill/>
                </a:ln>
                <a:solidFill>
                  <a:srgbClr val="FF0000"/>
                </a:solidFill>
                <a:effectLst/>
                <a:uLnTx/>
                <a:uFillTx/>
                <a:latin typeface="Calibri"/>
                <a:ea typeface="+mn-ea"/>
                <a:cs typeface="+mn-cs"/>
              </a:rPr>
              <a:t>trong</a:t>
            </a:r>
            <a:r>
              <a:rPr kumimoji="0" lang="en-US" sz="1600" b="0" i="0" u="none" strike="noStrike" kern="1200" cap="none" spc="0" normalizeH="0" baseline="0" noProof="0" dirty="0">
                <a:ln>
                  <a:noFill/>
                </a:ln>
                <a:solidFill>
                  <a:srgbClr val="FF0000"/>
                </a:solidFill>
                <a:effectLst/>
                <a:uLnTx/>
                <a:uFillTx/>
                <a:latin typeface="Calibri"/>
                <a:ea typeface="+mn-ea"/>
                <a:cs typeface="+mn-cs"/>
              </a:rPr>
              <a:t> </a:t>
            </a:r>
            <a:r>
              <a:rPr kumimoji="0" lang="en-US" sz="1600" b="0" i="0" u="none" strike="noStrike" kern="1200" cap="none" spc="0" normalizeH="0" baseline="0" noProof="0" dirty="0" err="1">
                <a:ln>
                  <a:noFill/>
                </a:ln>
                <a:solidFill>
                  <a:srgbClr val="FF0000"/>
                </a:solidFill>
                <a:effectLst/>
                <a:uLnTx/>
                <a:uFillTx/>
                <a:latin typeface="Calibri"/>
                <a:ea typeface="+mn-ea"/>
                <a:cs typeface="+mn-cs"/>
              </a:rPr>
              <a:t>tháng</a:t>
            </a:r>
            <a:r>
              <a:rPr kumimoji="0" lang="en-US" sz="1600" b="0" i="0" u="none" strike="noStrike" kern="1200" cap="none" spc="0" normalizeH="0" baseline="0" noProof="0" dirty="0">
                <a:ln>
                  <a:noFill/>
                </a:ln>
                <a:solidFill>
                  <a:srgbClr val="FF0000"/>
                </a:solidFill>
                <a:effectLst/>
                <a:uLnTx/>
                <a:uFillTx/>
                <a:latin typeface="Calibri"/>
                <a:ea typeface="+mn-ea"/>
                <a:cs typeface="+mn-cs"/>
              </a:rPr>
              <a:t> 2. </a:t>
            </a:r>
            <a:r>
              <a:rPr kumimoji="0" lang="en-US" sz="1600" b="0" i="0" u="none" strike="noStrike" kern="1200" cap="none" spc="0" normalizeH="0" baseline="0" noProof="0" dirty="0" err="1">
                <a:ln>
                  <a:noFill/>
                </a:ln>
                <a:solidFill>
                  <a:srgbClr val="FF0000"/>
                </a:solidFill>
                <a:effectLst/>
                <a:uLnTx/>
                <a:uFillTx/>
                <a:latin typeface="Calibri"/>
                <a:ea typeface="+mn-ea"/>
                <a:cs typeface="+mn-cs"/>
              </a:rPr>
              <a:t>Tuy</a:t>
            </a:r>
            <a:r>
              <a:rPr kumimoji="0" lang="en-US" sz="1600" b="0" i="0" u="none" strike="noStrike" kern="1200" cap="none" spc="0" normalizeH="0" baseline="0" noProof="0" dirty="0">
                <a:ln>
                  <a:noFill/>
                </a:ln>
                <a:solidFill>
                  <a:srgbClr val="FF0000"/>
                </a:solidFill>
                <a:effectLst/>
                <a:uLnTx/>
                <a:uFillTx/>
                <a:latin typeface="Calibri"/>
                <a:ea typeface="+mn-ea"/>
                <a:cs typeface="+mn-cs"/>
              </a:rPr>
              <a:t> </a:t>
            </a:r>
            <a:r>
              <a:rPr kumimoji="0" lang="en-US" sz="1600" b="0" i="0" u="none" strike="noStrike" kern="1200" cap="none" spc="0" normalizeH="0" baseline="0" noProof="0" dirty="0" err="1">
                <a:ln>
                  <a:noFill/>
                </a:ln>
                <a:solidFill>
                  <a:srgbClr val="FF0000"/>
                </a:solidFill>
                <a:effectLst/>
                <a:uLnTx/>
                <a:uFillTx/>
                <a:latin typeface="Calibri"/>
                <a:ea typeface="+mn-ea"/>
                <a:cs typeface="+mn-cs"/>
              </a:rPr>
              <a:t>nhiên</a:t>
            </a:r>
            <a:r>
              <a:rPr kumimoji="0" lang="en-US" sz="1600" b="0" i="0" u="none" strike="noStrike" kern="1200" cap="none" spc="0" normalizeH="0" baseline="0" noProof="0" dirty="0">
                <a:ln>
                  <a:noFill/>
                </a:ln>
                <a:solidFill>
                  <a:srgbClr val="FF0000"/>
                </a:solidFill>
                <a:effectLst/>
                <a:uLnTx/>
                <a:uFillTx/>
                <a:latin typeface="Calibri"/>
                <a:ea typeface="+mn-ea"/>
                <a:cs typeface="+mn-cs"/>
              </a:rPr>
              <a:t> </a:t>
            </a:r>
            <a:r>
              <a:rPr kumimoji="0" lang="en-US" sz="1600" b="0" i="0" u="none" strike="noStrike" kern="1200" cap="none" spc="0" normalizeH="0" baseline="0" noProof="0" dirty="0" err="1">
                <a:ln>
                  <a:noFill/>
                </a:ln>
                <a:solidFill>
                  <a:srgbClr val="FF0000"/>
                </a:solidFill>
                <a:effectLst/>
                <a:uLnTx/>
                <a:uFillTx/>
                <a:latin typeface="Calibri"/>
                <a:ea typeface="+mn-ea"/>
                <a:cs typeface="+mn-cs"/>
              </a:rPr>
              <a:t>cao</a:t>
            </a:r>
            <a:r>
              <a:rPr kumimoji="0" lang="en-US" sz="1600" b="0" i="0" u="none" strike="noStrike" kern="1200" cap="none" spc="0" normalizeH="0" baseline="0" noProof="0" dirty="0">
                <a:ln>
                  <a:noFill/>
                </a:ln>
                <a:solidFill>
                  <a:srgbClr val="FF0000"/>
                </a:solidFill>
                <a:effectLst/>
                <a:uLnTx/>
                <a:uFillTx/>
                <a:latin typeface="Calibri"/>
                <a:ea typeface="+mn-ea"/>
                <a:cs typeface="+mn-cs"/>
              </a:rPr>
              <a:t> </a:t>
            </a:r>
            <a:r>
              <a:rPr kumimoji="0" lang="en-US" sz="1600" b="0" i="0" u="none" strike="noStrike" kern="1200" cap="none" spc="0" normalizeH="0" baseline="0" noProof="0" dirty="0" err="1">
                <a:ln>
                  <a:noFill/>
                </a:ln>
                <a:solidFill>
                  <a:srgbClr val="FF0000"/>
                </a:solidFill>
                <a:effectLst/>
                <a:uLnTx/>
                <a:uFillTx/>
                <a:latin typeface="Calibri"/>
                <a:ea typeface="+mn-ea"/>
                <a:cs typeface="+mn-cs"/>
              </a:rPr>
              <a:t>điểm</a:t>
            </a:r>
            <a:r>
              <a:rPr kumimoji="0" lang="en-US" sz="1600" b="0" i="0" u="none" strike="noStrike" kern="1200" cap="none" spc="0" normalizeH="0" baseline="0" noProof="0" dirty="0">
                <a:ln>
                  <a:noFill/>
                </a:ln>
                <a:solidFill>
                  <a:srgbClr val="FF0000"/>
                </a:solidFill>
                <a:effectLst/>
                <a:uLnTx/>
                <a:uFillTx/>
                <a:latin typeface="Calibri"/>
                <a:ea typeface="+mn-ea"/>
                <a:cs typeface="+mn-cs"/>
              </a:rPr>
              <a:t> </a:t>
            </a:r>
            <a:r>
              <a:rPr kumimoji="0" lang="en-US" sz="1600" b="0" i="0" u="none" strike="noStrike" kern="1200" cap="none" spc="0" normalizeH="0" baseline="0" noProof="0" dirty="0" err="1">
                <a:ln>
                  <a:noFill/>
                </a:ln>
                <a:solidFill>
                  <a:srgbClr val="FF0000"/>
                </a:solidFill>
                <a:effectLst/>
                <a:uLnTx/>
                <a:uFillTx/>
                <a:latin typeface="Calibri"/>
                <a:ea typeface="+mn-ea"/>
                <a:cs typeface="+mn-cs"/>
              </a:rPr>
              <a:t>Tết</a:t>
            </a:r>
            <a:r>
              <a:rPr kumimoji="0" lang="en-US" sz="1600" b="0" i="0" u="none" strike="noStrike" kern="1200" cap="none" spc="0" normalizeH="0" baseline="0" noProof="0" dirty="0">
                <a:ln>
                  <a:noFill/>
                </a:ln>
                <a:solidFill>
                  <a:srgbClr val="FF0000"/>
                </a:solidFill>
                <a:effectLst/>
                <a:uLnTx/>
                <a:uFillTx/>
                <a:latin typeface="Calibri"/>
                <a:ea typeface="+mn-ea"/>
                <a:cs typeface="+mn-cs"/>
              </a:rPr>
              <a:t> </a:t>
            </a:r>
            <a:r>
              <a:rPr kumimoji="0" lang="en-US" sz="1600" b="0" i="0" u="none" strike="noStrike" kern="1200" cap="none" spc="0" normalizeH="0" baseline="0" noProof="0" dirty="0" err="1">
                <a:ln>
                  <a:noFill/>
                </a:ln>
                <a:solidFill>
                  <a:srgbClr val="FF0000"/>
                </a:solidFill>
                <a:effectLst/>
                <a:uLnTx/>
                <a:uFillTx/>
                <a:latin typeface="Calibri"/>
                <a:ea typeface="+mn-ea"/>
                <a:cs typeface="+mn-cs"/>
              </a:rPr>
              <a:t>vẫn</a:t>
            </a:r>
            <a:r>
              <a:rPr kumimoji="0" lang="en-US" sz="1600" b="0" i="0" u="none" strike="noStrike" kern="1200" cap="none" spc="0" normalizeH="0" baseline="0" noProof="0" dirty="0">
                <a:ln>
                  <a:noFill/>
                </a:ln>
                <a:solidFill>
                  <a:srgbClr val="FF0000"/>
                </a:solidFill>
                <a:effectLst/>
                <a:uLnTx/>
                <a:uFillTx/>
                <a:latin typeface="Calibri"/>
                <a:ea typeface="+mn-ea"/>
                <a:cs typeface="+mn-cs"/>
              </a:rPr>
              <a:t> </a:t>
            </a:r>
            <a:r>
              <a:rPr kumimoji="0" lang="en-US" sz="1600" b="0" i="0" u="none" strike="noStrike" kern="1200" cap="none" spc="0" normalizeH="0" baseline="0" noProof="0" dirty="0" err="1">
                <a:ln>
                  <a:noFill/>
                </a:ln>
                <a:solidFill>
                  <a:srgbClr val="FF0000"/>
                </a:solidFill>
                <a:effectLst/>
                <a:uLnTx/>
                <a:uFillTx/>
                <a:latin typeface="Calibri"/>
                <a:ea typeface="+mn-ea"/>
                <a:cs typeface="+mn-cs"/>
              </a:rPr>
              <a:t>duy</a:t>
            </a:r>
            <a:r>
              <a:rPr kumimoji="0" lang="en-US" sz="1600" b="0" i="0" u="none" strike="noStrike" kern="1200" cap="none" spc="0" normalizeH="0" baseline="0" noProof="0" dirty="0">
                <a:ln>
                  <a:noFill/>
                </a:ln>
                <a:solidFill>
                  <a:srgbClr val="FF0000"/>
                </a:solidFill>
                <a:effectLst/>
                <a:uLnTx/>
                <a:uFillTx/>
                <a:latin typeface="Calibri"/>
                <a:ea typeface="+mn-ea"/>
                <a:cs typeface="+mn-cs"/>
              </a:rPr>
              <a:t> </a:t>
            </a:r>
            <a:r>
              <a:rPr kumimoji="0" lang="en-US" sz="1600" b="0" i="0" u="none" strike="noStrike" kern="1200" cap="none" spc="0" normalizeH="0" baseline="0" noProof="0" dirty="0" err="1">
                <a:ln>
                  <a:noFill/>
                </a:ln>
                <a:solidFill>
                  <a:srgbClr val="FF0000"/>
                </a:solidFill>
                <a:effectLst/>
                <a:uLnTx/>
                <a:uFillTx/>
                <a:latin typeface="Calibri"/>
                <a:ea typeface="+mn-ea"/>
                <a:cs typeface="+mn-cs"/>
              </a:rPr>
              <a:t>trì</a:t>
            </a:r>
            <a:r>
              <a:rPr kumimoji="0" lang="en-US" sz="1600" b="0" i="0" u="none" strike="noStrike" kern="1200" cap="none" spc="0" normalizeH="0" baseline="0" noProof="0" dirty="0">
                <a:ln>
                  <a:noFill/>
                </a:ln>
                <a:solidFill>
                  <a:srgbClr val="FF0000"/>
                </a:solidFill>
                <a:effectLst/>
                <a:uLnTx/>
                <a:uFillTx/>
                <a:latin typeface="Calibri"/>
                <a:ea typeface="+mn-ea"/>
                <a:cs typeface="+mn-cs"/>
              </a:rPr>
              <a:t> 13 </a:t>
            </a:r>
            <a:r>
              <a:rPr kumimoji="0" lang="en-US" sz="1600" b="0" i="0" u="none" strike="noStrike" kern="1200" cap="none" spc="0" normalizeH="0" baseline="0" noProof="0" dirty="0" err="1">
                <a:ln>
                  <a:noFill/>
                </a:ln>
                <a:solidFill>
                  <a:srgbClr val="FF0000"/>
                </a:solidFill>
                <a:effectLst/>
                <a:uLnTx/>
                <a:uFillTx/>
                <a:latin typeface="Calibri"/>
                <a:ea typeface="+mn-ea"/>
                <a:cs typeface="+mn-cs"/>
              </a:rPr>
              <a:t>tàu</a:t>
            </a:r>
            <a:r>
              <a:rPr kumimoji="0" lang="en-US" sz="1600" b="0" i="0" u="none" strike="noStrike" kern="1200" cap="none" spc="0" normalizeH="0" baseline="0" noProof="0" dirty="0">
                <a:ln>
                  <a:noFill/>
                </a:ln>
                <a:solidFill>
                  <a:srgbClr val="FF0000"/>
                </a:solidFill>
                <a:effectLst/>
                <a:uLnTx/>
                <a:uFillTx/>
                <a:latin typeface="Calibri"/>
                <a:ea typeface="+mn-ea"/>
                <a:cs typeface="+mn-cs"/>
              </a:rPr>
              <a:t> </a:t>
            </a:r>
            <a:r>
              <a:rPr kumimoji="0" lang="en-US" sz="1600" b="0" i="0" u="none" strike="noStrike" kern="1200" cap="none" spc="0" normalizeH="0" baseline="0" noProof="0" dirty="0" err="1">
                <a:ln>
                  <a:noFill/>
                </a:ln>
                <a:solidFill>
                  <a:srgbClr val="FF0000"/>
                </a:solidFill>
                <a:effectLst/>
                <a:uLnTx/>
                <a:uFillTx/>
                <a:latin typeface="Calibri"/>
                <a:ea typeface="+mn-ea"/>
                <a:cs typeface="+mn-cs"/>
              </a:rPr>
              <a:t>dừng</a:t>
            </a:r>
            <a:r>
              <a:rPr kumimoji="0" lang="en-US" sz="1600" b="0" i="0" u="none" strike="noStrike" kern="1200" cap="none" spc="0" normalizeH="0" baseline="0" noProof="0" dirty="0">
                <a:ln>
                  <a:noFill/>
                </a:ln>
                <a:solidFill>
                  <a:srgbClr val="FF0000"/>
                </a:solidFill>
                <a:effectLst/>
                <a:uLnTx/>
                <a:uFillTx/>
                <a:latin typeface="Calibri"/>
                <a:ea typeface="+mn-ea"/>
                <a:cs typeface="+mn-cs"/>
              </a:rPr>
              <a:t>. </a:t>
            </a:r>
          </a:p>
        </p:txBody>
      </p:sp>
    </p:spTree>
    <p:extLst>
      <p:ext uri="{BB962C8B-B14F-4D97-AF65-F5344CB8AC3E}">
        <p14:creationId xmlns:p14="http://schemas.microsoft.com/office/powerpoint/2010/main" val="38608027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F201DCB-0F48-45FA-23D1-D69FC207E9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759506-148F-6ED1-3F13-4D127FBBC4FC}"/>
              </a:ext>
            </a:extLst>
          </p:cNvPr>
          <p:cNvSpPr txBox="1"/>
          <p:nvPr/>
        </p:nvSpPr>
        <p:spPr>
          <a:xfrm>
            <a:off x="153472" y="517989"/>
            <a:ext cx="4267200"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sửa</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chữa</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3" name="Table 2">
            <a:extLst>
              <a:ext uri="{FF2B5EF4-FFF2-40B4-BE49-F238E27FC236}">
                <a16:creationId xmlns:a16="http://schemas.microsoft.com/office/drawing/2014/main" id="{1AC2A46E-4E4A-6339-72C3-1800A18927D9}"/>
              </a:ext>
            </a:extLst>
          </p:cNvPr>
          <p:cNvGraphicFramePr>
            <a:graphicFrameLocks noGrp="1"/>
          </p:cNvGraphicFramePr>
          <p:nvPr/>
        </p:nvGraphicFramePr>
        <p:xfrm>
          <a:off x="162461" y="1051468"/>
          <a:ext cx="11867079" cy="5468773"/>
        </p:xfrm>
        <a:graphic>
          <a:graphicData uri="http://schemas.openxmlformats.org/drawingml/2006/table">
            <a:tbl>
              <a:tblPr firstRow="1" bandRow="1">
                <a:tableStyleId>{5C22544A-7EE6-4342-B048-85BDC9FD1C3A}</a:tableStyleId>
              </a:tblPr>
              <a:tblGrid>
                <a:gridCol w="474684">
                  <a:extLst>
                    <a:ext uri="{9D8B030D-6E8A-4147-A177-3AD203B41FA5}">
                      <a16:colId xmlns:a16="http://schemas.microsoft.com/office/drawing/2014/main" val="1598605427"/>
                    </a:ext>
                  </a:extLst>
                </a:gridCol>
                <a:gridCol w="870252">
                  <a:extLst>
                    <a:ext uri="{9D8B030D-6E8A-4147-A177-3AD203B41FA5}">
                      <a16:colId xmlns:a16="http://schemas.microsoft.com/office/drawing/2014/main" val="3845954792"/>
                    </a:ext>
                  </a:extLst>
                </a:gridCol>
                <a:gridCol w="1186707">
                  <a:extLst>
                    <a:ext uri="{9D8B030D-6E8A-4147-A177-3AD203B41FA5}">
                      <a16:colId xmlns:a16="http://schemas.microsoft.com/office/drawing/2014/main" val="2148822928"/>
                    </a:ext>
                  </a:extLst>
                </a:gridCol>
                <a:gridCol w="1265823">
                  <a:extLst>
                    <a:ext uri="{9D8B030D-6E8A-4147-A177-3AD203B41FA5}">
                      <a16:colId xmlns:a16="http://schemas.microsoft.com/office/drawing/2014/main" val="2136763095"/>
                    </a:ext>
                  </a:extLst>
                </a:gridCol>
                <a:gridCol w="1740505">
                  <a:extLst>
                    <a:ext uri="{9D8B030D-6E8A-4147-A177-3AD203B41FA5}">
                      <a16:colId xmlns:a16="http://schemas.microsoft.com/office/drawing/2014/main" val="1185879436"/>
                    </a:ext>
                  </a:extLst>
                </a:gridCol>
                <a:gridCol w="2768984">
                  <a:extLst>
                    <a:ext uri="{9D8B030D-6E8A-4147-A177-3AD203B41FA5}">
                      <a16:colId xmlns:a16="http://schemas.microsoft.com/office/drawing/2014/main" val="3807119371"/>
                    </a:ext>
                  </a:extLst>
                </a:gridCol>
                <a:gridCol w="3560124">
                  <a:extLst>
                    <a:ext uri="{9D8B030D-6E8A-4147-A177-3AD203B41FA5}">
                      <a16:colId xmlns:a16="http://schemas.microsoft.com/office/drawing/2014/main" val="3735753066"/>
                    </a:ext>
                  </a:extLst>
                </a:gridCol>
              </a:tblGrid>
              <a:tr h="288811">
                <a:tc>
                  <a:txBody>
                    <a:bodyPr/>
                    <a:lstStyle/>
                    <a:p>
                      <a:pPr algn="ctr"/>
                      <a:r>
                        <a:rPr lang="en-GB" sz="11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294752">
                <a:tc>
                  <a:txBody>
                    <a:bodyPr/>
                    <a:lstStyle/>
                    <a:p>
                      <a:pPr algn="ctr"/>
                      <a:r>
                        <a:rPr lang="en-US"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P771481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Completed</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T2/2024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b="0">
                          <a:solidFill>
                            <a:schemeClr val="tx1"/>
                          </a:solidFill>
                          <a:latin typeface="Times New Roman" panose="02020603050405020304" pitchFamily="18" charset="0"/>
                          <a:cs typeface="Times New Roman" panose="02020603050405020304" pitchFamily="18" charset="0"/>
                        </a:rPr>
                        <a:t>T5/2024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WSC QT</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277853865"/>
                  </a:ext>
                </a:extLst>
              </a:tr>
              <a:tr h="294752">
                <a:tc>
                  <a:txBody>
                    <a:bodyPr/>
                    <a:lstStyle/>
                    <a:p>
                      <a:pPr algn="ctr"/>
                      <a:r>
                        <a:rPr lang="en-GB" sz="11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P800098</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Completed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18/06/2024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07/09/2024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RTS A618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WSC QT</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3124338883"/>
                  </a:ext>
                </a:extLst>
              </a:tr>
              <a:tr h="294752">
                <a:tc>
                  <a:txBody>
                    <a:bodyPr/>
                    <a:lstStyle/>
                    <a:p>
                      <a:pPr algn="ctr"/>
                      <a:r>
                        <a:rPr lang="en-US" sz="1100" dirty="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P800150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Completed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20/06/2024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24/08/2024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RTS A618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WSC QT</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2165882103"/>
                  </a:ext>
                </a:extLst>
              </a:tr>
              <a:tr h="294752">
                <a:tc>
                  <a:txBody>
                    <a:bodyPr/>
                    <a:lstStyle/>
                    <a:p>
                      <a:pPr algn="ctr"/>
                      <a:r>
                        <a:rPr lang="en-GB" sz="11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P772905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Completed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27/06/2024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09/09/2024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Thay cho A620#2 giữ giờ bay CĐ tết</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WSC QT</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3227979002"/>
                  </a:ext>
                </a:extLst>
              </a:tr>
              <a:tr h="294752">
                <a:tc>
                  <a:txBody>
                    <a:bodyPr/>
                    <a:lstStyle/>
                    <a:p>
                      <a:pPr algn="ctr"/>
                      <a:r>
                        <a:rPr lang="en-GB" sz="1100" dirty="0">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P771703</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28/02/2024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b="0">
                          <a:solidFill>
                            <a:schemeClr val="tx1"/>
                          </a:solidFill>
                          <a:latin typeface="Times New Roman" panose="02020603050405020304" pitchFamily="18" charset="0"/>
                          <a:cs typeface="Times New Roman" panose="02020603050405020304" pitchFamily="18" charset="0"/>
                        </a:rPr>
                        <a:t>23/10/2024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Thay cho A512#1 AD Hub</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70956559"/>
                  </a:ext>
                </a:extLst>
              </a:tr>
              <a:tr h="294752">
                <a:tc>
                  <a:txBody>
                    <a:bodyPr/>
                    <a:lstStyle/>
                    <a:p>
                      <a:pPr algn="ctr"/>
                      <a:r>
                        <a:rPr lang="en-GB" sz="1100" dirty="0">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P770910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20/08/2024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08/11/2024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RTS A621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WSC QT</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75667320"/>
                  </a:ext>
                </a:extLst>
              </a:tr>
              <a:tr h="294752">
                <a:tc>
                  <a:txBody>
                    <a:bodyPr/>
                    <a:lstStyle/>
                    <a:p>
                      <a:pPr algn="ctr"/>
                      <a:r>
                        <a:rPr lang="en-GB" sz="1100">
                          <a:latin typeface="Times New Roman" panose="02020603050405020304" pitchFamily="18" charset="0"/>
                          <a:cs typeface="Times New Roman" panose="02020603050405020304" pitchFamily="18" charset="0"/>
                        </a:rPr>
                        <a:t>7</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P771710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06/09/2024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23/11/2024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RTS A621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WSC QT</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959370187"/>
                  </a:ext>
                </a:extLst>
              </a:tr>
              <a:tr h="29475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P770982</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16/09/2024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07/12/2024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Thay cho A507#1 AD Hub</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WSC QT, Delay 06 days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029850511"/>
                  </a:ext>
                </a:extLst>
              </a:tr>
              <a:tr h="294752">
                <a:tc>
                  <a:txBody>
                    <a:bodyPr/>
                    <a:lstStyle/>
                    <a:p>
                      <a:pPr algn="ctr"/>
                      <a:r>
                        <a:rPr lang="en-GB" sz="1100" dirty="0">
                          <a:latin typeface="Times New Roman" panose="02020603050405020304" pitchFamily="18" charset="0"/>
                          <a:cs typeface="Times New Roman" panose="02020603050405020304" pitchFamily="18" charset="0"/>
                        </a:rPr>
                        <a:t>9</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P770903</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18/07/2024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i="0" u="none" strike="noStrike">
                          <a:solidFill>
                            <a:schemeClr val="tx1"/>
                          </a:solidFill>
                          <a:effectLst/>
                          <a:latin typeface="Arial Narrow" panose="020B0606020202030204" pitchFamily="34" charset="0"/>
                        </a:rPr>
                        <a:t>27/03/2025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A625</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67959161"/>
                  </a:ext>
                </a:extLst>
              </a:tr>
              <a:tr h="463181">
                <a:tc>
                  <a:txBody>
                    <a:bodyPr/>
                    <a:lstStyle/>
                    <a:p>
                      <a:pPr algn="ctr"/>
                      <a:r>
                        <a:rPr lang="en-GB" sz="1100">
                          <a:latin typeface="Times New Roman" panose="02020603050405020304" pitchFamily="18" charset="0"/>
                          <a:cs typeface="Times New Roman" panose="02020603050405020304" pitchFamily="18" charset="0"/>
                        </a:rPr>
                        <a:t>10</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100" dirty="0">
                          <a:solidFill>
                            <a:schemeClr val="tx1"/>
                          </a:solidFill>
                          <a:effectLst/>
                          <a:latin typeface="Times New Roman" panose="02020603050405020304" pitchFamily="18" charset="0"/>
                          <a:cs typeface="Times New Roman" panose="02020603050405020304" pitchFamily="18" charset="0"/>
                        </a:rPr>
                        <a:t>P770904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22/04/2024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24/02/2025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RTS A501</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Delay do post test </a:t>
                      </a:r>
                      <a:r>
                        <a:rPr lang="en-US" sz="1100">
                          <a:solidFill>
                            <a:schemeClr val="tx1"/>
                          </a:solidFill>
                          <a:latin typeface="Times New Roman" panose="02020603050405020304" pitchFamily="18" charset="0"/>
                          <a:cs typeface="Times New Roman" panose="02020603050405020304" pitchFamily="18" charset="0"/>
                        </a:rPr>
                        <a:t>BSI finding on IBR6 &amp; TB1. Re-induct, dự kiến delay sang T2/2025.</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410844604"/>
                  </a:ext>
                </a:extLst>
              </a:tr>
              <a:tr h="294752">
                <a:tc>
                  <a:txBody>
                    <a:bodyPr/>
                    <a:lstStyle/>
                    <a:p>
                      <a:pPr algn="ctr"/>
                      <a:r>
                        <a:rPr lang="en-GB" sz="1100">
                          <a:latin typeface="Times New Roman" panose="02020603050405020304" pitchFamily="18" charset="0"/>
                          <a:cs typeface="Times New Roman" panose="02020603050405020304" pitchFamily="18" charset="0"/>
                        </a:rPr>
                        <a:t>11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P771075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25/07/2024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26/02/2025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A507#2 ENG CHANGE</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36697217"/>
                  </a:ext>
                </a:extLst>
              </a:tr>
              <a:tr h="294752">
                <a:tc>
                  <a:txBody>
                    <a:bodyPr/>
                    <a:lstStyle/>
                    <a:p>
                      <a:pPr algn="ctr"/>
                      <a:r>
                        <a:rPr lang="en-GB" sz="1100">
                          <a:latin typeface="Times New Roman" panose="02020603050405020304" pitchFamily="18" charset="0"/>
                          <a:cs typeface="Times New Roman" panose="02020603050405020304" pitchFamily="18" charset="0"/>
                        </a:rPr>
                        <a:t>12</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P771414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09/08/2024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13/02/2025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RTS A501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518084637"/>
                  </a:ext>
                </a:extLst>
              </a:tr>
              <a:tr h="294752">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13</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P771130</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25/09/2024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18/03/2025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A506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753673127"/>
                  </a:ext>
                </a:extLst>
              </a:tr>
              <a:tr h="294752">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14</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P771391</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Inducted</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11/10/2024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19/03/2025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A506</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502614763"/>
                  </a:ext>
                </a:extLst>
              </a:tr>
              <a:tr h="294752">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15</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P771077</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24/10/2024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27/03/2025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A625</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91877321"/>
                  </a:ext>
                </a:extLst>
              </a:tr>
              <a:tr h="294752">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16</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P771387</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05/11/2024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13/04/2025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 A508</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dirty="0">
                          <a:solidFill>
                            <a:schemeClr val="tx1"/>
                          </a:solidFill>
                          <a:effectLst/>
                          <a:latin typeface="Times New Roman" panose="02020603050405020304" pitchFamily="18" charset="0"/>
                          <a:ea typeface="+mn-ea"/>
                          <a:cs typeface="Times New Roman" panose="02020603050405020304" pitchFamily="18" charset="0"/>
                        </a:rPr>
                        <a:t>Target build ~4280 FC do HPT Hub not affected by AD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06751762"/>
                  </a:ext>
                </a:extLst>
              </a:tr>
              <a:tr h="294752">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17</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P771056</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rgbClr val="FF0000"/>
                          </a:solidFill>
                          <a:effectLst/>
                          <a:latin typeface="Times New Roman" panose="02020603050405020304" pitchFamily="18" charset="0"/>
                          <a:ea typeface="+mn-ea"/>
                          <a:cs typeface="Times New Roman" panose="02020603050405020304" pitchFamily="18" charset="0"/>
                        </a:rPr>
                        <a:t>10/01/2025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 A619</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WSC QT</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180737263"/>
                  </a:ext>
                </a:extLst>
              </a:tr>
            </a:tbl>
          </a:graphicData>
        </a:graphic>
      </p:graphicFrame>
      <p:sp>
        <p:nvSpPr>
          <p:cNvPr id="4" name="TextBox 3">
            <a:extLst>
              <a:ext uri="{FF2B5EF4-FFF2-40B4-BE49-F238E27FC236}">
                <a16:creationId xmlns:a16="http://schemas.microsoft.com/office/drawing/2014/main" id="{8E657E58-C6AA-4957-1D5D-8F4F96FE5488}"/>
              </a:ext>
            </a:extLst>
          </p:cNvPr>
          <p:cNvSpPr txBox="1"/>
          <p:nvPr/>
        </p:nvSpPr>
        <p:spPr>
          <a:xfrm>
            <a:off x="153473" y="103041"/>
            <a:ext cx="14875495"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ĐỘI BAY A321NEO</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1097048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566C40-78C1-9EC0-1727-A8DD49C3FD9B}"/>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16" name="TextBox 15">
            <a:extLst>
              <a:ext uri="{FF2B5EF4-FFF2-40B4-BE49-F238E27FC236}">
                <a16:creationId xmlns:a16="http://schemas.microsoft.com/office/drawing/2014/main" id="{A2528A14-5474-03B4-BF8A-AFDB59E54730}"/>
              </a:ext>
            </a:extLst>
          </p:cNvPr>
          <p:cNvSpPr txBox="1"/>
          <p:nvPr/>
        </p:nvSpPr>
        <p:spPr>
          <a:xfrm>
            <a:off x="0" y="431801"/>
            <a:ext cx="7890933"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thay</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a:t>
            </a:r>
            <a:r>
              <a:rPr kumimoji="0" lang="vi-VN"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A321NEO T1-T2/25</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id="{FF648BE0-3FB3-B153-2A56-6AAF25C6C6E2}"/>
              </a:ext>
            </a:extLst>
          </p:cNvPr>
          <p:cNvSpPr txBox="1"/>
          <p:nvPr/>
        </p:nvSpPr>
        <p:spPr>
          <a:xfrm>
            <a:off x="1" y="-5952"/>
            <a:ext cx="9584267"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ĐỘI BAY A321NEO</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8" name="Table 2">
            <a:extLst>
              <a:ext uri="{FF2B5EF4-FFF2-40B4-BE49-F238E27FC236}">
                <a16:creationId xmlns:a16="http://schemas.microsoft.com/office/drawing/2014/main" id="{6F2FE8BC-4850-BD1B-EABA-12CA92CD86BA}"/>
              </a:ext>
            </a:extLst>
          </p:cNvPr>
          <p:cNvGraphicFramePr>
            <a:graphicFrameLocks noGrp="1"/>
          </p:cNvGraphicFramePr>
          <p:nvPr/>
        </p:nvGraphicFramePr>
        <p:xfrm>
          <a:off x="163790" y="1032931"/>
          <a:ext cx="11594304" cy="5184694"/>
        </p:xfrm>
        <a:graphic>
          <a:graphicData uri="http://schemas.openxmlformats.org/drawingml/2006/table">
            <a:tbl>
              <a:tblPr firstRow="1" bandRow="1">
                <a:tableStyleId>{5C22544A-7EE6-4342-B048-85BDC9FD1C3A}</a:tableStyleId>
              </a:tblPr>
              <a:tblGrid>
                <a:gridCol w="506307">
                  <a:extLst>
                    <a:ext uri="{9D8B030D-6E8A-4147-A177-3AD203B41FA5}">
                      <a16:colId xmlns:a16="http://schemas.microsoft.com/office/drawing/2014/main" val="1598605427"/>
                    </a:ext>
                  </a:extLst>
                </a:gridCol>
                <a:gridCol w="1136124">
                  <a:extLst>
                    <a:ext uri="{9D8B030D-6E8A-4147-A177-3AD203B41FA5}">
                      <a16:colId xmlns:a16="http://schemas.microsoft.com/office/drawing/2014/main" val="3845954792"/>
                    </a:ext>
                  </a:extLst>
                </a:gridCol>
                <a:gridCol w="1163319">
                  <a:extLst>
                    <a:ext uri="{9D8B030D-6E8A-4147-A177-3AD203B41FA5}">
                      <a16:colId xmlns:a16="http://schemas.microsoft.com/office/drawing/2014/main" val="2148822928"/>
                    </a:ext>
                  </a:extLst>
                </a:gridCol>
                <a:gridCol w="1163319">
                  <a:extLst>
                    <a:ext uri="{9D8B030D-6E8A-4147-A177-3AD203B41FA5}">
                      <a16:colId xmlns:a16="http://schemas.microsoft.com/office/drawing/2014/main" val="2136763095"/>
                    </a:ext>
                  </a:extLst>
                </a:gridCol>
                <a:gridCol w="1163319">
                  <a:extLst>
                    <a:ext uri="{9D8B030D-6E8A-4147-A177-3AD203B41FA5}">
                      <a16:colId xmlns:a16="http://schemas.microsoft.com/office/drawing/2014/main" val="4058157000"/>
                    </a:ext>
                  </a:extLst>
                </a:gridCol>
                <a:gridCol w="1163319">
                  <a:extLst>
                    <a:ext uri="{9D8B030D-6E8A-4147-A177-3AD203B41FA5}">
                      <a16:colId xmlns:a16="http://schemas.microsoft.com/office/drawing/2014/main" val="1185879436"/>
                    </a:ext>
                  </a:extLst>
                </a:gridCol>
                <a:gridCol w="1163319">
                  <a:extLst>
                    <a:ext uri="{9D8B030D-6E8A-4147-A177-3AD203B41FA5}">
                      <a16:colId xmlns:a16="http://schemas.microsoft.com/office/drawing/2014/main" val="3807119371"/>
                    </a:ext>
                  </a:extLst>
                </a:gridCol>
                <a:gridCol w="1038679">
                  <a:extLst>
                    <a:ext uri="{9D8B030D-6E8A-4147-A177-3AD203B41FA5}">
                      <a16:colId xmlns:a16="http://schemas.microsoft.com/office/drawing/2014/main" val="2251645117"/>
                    </a:ext>
                  </a:extLst>
                </a:gridCol>
                <a:gridCol w="3096599">
                  <a:extLst>
                    <a:ext uri="{9D8B030D-6E8A-4147-A177-3AD203B41FA5}">
                      <a16:colId xmlns:a16="http://schemas.microsoft.com/office/drawing/2014/main" val="3735753066"/>
                    </a:ext>
                  </a:extLst>
                </a:gridCol>
              </a:tblGrid>
              <a:tr h="971761">
                <a:tc>
                  <a:txBody>
                    <a:bodyPr/>
                    <a:lstStyle/>
                    <a:p>
                      <a:pPr algn="ctr"/>
                      <a:r>
                        <a:rPr lang="en-GB" sz="12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ESN OFF</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ESN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Remove from</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dirty="0">
                          <a:solidFill>
                            <a:schemeClr val="lt1"/>
                          </a:solidFill>
                          <a:latin typeface="Times New Roman" panose="02020603050405020304" pitchFamily="18" charset="0"/>
                          <a:ea typeface="+mn-ea"/>
                          <a:cs typeface="Times New Roman" panose="02020603050405020304" pitchFamily="18" charset="0"/>
                        </a:rPr>
                        <a:t>Removal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Shopvisit</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200">
                          <a:latin typeface="Times New Roman" panose="02020603050405020304" pitchFamily="18" charset="0"/>
                          <a:cs typeface="Times New Roman" panose="02020603050405020304" pitchFamily="18" charset="0"/>
                        </a:rPr>
                        <a:t>Remark</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517920">
                <a:tc>
                  <a:txBody>
                    <a:bodyPr/>
                    <a:lstStyle/>
                    <a:p>
                      <a:pPr algn="ctr"/>
                      <a:r>
                        <a:rPr lang="en-US" sz="1200" b="0" i="0" u="none" strike="noStrike" kern="1200">
                          <a:solidFill>
                            <a:schemeClr val="tx1"/>
                          </a:solidFill>
                          <a:effectLst/>
                          <a:latin typeface="Calibri" panose="020F0502020204030204" pitchFamily="34" charset="0"/>
                          <a:ea typeface="+mn-ea"/>
                          <a:cs typeface="+mn-cs"/>
                        </a:rPr>
                        <a:t>1</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P770906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P771056</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Calibri" panose="020F0502020204030204" pitchFamily="34" charset="0"/>
                        </a:rPr>
                        <a:t>A619#1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A619#1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Calibri" panose="020F0502020204030204" pitchFamily="34" charset="0"/>
                        </a:rPr>
                        <a:t>28-Dec-24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12-Jan-25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83596114"/>
                  </a:ext>
                </a:extLst>
              </a:tr>
              <a:tr h="527859">
                <a:tc>
                  <a:txBody>
                    <a:bodyPr/>
                    <a:lstStyle/>
                    <a:p>
                      <a:pPr algn="ctr"/>
                      <a:r>
                        <a:rPr lang="en-GB" sz="1200" b="0" i="0" u="none" strike="noStrike" kern="1200">
                          <a:solidFill>
                            <a:srgbClr val="FF0000"/>
                          </a:solidFill>
                          <a:effectLst/>
                          <a:latin typeface="Calibri" panose="020F0502020204030204" pitchFamily="34" charset="0"/>
                          <a:ea typeface="+mn-ea"/>
                          <a:cs typeface="+mn-cs"/>
                        </a:rPr>
                        <a:t>2</a:t>
                      </a:r>
                      <a:endParaRPr lang="en-GB" sz="1200" b="0" i="0" u="none" strike="noStrike" kern="1200" dirty="0">
                        <a:solidFill>
                          <a:srgbClr val="FF0000"/>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rgbClr val="FF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Calibri" panose="020F0502020204030204" pitchFamily="34" charset="0"/>
                        </a:rPr>
                        <a:t>P770906</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rgbClr val="FF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FF0000"/>
                          </a:solidFill>
                          <a:effectLst/>
                          <a:latin typeface="Calibri" panose="020F0502020204030204" pitchFamily="34" charset="0"/>
                        </a:rPr>
                        <a:t>A511#1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rgbClr val="FF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FF0000"/>
                          </a:solidFill>
                          <a:effectLst/>
                          <a:latin typeface="Calibri" panose="020F0502020204030204" pitchFamily="34" charset="0"/>
                        </a:rPr>
                        <a:t>30-Dec-24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0000"/>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dirty="0">
                          <a:solidFill>
                            <a:srgbClr val="FF0000"/>
                          </a:solidFill>
                          <a:effectLst/>
                          <a:latin typeface="Calibri" panose="020F0502020204030204" pitchFamily="34" charset="0"/>
                          <a:ea typeface="+mn-ea"/>
                          <a:cs typeface="+mn-cs"/>
                        </a:rPr>
                        <a:t>RTS, Reset 12month preservation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9894405"/>
                  </a:ext>
                </a:extLst>
              </a:tr>
              <a:tr h="527859">
                <a:tc>
                  <a:txBody>
                    <a:bodyPr/>
                    <a:lstStyle/>
                    <a:p>
                      <a:pPr algn="ctr"/>
                      <a:r>
                        <a:rPr lang="en-GB" sz="1200" b="0" i="0" u="none" strike="noStrike" kern="1200">
                          <a:solidFill>
                            <a:schemeClr val="tx1"/>
                          </a:solidFill>
                          <a:effectLst/>
                          <a:latin typeface="Calibri" panose="020F0502020204030204" pitchFamily="34" charset="0"/>
                          <a:ea typeface="+mn-ea"/>
                          <a:cs typeface="+mn-cs"/>
                        </a:rPr>
                        <a:t>3</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P771131</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P771414</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A501#1</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A501#1</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rgbClr val="000000"/>
                          </a:solidFill>
                          <a:effectLst/>
                          <a:latin typeface="Calibri" panose="020F0502020204030204" pitchFamily="34" charset="0"/>
                          <a:ea typeface="+mn-ea"/>
                          <a:cs typeface="+mn-cs"/>
                          <a:sym typeface="Arial"/>
                        </a:rPr>
                        <a:t>20-Jan-25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rgbClr val="000000"/>
                          </a:solidFill>
                          <a:effectLst/>
                          <a:latin typeface="Calibri" panose="020F0502020204030204" pitchFamily="34" charset="0"/>
                          <a:ea typeface="+mn-ea"/>
                          <a:cs typeface="+mn-cs"/>
                          <a:sym typeface="Arial"/>
                        </a:rPr>
                        <a:t>14-Feb-25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Calibri" panose="020F0502020204030204" pitchFamily="34" charset="0"/>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RTS</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3576879"/>
                  </a:ext>
                </a:extLst>
              </a:tr>
              <a:tr h="527859">
                <a:tc>
                  <a:txBody>
                    <a:bodyPr/>
                    <a:lstStyle/>
                    <a:p>
                      <a:pPr algn="ctr"/>
                      <a:r>
                        <a:rPr lang="en-GB" sz="1200" b="0" i="0" u="none" strike="noStrike" kern="1200">
                          <a:solidFill>
                            <a:schemeClr val="tx1"/>
                          </a:solidFill>
                          <a:effectLst/>
                          <a:latin typeface="Calibri" panose="020F0502020204030204" pitchFamily="34" charset="0"/>
                          <a:ea typeface="+mn-ea"/>
                          <a:cs typeface="+mn-cs"/>
                        </a:rPr>
                        <a:t>4</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P771110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P770904</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A501#2</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A501#2</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rgbClr val="000000"/>
                          </a:solidFill>
                          <a:effectLst/>
                          <a:latin typeface="Calibri" panose="020F0502020204030204" pitchFamily="34" charset="0"/>
                          <a:ea typeface="+mn-ea"/>
                          <a:cs typeface="+mn-cs"/>
                          <a:sym typeface="Arial"/>
                        </a:rPr>
                        <a:t>25-Jan-25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rgbClr val="000000"/>
                          </a:solidFill>
                          <a:effectLst/>
                          <a:latin typeface="Calibri" panose="020F0502020204030204" pitchFamily="34" charset="0"/>
                          <a:ea typeface="+mn-ea"/>
                          <a:cs typeface="+mn-cs"/>
                          <a:sym typeface="Arial"/>
                        </a:rPr>
                        <a:t>25-Feb-25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dirty="0">
                          <a:solidFill>
                            <a:schemeClr val="tx1"/>
                          </a:solidFill>
                          <a:effectLst/>
                          <a:latin typeface="Calibri" panose="020F0502020204030204" pitchFamily="34" charset="0"/>
                          <a:ea typeface="+mn-ea"/>
                          <a:cs typeface="+mn-cs"/>
                        </a:rPr>
                        <a:t>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57832"/>
                  </a:ext>
                </a:extLst>
              </a:tr>
              <a:tr h="527859">
                <a:tc>
                  <a:txBody>
                    <a:bodyPr/>
                    <a:lstStyle/>
                    <a:p>
                      <a:pPr algn="ctr"/>
                      <a:r>
                        <a:rPr lang="en-GB" sz="1200" b="0" i="0" u="none" strike="noStrike" kern="1200">
                          <a:solidFill>
                            <a:schemeClr val="tx1"/>
                          </a:solidFill>
                          <a:effectLst/>
                          <a:latin typeface="Calibri" panose="020F0502020204030204" pitchFamily="34" charset="0"/>
                          <a:ea typeface="+mn-ea"/>
                          <a:cs typeface="+mn-cs"/>
                        </a:rPr>
                        <a:t>5</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P772905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P771668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A620#2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A619#2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15-Feb-25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17-Feb-25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Calibri" panose="020F0502020204030204" pitchFamily="34" charset="0"/>
                        </a:rPr>
                        <a:t>Swap engine with A619, A620 </a:t>
                      </a:r>
                      <a:r>
                        <a:rPr lang="en-US" sz="1200" b="0" i="0" u="none" strike="noStrike" dirty="0" err="1">
                          <a:solidFill>
                            <a:srgbClr val="000000"/>
                          </a:solidFill>
                          <a:effectLst/>
                          <a:latin typeface="Calibri" panose="020F0502020204030204" pitchFamily="34" charset="0"/>
                        </a:rPr>
                        <a:t>dừng</a:t>
                      </a:r>
                      <a:r>
                        <a:rPr lang="en-US" sz="1200" b="0" i="0" u="none" strike="noStrike" dirty="0">
                          <a:solidFill>
                            <a:srgbClr val="000000"/>
                          </a:solidFill>
                          <a:effectLst/>
                          <a:latin typeface="Calibri" panose="020F0502020204030204" pitchFamily="34" charset="0"/>
                        </a:rPr>
                        <a:t> </a:t>
                      </a:r>
                      <a:r>
                        <a:rPr lang="en-US" sz="1200" b="0" i="0" u="none" strike="noStrike" dirty="0" err="1">
                          <a:solidFill>
                            <a:srgbClr val="000000"/>
                          </a:solidFill>
                          <a:effectLst/>
                          <a:latin typeface="Calibri" panose="020F0502020204030204" pitchFamily="34" charset="0"/>
                        </a:rPr>
                        <a:t>làm</a:t>
                      </a:r>
                      <a:r>
                        <a:rPr lang="en-US" sz="1200" b="0" i="0" u="none" strike="noStrike" dirty="0">
                          <a:solidFill>
                            <a:srgbClr val="000000"/>
                          </a:solidFill>
                          <a:effectLst/>
                          <a:latin typeface="Calibri" panose="020F0502020204030204" pitchFamily="34" charset="0"/>
                        </a:rPr>
                        <a:t> check</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6505085"/>
                  </a:ext>
                </a:extLst>
              </a:tr>
              <a:tr h="527859">
                <a:tc>
                  <a:txBody>
                    <a:bodyPr/>
                    <a:lstStyle/>
                    <a:p>
                      <a:pPr algn="ctr"/>
                      <a:r>
                        <a:rPr lang="en-GB" sz="1200" b="0" i="0" u="none" strike="noStrike" kern="1200">
                          <a:solidFill>
                            <a:schemeClr val="tx1"/>
                          </a:solidFill>
                          <a:effectLst/>
                          <a:latin typeface="Calibri" panose="020F0502020204030204" pitchFamily="34" charset="0"/>
                          <a:ea typeface="+mn-ea"/>
                          <a:cs typeface="+mn-cs"/>
                        </a:rPr>
                        <a:t>6</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P771668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P772905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A619#2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A620#2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Calibri" panose="020F0502020204030204" pitchFamily="34" charset="0"/>
                        </a:rPr>
                        <a:t>15-Feb-25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17-Feb-25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Calibri" panose="020F0502020204030204" pitchFamily="34" charset="0"/>
                        </a:rPr>
                        <a:t>Swap engine with A620, A619 </a:t>
                      </a:r>
                      <a:r>
                        <a:rPr lang="en-US" sz="1200" b="0" i="0" u="none" strike="noStrike" dirty="0" err="1">
                          <a:solidFill>
                            <a:srgbClr val="000000"/>
                          </a:solidFill>
                          <a:effectLst/>
                          <a:latin typeface="Calibri" panose="020F0502020204030204" pitchFamily="34" charset="0"/>
                        </a:rPr>
                        <a:t>tiếp</a:t>
                      </a:r>
                      <a:r>
                        <a:rPr lang="en-US" sz="1200" b="0" i="0" u="none" strike="noStrike" dirty="0">
                          <a:solidFill>
                            <a:srgbClr val="000000"/>
                          </a:solidFill>
                          <a:effectLst/>
                          <a:latin typeface="Calibri" panose="020F0502020204030204" pitchFamily="34" charset="0"/>
                        </a:rPr>
                        <a:t> </a:t>
                      </a:r>
                      <a:r>
                        <a:rPr lang="en-US" sz="1200" b="0" i="0" u="none" strike="noStrike" dirty="0" err="1">
                          <a:solidFill>
                            <a:srgbClr val="000000"/>
                          </a:solidFill>
                          <a:effectLst/>
                          <a:latin typeface="Calibri" panose="020F0502020204030204" pitchFamily="34" charset="0"/>
                        </a:rPr>
                        <a:t>tục</a:t>
                      </a:r>
                      <a:r>
                        <a:rPr lang="en-US" sz="1200" b="0" i="0" u="none" strike="noStrike" dirty="0">
                          <a:solidFill>
                            <a:srgbClr val="000000"/>
                          </a:solidFill>
                          <a:effectLst/>
                          <a:latin typeface="Calibri" panose="020F0502020204030204" pitchFamily="34" charset="0"/>
                        </a:rPr>
                        <a:t> </a:t>
                      </a:r>
                      <a:r>
                        <a:rPr lang="en-US" sz="1200" b="0" i="0" u="none" strike="noStrike" dirty="0" err="1">
                          <a:solidFill>
                            <a:srgbClr val="000000"/>
                          </a:solidFill>
                          <a:effectLst/>
                          <a:latin typeface="Calibri" panose="020F0502020204030204" pitchFamily="34" charset="0"/>
                        </a:rPr>
                        <a:t>khai</a:t>
                      </a:r>
                      <a:r>
                        <a:rPr lang="en-US" sz="1200" b="0" i="0" u="none" strike="noStrike" dirty="0">
                          <a:solidFill>
                            <a:srgbClr val="000000"/>
                          </a:solidFill>
                          <a:effectLst/>
                          <a:latin typeface="Calibri" panose="020F0502020204030204" pitchFamily="34" charset="0"/>
                        </a:rPr>
                        <a:t> </a:t>
                      </a:r>
                      <a:r>
                        <a:rPr lang="en-US" sz="1200" b="0" i="0" u="none" strike="noStrike" dirty="0" err="1">
                          <a:solidFill>
                            <a:srgbClr val="000000"/>
                          </a:solidFill>
                          <a:effectLst/>
                          <a:latin typeface="Calibri" panose="020F0502020204030204" pitchFamily="34" charset="0"/>
                        </a:rPr>
                        <a:t>thác</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2066291"/>
                  </a:ext>
                </a:extLst>
              </a:tr>
              <a:tr h="527859">
                <a:tc>
                  <a:txBody>
                    <a:bodyPr/>
                    <a:lstStyle/>
                    <a:p>
                      <a:pPr algn="ctr"/>
                      <a:r>
                        <a:rPr lang="en-GB" sz="1200" b="0" i="0" u="none" strike="noStrike" kern="1200">
                          <a:solidFill>
                            <a:schemeClr val="tx1"/>
                          </a:solidFill>
                          <a:effectLst/>
                          <a:latin typeface="Calibri" panose="020F0502020204030204" pitchFamily="34" charset="0"/>
                          <a:ea typeface="+mn-ea"/>
                          <a:cs typeface="+mn-cs"/>
                        </a:rPr>
                        <a:t>7</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P771488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P771075</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A507#2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A507#2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rgbClr val="000000"/>
                          </a:solidFill>
                          <a:effectLst/>
                          <a:latin typeface="Calibri" panose="020F0502020204030204" pitchFamily="34" charset="0"/>
                          <a:ea typeface="+mn-ea"/>
                          <a:cs typeface="+mn-cs"/>
                          <a:sym typeface="Arial"/>
                        </a:rPr>
                        <a:t>26-Feb-25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rgbClr val="000000"/>
                          </a:solidFill>
                          <a:effectLst/>
                          <a:latin typeface="Calibri" panose="020F0502020204030204" pitchFamily="34" charset="0"/>
                          <a:ea typeface="+mn-ea"/>
                          <a:cs typeface="+mn-cs"/>
                          <a:sym typeface="Arial"/>
                        </a:rPr>
                        <a:t>28-Feb-25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4227953"/>
                  </a:ext>
                </a:extLst>
              </a:tr>
              <a:tr h="527859">
                <a:tc>
                  <a:txBody>
                    <a:bodyPr/>
                    <a:lstStyle/>
                    <a:p>
                      <a:pPr algn="ctr"/>
                      <a:r>
                        <a:rPr lang="en-GB" sz="1200" b="0" i="0" u="none" strike="noStrike" kern="1200">
                          <a:solidFill>
                            <a:schemeClr val="tx1"/>
                          </a:solidFill>
                          <a:effectLst/>
                          <a:latin typeface="Calibri" panose="020F0502020204030204" pitchFamily="34" charset="0"/>
                          <a:ea typeface="+mn-ea"/>
                          <a:cs typeface="+mn-cs"/>
                        </a:rPr>
                        <a:t>8</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P771488</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A623#1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rgbClr val="000000"/>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rgbClr val="000000"/>
                          </a:solidFill>
                          <a:effectLst/>
                          <a:latin typeface="Calibri" panose="020F0502020204030204" pitchFamily="34" charset="0"/>
                          <a:ea typeface="+mn-ea"/>
                          <a:cs typeface="+mn-cs"/>
                          <a:sym typeface="Arial"/>
                        </a:rPr>
                        <a:t>5-Mar-25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INSTALLATION</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1565641"/>
                  </a:ext>
                </a:extLst>
              </a:tr>
            </a:tbl>
          </a:graphicData>
        </a:graphic>
      </p:graphicFrame>
    </p:spTree>
    <p:extLst>
      <p:ext uri="{BB962C8B-B14F-4D97-AF65-F5344CB8AC3E}">
        <p14:creationId xmlns:p14="http://schemas.microsoft.com/office/powerpoint/2010/main" val="29145691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panose="020B0604020202020204" pitchFamily="34" charset="0"/>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30</a:t>
            </a:fld>
            <a:endParaRPr kumimoji="0" lang="vi" sz="1200" b="0" i="0" u="none" strike="noStrike" kern="1200" cap="none" spc="0" normalizeH="0" baseline="0" noProof="0">
              <a:ln>
                <a:noFill/>
              </a:ln>
              <a:solidFill>
                <a:prstClr val="black">
                  <a:tint val="75000"/>
                </a:prstClr>
              </a:solidFill>
              <a:effectLst/>
              <a:uLnTx/>
              <a:uFillTx/>
              <a:latin typeface="Arial" panose="020B0604020202020204" pitchFamily="34" charset="0"/>
              <a:ea typeface="+mn-ea"/>
              <a:cs typeface="+mn-cs"/>
            </a:endParaRPr>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3"/>
            <a:ext cx="5764091" cy="461665"/>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DAA600"/>
                </a:solidFill>
                <a:effectLst/>
                <a:uLnTx/>
                <a:uFillTx/>
                <a:latin typeface="Times New Roman" panose="02020603050405020304" pitchFamily="18" charset="0"/>
                <a:ea typeface="+mn-ea"/>
                <a:cs typeface="Times New Roman" panose="02020603050405020304" pitchFamily="18" charset="0"/>
              </a:rPr>
              <a:t>ĐỘI BAY A321CEO</a:t>
            </a:r>
            <a:endParaRPr kumimoji="0" lang="en-GB" sz="2400" b="1" i="0" u="none" strike="noStrike" kern="1200" cap="none" spc="0" normalizeH="0" baseline="0" noProof="0" dirty="0">
              <a:ln>
                <a:noFill/>
              </a:ln>
              <a:solidFill>
                <a:srgbClr val="DAA6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7" name="Table 2">
            <a:extLst>
              <a:ext uri="{FF2B5EF4-FFF2-40B4-BE49-F238E27FC236}">
                <a16:creationId xmlns:a16="http://schemas.microsoft.com/office/drawing/2014/main" id="{7BBB0B2C-0AB6-AE2A-F08B-65F49223079D}"/>
              </a:ext>
            </a:extLst>
          </p:cNvPr>
          <p:cNvGraphicFramePr>
            <a:graphicFrameLocks noGrp="1"/>
          </p:cNvGraphicFramePr>
          <p:nvPr/>
        </p:nvGraphicFramePr>
        <p:xfrm>
          <a:off x="185139" y="1041725"/>
          <a:ext cx="5339361" cy="3638997"/>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val="1598605427"/>
                    </a:ext>
                  </a:extLst>
                </a:gridCol>
                <a:gridCol w="701211">
                  <a:extLst>
                    <a:ext uri="{9D8B030D-6E8A-4147-A177-3AD203B41FA5}">
                      <a16:colId xmlns:a16="http://schemas.microsoft.com/office/drawing/2014/main" val="3845954792"/>
                    </a:ext>
                  </a:extLst>
                </a:gridCol>
                <a:gridCol w="1023768">
                  <a:extLst>
                    <a:ext uri="{9D8B030D-6E8A-4147-A177-3AD203B41FA5}">
                      <a16:colId xmlns:a16="http://schemas.microsoft.com/office/drawing/2014/main" val="2148822928"/>
                    </a:ext>
                  </a:extLst>
                </a:gridCol>
                <a:gridCol w="872619">
                  <a:extLst>
                    <a:ext uri="{9D8B030D-6E8A-4147-A177-3AD203B41FA5}">
                      <a16:colId xmlns:a16="http://schemas.microsoft.com/office/drawing/2014/main" val="1185879436"/>
                    </a:ext>
                  </a:extLst>
                </a:gridCol>
                <a:gridCol w="2310880">
                  <a:extLst>
                    <a:ext uri="{9D8B030D-6E8A-4147-A177-3AD203B41FA5}">
                      <a16:colId xmlns:a16="http://schemas.microsoft.com/office/drawing/2014/main" val="3328294324"/>
                    </a:ext>
                  </a:extLst>
                </a:gridCol>
              </a:tblGrid>
              <a:tr h="259883">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259080">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1</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30/12/2024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13/01/2025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4237589"/>
                  </a:ext>
                </a:extLst>
              </a:tr>
              <a:tr h="259080">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2</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14/01/2024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24/01/2025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4525903"/>
                  </a:ext>
                </a:extLst>
              </a:tr>
              <a:tr h="259883">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3</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V17951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26/12/2024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09/01/2025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5220057"/>
                  </a:ext>
                </a:extLst>
              </a:tr>
              <a:tr h="259883">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V16037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15/03/2025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22/03/2025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59883">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V16464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20/12/2024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rgbClr val="FF0000"/>
                          </a:solidFill>
                          <a:latin typeface="Times New Roman" panose="02020603050405020304" pitchFamily="18" charset="0"/>
                          <a:cs typeface="Times New Roman" panose="02020603050405020304" pitchFamily="18" charset="0"/>
                        </a:rPr>
                        <a:t>Đã</a:t>
                      </a:r>
                      <a:r>
                        <a:rPr lang="en-GB" sz="1100" dirty="0">
                          <a:solidFill>
                            <a:srgbClr val="FF0000"/>
                          </a:solidFill>
                          <a:latin typeface="Times New Roman" panose="02020603050405020304" pitchFamily="18" charset="0"/>
                          <a:cs typeface="Times New Roman" panose="02020603050405020304" pitchFamily="18" charset="0"/>
                        </a:rPr>
                        <a:t> </a:t>
                      </a:r>
                      <a:r>
                        <a:rPr lang="en-GB" sz="1100" dirty="0" err="1">
                          <a:solidFill>
                            <a:srgbClr val="FF0000"/>
                          </a:solidFill>
                          <a:latin typeface="Times New Roman" panose="02020603050405020304" pitchFamily="18" charset="0"/>
                          <a:cs typeface="Times New Roman" panose="02020603050405020304" pitchFamily="18" charset="0"/>
                        </a:rPr>
                        <a:t>giao</a:t>
                      </a:r>
                      <a:r>
                        <a:rPr lang="en-GB" sz="1100" dirty="0">
                          <a:solidFill>
                            <a:srgbClr val="FF0000"/>
                          </a:solidFill>
                          <a:latin typeface="Times New Roman" panose="02020603050405020304" pitchFamily="18" charset="0"/>
                          <a:cs typeface="Times New Roman" panose="02020603050405020304" pitchFamily="18" charset="0"/>
                        </a:rPr>
                        <a:t> </a:t>
                      </a:r>
                      <a:r>
                        <a:rPr lang="en-GB" sz="1100" dirty="0" err="1">
                          <a:solidFill>
                            <a:srgbClr val="FF0000"/>
                          </a:solidFill>
                          <a:latin typeface="Times New Roman" panose="02020603050405020304" pitchFamily="18" charset="0"/>
                          <a:cs typeface="Times New Roman" panose="02020603050405020304" pitchFamily="18" charset="0"/>
                        </a:rPr>
                        <a:t>Vaeco</a:t>
                      </a:r>
                      <a:r>
                        <a:rPr lang="en-GB" sz="1100" dirty="0">
                          <a:solidFill>
                            <a:srgbClr val="FF0000"/>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59883">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V16338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24/04/2025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01/05/2025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59883">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20/05/2025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27/05/2025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6533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V16456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16/05/2025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18/05/2025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59883">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V12505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13/01/2025 induct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25908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r h="25908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V16799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0"/>
                  </a:ext>
                </a:extLst>
              </a:tr>
              <a:tr h="25908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25908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bl>
          </a:graphicData>
        </a:graphic>
      </p:graphicFrame>
      <p:sp>
        <p:nvSpPr>
          <p:cNvPr id="10" name="TextBox 9">
            <a:extLst>
              <a:ext uri="{FF2B5EF4-FFF2-40B4-BE49-F238E27FC236}">
                <a16:creationId xmlns:a16="http://schemas.microsoft.com/office/drawing/2014/main" id="{065B7C68-FAE0-542E-3B49-CC53ADF9B04A}"/>
              </a:ext>
            </a:extLst>
          </p:cNvPr>
          <p:cNvSpPr txBox="1"/>
          <p:nvPr/>
        </p:nvSpPr>
        <p:spPr>
          <a:xfrm>
            <a:off x="6731102" y="606857"/>
            <a:ext cx="4108882" cy="369332"/>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đội</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A321CEO 2024 – Q1/2025</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626875"/>
            <a:ext cx="3692036" cy="369332"/>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Các</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động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đã</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tháo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đang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sửa</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chữa</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737201" y="1035392"/>
          <a:ext cx="6207277" cy="952508"/>
        </p:xfrm>
        <a:graphic>
          <a:graphicData uri="http://schemas.openxmlformats.org/drawingml/2006/table">
            <a:tbl>
              <a:tblPr firstRow="1" bandRow="1">
                <a:tableStyleId>{93296810-A885-4BE3-A3E7-6D5BEEA58F35}</a:tableStyleId>
              </a:tblPr>
              <a:tblGrid>
                <a:gridCol w="536403">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1">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V15858</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A612#2</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07-09/01/2025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V16464</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V15876</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A610#1</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01-03/03/2025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V17951</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V11752</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A354#2</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05-07/03/2025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V16001</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7340538" y="2325976"/>
            <a:ext cx="2582758" cy="369332"/>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thuê</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5760210" y="2809549"/>
          <a:ext cx="6207277" cy="2519367"/>
        </p:xfrm>
        <a:graphic>
          <a:graphicData uri="http://schemas.openxmlformats.org/drawingml/2006/table">
            <a:tbl>
              <a:tblPr firstRow="1" bandRow="1">
                <a:tableStyleId>{93296810-A885-4BE3-A3E7-6D5BEEA58F35}</a:tableStyleId>
              </a:tblPr>
              <a:tblGrid>
                <a:gridCol w="536403">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1">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08/11/2025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28123"/>
                  </a:ext>
                </a:extLst>
              </a:tr>
            </a:tbl>
          </a:graphicData>
        </a:graphic>
      </p:graphicFrame>
    </p:spTree>
    <p:extLst>
      <p:ext uri="{BB962C8B-B14F-4D97-AF65-F5344CB8AC3E}">
        <p14:creationId xmlns:p14="http://schemas.microsoft.com/office/powerpoint/2010/main" val="22232586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8AFE3E-3844-01D3-D72D-0F4786BACA0F}"/>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3" name="Slide Number Placeholder 3">
            <a:extLst>
              <a:ext uri="{FF2B5EF4-FFF2-40B4-BE49-F238E27FC236}">
                <a16:creationId xmlns:a16="http://schemas.microsoft.com/office/drawing/2014/main"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C6B0DA9E-4175-8F90-5644-7AB7D854EA46}"/>
              </a:ext>
            </a:extLst>
          </p:cNvPr>
          <p:cNvGraphicFramePr/>
          <p:nvPr/>
        </p:nvGraphicFramePr>
        <p:xfrm>
          <a:off x="6867119" y="542881"/>
          <a:ext cx="5236309" cy="4722215"/>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830FD37-0C62-DD9A-7EAB-6CFC0D17CDB3}"/>
              </a:ext>
            </a:extLst>
          </p:cNvPr>
          <p:cNvSpPr txBox="1"/>
          <p:nvPr/>
        </p:nvSpPr>
        <p:spPr>
          <a:xfrm>
            <a:off x="88574" y="5286272"/>
            <a:ext cx="12014855" cy="1446935"/>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spAutoFit/>
          </a:bodyPr>
          <a:lstStyle/>
          <a:p>
            <a:pPr marL="380990" marR="0" lvl="0" indent="-380990" algn="l" defTabSz="1219170" rtl="0" eaLnBrk="1" fontAlgn="auto" latinLnBrk="0" hangingPunct="1">
              <a:lnSpc>
                <a:spcPct val="100000"/>
              </a:lnSpc>
              <a:spcBef>
                <a:spcPts val="0"/>
              </a:spcBef>
              <a:spcAft>
                <a:spcPts val="0"/>
              </a:spcAft>
              <a:buClrTx/>
              <a:buSzTx/>
              <a:buFontTx/>
              <a:buChar char="-"/>
              <a:tabLst/>
              <a:defRPr/>
            </a:pP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phòng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958541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đã</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hoàn</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thành</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sửa</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chữa</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31/12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và</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có</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thể</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chuyển</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về</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VN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khoảng</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9 – 10/01/2025</a:t>
            </a:r>
          </a:p>
          <a:p>
            <a:pPr marL="380990" marR="0" lvl="0" indent="-380990" algn="l" defTabSz="1219170" rtl="0" eaLnBrk="1" fontAlgn="auto" latinLnBrk="0" hangingPunct="1">
              <a:lnSpc>
                <a:spcPct val="100000"/>
              </a:lnSpc>
              <a:spcBef>
                <a:spcPts val="0"/>
              </a:spcBef>
              <a:spcAft>
                <a:spcPts val="0"/>
              </a:spcAft>
              <a:buClrTx/>
              <a:buSzTx/>
              <a:buFontTx/>
              <a:buChar char="-"/>
              <a:tabLst/>
              <a:defRPr/>
            </a:pP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on-watch:</a:t>
            </a:r>
            <a:endParaRPr kumimoji="0" lang="en-US" sz="1467" b="0" i="0" u="none" strike="noStrike" kern="1200" cap="none" spc="0" normalizeH="0" baseline="0" noProof="0" dirty="0">
              <a:ln>
                <a:noFill/>
              </a:ln>
              <a:solidFill>
                <a:srgbClr val="FF9933"/>
              </a:solidFill>
              <a:effectLst/>
              <a:uLnTx/>
              <a:uFillTx/>
              <a:latin typeface="Times New Roman" panose="02020603050405020304" pitchFamily="18" charset="0"/>
              <a:ea typeface="+mn-ea"/>
              <a:cs typeface="Times New Roman" panose="02020603050405020304" pitchFamily="18" charset="0"/>
            </a:endParaRPr>
          </a:p>
          <a:p>
            <a:pPr marL="990575" marR="0" lvl="1" indent="-38099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958170 (A863) – Remove in 50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cyc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or reinspect;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Lịch</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soi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tiếp</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theo</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09/01/2025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và</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26/01/2025;</a:t>
            </a:r>
          </a:p>
          <a:p>
            <a:pPr marL="990575" marR="0" lvl="1" indent="-38099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956769 (A868) – Remove in 50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cyc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or reinspect;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Lịch</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soi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tiếp</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theo</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08/01/2025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và</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27/01/2025.  </a:t>
            </a:r>
          </a:p>
          <a:p>
            <a:pPr marL="990575" marR="0" lvl="1" indent="-38099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956577 (A864) – Repetitive 50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cyc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trong</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tuần</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đã</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soi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ngày</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03/01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kết</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quả</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vẫn</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giữ</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nguyên</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50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cyc</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lịch</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soi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tiếp</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theo</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ngày</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25/01/2025; </a:t>
            </a:r>
          </a:p>
          <a:p>
            <a:pPr marL="990575" marR="0" lvl="1" indent="-38099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100 cycle – 03 ĐC;  150 cycle – 01 ĐC; 250 cycle – 03 ĐC. </a:t>
            </a:r>
          </a:p>
        </p:txBody>
      </p:sp>
      <p:graphicFrame>
        <p:nvGraphicFramePr>
          <p:cNvPr id="6" name="Table 5">
            <a:extLst>
              <a:ext uri="{FF2B5EF4-FFF2-40B4-BE49-F238E27FC236}">
                <a16:creationId xmlns:a16="http://schemas.microsoft.com/office/drawing/2014/main" id="{66BC6617-EF33-BB90-B1C0-6DFD65C9FC16}"/>
              </a:ext>
            </a:extLst>
          </p:cNvPr>
          <p:cNvGraphicFramePr>
            <a:graphicFrameLocks noGrp="1"/>
          </p:cNvGraphicFramePr>
          <p:nvPr/>
        </p:nvGraphicFramePr>
        <p:xfrm>
          <a:off x="88573" y="542880"/>
          <a:ext cx="6778543" cy="4744679"/>
        </p:xfrm>
        <a:graphic>
          <a:graphicData uri="http://schemas.openxmlformats.org/drawingml/2006/table">
            <a:tbl>
              <a:tblPr firstRow="1" bandRow="1">
                <a:tableStyleId>{7DF18680-E054-41AD-8BC1-D1AEF772440D}</a:tableStyleId>
              </a:tblPr>
              <a:tblGrid>
                <a:gridCol w="680205">
                  <a:extLst>
                    <a:ext uri="{9D8B030D-6E8A-4147-A177-3AD203B41FA5}">
                      <a16:colId xmlns:a16="http://schemas.microsoft.com/office/drawing/2014/main" val="1598605427"/>
                    </a:ext>
                  </a:extLst>
                </a:gridCol>
                <a:gridCol w="669252">
                  <a:extLst>
                    <a:ext uri="{9D8B030D-6E8A-4147-A177-3AD203B41FA5}">
                      <a16:colId xmlns:a16="http://schemas.microsoft.com/office/drawing/2014/main" val="3845954792"/>
                    </a:ext>
                  </a:extLst>
                </a:gridCol>
                <a:gridCol w="849128">
                  <a:extLst>
                    <a:ext uri="{9D8B030D-6E8A-4147-A177-3AD203B41FA5}">
                      <a16:colId xmlns:a16="http://schemas.microsoft.com/office/drawing/2014/main" val="3803391337"/>
                    </a:ext>
                  </a:extLst>
                </a:gridCol>
                <a:gridCol w="1797456">
                  <a:extLst>
                    <a:ext uri="{9D8B030D-6E8A-4147-A177-3AD203B41FA5}">
                      <a16:colId xmlns:a16="http://schemas.microsoft.com/office/drawing/2014/main" val="2148822928"/>
                    </a:ext>
                  </a:extLst>
                </a:gridCol>
                <a:gridCol w="954581">
                  <a:extLst>
                    <a:ext uri="{9D8B030D-6E8A-4147-A177-3AD203B41FA5}">
                      <a16:colId xmlns:a16="http://schemas.microsoft.com/office/drawing/2014/main" val="1106888684"/>
                    </a:ext>
                  </a:extLst>
                </a:gridCol>
                <a:gridCol w="721013">
                  <a:extLst>
                    <a:ext uri="{9D8B030D-6E8A-4147-A177-3AD203B41FA5}">
                      <a16:colId xmlns:a16="http://schemas.microsoft.com/office/drawing/2014/main" val="1185879436"/>
                    </a:ext>
                  </a:extLst>
                </a:gridCol>
                <a:gridCol w="1106908">
                  <a:extLst>
                    <a:ext uri="{9D8B030D-6E8A-4147-A177-3AD203B41FA5}">
                      <a16:colId xmlns:a16="http://schemas.microsoft.com/office/drawing/2014/main" val="558551088"/>
                    </a:ext>
                  </a:extLst>
                </a:gridCol>
              </a:tblGrid>
              <a:tr h="700624">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a:solidFill>
                            <a:schemeClr val="bg1"/>
                          </a:solidFill>
                          <a:effectLst/>
                          <a:latin typeface="+mn-lt"/>
                        </a:rPr>
                        <a:t>Shop</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 </a:t>
                      </a:r>
                      <a:br>
                        <a:rPr lang="vi-VN" sz="1200" u="none" strike="noStrike" dirty="0">
                          <a:solidFill>
                            <a:schemeClr val="bg1"/>
                          </a:solidFill>
                          <a:effectLst/>
                          <a:latin typeface="Calibri" panose="020F0502020204030204" pitchFamily="34" charset="0"/>
                          <a:cs typeface="Calibri" panose="020F0502020204030204" pitchFamily="34" charset="0"/>
                        </a:rPr>
                      </a:b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err="1">
                          <a:solidFill>
                            <a:schemeClr val="bg1"/>
                          </a:solidFill>
                          <a:effectLst/>
                          <a:latin typeface="+mn-lt"/>
                        </a:rPr>
                        <a:t>Dùng</a:t>
                      </a:r>
                      <a:r>
                        <a:rPr lang="en-US" sz="1200" u="none" strike="noStrike" dirty="0">
                          <a:solidFill>
                            <a:schemeClr val="bg1"/>
                          </a:solidFill>
                          <a:effectLst/>
                          <a:latin typeface="+mn-lt"/>
                        </a:rPr>
                        <a:t> </a:t>
                      </a:r>
                      <a:r>
                        <a:rPr lang="en-US" sz="1200" u="none" strike="noStrike" dirty="0" err="1">
                          <a:solidFill>
                            <a:schemeClr val="bg1"/>
                          </a:solidFill>
                          <a:effectLst/>
                          <a:latin typeface="+mn-lt"/>
                        </a:rPr>
                        <a:t>cho</a:t>
                      </a:r>
                      <a:r>
                        <a:rPr lang="en-US" sz="1200" u="none" strike="noStrike" dirty="0">
                          <a:solidFill>
                            <a:schemeClr val="bg1"/>
                          </a:solidFill>
                          <a:effectLst/>
                          <a:latin typeface="+mn-lt"/>
                        </a:rPr>
                        <a:t> </a:t>
                      </a:r>
                      <a:r>
                        <a:rPr lang="en-US" sz="1200" u="none" strike="noStrike" dirty="0" err="1">
                          <a:solidFill>
                            <a:schemeClr val="bg1"/>
                          </a:solidFill>
                          <a:effectLst/>
                          <a:latin typeface="+mn-lt"/>
                        </a:rPr>
                        <a:t>tàu</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tháo</a:t>
                      </a:r>
                      <a:r>
                        <a:rPr lang="en-US" sz="1200" b="1" u="none" strike="noStrike" dirty="0">
                          <a:solidFill>
                            <a:schemeClr val="bg1"/>
                          </a:solidFill>
                          <a:effectLst/>
                          <a:latin typeface="+mn-lt"/>
                        </a:rPr>
                        <a:t> ĐC </a:t>
                      </a:r>
                      <a:r>
                        <a:rPr lang="en-US" sz="1200" b="1" u="none" strike="noStrike" dirty="0" err="1">
                          <a:solidFill>
                            <a:schemeClr val="bg1"/>
                          </a:solidFill>
                          <a:effectLst/>
                          <a:latin typeface="+mn-lt"/>
                        </a:rPr>
                        <a:t>tiếp</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34812354"/>
                  </a:ext>
                </a:extLst>
              </a:tr>
              <a:tr h="470767">
                <a:tc>
                  <a:txBody>
                    <a:bodyPr/>
                    <a:lstStyle/>
                    <a:p>
                      <a:pPr algn="ctr" fontAlgn="ctr"/>
                      <a:r>
                        <a:rPr lang="en-US" sz="1200" b="0" u="none" strike="noStrike" dirty="0">
                          <a:solidFill>
                            <a:schemeClr val="tx1"/>
                          </a:solidFill>
                          <a:effectLst/>
                          <a:latin typeface="+mn-lt"/>
                        </a:rPr>
                        <a:t>956556</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20/11/2023</a:t>
                      </a:r>
                    </a:p>
                  </a:txBody>
                  <a:tcPr marL="12700" marR="12700" marT="12700" marB="0" anchor="ctr"/>
                </a:tc>
                <a:tc>
                  <a:txBody>
                    <a:bodyPr/>
                    <a:lstStyle/>
                    <a:p>
                      <a:pPr algn="ctr" fontAlgn="ctr"/>
                      <a:r>
                        <a:rPr lang="en-US" sz="1200" u="none" strike="noStrike" dirty="0">
                          <a:solidFill>
                            <a:schemeClr val="tx1"/>
                          </a:solidFill>
                          <a:effectLst/>
                          <a:latin typeface="+mn-lt"/>
                        </a:rPr>
                        <a:t>TBD</a:t>
                      </a:r>
                    </a:p>
                    <a:p>
                      <a:pPr algn="ctr" fontAlgn="ctr"/>
                      <a:r>
                        <a:rPr lang="en-US" sz="1200" u="none" strike="noStrike" dirty="0">
                          <a:solidFill>
                            <a:schemeClr val="tx1"/>
                          </a:solidFill>
                          <a:effectLst/>
                          <a:latin typeface="+mn-lt"/>
                        </a:rPr>
                        <a:t>Induct 12/08/2024</a:t>
                      </a:r>
                      <a:endParaRPr lang="en-US" sz="120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10276437"/>
                  </a:ext>
                </a:extLst>
              </a:tr>
              <a:tr h="484456">
                <a:tc>
                  <a:txBody>
                    <a:bodyPr/>
                    <a:lstStyle/>
                    <a:p>
                      <a:pPr algn="ctr" fontAlgn="ctr"/>
                      <a:r>
                        <a:rPr lang="en-US" sz="1200" b="0" u="none" strike="noStrike" dirty="0">
                          <a:solidFill>
                            <a:schemeClr val="tx1"/>
                          </a:solidFill>
                          <a:effectLst/>
                          <a:latin typeface="+mn-lt"/>
                        </a:rPr>
                        <a:t>956533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26/01/2024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 05/10/2024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0068930"/>
                  </a:ext>
                </a:extLst>
              </a:tr>
              <a:tr h="470767">
                <a:tc>
                  <a:txBody>
                    <a:bodyPr/>
                    <a:lstStyle/>
                    <a:p>
                      <a:pPr algn="ctr" fontAlgn="ctr"/>
                      <a:r>
                        <a:rPr lang="en-US" sz="1200" b="0" u="none" strike="noStrike" dirty="0">
                          <a:solidFill>
                            <a:schemeClr val="tx1"/>
                          </a:solidFill>
                          <a:effectLst/>
                          <a:latin typeface="+mn-lt"/>
                        </a:rPr>
                        <a:t>956569</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28/07/2024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 12/11/2024</a:t>
                      </a:r>
                    </a:p>
                  </a:txBody>
                  <a:tcPr marL="12700" marR="12700" marT="12700" marB="0" anchor="ctr"/>
                </a:tc>
                <a:tc>
                  <a:txBody>
                    <a:bodyPr/>
                    <a:lstStyle/>
                    <a:p>
                      <a:pPr marL="0" algn="ctr" defTabSz="914400" rtl="0" eaLnBrk="1" fontAlgn="ctr" latinLnBrk="0" hangingPunct="1"/>
                      <a:r>
                        <a:rPr lang="en-US" sz="1200" b="0" i="0" u="none" strike="noStrike" dirty="0">
                          <a:solidFill>
                            <a:schemeClr val="tx1"/>
                          </a:solidFill>
                          <a:effectLst/>
                          <a:latin typeface="+mn-lt"/>
                          <a:cs typeface="Times New Roman" panose="02020603050405020304" pitchFamily="18" charset="0"/>
                        </a:rPr>
                        <a:t>TBD</a:t>
                      </a:r>
                      <a:endParaRPr lang="en-US" sz="1200" b="1" i="0" u="none" strike="noStrike" kern="1200" dirty="0">
                        <a:solidFill>
                          <a:srgbClr val="0070C0"/>
                        </a:solidFill>
                        <a:effectLst/>
                        <a:latin typeface="+mn-lt"/>
                        <a:ea typeface="+mn-ea"/>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8617102"/>
                  </a:ext>
                </a:extLst>
              </a:tr>
              <a:tr h="404556">
                <a:tc>
                  <a:txBody>
                    <a:bodyPr/>
                    <a:lstStyle/>
                    <a:p>
                      <a:pPr algn="ctr" fontAlgn="ctr"/>
                      <a:r>
                        <a:rPr lang="en-US" sz="1200" b="0" i="0" u="none" strike="noStrike" dirty="0">
                          <a:solidFill>
                            <a:schemeClr val="tx1"/>
                          </a:solidFill>
                          <a:effectLst/>
                          <a:latin typeface="+mn-lt"/>
                          <a:cs typeface="Times New Roman" panose="02020603050405020304" pitchFamily="18" charset="0"/>
                        </a:rPr>
                        <a:t>958398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GEEVES</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21/06/2024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 17/07/2024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endParaRPr lang="en-US" sz="1200" b="1" i="0" u="none" strike="noStrike" dirty="0">
                        <a:solidFill>
                          <a:srgbClr val="0070C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68631574"/>
                  </a:ext>
                </a:extLst>
              </a:tr>
              <a:tr h="470767">
                <a:tc>
                  <a:txBody>
                    <a:bodyPr/>
                    <a:lstStyle/>
                    <a:p>
                      <a:pPr algn="ctr" fontAlgn="ctr"/>
                      <a:r>
                        <a:rPr lang="en-US" sz="1200" b="0" i="0" u="none" strike="noStrike" dirty="0">
                          <a:solidFill>
                            <a:schemeClr val="tx1"/>
                          </a:solidFill>
                          <a:effectLst/>
                          <a:latin typeface="+mn-lt"/>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05/09/2024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 26/11/2024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67051134"/>
                  </a:ext>
                </a:extLst>
              </a:tr>
              <a:tr h="470767">
                <a:tc>
                  <a:txBody>
                    <a:bodyPr/>
                    <a:lstStyle/>
                    <a:p>
                      <a:pPr algn="ctr" fontAlgn="ctr"/>
                      <a:r>
                        <a:rPr lang="en-US" sz="1200" b="0" i="0" u="none" strike="noStrike" dirty="0">
                          <a:solidFill>
                            <a:schemeClr val="tx1"/>
                          </a:solidFill>
                          <a:effectLst/>
                          <a:latin typeface="+mn-lt"/>
                          <a:cs typeface="Times New Roman" panose="02020603050405020304" pitchFamily="18" charset="0"/>
                        </a:rPr>
                        <a:t>958537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17/09/2024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 04/11</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rgbClr val="008ECC"/>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rgbClr val="008ECC"/>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0115374"/>
                  </a:ext>
                </a:extLst>
              </a:tr>
              <a:tr h="400604">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0" u="none" strike="noStrike" dirty="0">
                          <a:solidFill>
                            <a:srgbClr val="BF0000"/>
                          </a:solidFill>
                          <a:effectLst/>
                          <a:latin typeface="+mn-lt"/>
                          <a:cs typeface="Times New Roman" panose="02020603050405020304" pitchFamily="18" charset="0"/>
                        </a:rPr>
                        <a:t>Induct TBD (KH </a:t>
                      </a:r>
                      <a:r>
                        <a:rPr lang="en-US" sz="1200" b="0" u="none" strike="noStrike" dirty="0" err="1">
                          <a:solidFill>
                            <a:srgbClr val="BF0000"/>
                          </a:solidFill>
                          <a:effectLst/>
                          <a:latin typeface="+mn-lt"/>
                          <a:cs typeface="Times New Roman" panose="02020603050405020304" pitchFamily="18" charset="0"/>
                        </a:rPr>
                        <a:t>cũ</a:t>
                      </a:r>
                      <a:r>
                        <a:rPr lang="en-US" sz="1200" b="0" u="none" strike="noStrike" dirty="0">
                          <a:solidFill>
                            <a:srgbClr val="BF0000"/>
                          </a:solidFill>
                          <a:effectLst/>
                          <a:latin typeface="+mn-lt"/>
                          <a:cs typeface="Times New Roman" panose="02020603050405020304" pitchFamily="18" charset="0"/>
                        </a:rPr>
                        <a:t> 16/12 </a:t>
                      </a:r>
                      <a:r>
                        <a:rPr lang="en-US" sz="1200" b="0" u="none" strike="noStrike" dirty="0" err="1">
                          <a:solidFill>
                            <a:srgbClr val="BF0000"/>
                          </a:solidFill>
                          <a:effectLst/>
                          <a:latin typeface="+mn-lt"/>
                          <a:cs typeface="Times New Roman" panose="02020603050405020304" pitchFamily="18" charset="0"/>
                        </a:rPr>
                        <a:t>nhưng</a:t>
                      </a:r>
                      <a:r>
                        <a:rPr lang="en-US" sz="1200" b="0" u="none" strike="noStrike" dirty="0">
                          <a:solidFill>
                            <a:srgbClr val="BF0000"/>
                          </a:solidFill>
                          <a:effectLst/>
                          <a:latin typeface="+mn-lt"/>
                          <a:cs typeface="Times New Roman" panose="02020603050405020304" pitchFamily="18" charset="0"/>
                        </a:rPr>
                        <a:t> KLM </a:t>
                      </a:r>
                      <a:r>
                        <a:rPr lang="en-US" sz="1200" b="0" u="none" strike="noStrike" dirty="0" err="1">
                          <a:solidFill>
                            <a:srgbClr val="BF0000"/>
                          </a:solidFill>
                          <a:effectLst/>
                          <a:latin typeface="+mn-lt"/>
                          <a:cs typeface="Times New Roman" panose="02020603050405020304" pitchFamily="18" charset="0"/>
                        </a:rPr>
                        <a:t>báo</a:t>
                      </a:r>
                      <a:r>
                        <a:rPr lang="en-US" sz="1200" b="0" u="none" strike="noStrike" dirty="0">
                          <a:solidFill>
                            <a:srgbClr val="BF0000"/>
                          </a:solidFill>
                          <a:effectLst/>
                          <a:latin typeface="+mn-lt"/>
                          <a:cs typeface="Times New Roman" panose="02020603050405020304" pitchFamily="18" charset="0"/>
                        </a:rPr>
                        <a:t> </a:t>
                      </a:r>
                      <a:r>
                        <a:rPr lang="en-US" sz="1200" b="0" u="none" strike="noStrike" dirty="0" err="1">
                          <a:solidFill>
                            <a:srgbClr val="BF0000"/>
                          </a:solidFill>
                          <a:effectLst/>
                          <a:latin typeface="+mn-lt"/>
                          <a:cs typeface="Times New Roman" panose="02020603050405020304" pitchFamily="18" charset="0"/>
                        </a:rPr>
                        <a:t>lùi</a:t>
                      </a:r>
                      <a:r>
                        <a:rPr lang="en-US" sz="1200" b="0" u="none" strike="noStrike" dirty="0">
                          <a:solidFill>
                            <a:srgbClr val="BF0000"/>
                          </a:solidFill>
                          <a:effectLst/>
                          <a:latin typeface="+mn-lt"/>
                          <a:cs typeface="Times New Roman" panose="02020603050405020304" pitchFamily="18" charset="0"/>
                        </a:rPr>
                        <a:t>)</a:t>
                      </a:r>
                    </a:p>
                  </a:txBody>
                  <a:tcPr marL="12700" marR="12700" marT="12700" marB="0" anchor="ctr"/>
                </a:tc>
                <a:tc>
                  <a:txBody>
                    <a:bodyPr/>
                    <a:lstStyle/>
                    <a:p>
                      <a:pPr algn="ctr" fontAlgn="ctr"/>
                      <a:r>
                        <a:rPr lang="en-US" sz="1200" b="0" i="0" u="none" strike="noStrike" dirty="0">
                          <a:solidFill>
                            <a:srgbClr val="BF0000"/>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90409908"/>
                  </a:ext>
                </a:extLst>
              </a:tr>
              <a:tr h="400604">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rgbClr val="ED0000"/>
                          </a:solidFill>
                          <a:effectLst/>
                          <a:latin typeface="+mn-lt"/>
                          <a:cs typeface="Times New Roman" panose="02020603050405020304" pitchFamily="18" charset="0"/>
                        </a:rPr>
                        <a:t>TBD</a:t>
                      </a:r>
                      <a:br>
                        <a:rPr lang="en-US" sz="1200" b="0" u="none" strike="noStrike" dirty="0">
                          <a:solidFill>
                            <a:srgbClr val="ED0000"/>
                          </a:solidFill>
                          <a:effectLst/>
                          <a:latin typeface="+mn-lt"/>
                          <a:cs typeface="Times New Roman" panose="02020603050405020304" pitchFamily="18" charset="0"/>
                        </a:rPr>
                      </a:br>
                      <a:r>
                        <a:rPr lang="en-US" sz="1200" b="0" u="none" strike="noStrike" dirty="0">
                          <a:solidFill>
                            <a:srgbClr val="ED0000"/>
                          </a:solidFill>
                          <a:effectLst/>
                          <a:latin typeface="+mn-lt"/>
                          <a:cs typeface="Times New Roman" panose="02020603050405020304" pitchFamily="18" charset="0"/>
                        </a:rPr>
                        <a:t>Induction TBD</a:t>
                      </a:r>
                    </a:p>
                  </a:txBody>
                  <a:tcPr marL="12700" marR="12700" marT="12700" marB="0" anchor="ctr"/>
                </a:tc>
                <a:tc>
                  <a:txBody>
                    <a:bodyPr/>
                    <a:lstStyle/>
                    <a:p>
                      <a:pPr algn="ctr" fontAlgn="ctr"/>
                      <a:r>
                        <a:rPr lang="en-US" sz="1200" b="0" i="0" u="none" strike="noStrike" dirty="0">
                          <a:solidFill>
                            <a:srgbClr val="ED0000"/>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64472465"/>
                  </a:ext>
                </a:extLst>
              </a:tr>
              <a:tr h="470767">
                <a:tc>
                  <a:txBody>
                    <a:bodyPr/>
                    <a:lstStyle/>
                    <a:p>
                      <a:pPr algn="ctr" fontAlgn="ctr"/>
                      <a:r>
                        <a:rPr lang="en-US" sz="1200" b="0" i="0" u="none" strike="noStrike" dirty="0">
                          <a:solidFill>
                            <a:schemeClr val="tx1"/>
                          </a:solidFill>
                          <a:effectLst/>
                          <a:latin typeface="+mn-lt"/>
                          <a:cs typeface="Times New Roman" panose="02020603050405020304" pitchFamily="18" charset="0"/>
                        </a:rPr>
                        <a:t>958541</a:t>
                      </a: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15/09/2024</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31/12/2024</a:t>
                      </a:r>
                    </a:p>
                    <a:p>
                      <a:pPr algn="ctr" fontAlgn="ctr"/>
                      <a:r>
                        <a:rPr lang="en-US" sz="1200" b="0" u="none" strike="noStrike" dirty="0">
                          <a:solidFill>
                            <a:schemeClr val="tx1"/>
                          </a:solidFill>
                          <a:effectLst/>
                          <a:latin typeface="+mn-lt"/>
                          <a:cs typeface="Times New Roman" panose="02020603050405020304" pitchFamily="18" charset="0"/>
                        </a:rPr>
                        <a:t>Induct 02/10/2024</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rgbClr val="BF0000"/>
                          </a:solidFill>
                          <a:effectLst/>
                          <a:latin typeface="+mn-lt"/>
                          <a:cs typeface="Times New Roman" panose="02020603050405020304" pitchFamily="18" charset="0"/>
                        </a:rPr>
                        <a:t>10/01/2025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9697906"/>
                  </a:ext>
                </a:extLst>
              </a:tr>
            </a:tbl>
          </a:graphicData>
        </a:graphic>
      </p:graphicFrame>
      <p:sp>
        <p:nvSpPr>
          <p:cNvPr id="7" name="TextBox 6">
            <a:extLst>
              <a:ext uri="{FF2B5EF4-FFF2-40B4-BE49-F238E27FC236}">
                <a16:creationId xmlns:a16="http://schemas.microsoft.com/office/drawing/2014/main" id="{1D51DD3A-A3BC-37D8-A7BC-C2D1AAF32241}"/>
              </a:ext>
            </a:extLst>
          </p:cNvPr>
          <p:cNvSpPr txBox="1"/>
          <p:nvPr/>
        </p:nvSpPr>
        <p:spPr>
          <a:xfrm>
            <a:off x="-59266" y="0"/>
            <a:ext cx="14875495"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KHẢ NĂNG CUNG ỨNG ĐỘNG CƠ </a:t>
            </a: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ĐỘI BAY B787</a:t>
            </a:r>
            <a:endPar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cxnSp>
        <p:nvCxnSpPr>
          <p:cNvPr id="8" name="Straight Connector 7">
            <a:extLst>
              <a:ext uri="{FF2B5EF4-FFF2-40B4-BE49-F238E27FC236}">
                <a16:creationId xmlns:a16="http://schemas.microsoft.com/office/drawing/2014/main" id="{535AC63B-0D0C-0A9D-E19A-23C40E138B08}"/>
              </a:ext>
            </a:extLst>
          </p:cNvPr>
          <p:cNvCxnSpPr>
            <a:cxnSpLocks/>
          </p:cNvCxnSpPr>
          <p:nvPr/>
        </p:nvCxnSpPr>
        <p:spPr>
          <a:xfrm>
            <a:off x="8861868" y="789311"/>
            <a:ext cx="0" cy="3962400"/>
          </a:xfrm>
          <a:prstGeom prst="line">
            <a:avLst/>
          </a:prstGeom>
          <a:ln w="12700"/>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4070029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600" b="0" i="0" u="none" strike="noStrike" kern="1200" cap="none" spc="0" normalizeH="0" baseline="0" noProof="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6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59590" y="0"/>
            <a:ext cx="14875495"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A350</a:t>
            </a:r>
            <a:endPar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BAFF210-6A48-BE4D-D3F6-9B8EEEA5040F}"/>
              </a:ext>
            </a:extLst>
          </p:cNvPr>
          <p:cNvGraphicFramePr>
            <a:graphicFrameLocks noGrp="1"/>
          </p:cNvGraphicFramePr>
          <p:nvPr/>
        </p:nvGraphicFramePr>
        <p:xfrm>
          <a:off x="59590" y="875396"/>
          <a:ext cx="5905159" cy="2011680"/>
        </p:xfrm>
        <a:graphic>
          <a:graphicData uri="http://schemas.openxmlformats.org/drawingml/2006/table">
            <a:tbl>
              <a:tblPr firstRow="1" bandRow="1">
                <a:tableStyleId>{5C22544A-7EE6-4342-B048-85BDC9FD1C3A}</a:tableStyleId>
              </a:tblPr>
              <a:tblGrid>
                <a:gridCol w="1042345">
                  <a:extLst>
                    <a:ext uri="{9D8B030D-6E8A-4147-A177-3AD203B41FA5}">
                      <a16:colId xmlns:a16="http://schemas.microsoft.com/office/drawing/2014/main" val="1930757539"/>
                    </a:ext>
                  </a:extLst>
                </a:gridCol>
                <a:gridCol w="1957589">
                  <a:extLst>
                    <a:ext uri="{9D8B030D-6E8A-4147-A177-3AD203B41FA5}">
                      <a16:colId xmlns:a16="http://schemas.microsoft.com/office/drawing/2014/main" val="1674463010"/>
                    </a:ext>
                  </a:extLst>
                </a:gridCol>
                <a:gridCol w="942235">
                  <a:extLst>
                    <a:ext uri="{9D8B030D-6E8A-4147-A177-3AD203B41FA5}">
                      <a16:colId xmlns:a16="http://schemas.microsoft.com/office/drawing/2014/main" val="1549944897"/>
                    </a:ext>
                  </a:extLst>
                </a:gridCol>
                <a:gridCol w="942235">
                  <a:extLst>
                    <a:ext uri="{9D8B030D-6E8A-4147-A177-3AD203B41FA5}">
                      <a16:colId xmlns:a16="http://schemas.microsoft.com/office/drawing/2014/main" val="3687717734"/>
                    </a:ext>
                  </a:extLst>
                </a:gridCol>
                <a:gridCol w="1020755">
                  <a:extLst>
                    <a:ext uri="{9D8B030D-6E8A-4147-A177-3AD203B41FA5}">
                      <a16:colId xmlns:a16="http://schemas.microsoft.com/office/drawing/2014/main" val="4100307886"/>
                    </a:ext>
                  </a:extLst>
                </a:gridCol>
              </a:tblGrid>
              <a:tr h="487680">
                <a:tc>
                  <a:txBody>
                    <a:bodyPr/>
                    <a:lstStyle/>
                    <a:p>
                      <a:r>
                        <a:rPr lang="en-US" sz="1200"/>
                        <a:t>Động c</a:t>
                      </a:r>
                      <a:r>
                        <a:rPr lang="vi-VN" sz="1200"/>
                        <a:t>ơ</a:t>
                      </a:r>
                      <a:endParaRPr lang="en-US" sz="1200"/>
                    </a:p>
                  </a:txBody>
                  <a:tcPr marL="121920" marR="121920" marT="60960" marB="60960" anchor="ctr"/>
                </a:tc>
                <a:tc>
                  <a:txBody>
                    <a:bodyPr/>
                    <a:lstStyle/>
                    <a:p>
                      <a:r>
                        <a:rPr lang="en-GB" sz="1200" dirty="0"/>
                        <a:t>Status</a:t>
                      </a:r>
                      <a:endParaRPr lang="en-US" sz="1200" dirty="0"/>
                    </a:p>
                  </a:txBody>
                  <a:tcPr marL="121920" marR="121920" marT="60960" marB="60960" anchor="ctr"/>
                </a:tc>
                <a:tc>
                  <a:txBody>
                    <a:bodyPr/>
                    <a:lstStyle/>
                    <a:p>
                      <a:r>
                        <a:rPr lang="en-US" sz="1200" dirty="0" err="1"/>
                        <a:t>Ngày</a:t>
                      </a:r>
                      <a:r>
                        <a:rPr lang="en-US" sz="1200" dirty="0"/>
                        <a:t> </a:t>
                      </a:r>
                      <a:r>
                        <a:rPr lang="en-US" sz="1200" dirty="0" err="1"/>
                        <a:t>sửa</a:t>
                      </a:r>
                      <a:endParaRPr lang="en-US" sz="1200" dirty="0"/>
                    </a:p>
                  </a:txBody>
                  <a:tcPr marL="121920" marR="121920" marT="60960" marB="60960" anchor="ctr"/>
                </a:tc>
                <a:tc>
                  <a:txBody>
                    <a:bodyPr/>
                    <a:lstStyle/>
                    <a:p>
                      <a:r>
                        <a:rPr lang="en-US" sz="1200" err="1"/>
                        <a:t>Ngày</a:t>
                      </a:r>
                      <a:r>
                        <a:rPr lang="en-US" sz="1200"/>
                        <a:t> xong</a:t>
                      </a:r>
                      <a:endParaRPr lang="en-US" sz="1200" dirty="0"/>
                    </a:p>
                  </a:txBody>
                  <a:tcPr marL="121920" marR="121920" marT="60960" marB="60960" anchor="ctr"/>
                </a:tc>
                <a:tc>
                  <a:txBody>
                    <a:bodyPr/>
                    <a:lstStyle/>
                    <a:p>
                      <a:r>
                        <a:rPr lang="en-US" sz="1200" dirty="0" err="1"/>
                        <a:t>Ngày</a:t>
                      </a:r>
                      <a:r>
                        <a:rPr lang="en-US" sz="1200" dirty="0"/>
                        <a:t> </a:t>
                      </a:r>
                      <a:r>
                        <a:rPr lang="en-US" sz="1200" dirty="0" err="1"/>
                        <a:t>về</a:t>
                      </a:r>
                      <a:r>
                        <a:rPr lang="en-US" sz="1200" dirty="0"/>
                        <a:t> </a:t>
                      </a:r>
                      <a:r>
                        <a:rPr lang="en-US" sz="1200" dirty="0" err="1"/>
                        <a:t>dự</a:t>
                      </a:r>
                      <a:r>
                        <a:rPr lang="en-US" sz="1200" dirty="0"/>
                        <a:t> </a:t>
                      </a:r>
                      <a:r>
                        <a:rPr lang="en-US" sz="1200" dirty="0" err="1"/>
                        <a:t>kiến</a:t>
                      </a:r>
                      <a:endParaRPr lang="en-US" sz="1200" dirty="0"/>
                    </a:p>
                  </a:txBody>
                  <a:tcPr marL="121920" marR="121920" marT="60960" marB="60960" anchor="ctr"/>
                </a:tc>
                <a:extLst>
                  <a:ext uri="{0D108BD9-81ED-4DB2-BD59-A6C34878D82A}">
                    <a16:rowId xmlns:a16="http://schemas.microsoft.com/office/drawing/2014/main" val="1532058823"/>
                  </a:ext>
                </a:extLst>
              </a:tr>
              <a:tr h="304800">
                <a:tc>
                  <a:txBody>
                    <a:bodyPr/>
                    <a:lstStyle/>
                    <a:p>
                      <a:r>
                        <a:rPr lang="en-US" sz="1200" b="1" dirty="0"/>
                        <a:t>21047</a:t>
                      </a:r>
                    </a:p>
                  </a:txBody>
                  <a:tcPr marL="121920" marR="121920" marT="60960" marB="60960" anchor="ctr"/>
                </a:tc>
                <a:tc>
                  <a:txBody>
                    <a:bodyPr/>
                    <a:lstStyle/>
                    <a:p>
                      <a:r>
                        <a:rPr lang="en-GB" sz="1200" dirty="0"/>
                        <a:t>In Shop – N3 – 2RF</a:t>
                      </a:r>
                      <a:endParaRPr lang="en-US" sz="1200" dirty="0"/>
                    </a:p>
                  </a:txBody>
                  <a:tcPr marL="121920" marR="121920" marT="60960" marB="60960" anchor="ctr"/>
                </a:tc>
                <a:tc>
                  <a:txBody>
                    <a:bodyPr/>
                    <a:lstStyle/>
                    <a:p>
                      <a:r>
                        <a:rPr lang="en-US" sz="1200" dirty="0"/>
                        <a:t>14/08/24</a:t>
                      </a:r>
                    </a:p>
                  </a:txBody>
                  <a:tcPr marL="121920" marR="121920" marT="60960" marB="60960" anchor="ctr"/>
                </a:tc>
                <a:tc>
                  <a:txBody>
                    <a:bodyPr/>
                    <a:lstStyle/>
                    <a:p>
                      <a:r>
                        <a:rPr lang="en-US" sz="1200" b="0" dirty="0">
                          <a:solidFill>
                            <a:schemeClr val="tx1"/>
                          </a:solidFill>
                        </a:rPr>
                        <a:t>02/03/</a:t>
                      </a:r>
                      <a:r>
                        <a:rPr lang="vi-VN" sz="1200" b="0" dirty="0">
                          <a:solidFill>
                            <a:schemeClr val="tx1"/>
                          </a:solidFill>
                        </a:rPr>
                        <a:t>25</a:t>
                      </a:r>
                      <a:endParaRPr lang="en-US" sz="1200" b="0" dirty="0">
                        <a:solidFill>
                          <a:schemeClr val="tx1"/>
                        </a:solidFill>
                      </a:endParaRPr>
                    </a:p>
                  </a:txBody>
                  <a:tcPr marL="121920" marR="121920" marT="60960" marB="60960" anchor="ctr"/>
                </a:tc>
                <a:tc>
                  <a:txBody>
                    <a:bodyPr/>
                    <a:lstStyle/>
                    <a:p>
                      <a:r>
                        <a:rPr lang="en-US" sz="1200" b="0" dirty="0">
                          <a:solidFill>
                            <a:schemeClr val="tx1"/>
                          </a:solidFill>
                        </a:rPr>
                        <a:t>12/03/</a:t>
                      </a:r>
                      <a:r>
                        <a:rPr lang="vi-VN" sz="1200" b="0" dirty="0">
                          <a:solidFill>
                            <a:schemeClr val="tx1"/>
                          </a:solidFill>
                        </a:rPr>
                        <a:t>25</a:t>
                      </a:r>
                      <a:endParaRPr lang="en-US" sz="1200" b="0" dirty="0">
                        <a:solidFill>
                          <a:schemeClr val="tx1"/>
                        </a:solidFill>
                      </a:endParaRPr>
                    </a:p>
                  </a:txBody>
                  <a:tcPr marL="121920" marR="121920" marT="60960" marB="60960" anchor="ctr"/>
                </a:tc>
                <a:extLst>
                  <a:ext uri="{0D108BD9-81ED-4DB2-BD59-A6C34878D82A}">
                    <a16:rowId xmlns:a16="http://schemas.microsoft.com/office/drawing/2014/main" val="2082573017"/>
                  </a:ext>
                </a:extLst>
              </a:tr>
              <a:tr h="304800">
                <a:tc>
                  <a:txBody>
                    <a:bodyPr/>
                    <a:lstStyle/>
                    <a:p>
                      <a:r>
                        <a:rPr lang="en-US" sz="1200" b="1"/>
                        <a:t>21043</a:t>
                      </a:r>
                      <a:endParaRPr lang="en-US" sz="1200" b="1" dirty="0"/>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In Shop – N3 – 2RF</a:t>
                      </a:r>
                    </a:p>
                  </a:txBody>
                  <a:tcPr marL="121920" marR="121920" marT="60960" marB="60960" anchor="ctr"/>
                </a:tc>
                <a:tc>
                  <a:txBody>
                    <a:bodyPr/>
                    <a:lstStyle/>
                    <a:p>
                      <a:r>
                        <a:rPr lang="en-US" sz="1200" dirty="0"/>
                        <a:t>14/11/24</a:t>
                      </a:r>
                    </a:p>
                  </a:txBody>
                  <a:tcPr marL="121920" marR="121920" marT="60960" marB="60960" anchor="ctr"/>
                </a:tc>
                <a:tc>
                  <a:txBody>
                    <a:bodyPr/>
                    <a:lstStyle/>
                    <a:p>
                      <a:r>
                        <a:rPr lang="en-US" sz="1200" b="0" dirty="0">
                          <a:solidFill>
                            <a:schemeClr val="tx1"/>
                          </a:solidFill>
                        </a:rPr>
                        <a:t>02/06/25</a:t>
                      </a:r>
                    </a:p>
                  </a:txBody>
                  <a:tcPr marL="121920" marR="121920" marT="60960" marB="60960" anchor="ctr"/>
                </a:tc>
                <a:tc>
                  <a:txBody>
                    <a:bodyPr/>
                    <a:lstStyle/>
                    <a:p>
                      <a:r>
                        <a:rPr lang="en-US" sz="1200" b="0" dirty="0">
                          <a:solidFill>
                            <a:schemeClr val="tx1"/>
                          </a:solidFill>
                        </a:rPr>
                        <a:t>10/06/25</a:t>
                      </a:r>
                    </a:p>
                  </a:txBody>
                  <a:tcPr marL="121920" marR="121920" marT="60960" marB="60960" anchor="ctr"/>
                </a:tc>
                <a:extLst>
                  <a:ext uri="{0D108BD9-81ED-4DB2-BD59-A6C34878D82A}">
                    <a16:rowId xmlns:a16="http://schemas.microsoft.com/office/drawing/2014/main" val="83465224"/>
                  </a:ext>
                </a:extLst>
              </a:tr>
              <a:tr h="304800">
                <a:tc>
                  <a:txBody>
                    <a:bodyPr/>
                    <a:lstStyle/>
                    <a:p>
                      <a:r>
                        <a:rPr lang="en-US" sz="1200" b="1" dirty="0"/>
                        <a:t>21316</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In Shop – HAESL – QT</a:t>
                      </a:r>
                    </a:p>
                  </a:txBody>
                  <a:tcPr marL="121920" marR="121920" marT="60960" marB="60960" anchor="ctr"/>
                </a:tc>
                <a:tc>
                  <a:txBody>
                    <a:bodyPr/>
                    <a:lstStyle/>
                    <a:p>
                      <a:r>
                        <a:rPr lang="en-US" sz="1200" dirty="0"/>
                        <a:t>20/11/24</a:t>
                      </a:r>
                    </a:p>
                  </a:txBody>
                  <a:tcPr marL="121920" marR="121920" marT="60960" marB="60960" anchor="ctr"/>
                </a:tc>
                <a:tc>
                  <a:txBody>
                    <a:bodyPr/>
                    <a:lstStyle/>
                    <a:p>
                      <a:r>
                        <a:rPr lang="en-US" sz="1200" b="0">
                          <a:solidFill>
                            <a:schemeClr val="tx1"/>
                          </a:solidFill>
                        </a:rPr>
                        <a:t>20/01/25</a:t>
                      </a:r>
                      <a:endParaRPr lang="en-US" sz="1200" b="0" dirty="0">
                        <a:solidFill>
                          <a:schemeClr val="tx1"/>
                        </a:solidFill>
                      </a:endParaRPr>
                    </a:p>
                  </a:txBody>
                  <a:tcPr marL="121920" marR="121920" marT="60960" marB="60960" anchor="ctr"/>
                </a:tc>
                <a:tc>
                  <a:txBody>
                    <a:bodyPr/>
                    <a:lstStyle/>
                    <a:p>
                      <a:r>
                        <a:rPr lang="en-US" sz="1200" b="0">
                          <a:solidFill>
                            <a:schemeClr val="tx1"/>
                          </a:solidFill>
                        </a:rPr>
                        <a:t>29/01/25</a:t>
                      </a:r>
                      <a:endParaRPr lang="en-US" sz="1200" b="0" dirty="0">
                        <a:solidFill>
                          <a:schemeClr val="tx1"/>
                        </a:solidFill>
                      </a:endParaRPr>
                    </a:p>
                  </a:txBody>
                  <a:tcPr marL="121920" marR="121920" marT="60960" marB="60960" anchor="ctr"/>
                </a:tc>
                <a:extLst>
                  <a:ext uri="{0D108BD9-81ED-4DB2-BD59-A6C34878D82A}">
                    <a16:rowId xmlns:a16="http://schemas.microsoft.com/office/drawing/2014/main" val="3218884716"/>
                  </a:ext>
                </a:extLst>
              </a:tr>
              <a:tr h="304800">
                <a:tc>
                  <a:txBody>
                    <a:bodyPr/>
                    <a:lstStyle/>
                    <a:p>
                      <a:r>
                        <a:rPr lang="en-US" sz="1200" b="1"/>
                        <a:t>21137</a:t>
                      </a:r>
                      <a:endParaRPr lang="en-US" sz="1200" b="1" dirty="0"/>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In Shop – N3 – 2RF</a:t>
                      </a:r>
                    </a:p>
                  </a:txBody>
                  <a:tcPr marL="121920" marR="121920" marT="60960" marB="60960" anchor="ctr"/>
                </a:tc>
                <a:tc>
                  <a:txBody>
                    <a:bodyPr/>
                    <a:lstStyle/>
                    <a:p>
                      <a:r>
                        <a:rPr lang="en-US" sz="1200"/>
                        <a:t>12/12/24</a:t>
                      </a:r>
                      <a:endParaRPr lang="en-US" sz="1200" dirty="0"/>
                    </a:p>
                  </a:txBody>
                  <a:tcPr marL="121920" marR="121920" marT="60960" marB="60960" anchor="ctr"/>
                </a:tc>
                <a:tc>
                  <a:txBody>
                    <a:bodyPr/>
                    <a:lstStyle/>
                    <a:p>
                      <a:r>
                        <a:rPr lang="en-US" sz="1200" b="0">
                          <a:solidFill>
                            <a:schemeClr val="tx1"/>
                          </a:solidFill>
                        </a:rPr>
                        <a:t>20/06/25</a:t>
                      </a:r>
                      <a:endParaRPr lang="en-US" sz="1200" b="0" dirty="0">
                        <a:solidFill>
                          <a:schemeClr val="tx1"/>
                        </a:solidFill>
                      </a:endParaRPr>
                    </a:p>
                  </a:txBody>
                  <a:tcPr marL="121920" marR="121920" marT="60960" marB="60960" anchor="ctr"/>
                </a:tc>
                <a:tc>
                  <a:txBody>
                    <a:bodyPr/>
                    <a:lstStyle/>
                    <a:p>
                      <a:r>
                        <a:rPr lang="en-US" sz="1200" b="0">
                          <a:solidFill>
                            <a:schemeClr val="tx1"/>
                          </a:solidFill>
                        </a:rPr>
                        <a:t>30/06/25</a:t>
                      </a:r>
                      <a:endParaRPr lang="en-US" sz="1200" b="0" dirty="0">
                        <a:solidFill>
                          <a:schemeClr val="tx1"/>
                        </a:solidFill>
                      </a:endParaRPr>
                    </a:p>
                  </a:txBody>
                  <a:tcPr marL="121920" marR="121920" marT="60960" marB="60960" anchor="ctr"/>
                </a:tc>
                <a:extLst>
                  <a:ext uri="{0D108BD9-81ED-4DB2-BD59-A6C34878D82A}">
                    <a16:rowId xmlns:a16="http://schemas.microsoft.com/office/drawing/2014/main" val="1733553736"/>
                  </a:ext>
                </a:extLst>
              </a:tr>
              <a:tr h="304800">
                <a:tc>
                  <a:txBody>
                    <a:bodyPr/>
                    <a:lstStyle/>
                    <a:p>
                      <a:r>
                        <a:rPr lang="en-US" sz="1200" b="1"/>
                        <a:t>21422</a:t>
                      </a:r>
                      <a:endParaRPr lang="en-US" sz="1200" b="1" dirty="0"/>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In Shop – 1RF – HAESL</a:t>
                      </a:r>
                    </a:p>
                  </a:txBody>
                  <a:tcPr marL="121920" marR="121920" marT="60960" marB="60960" anchor="ctr"/>
                </a:tc>
                <a:tc>
                  <a:txBody>
                    <a:bodyPr/>
                    <a:lstStyle/>
                    <a:p>
                      <a:r>
                        <a:rPr lang="en-US" sz="1200"/>
                        <a:t>21/12/24</a:t>
                      </a:r>
                      <a:endParaRPr lang="en-US" sz="1200" dirty="0"/>
                    </a:p>
                  </a:txBody>
                  <a:tcPr marL="121920" marR="121920" marT="60960" marB="60960" anchor="ctr"/>
                </a:tc>
                <a:tc>
                  <a:txBody>
                    <a:bodyPr/>
                    <a:lstStyle/>
                    <a:p>
                      <a:r>
                        <a:rPr lang="en-US" sz="1200" b="0">
                          <a:solidFill>
                            <a:schemeClr val="tx1"/>
                          </a:solidFill>
                        </a:rPr>
                        <a:t>12/04/25</a:t>
                      </a:r>
                      <a:endParaRPr lang="en-US" sz="1200" b="0" dirty="0">
                        <a:solidFill>
                          <a:schemeClr val="tx1"/>
                        </a:solidFill>
                      </a:endParaRPr>
                    </a:p>
                  </a:txBody>
                  <a:tcPr marL="121920" marR="121920" marT="60960" marB="60960" anchor="ctr"/>
                </a:tc>
                <a:tc>
                  <a:txBody>
                    <a:bodyPr/>
                    <a:lstStyle/>
                    <a:p>
                      <a:r>
                        <a:rPr lang="en-US" sz="1200" b="0">
                          <a:solidFill>
                            <a:schemeClr val="tx1"/>
                          </a:solidFill>
                        </a:rPr>
                        <a:t>20/04/25</a:t>
                      </a:r>
                      <a:endParaRPr lang="en-US" sz="1200" b="0" dirty="0">
                        <a:solidFill>
                          <a:schemeClr val="tx1"/>
                        </a:solidFill>
                      </a:endParaRPr>
                    </a:p>
                  </a:txBody>
                  <a:tcPr marL="121920" marR="121920" marT="60960" marB="60960" anchor="ctr"/>
                </a:tc>
                <a:extLst>
                  <a:ext uri="{0D108BD9-81ED-4DB2-BD59-A6C34878D82A}">
                    <a16:rowId xmlns:a16="http://schemas.microsoft.com/office/drawing/2014/main" val="875011403"/>
                  </a:ext>
                </a:extLst>
              </a:tr>
            </a:tbl>
          </a:graphicData>
        </a:graphic>
      </p:graphicFrame>
      <p:graphicFrame>
        <p:nvGraphicFramePr>
          <p:cNvPr id="6" name="Table 5">
            <a:extLst>
              <a:ext uri="{FF2B5EF4-FFF2-40B4-BE49-F238E27FC236}">
                <a16:creationId xmlns:a16="http://schemas.microsoft.com/office/drawing/2014/main" id="{7BFB9EC9-2DB3-4DC1-4221-D1E337486ABA}"/>
              </a:ext>
            </a:extLst>
          </p:cNvPr>
          <p:cNvGraphicFramePr>
            <a:graphicFrameLocks noGrp="1"/>
          </p:cNvGraphicFramePr>
          <p:nvPr/>
        </p:nvGraphicFramePr>
        <p:xfrm>
          <a:off x="105347" y="3247244"/>
          <a:ext cx="5867400" cy="3495174"/>
        </p:xfrm>
        <a:graphic>
          <a:graphicData uri="http://schemas.openxmlformats.org/drawingml/2006/table">
            <a:tbl>
              <a:tblPr firstRow="1" bandRow="1">
                <a:tableStyleId>{21E4AEA4-8DFA-4A89-87EB-49C32662AFE0}</a:tableStyleId>
              </a:tblPr>
              <a:tblGrid>
                <a:gridCol w="979469">
                  <a:extLst>
                    <a:ext uri="{9D8B030D-6E8A-4147-A177-3AD203B41FA5}">
                      <a16:colId xmlns:a16="http://schemas.microsoft.com/office/drawing/2014/main" val="1930757539"/>
                    </a:ext>
                  </a:extLst>
                </a:gridCol>
                <a:gridCol w="1042096">
                  <a:extLst>
                    <a:ext uri="{9D8B030D-6E8A-4147-A177-3AD203B41FA5}">
                      <a16:colId xmlns:a16="http://schemas.microsoft.com/office/drawing/2014/main" val="1674463010"/>
                    </a:ext>
                  </a:extLst>
                </a:gridCol>
                <a:gridCol w="1823000">
                  <a:extLst>
                    <a:ext uri="{9D8B030D-6E8A-4147-A177-3AD203B41FA5}">
                      <a16:colId xmlns:a16="http://schemas.microsoft.com/office/drawing/2014/main" val="1549944897"/>
                    </a:ext>
                  </a:extLst>
                </a:gridCol>
                <a:gridCol w="2022835">
                  <a:extLst>
                    <a:ext uri="{9D8B030D-6E8A-4147-A177-3AD203B41FA5}">
                      <a16:colId xmlns:a16="http://schemas.microsoft.com/office/drawing/2014/main" val="3366431274"/>
                    </a:ext>
                  </a:extLst>
                </a:gridCol>
              </a:tblGrid>
              <a:tr h="481317">
                <a:tc>
                  <a:txBody>
                    <a:bodyPr/>
                    <a:lstStyle/>
                    <a:p>
                      <a:r>
                        <a:rPr lang="en-US" sz="1200"/>
                        <a:t>Động c</a:t>
                      </a:r>
                      <a:r>
                        <a:rPr lang="vi-VN" sz="1200"/>
                        <a:t>ơ</a:t>
                      </a:r>
                      <a:endParaRPr lang="en-US" sz="1200"/>
                    </a:p>
                  </a:txBody>
                  <a:tcPr marL="121920" marR="121920" marT="60960" marB="60960" anchor="ctr"/>
                </a:tc>
                <a:tc>
                  <a:txBody>
                    <a:bodyPr/>
                    <a:lstStyle/>
                    <a:p>
                      <a:r>
                        <a:rPr lang="en-GB" sz="1200" dirty="0"/>
                        <a:t>Status</a:t>
                      </a:r>
                      <a:endParaRPr lang="en-US" sz="1200" dirty="0"/>
                    </a:p>
                  </a:txBody>
                  <a:tcPr marL="121920" marR="121920" marT="60960" marB="60960" anchor="ctr"/>
                </a:tc>
                <a:tc>
                  <a:txBody>
                    <a:bodyPr/>
                    <a:lstStyle/>
                    <a:p>
                      <a:r>
                        <a:rPr lang="en-US" sz="1200" dirty="0" err="1"/>
                        <a:t>Ngày</a:t>
                      </a:r>
                      <a:r>
                        <a:rPr lang="en-US" sz="1200" dirty="0"/>
                        <a:t> </a:t>
                      </a:r>
                      <a:r>
                        <a:rPr lang="en-US" sz="1200" dirty="0" err="1"/>
                        <a:t>sửa</a:t>
                      </a:r>
                      <a:r>
                        <a:rPr lang="en-US" sz="1200" dirty="0"/>
                        <a:t> </a:t>
                      </a:r>
                      <a:r>
                        <a:rPr lang="en-US" sz="1200" dirty="0" err="1"/>
                        <a:t>dự</a:t>
                      </a:r>
                      <a:r>
                        <a:rPr lang="en-US" sz="1200" dirty="0"/>
                        <a:t> </a:t>
                      </a:r>
                      <a:r>
                        <a:rPr lang="en-US" sz="1200" dirty="0" err="1"/>
                        <a:t>kiến</a:t>
                      </a:r>
                      <a:endParaRPr lang="en-US" sz="1200" dirty="0"/>
                    </a:p>
                  </a:txBody>
                  <a:tcPr marL="121920" marR="121920" marT="60960" marB="60960" anchor="ctr"/>
                </a:tc>
                <a:tc>
                  <a:txBody>
                    <a:bodyPr/>
                    <a:lstStyle/>
                    <a:p>
                      <a:r>
                        <a:rPr lang="en-US" sz="1200" dirty="0"/>
                        <a:t>Remark</a:t>
                      </a:r>
                    </a:p>
                  </a:txBody>
                  <a:tcPr marL="121920" marR="121920" marT="60960" marB="60960" anchor="ctr"/>
                </a:tc>
                <a:extLst>
                  <a:ext uri="{0D108BD9-81ED-4DB2-BD59-A6C34878D82A}">
                    <a16:rowId xmlns:a16="http://schemas.microsoft.com/office/drawing/2014/main" val="1532058823"/>
                  </a:ext>
                </a:extLst>
              </a:tr>
              <a:tr h="334873">
                <a:tc>
                  <a:txBody>
                    <a:bodyPr/>
                    <a:lstStyle/>
                    <a:p>
                      <a:r>
                        <a:rPr lang="en-GB" sz="1200" b="1" dirty="0"/>
                        <a:t>21040</a:t>
                      </a:r>
                    </a:p>
                  </a:txBody>
                  <a:tcPr marL="121920" marR="121920" marT="60960" marB="60960" anchor="ctr"/>
                </a:tc>
                <a:tc>
                  <a:txBody>
                    <a:bodyPr/>
                    <a:lstStyle/>
                    <a:p>
                      <a:r>
                        <a:rPr lang="en-GB" sz="1200" dirty="0"/>
                        <a:t>Off-Wing</a:t>
                      </a:r>
                      <a:endParaRPr lang="en-US" sz="1200" dirty="0"/>
                    </a:p>
                  </a:txBody>
                  <a:tcPr marL="121920" marR="121920" marT="60960" marB="60960" anchor="ctr"/>
                </a:tc>
                <a:tc>
                  <a:txBody>
                    <a:bodyPr/>
                    <a:lstStyle/>
                    <a:p>
                      <a:r>
                        <a:rPr lang="en-GB" sz="1200"/>
                        <a:t>T1/2025</a:t>
                      </a:r>
                      <a:endParaRPr lang="en-US" sz="1200" dirty="0"/>
                    </a:p>
                  </a:txBody>
                  <a:tcPr marL="121920" marR="121920" marT="60960" marB="60960" anchor="ctr"/>
                </a:tc>
                <a:tc>
                  <a:txBody>
                    <a:bodyPr/>
                    <a:lstStyle/>
                    <a:p>
                      <a:pPr marL="0" indent="0">
                        <a:buFontTx/>
                        <a:buNone/>
                      </a:pPr>
                      <a:r>
                        <a:rPr lang="en-US" sz="1200">
                          <a:solidFill>
                            <a:schemeClr val="tx1"/>
                          </a:solidFill>
                        </a:rPr>
                        <a:t>Slot cũ T12</a:t>
                      </a:r>
                      <a:endParaRPr lang="en-US" sz="1200" dirty="0">
                        <a:solidFill>
                          <a:schemeClr val="tx1"/>
                        </a:solidFill>
                      </a:endParaRPr>
                    </a:p>
                  </a:txBody>
                  <a:tcPr marL="121920" marR="121920" marT="60960" marB="60960" anchor="ctr"/>
                </a:tc>
                <a:extLst>
                  <a:ext uri="{0D108BD9-81ED-4DB2-BD59-A6C34878D82A}">
                    <a16:rowId xmlns:a16="http://schemas.microsoft.com/office/drawing/2014/main" val="2082573017"/>
                  </a:ext>
                </a:extLst>
              </a:tr>
              <a:tr h="334873">
                <a:tc>
                  <a:txBody>
                    <a:bodyPr/>
                    <a:lstStyle/>
                    <a:p>
                      <a:r>
                        <a:rPr lang="en-GB" sz="1200" b="1" dirty="0"/>
                        <a:t>21201</a:t>
                      </a:r>
                      <a:endParaRPr lang="en-US" sz="1200" b="1" dirty="0"/>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Off-Wing</a:t>
                      </a:r>
                      <a:endParaRPr lang="en-US" sz="1200" dirty="0"/>
                    </a:p>
                  </a:txBody>
                  <a:tcPr marL="121920" marR="121920" marT="60960" marB="60960" anchor="ctr"/>
                </a:tc>
                <a:tc>
                  <a:txBody>
                    <a:bodyPr/>
                    <a:lstStyle/>
                    <a:p>
                      <a:r>
                        <a:rPr lang="en-GB" sz="1200"/>
                        <a:t>T1/2025</a:t>
                      </a:r>
                      <a:endParaRPr lang="en-US" sz="1200" dirty="0"/>
                    </a:p>
                  </a:txBody>
                  <a:tcPr marL="121920" marR="121920" marT="60960" marB="60960" anchor="ctr"/>
                </a:tc>
                <a:tc>
                  <a:txBody>
                    <a:bodyPr/>
                    <a:lstStyle/>
                    <a:p>
                      <a:r>
                        <a:rPr lang="en-US" sz="1200" b="0" dirty="0">
                          <a:solidFill>
                            <a:schemeClr val="tx1"/>
                          </a:solidFill>
                        </a:rPr>
                        <a:t>Slot </a:t>
                      </a:r>
                      <a:r>
                        <a:rPr lang="en-US" sz="1200" b="0" dirty="0" err="1">
                          <a:solidFill>
                            <a:schemeClr val="tx1"/>
                          </a:solidFill>
                        </a:rPr>
                        <a:t>cũ</a:t>
                      </a:r>
                      <a:r>
                        <a:rPr lang="en-US" sz="1200" b="0" dirty="0">
                          <a:solidFill>
                            <a:schemeClr val="tx1"/>
                          </a:solidFill>
                        </a:rPr>
                        <a:t> T11</a:t>
                      </a:r>
                    </a:p>
                  </a:txBody>
                  <a:tcPr marL="121920" marR="121920" marT="60960" marB="60960" anchor="ctr"/>
                </a:tc>
                <a:extLst>
                  <a:ext uri="{0D108BD9-81ED-4DB2-BD59-A6C34878D82A}">
                    <a16:rowId xmlns:a16="http://schemas.microsoft.com/office/drawing/2014/main" val="2463023026"/>
                  </a:ext>
                </a:extLst>
              </a:tr>
              <a:tr h="334873">
                <a:tc>
                  <a:txBody>
                    <a:bodyPr/>
                    <a:lstStyle/>
                    <a:p>
                      <a:r>
                        <a:rPr lang="en-GB" sz="1200" b="1" dirty="0"/>
                        <a:t>21035</a:t>
                      </a:r>
                      <a:endParaRPr lang="en-US" sz="1200" b="1" dirty="0"/>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A887</a:t>
                      </a:r>
                      <a:endParaRPr lang="en-US" sz="1200" dirty="0"/>
                    </a:p>
                  </a:txBody>
                  <a:tcPr marL="121920" marR="121920" marT="60960" marB="60960" anchor="ctr"/>
                </a:tc>
                <a:tc>
                  <a:txBody>
                    <a:bodyPr/>
                    <a:lstStyle/>
                    <a:p>
                      <a:r>
                        <a:rPr lang="en-GB" sz="1200" dirty="0"/>
                        <a:t>2025</a:t>
                      </a:r>
                      <a:endParaRPr lang="en-US" sz="1200" dirty="0"/>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Tàu BQDB</a:t>
                      </a: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a:txBody>
                  <a:tcPr marL="121920" marR="121920" marT="60960" marB="60960" anchor="ctr"/>
                </a:tc>
                <a:extLst>
                  <a:ext uri="{0D108BD9-81ED-4DB2-BD59-A6C34878D82A}">
                    <a16:rowId xmlns:a16="http://schemas.microsoft.com/office/drawing/2014/main" val="4282079846"/>
                  </a:ext>
                </a:extLst>
              </a:tr>
              <a:tr h="334873">
                <a:tc>
                  <a:txBody>
                    <a:bodyPr/>
                    <a:lstStyle/>
                    <a:p>
                      <a:r>
                        <a:rPr lang="en-US" sz="1200" b="1" dirty="0"/>
                        <a:t>21269</a:t>
                      </a:r>
                    </a:p>
                  </a:txBody>
                  <a:tcPr marL="121920" marR="121920" marT="60960" marB="60960" anchor="ctr"/>
                </a:tc>
                <a:tc>
                  <a:txBody>
                    <a:bodyPr/>
                    <a:lstStyle/>
                    <a:p>
                      <a:r>
                        <a:rPr lang="en-US" sz="1200" dirty="0"/>
                        <a:t>A887</a:t>
                      </a:r>
                    </a:p>
                  </a:txBody>
                  <a:tcPr marL="121920" marR="121920" marT="60960" marB="60960" anchor="ctr"/>
                </a:tc>
                <a:tc>
                  <a:txBody>
                    <a:bodyPr/>
                    <a:lstStyle/>
                    <a:p>
                      <a:r>
                        <a:rPr lang="en-US" sz="1200" dirty="0"/>
                        <a:t>2025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Calibri"/>
                          <a:ea typeface="+mn-ea"/>
                          <a:cs typeface="+mn-cs"/>
                        </a:rPr>
                        <a:t>Tàu</a:t>
                      </a:r>
                      <a:r>
                        <a:rPr kumimoji="0" lang="en-US" sz="1200" b="0" i="0" u="none" strike="noStrike" kern="1200" cap="none" spc="0" normalizeH="0" baseline="0" noProof="0" dirty="0">
                          <a:ln>
                            <a:noFill/>
                          </a:ln>
                          <a:solidFill>
                            <a:prstClr val="black"/>
                          </a:solidFill>
                          <a:effectLst/>
                          <a:uLnTx/>
                          <a:uFillTx/>
                          <a:latin typeface="Calibri"/>
                          <a:ea typeface="+mn-ea"/>
                          <a:cs typeface="+mn-cs"/>
                        </a:rPr>
                        <a:t> BQDB</a:t>
                      </a:r>
                    </a:p>
                  </a:txBody>
                  <a:tcPr marL="121920" marR="121920" marT="60960" marB="60960" anchor="ctr"/>
                </a:tc>
                <a:extLst>
                  <a:ext uri="{0D108BD9-81ED-4DB2-BD59-A6C34878D82A}">
                    <a16:rowId xmlns:a16="http://schemas.microsoft.com/office/drawing/2014/main" val="3448478813"/>
                  </a:ext>
                </a:extLst>
              </a:tr>
              <a:tr h="334873">
                <a:tc>
                  <a:txBody>
                    <a:bodyPr/>
                    <a:lstStyle/>
                    <a:p>
                      <a:r>
                        <a:rPr lang="en-GB" sz="1200" b="1" dirty="0"/>
                        <a:t>21268</a:t>
                      </a:r>
                    </a:p>
                  </a:txBody>
                  <a:tcPr marL="121920" marR="121920" marT="60960" marB="60960" anchor="ctr"/>
                </a:tc>
                <a:tc>
                  <a:txBody>
                    <a:bodyPr/>
                    <a:lstStyle/>
                    <a:p>
                      <a:r>
                        <a:rPr lang="en-US" sz="1200" dirty="0"/>
                        <a:t>A898</a:t>
                      </a:r>
                    </a:p>
                  </a:txBody>
                  <a:tcPr marL="121920" marR="121920" marT="60960" marB="60960" anchor="ctr"/>
                </a:tc>
                <a:tc>
                  <a:txBody>
                    <a:bodyPr/>
                    <a:lstStyle/>
                    <a:p>
                      <a:r>
                        <a:rPr lang="en-US" sz="1200" dirty="0"/>
                        <a:t>2025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Calibri"/>
                          <a:ea typeface="+mn-ea"/>
                          <a:cs typeface="+mn-cs"/>
                        </a:rPr>
                        <a:t>Tàu</a:t>
                      </a:r>
                      <a:r>
                        <a:rPr kumimoji="0" lang="en-US" sz="1200" b="0" i="0" u="none" strike="noStrike" kern="1200" cap="none" spc="0" normalizeH="0" baseline="0" noProof="0" dirty="0">
                          <a:ln>
                            <a:noFill/>
                          </a:ln>
                          <a:solidFill>
                            <a:prstClr val="black"/>
                          </a:solidFill>
                          <a:effectLst/>
                          <a:uLnTx/>
                          <a:uFillTx/>
                          <a:latin typeface="Calibri"/>
                          <a:ea typeface="+mn-ea"/>
                          <a:cs typeface="+mn-cs"/>
                        </a:rPr>
                        <a:t> BQDB</a:t>
                      </a:r>
                    </a:p>
                  </a:txBody>
                  <a:tcPr marL="121920" marR="121920" marT="60960" marB="60960" anchor="ctr"/>
                </a:tc>
                <a:extLst>
                  <a:ext uri="{0D108BD9-81ED-4DB2-BD59-A6C34878D82A}">
                    <a16:rowId xmlns:a16="http://schemas.microsoft.com/office/drawing/2014/main" val="4177050543"/>
                  </a:ext>
                </a:extLst>
              </a:tr>
              <a:tr h="334873">
                <a:tc>
                  <a:txBody>
                    <a:bodyPr/>
                    <a:lstStyle/>
                    <a:p>
                      <a:r>
                        <a:rPr lang="en-GB" sz="1200" b="1" dirty="0"/>
                        <a:t>21136</a:t>
                      </a:r>
                    </a:p>
                  </a:txBody>
                  <a:tcPr marL="121920" marR="121920" marT="60960" marB="60960" anchor="ctr"/>
                </a:tc>
                <a:tc>
                  <a:txBody>
                    <a:bodyPr/>
                    <a:lstStyle/>
                    <a:p>
                      <a:r>
                        <a:rPr lang="en-US" sz="1200" dirty="0"/>
                        <a:t>A898</a:t>
                      </a:r>
                    </a:p>
                  </a:txBody>
                  <a:tcPr marL="121920" marR="121920" marT="60960" marB="60960" anchor="ctr"/>
                </a:tc>
                <a:tc>
                  <a:txBody>
                    <a:bodyPr/>
                    <a:lstStyle/>
                    <a:p>
                      <a:r>
                        <a:rPr lang="en-US" sz="1200" dirty="0"/>
                        <a:t>2025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Calibri"/>
                          <a:ea typeface="+mn-ea"/>
                          <a:cs typeface="+mn-cs"/>
                        </a:rPr>
                        <a:t>Tàu</a:t>
                      </a:r>
                      <a:r>
                        <a:rPr kumimoji="0" lang="en-US" sz="1200" b="0" i="0" u="none" strike="noStrike" kern="1200" cap="none" spc="0" normalizeH="0" baseline="0" noProof="0" dirty="0">
                          <a:ln>
                            <a:noFill/>
                          </a:ln>
                          <a:solidFill>
                            <a:prstClr val="black"/>
                          </a:solidFill>
                          <a:effectLst/>
                          <a:uLnTx/>
                          <a:uFillTx/>
                          <a:latin typeface="Calibri"/>
                          <a:ea typeface="+mn-ea"/>
                          <a:cs typeface="+mn-cs"/>
                        </a:rPr>
                        <a:t> BQDB</a:t>
                      </a:r>
                    </a:p>
                  </a:txBody>
                  <a:tcPr marL="121920" marR="121920" marT="60960" marB="60960" anchor="ctr"/>
                </a:tc>
                <a:extLst>
                  <a:ext uri="{0D108BD9-81ED-4DB2-BD59-A6C34878D82A}">
                    <a16:rowId xmlns:a16="http://schemas.microsoft.com/office/drawing/2014/main" val="4001673644"/>
                  </a:ext>
                </a:extLst>
              </a:tr>
              <a:tr h="334873">
                <a:tc>
                  <a:txBody>
                    <a:bodyPr/>
                    <a:lstStyle/>
                    <a:p>
                      <a:r>
                        <a:rPr lang="en-GB" sz="1200" b="1" dirty="0"/>
                        <a:t>21414</a:t>
                      </a:r>
                    </a:p>
                  </a:txBody>
                  <a:tcPr marL="121920" marR="121920" marT="60960" marB="60960" anchor="ctr"/>
                </a:tc>
                <a:tc>
                  <a:txBody>
                    <a:bodyPr/>
                    <a:lstStyle/>
                    <a:p>
                      <a:r>
                        <a:rPr lang="en-US" sz="1200"/>
                        <a:t>A895</a:t>
                      </a:r>
                      <a:endParaRPr lang="en-US" sz="1200" dirty="0"/>
                    </a:p>
                  </a:txBody>
                  <a:tcPr marL="121920" marR="121920" marT="60960" marB="60960" anchor="ctr"/>
                </a:tc>
                <a:tc>
                  <a:txBody>
                    <a:bodyPr/>
                    <a:lstStyle/>
                    <a:p>
                      <a:r>
                        <a:rPr lang="en-US" sz="1200"/>
                        <a:t>2025</a:t>
                      </a:r>
                      <a:endParaRPr lang="en-US" sz="1200" dirty="0"/>
                    </a:p>
                  </a:txBody>
                  <a:tcPr marL="121920" marR="121920" marT="60960" marB="60960" anchor="ctr"/>
                </a:tc>
                <a:tc>
                  <a:txBody>
                    <a:bodyPr/>
                    <a:lstStyle/>
                    <a:p>
                      <a:r>
                        <a:rPr lang="en-US" sz="1200" b="0" dirty="0" err="1">
                          <a:solidFill>
                            <a:schemeClr val="tx1"/>
                          </a:solidFill>
                        </a:rPr>
                        <a:t>Tàu</a:t>
                      </a:r>
                      <a:r>
                        <a:rPr lang="en-US" sz="1200" b="0" dirty="0">
                          <a:solidFill>
                            <a:schemeClr val="tx1"/>
                          </a:solidFill>
                        </a:rPr>
                        <a:t> BQDB</a:t>
                      </a:r>
                    </a:p>
                  </a:txBody>
                  <a:tcPr marL="121920" marR="121920" marT="60960" marB="60960" anchor="ctr"/>
                </a:tc>
                <a:extLst>
                  <a:ext uri="{0D108BD9-81ED-4DB2-BD59-A6C34878D82A}">
                    <a16:rowId xmlns:a16="http://schemas.microsoft.com/office/drawing/2014/main" val="1927641313"/>
                  </a:ext>
                </a:extLst>
              </a:tr>
              <a:tr h="334873">
                <a:tc>
                  <a:txBody>
                    <a:bodyPr/>
                    <a:lstStyle/>
                    <a:p>
                      <a:r>
                        <a:rPr lang="en-GB" sz="1200" b="1" dirty="0"/>
                        <a:t>21604</a:t>
                      </a:r>
                    </a:p>
                  </a:txBody>
                  <a:tcPr marL="121920" marR="121920" marT="60960" marB="60960" anchor="ctr"/>
                </a:tc>
                <a:tc>
                  <a:txBody>
                    <a:bodyPr/>
                    <a:lstStyle/>
                    <a:p>
                      <a:r>
                        <a:rPr lang="en-US" sz="1200"/>
                        <a:t>A895</a:t>
                      </a:r>
                      <a:endParaRPr lang="en-US" sz="1200" dirty="0"/>
                    </a:p>
                  </a:txBody>
                  <a:tcPr marL="121920" marR="121920" marT="60960" marB="60960" anchor="ctr"/>
                </a:tc>
                <a:tc>
                  <a:txBody>
                    <a:bodyPr/>
                    <a:lstStyle/>
                    <a:p>
                      <a:r>
                        <a:rPr lang="en-US" sz="1200"/>
                        <a:t>2025</a:t>
                      </a:r>
                      <a:endParaRPr lang="en-US" sz="1200" dirty="0"/>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err="1">
                          <a:solidFill>
                            <a:schemeClr val="tx1"/>
                          </a:solidFill>
                        </a:rPr>
                        <a:t>Tàu</a:t>
                      </a:r>
                      <a:r>
                        <a:rPr lang="en-US" sz="1200" b="0" dirty="0">
                          <a:solidFill>
                            <a:schemeClr val="tx1"/>
                          </a:solidFill>
                        </a:rPr>
                        <a:t> BQDB</a:t>
                      </a:r>
                    </a:p>
                  </a:txBody>
                  <a:tcPr marL="121920" marR="121920" marT="60960" marB="60960" anchor="ctr"/>
                </a:tc>
                <a:extLst>
                  <a:ext uri="{0D108BD9-81ED-4DB2-BD59-A6C34878D82A}">
                    <a16:rowId xmlns:a16="http://schemas.microsoft.com/office/drawing/2014/main" val="863729012"/>
                  </a:ext>
                </a:extLst>
              </a:tr>
              <a:tr h="334873">
                <a:tc>
                  <a:txBody>
                    <a:bodyPr/>
                    <a:lstStyle/>
                    <a:p>
                      <a:r>
                        <a:rPr lang="en-US" sz="1200" b="1" dirty="0"/>
                        <a:t>21584</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A896</a:t>
                      </a:r>
                    </a:p>
                  </a:txBody>
                  <a:tcPr marL="121920" marR="121920" marT="60960" marB="60960" anchor="ctr"/>
                </a:tc>
                <a:tc>
                  <a:txBody>
                    <a:bodyPr/>
                    <a:lstStyle/>
                    <a:p>
                      <a:r>
                        <a:rPr lang="en-US" sz="1200"/>
                        <a:t>T1/2025</a:t>
                      </a:r>
                      <a:endParaRPr lang="en-US" sz="1200" dirty="0"/>
                    </a:p>
                  </a:txBody>
                  <a:tcPr marL="121920" marR="121920" marT="60960" marB="60960" anchor="ctr"/>
                </a:tc>
                <a:tc>
                  <a:txBody>
                    <a:bodyPr/>
                    <a:lstStyle/>
                    <a:p>
                      <a:pPr marL="0" indent="0">
                        <a:buFontTx/>
                        <a:buNone/>
                      </a:pPr>
                      <a:r>
                        <a:rPr lang="en-US" sz="1200" dirty="0">
                          <a:solidFill>
                            <a:schemeClr val="tx1"/>
                          </a:solidFill>
                        </a:rPr>
                        <a:t>Slot </a:t>
                      </a:r>
                      <a:r>
                        <a:rPr lang="en-US" sz="1200" dirty="0" err="1">
                          <a:solidFill>
                            <a:schemeClr val="tx1"/>
                          </a:solidFill>
                        </a:rPr>
                        <a:t>cũ</a:t>
                      </a:r>
                      <a:r>
                        <a:rPr lang="en-US" sz="1200" dirty="0">
                          <a:solidFill>
                            <a:schemeClr val="tx1"/>
                          </a:solidFill>
                        </a:rPr>
                        <a:t> T12</a:t>
                      </a:r>
                    </a:p>
                  </a:txBody>
                  <a:tcPr marL="121920" marR="121920" marT="60960" marB="60960" anchor="ctr"/>
                </a:tc>
                <a:extLst>
                  <a:ext uri="{0D108BD9-81ED-4DB2-BD59-A6C34878D82A}">
                    <a16:rowId xmlns:a16="http://schemas.microsoft.com/office/drawing/2014/main" val="3735850095"/>
                  </a:ext>
                </a:extLst>
              </a:tr>
            </a:tbl>
          </a:graphicData>
        </a:graphic>
      </p:graphicFrame>
      <p:sp>
        <p:nvSpPr>
          <p:cNvPr id="7" name="TextBox 6">
            <a:extLst>
              <a:ext uri="{FF2B5EF4-FFF2-40B4-BE49-F238E27FC236}">
                <a16:creationId xmlns:a16="http://schemas.microsoft.com/office/drawing/2014/main" id="{3665DF89-9C1E-039A-24B3-2AC39417A7A0}"/>
              </a:ext>
            </a:extLst>
          </p:cNvPr>
          <p:cNvSpPr txBox="1"/>
          <p:nvPr/>
        </p:nvSpPr>
        <p:spPr>
          <a:xfrm>
            <a:off x="-486043" y="380920"/>
            <a:ext cx="6705299" cy="420564"/>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Các</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đang</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trong</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shop </a:t>
            </a:r>
            <a:r>
              <a:rPr kumimoji="0" lang="en-GB" sz="2133"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(05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a:t>
            </a:r>
            <a:r>
              <a:rPr kumimoji="0" lang="en-US"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ơ)</a:t>
            </a:r>
            <a:endPar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8" name="TextBox 7">
            <a:extLst>
              <a:ext uri="{FF2B5EF4-FFF2-40B4-BE49-F238E27FC236}">
                <a16:creationId xmlns:a16="http://schemas.microsoft.com/office/drawing/2014/main" id="{19C2447A-358B-03A9-2203-B477C2215D4C}"/>
              </a:ext>
            </a:extLst>
          </p:cNvPr>
          <p:cNvSpPr txBox="1"/>
          <p:nvPr/>
        </p:nvSpPr>
        <p:spPr>
          <a:xfrm>
            <a:off x="59589" y="2795838"/>
            <a:ext cx="5195392" cy="420564"/>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Các</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hết</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hạn</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(09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p>
        </p:txBody>
      </p:sp>
      <p:sp>
        <p:nvSpPr>
          <p:cNvPr id="10" name="TextBox 9">
            <a:extLst>
              <a:ext uri="{FF2B5EF4-FFF2-40B4-BE49-F238E27FC236}">
                <a16:creationId xmlns:a16="http://schemas.microsoft.com/office/drawing/2014/main" id="{E1A7F173-F863-E486-EAEF-8B51EDF0DABA}"/>
              </a:ext>
            </a:extLst>
          </p:cNvPr>
          <p:cNvSpPr txBox="1"/>
          <p:nvPr/>
        </p:nvSpPr>
        <p:spPr>
          <a:xfrm>
            <a:off x="6484260" y="2754801"/>
            <a:ext cx="5167083" cy="461665"/>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Các</a:t>
            </a:r>
            <a:r>
              <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sắp</a:t>
            </a:r>
            <a:r>
              <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hết</a:t>
            </a:r>
            <a:r>
              <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hạn</a:t>
            </a:r>
            <a:r>
              <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(02 </a:t>
            </a:r>
            <a:r>
              <a:rPr kumimoji="0" lang="en-GB"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a:t>
            </a:r>
            <a:r>
              <a:rPr kumimoji="0" lang="vi-VN"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p>
        </p:txBody>
      </p:sp>
      <p:graphicFrame>
        <p:nvGraphicFramePr>
          <p:cNvPr id="11" name="Chart 10">
            <a:extLst>
              <a:ext uri="{FF2B5EF4-FFF2-40B4-BE49-F238E27FC236}">
                <a16:creationId xmlns:a16="http://schemas.microsoft.com/office/drawing/2014/main" id="{39ED28EB-EF54-433B-60B3-87892499A24D}"/>
              </a:ext>
            </a:extLst>
          </p:cNvPr>
          <p:cNvGraphicFramePr/>
          <p:nvPr/>
        </p:nvGraphicFramePr>
        <p:xfrm>
          <a:off x="6219257" y="3419768"/>
          <a:ext cx="5808956" cy="332265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6229534" y="907136"/>
          <a:ext cx="5798679" cy="1827792"/>
        </p:xfrm>
        <a:graphic>
          <a:graphicData uri="http://schemas.openxmlformats.org/drawingml/2006/table">
            <a:tbl>
              <a:tblPr firstRow="1" bandRow="1">
                <a:tableStyleId>{7DF18680-E054-41AD-8BC1-D1AEF772440D}</a:tableStyleId>
              </a:tblPr>
              <a:tblGrid>
                <a:gridCol w="1186427">
                  <a:extLst>
                    <a:ext uri="{9D8B030D-6E8A-4147-A177-3AD203B41FA5}">
                      <a16:colId xmlns:a16="http://schemas.microsoft.com/office/drawing/2014/main" val="1930757539"/>
                    </a:ext>
                  </a:extLst>
                </a:gridCol>
                <a:gridCol w="2861593">
                  <a:extLst>
                    <a:ext uri="{9D8B030D-6E8A-4147-A177-3AD203B41FA5}">
                      <a16:colId xmlns:a16="http://schemas.microsoft.com/office/drawing/2014/main" val="1674463010"/>
                    </a:ext>
                  </a:extLst>
                </a:gridCol>
                <a:gridCol w="1750659">
                  <a:extLst>
                    <a:ext uri="{9D8B030D-6E8A-4147-A177-3AD203B41FA5}">
                      <a16:colId xmlns:a16="http://schemas.microsoft.com/office/drawing/2014/main" val="1549944897"/>
                    </a:ext>
                  </a:extLst>
                </a:gridCol>
              </a:tblGrid>
              <a:tr h="335028">
                <a:tc>
                  <a:txBody>
                    <a:bodyPr/>
                    <a:lstStyle/>
                    <a:p>
                      <a:r>
                        <a:rPr lang="en-US" sz="1200"/>
                        <a:t>Tàu bay</a:t>
                      </a:r>
                    </a:p>
                  </a:txBody>
                  <a:tcPr marL="121920" marR="121920" marT="60960" marB="60960" anchor="ctr"/>
                </a:tc>
                <a:tc>
                  <a:txBody>
                    <a:bodyPr/>
                    <a:lstStyle/>
                    <a:p>
                      <a:r>
                        <a:rPr lang="en-GB" sz="1200"/>
                        <a:t>Tình trạng động c</a:t>
                      </a:r>
                      <a:r>
                        <a:rPr lang="vi-VN" sz="1200"/>
                        <a:t>ơ</a:t>
                      </a:r>
                      <a:endParaRPr lang="en-US" sz="1200" dirty="0"/>
                    </a:p>
                  </a:txBody>
                  <a:tcPr marL="121920" marR="121920" marT="60960" marB="60960" anchor="ctr"/>
                </a:tc>
                <a:tc>
                  <a:txBody>
                    <a:bodyPr/>
                    <a:lstStyle/>
                    <a:p>
                      <a:r>
                        <a:rPr lang="en-US" sz="1200"/>
                        <a:t>KH Release</a:t>
                      </a:r>
                      <a:endParaRPr lang="en-US" sz="1200" dirty="0"/>
                    </a:p>
                  </a:txBody>
                  <a:tcPr marL="121920" marR="121920" marT="60960" marB="60960" anchor="ctr"/>
                </a:tc>
                <a:extLst>
                  <a:ext uri="{0D108BD9-81ED-4DB2-BD59-A6C34878D82A}">
                    <a16:rowId xmlns:a16="http://schemas.microsoft.com/office/drawing/2014/main" val="1532058823"/>
                  </a:ext>
                </a:extLst>
              </a:tr>
              <a:tr h="335028">
                <a:tc>
                  <a:txBody>
                    <a:bodyPr/>
                    <a:lstStyle/>
                    <a:p>
                      <a:r>
                        <a:rPr lang="en-US" sz="1200"/>
                        <a:t>A886</a:t>
                      </a:r>
                      <a:endParaRPr lang="en-US" sz="1200" b="1" dirty="0"/>
                    </a:p>
                  </a:txBody>
                  <a:tcPr marL="121920" marR="121920" marT="60960" marB="60960" anchor="ctr"/>
                </a:tc>
                <a:tc>
                  <a:txBody>
                    <a:bodyPr/>
                    <a:lstStyle/>
                    <a:p>
                      <a:r>
                        <a:rPr lang="en-GB" sz="1200"/>
                        <a:t>Trống 2 động c</a:t>
                      </a:r>
                      <a:r>
                        <a:rPr lang="vi-VN" sz="1200"/>
                        <a:t>ơ</a:t>
                      </a:r>
                      <a:endParaRPr lang="en-US" sz="1200" dirty="0"/>
                    </a:p>
                  </a:txBody>
                  <a:tcPr marL="121920" marR="121920" marT="60960" marB="60960" anchor="ctr"/>
                </a:tc>
                <a:tc>
                  <a:txBody>
                    <a:bodyPr/>
                    <a:lstStyle/>
                    <a:p>
                      <a:r>
                        <a:rPr lang="en-US" sz="1200"/>
                        <a:t>TBD</a:t>
                      </a:r>
                      <a:endParaRPr lang="en-US" sz="1200" dirty="0"/>
                    </a:p>
                  </a:txBody>
                  <a:tcPr marL="121920" marR="121920" marT="60960" marB="60960" anchor="ctr"/>
                </a:tc>
                <a:extLst>
                  <a:ext uri="{0D108BD9-81ED-4DB2-BD59-A6C34878D82A}">
                    <a16:rowId xmlns:a16="http://schemas.microsoft.com/office/drawing/2014/main" val="2082573017"/>
                  </a:ext>
                </a:extLst>
              </a:tr>
              <a:tr h="487680">
                <a:tc>
                  <a:txBody>
                    <a:bodyPr/>
                    <a:lstStyle/>
                    <a:p>
                      <a:r>
                        <a:rPr lang="en-US" sz="1200"/>
                        <a:t>A887</a:t>
                      </a:r>
                      <a:endParaRPr lang="en-US" sz="1200" b="1" dirty="0"/>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Trống 1 động c</a:t>
                      </a:r>
                      <a:r>
                        <a:rPr lang="vi-VN" sz="1200"/>
                        <a:t>ơ</a:t>
                      </a:r>
                      <a:endParaRPr lang="en-US" sz="120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1 động c</a:t>
                      </a:r>
                      <a:r>
                        <a:rPr lang="vi-VN" sz="1200"/>
                        <a:t>ơ</a:t>
                      </a:r>
                      <a:r>
                        <a:rPr lang="en-US" sz="1200"/>
                        <a:t> đến hạn kiểm tra LPT</a:t>
                      </a:r>
                      <a:endParaRPr lang="en-US" sz="1200" dirty="0"/>
                    </a:p>
                  </a:txBody>
                  <a:tcPr marL="121920" marR="121920" marT="60960" marB="60960" anchor="ctr"/>
                </a:tc>
                <a:tc>
                  <a:txBody>
                    <a:bodyPr/>
                    <a:lstStyle/>
                    <a:p>
                      <a:r>
                        <a:rPr lang="en-US" sz="1200"/>
                        <a:t>TBD</a:t>
                      </a:r>
                      <a:endParaRPr lang="en-US" sz="1200" dirty="0"/>
                    </a:p>
                  </a:txBody>
                  <a:tcPr marL="121920" marR="121920" marT="60960" marB="60960" anchor="ctr"/>
                </a:tc>
                <a:extLst>
                  <a:ext uri="{0D108BD9-81ED-4DB2-BD59-A6C34878D82A}">
                    <a16:rowId xmlns:a16="http://schemas.microsoft.com/office/drawing/2014/main" val="83465224"/>
                  </a:ext>
                </a:extLst>
              </a:tr>
              <a:tr h="335028">
                <a:tc>
                  <a:txBody>
                    <a:bodyPr/>
                    <a:lstStyle/>
                    <a:p>
                      <a:r>
                        <a:rPr lang="en-US" sz="1200"/>
                        <a:t>A895</a:t>
                      </a:r>
                      <a:endParaRPr lang="en-US" sz="1200" b="1" dirty="0"/>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2 động c</a:t>
                      </a:r>
                      <a:r>
                        <a:rPr lang="vi-VN" sz="1200"/>
                        <a:t>ơ</a:t>
                      </a:r>
                      <a:r>
                        <a:rPr lang="en-US" sz="1200"/>
                        <a:t> hết LLP</a:t>
                      </a:r>
                      <a:endParaRPr lang="en-US" sz="1200" dirty="0"/>
                    </a:p>
                  </a:txBody>
                  <a:tcPr marL="121920" marR="121920" marT="60960" marB="60960" anchor="ctr"/>
                </a:tc>
                <a:tc>
                  <a:txBody>
                    <a:bodyPr/>
                    <a:lstStyle/>
                    <a:p>
                      <a:r>
                        <a:rPr lang="en-US" sz="1200"/>
                        <a:t>TBD</a:t>
                      </a:r>
                      <a:endParaRPr lang="en-US" sz="1200" dirty="0"/>
                    </a:p>
                  </a:txBody>
                  <a:tcPr marL="121920" marR="121920" marT="60960" marB="60960" anchor="ctr"/>
                </a:tc>
                <a:extLst>
                  <a:ext uri="{0D108BD9-81ED-4DB2-BD59-A6C34878D82A}">
                    <a16:rowId xmlns:a16="http://schemas.microsoft.com/office/drawing/2014/main" val="3218884716"/>
                  </a:ext>
                </a:extLst>
              </a:tr>
              <a:tr h="335028">
                <a:tc>
                  <a:txBody>
                    <a:bodyPr/>
                    <a:lstStyle/>
                    <a:p>
                      <a:r>
                        <a:rPr lang="en-US" sz="1200"/>
                        <a:t>A898</a:t>
                      </a:r>
                      <a:endParaRPr lang="en-US" sz="1200" b="1" dirty="0"/>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2 động c</a:t>
                      </a:r>
                      <a:r>
                        <a:rPr lang="vi-VN" sz="1200"/>
                        <a:t>ơ</a:t>
                      </a:r>
                      <a:r>
                        <a:rPr lang="en-US" sz="1200"/>
                        <a:t> đến hạn kiểm tra LPT</a:t>
                      </a:r>
                    </a:p>
                  </a:txBody>
                  <a:tcPr marL="121920" marR="121920" marT="60960" marB="60960" anchor="ctr"/>
                </a:tc>
                <a:tc>
                  <a:txBody>
                    <a:bodyPr/>
                    <a:lstStyle/>
                    <a:p>
                      <a:r>
                        <a:rPr lang="en-US" sz="1200"/>
                        <a:t>TBD</a:t>
                      </a:r>
                      <a:endParaRPr lang="en-US" sz="1200" dirty="0"/>
                    </a:p>
                  </a:txBody>
                  <a:tcPr marL="121920" marR="121920" marT="60960" marB="60960" anchor="ctr"/>
                </a:tc>
                <a:extLst>
                  <a:ext uri="{0D108BD9-81ED-4DB2-BD59-A6C34878D82A}">
                    <a16:rowId xmlns:a16="http://schemas.microsoft.com/office/drawing/2014/main" val="1733553736"/>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6014053" y="423991"/>
            <a:ext cx="6705299" cy="420564"/>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Các tàu đang AOG</a:t>
            </a:r>
            <a:endPar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9" name="Speech Bubble: Rectangle with Corners Rounded 8">
            <a:extLst>
              <a:ext uri="{FF2B5EF4-FFF2-40B4-BE49-F238E27FC236}">
                <a16:creationId xmlns:a16="http://schemas.microsoft.com/office/drawing/2014/main" id="{07B625F8-0854-49CC-0CB0-AF842EA02598}"/>
              </a:ext>
            </a:extLst>
          </p:cNvPr>
          <p:cNvSpPr/>
          <p:nvPr/>
        </p:nvSpPr>
        <p:spPr>
          <a:xfrm>
            <a:off x="9781863" y="5380131"/>
            <a:ext cx="1880548" cy="983292"/>
          </a:xfrm>
          <a:prstGeom prst="wedgeRoundRectCallout">
            <a:avLst>
              <a:gd name="adj1" fmla="val -38410"/>
              <a:gd name="adj2" fmla="val -87972"/>
              <a:gd name="adj3" fmla="val 16667"/>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FF0000"/>
                </a:solidFill>
                <a:effectLst/>
                <a:uLnTx/>
                <a:uFillTx/>
                <a:latin typeface="Calibri"/>
                <a:ea typeface="+mn-ea"/>
                <a:cs typeface="+mn-cs"/>
              </a:rPr>
              <a:t>Tính theo KB thuê thêm 1 spare của RRPF</a:t>
            </a:r>
            <a:endParaRPr kumimoji="0" lang="en-US" sz="1333" b="0" i="0" u="none" strike="noStrike" kern="1200" cap="none" spc="0" normalizeH="0" baseline="0" noProof="0" dirty="0">
              <a:ln>
                <a:noFill/>
              </a:ln>
              <a:solidFill>
                <a:srgbClr val="FF0000"/>
              </a:solidFill>
              <a:effectLst/>
              <a:uLnTx/>
              <a:uFillTx/>
              <a:latin typeface="Calibri"/>
              <a:ea typeface="+mn-ea"/>
              <a:cs typeface="+mn-cs"/>
            </a:endParaRPr>
          </a:p>
        </p:txBody>
      </p:sp>
    </p:spTree>
    <p:extLst>
      <p:ext uri="{BB962C8B-B14F-4D97-AF65-F5344CB8AC3E}">
        <p14:creationId xmlns:p14="http://schemas.microsoft.com/office/powerpoint/2010/main" val="27872421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832D6-D376-2B3E-80E4-2BB00133B7A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7AB7BD-6FB2-6DEE-1597-88CCC23AA773}"/>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3" name="Slide Number Placeholder 3">
            <a:extLst>
              <a:ext uri="{FF2B5EF4-FFF2-40B4-BE49-F238E27FC236}">
                <a16:creationId xmlns:a16="http://schemas.microsoft.com/office/drawing/2014/main" id="{872779D9-F954-864D-33DF-03C9AF459178}"/>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600" b="0" i="0" u="none" strike="noStrike" kern="1200" cap="none" spc="0" normalizeH="0" baseline="0" noProof="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6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1F90731F-79CC-9C0D-90F0-8892B720402F}"/>
              </a:ext>
            </a:extLst>
          </p:cNvPr>
          <p:cNvGraphicFramePr/>
          <p:nvPr/>
        </p:nvGraphicFramePr>
        <p:xfrm>
          <a:off x="186266" y="564481"/>
          <a:ext cx="11841945" cy="423286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Table 4">
            <a:extLst>
              <a:ext uri="{FF2B5EF4-FFF2-40B4-BE49-F238E27FC236}">
                <a16:creationId xmlns:a16="http://schemas.microsoft.com/office/drawing/2014/main" id="{59E8CB50-D75D-D69C-E552-996064D3C127}"/>
              </a:ext>
            </a:extLst>
          </p:cNvPr>
          <p:cNvGraphicFramePr>
            <a:graphicFrameLocks noGrp="1"/>
          </p:cNvGraphicFramePr>
          <p:nvPr/>
        </p:nvGraphicFramePr>
        <p:xfrm>
          <a:off x="93132" y="5436863"/>
          <a:ext cx="12028209" cy="1223394"/>
        </p:xfrm>
        <a:graphic>
          <a:graphicData uri="http://schemas.openxmlformats.org/drawingml/2006/table">
            <a:tbl>
              <a:tblPr firstRow="1" bandRow="1">
                <a:tableStyleId>{93296810-A885-4BE3-A3E7-6D5BEEA58F35}</a:tableStyleId>
              </a:tblPr>
              <a:tblGrid>
                <a:gridCol w="829765">
                  <a:extLst>
                    <a:ext uri="{9D8B030D-6E8A-4147-A177-3AD203B41FA5}">
                      <a16:colId xmlns:a16="http://schemas.microsoft.com/office/drawing/2014/main" val="4208667331"/>
                    </a:ext>
                  </a:extLst>
                </a:gridCol>
                <a:gridCol w="6156477">
                  <a:extLst>
                    <a:ext uri="{9D8B030D-6E8A-4147-A177-3AD203B41FA5}">
                      <a16:colId xmlns:a16="http://schemas.microsoft.com/office/drawing/2014/main" val="1351526185"/>
                    </a:ext>
                  </a:extLst>
                </a:gridCol>
                <a:gridCol w="5041967">
                  <a:extLst>
                    <a:ext uri="{9D8B030D-6E8A-4147-A177-3AD203B41FA5}">
                      <a16:colId xmlns:a16="http://schemas.microsoft.com/office/drawing/2014/main" val="1843655469"/>
                    </a:ext>
                  </a:extLst>
                </a:gridCol>
              </a:tblGrid>
              <a:tr h="249088">
                <a:tc>
                  <a:txBody>
                    <a:bodyPr/>
                    <a:lstStyle/>
                    <a:p>
                      <a:pPr algn="ctr" fontAlgn="t"/>
                      <a:r>
                        <a:rPr lang="en-US" sz="1200" b="1" i="0" u="none" strike="noStrike" dirty="0" err="1">
                          <a:solidFill>
                            <a:schemeClr val="bg1"/>
                          </a:solidFill>
                          <a:effectLst/>
                          <a:latin typeface="Times New Roman" panose="02020603050405020304" pitchFamily="18" charset="0"/>
                        </a:rPr>
                        <a:t>Tàu</a:t>
                      </a:r>
                      <a:endParaRPr lang="en-US" sz="1200" b="1" i="0" u="none" strike="noStrike" dirty="0">
                        <a:solidFill>
                          <a:schemeClr val="bg1"/>
                        </a:solidFill>
                        <a:effectLst/>
                        <a:latin typeface="Times New Roman" panose="02020603050405020304" pitchFamily="18" charset="0"/>
                      </a:endParaRPr>
                    </a:p>
                  </a:txBody>
                  <a:tcPr marL="8467" marR="8467" marT="8467" marB="0" anchor="ctr"/>
                </a:tc>
                <a:tc>
                  <a:txBody>
                    <a:bodyPr/>
                    <a:lstStyle/>
                    <a:p>
                      <a:pPr algn="ctr" fontAlgn="t"/>
                      <a:r>
                        <a:rPr lang="en-US" sz="1200" b="1" i="0" u="none" strike="noStrike" dirty="0" err="1">
                          <a:solidFill>
                            <a:schemeClr val="bg1"/>
                          </a:solidFill>
                          <a:effectLst/>
                          <a:latin typeface="Times New Roman" panose="02020603050405020304" pitchFamily="18" charset="0"/>
                        </a:rPr>
                        <a:t>Phương</a:t>
                      </a:r>
                      <a:r>
                        <a:rPr lang="en-US" sz="1200" b="1" i="0" u="none" strike="noStrike" dirty="0">
                          <a:solidFill>
                            <a:schemeClr val="bg1"/>
                          </a:solidFill>
                          <a:effectLst/>
                          <a:latin typeface="Times New Roman" panose="02020603050405020304" pitchFamily="18" charset="0"/>
                        </a:rPr>
                        <a:t> </a:t>
                      </a:r>
                      <a:r>
                        <a:rPr lang="en-US" sz="1200" b="1" i="0" u="none" strike="noStrike" dirty="0" err="1">
                          <a:solidFill>
                            <a:schemeClr val="bg1"/>
                          </a:solidFill>
                          <a:effectLst/>
                          <a:latin typeface="Times New Roman" panose="02020603050405020304" pitchFamily="18" charset="0"/>
                        </a:rPr>
                        <a:t>án</a:t>
                      </a:r>
                      <a:endParaRPr lang="en-US" sz="1200" b="1" i="0" u="none" strike="noStrike" dirty="0">
                        <a:solidFill>
                          <a:schemeClr val="bg1"/>
                        </a:solidFill>
                        <a:effectLst/>
                        <a:latin typeface="Times New Roman" panose="02020603050405020304" pitchFamily="18" charset="0"/>
                      </a:endParaRPr>
                    </a:p>
                  </a:txBody>
                  <a:tcPr marL="8467" marR="8467" marT="8467" marB="0" anchor="ctr"/>
                </a:tc>
                <a:tc>
                  <a:txBody>
                    <a:bodyPr/>
                    <a:lstStyle/>
                    <a:p>
                      <a:pPr algn="ctr" fontAlgn="t"/>
                      <a:r>
                        <a:rPr lang="en-US" sz="1200" b="1" i="0" u="none" strike="noStrike" dirty="0" err="1">
                          <a:solidFill>
                            <a:schemeClr val="bg1"/>
                          </a:solidFill>
                          <a:effectLst/>
                          <a:latin typeface="Times New Roman" panose="02020603050405020304" pitchFamily="18" charset="0"/>
                        </a:rPr>
                        <a:t>Kế</a:t>
                      </a:r>
                      <a:r>
                        <a:rPr lang="en-US" sz="1200" b="1" i="0" u="none" strike="noStrike" dirty="0">
                          <a:solidFill>
                            <a:schemeClr val="bg1"/>
                          </a:solidFill>
                          <a:effectLst/>
                          <a:latin typeface="Times New Roman" panose="02020603050405020304" pitchFamily="18" charset="0"/>
                        </a:rPr>
                        <a:t> </a:t>
                      </a:r>
                      <a:r>
                        <a:rPr lang="en-US" sz="1200" b="1" i="0" u="none" strike="noStrike" dirty="0" err="1">
                          <a:solidFill>
                            <a:schemeClr val="bg1"/>
                          </a:solidFill>
                          <a:effectLst/>
                          <a:latin typeface="Times New Roman" panose="02020603050405020304" pitchFamily="18" charset="0"/>
                        </a:rPr>
                        <a:t>hoạch</a:t>
                      </a:r>
                      <a:r>
                        <a:rPr lang="en-US" sz="1200" b="1" i="0" u="none" strike="noStrike" dirty="0">
                          <a:solidFill>
                            <a:schemeClr val="bg1"/>
                          </a:solidFill>
                          <a:effectLst/>
                          <a:latin typeface="Times New Roman" panose="02020603050405020304" pitchFamily="18" charset="0"/>
                        </a:rPr>
                        <a:t> </a:t>
                      </a:r>
                      <a:r>
                        <a:rPr lang="en-US" sz="1200" b="1" i="0" u="none" strike="noStrike" dirty="0" err="1">
                          <a:solidFill>
                            <a:schemeClr val="bg1"/>
                          </a:solidFill>
                          <a:effectLst/>
                          <a:latin typeface="Times New Roman" panose="02020603050405020304" pitchFamily="18" charset="0"/>
                        </a:rPr>
                        <a:t>thay</a:t>
                      </a:r>
                      <a:endParaRPr lang="en-US" sz="1200" b="1" i="0" u="none" strike="noStrike" dirty="0">
                        <a:solidFill>
                          <a:schemeClr val="bg1"/>
                        </a:solidFill>
                        <a:effectLst/>
                        <a:latin typeface="Times New Roman" panose="02020603050405020304" pitchFamily="18" charset="0"/>
                      </a:endParaRPr>
                    </a:p>
                  </a:txBody>
                  <a:tcPr marL="8467" marR="8467" marT="8467" marB="0" anchor="ctr"/>
                </a:tc>
                <a:extLst>
                  <a:ext uri="{0D108BD9-81ED-4DB2-BD59-A6C34878D82A}">
                    <a16:rowId xmlns:a16="http://schemas.microsoft.com/office/drawing/2014/main" val="1286781906"/>
                  </a:ext>
                </a:extLst>
              </a:tr>
              <a:tr h="487153">
                <a:tc>
                  <a:txBody>
                    <a:bodyPr/>
                    <a:lstStyle/>
                    <a:p>
                      <a:pPr algn="ctr" fontAlgn="ctr"/>
                      <a:r>
                        <a:rPr lang="en-US" sz="1200" b="0" i="0" u="none" strike="noStrike">
                          <a:solidFill>
                            <a:schemeClr val="tx1"/>
                          </a:solidFill>
                          <a:effectLst/>
                          <a:latin typeface="Times New Roman" panose="02020603050405020304" pitchFamily="18" charset="0"/>
                        </a:rPr>
                        <a:t>A893</a:t>
                      </a:r>
                      <a:endParaRPr lang="en-US" sz="1200" b="0" i="0" u="none" strike="noStrike" dirty="0">
                        <a:solidFill>
                          <a:schemeClr val="tx1"/>
                        </a:solidFill>
                        <a:effectLst/>
                        <a:latin typeface="Times New Roman" panose="02020603050405020304" pitchFamily="18" charset="0"/>
                      </a:endParaRPr>
                    </a:p>
                  </a:txBody>
                  <a:tcPr marL="8467" marR="8467" marT="8467"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latin typeface="Times New Roman" panose="02020603050405020304" pitchFamily="18" charset="0"/>
                          <a:cs typeface="Times New Roman" panose="02020603050405020304" pitchFamily="18" charset="0"/>
                        </a:rPr>
                        <a:t>Do vấn đề High Oil Consumption động c</a:t>
                      </a:r>
                      <a:r>
                        <a:rPr lang="vi-VN" sz="1200">
                          <a:solidFill>
                            <a:schemeClr val="tx1"/>
                          </a:solidFill>
                          <a:latin typeface="Times New Roman" panose="02020603050405020304" pitchFamily="18" charset="0"/>
                          <a:cs typeface="Times New Roman" panose="02020603050405020304" pitchFamily="18" charset="0"/>
                        </a:rPr>
                        <a:t>ơ</a:t>
                      </a:r>
                      <a:r>
                        <a:rPr lang="en-US" sz="1200">
                          <a:solidFill>
                            <a:schemeClr val="tx1"/>
                          </a:solidFill>
                          <a:latin typeface="Times New Roman" panose="02020603050405020304" pitchFamily="18" charset="0"/>
                          <a:cs typeface="Times New Roman" panose="02020603050405020304" pitchFamily="18" charset="0"/>
                        </a:rPr>
                        <a:t> số 2 mà tàu phải khai thác chặng ngắn dẫn đến tăng utilization, không bay đ</a:t>
                      </a:r>
                      <a:r>
                        <a:rPr lang="vi-VN" sz="1200">
                          <a:solidFill>
                            <a:schemeClr val="tx1"/>
                          </a:solidFill>
                          <a:latin typeface="Times New Roman" panose="02020603050405020304" pitchFamily="18" charset="0"/>
                          <a:cs typeface="Times New Roman" panose="02020603050405020304" pitchFamily="18" charset="0"/>
                        </a:rPr>
                        <a:t>ư</a:t>
                      </a:r>
                      <a:r>
                        <a:rPr lang="en-US" sz="1200">
                          <a:solidFill>
                            <a:schemeClr val="tx1"/>
                          </a:solidFill>
                          <a:latin typeface="Times New Roman" panose="02020603050405020304" pitchFamily="18" charset="0"/>
                          <a:cs typeface="Times New Roman" panose="02020603050405020304" pitchFamily="18" charset="0"/>
                        </a:rPr>
                        <a:t>ợc qua Tết. Dự kiến hết hạn vào cuối tháng 1. </a:t>
                      </a:r>
                      <a:endParaRPr lang="en-US" sz="1200" dirty="0">
                        <a:solidFill>
                          <a:schemeClr val="tx1"/>
                        </a:solidFill>
                        <a:latin typeface="Times New Roman" panose="02020603050405020304" pitchFamily="18" charset="0"/>
                        <a:cs typeface="Times New Roman" panose="02020603050405020304" pitchFamily="18" charset="0"/>
                      </a:endParaRPr>
                    </a:p>
                  </a:txBody>
                  <a:tcPr marL="8467" marR="8467" marT="8467"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latin typeface="Times New Roman" panose="02020603050405020304" pitchFamily="18" charset="0"/>
                          <a:cs typeface="Times New Roman" panose="02020603050405020304" pitchFamily="18" charset="0"/>
                        </a:rPr>
                        <a:t>Dự kiến thay bằng động c</a:t>
                      </a:r>
                      <a:r>
                        <a:rPr lang="vi-VN" sz="1200">
                          <a:solidFill>
                            <a:schemeClr val="tx1"/>
                          </a:solidFill>
                          <a:latin typeface="Times New Roman" panose="02020603050405020304" pitchFamily="18" charset="0"/>
                          <a:cs typeface="Times New Roman" panose="02020603050405020304" pitchFamily="18" charset="0"/>
                        </a:rPr>
                        <a:t>ơ</a:t>
                      </a:r>
                      <a:r>
                        <a:rPr lang="en-US" sz="1200">
                          <a:solidFill>
                            <a:schemeClr val="tx1"/>
                          </a:solidFill>
                          <a:latin typeface="Times New Roman" panose="02020603050405020304" pitchFamily="18" charset="0"/>
                          <a:cs typeface="Times New Roman" panose="02020603050405020304" pitchFamily="18" charset="0"/>
                        </a:rPr>
                        <a:t> thuê thứ 4 sẽ nhận vào giữa tháng 1. </a:t>
                      </a:r>
                      <a:endParaRPr lang="en-US" sz="1200" dirty="0">
                        <a:solidFill>
                          <a:schemeClr val="tx1"/>
                        </a:solidFill>
                        <a:latin typeface="Times New Roman" panose="02020603050405020304" pitchFamily="18" charset="0"/>
                        <a:cs typeface="Times New Roman" panose="02020603050405020304" pitchFamily="18" charset="0"/>
                      </a:endParaRPr>
                    </a:p>
                  </a:txBody>
                  <a:tcPr marL="8467" marR="8467" marT="8467" marB="0" anchor="ctr"/>
                </a:tc>
                <a:extLst>
                  <a:ext uri="{0D108BD9-81ED-4DB2-BD59-A6C34878D82A}">
                    <a16:rowId xmlns:a16="http://schemas.microsoft.com/office/drawing/2014/main" val="2913290803"/>
                  </a:ext>
                </a:extLst>
              </a:tr>
              <a:tr h="487153">
                <a:tc>
                  <a:txBody>
                    <a:bodyPr/>
                    <a:lstStyle/>
                    <a:p>
                      <a:pPr algn="ctr" fontAlgn="ctr"/>
                      <a:r>
                        <a:rPr lang="en-US" sz="1200" b="0" i="0" u="none" strike="noStrike">
                          <a:solidFill>
                            <a:schemeClr val="tx1"/>
                          </a:solidFill>
                          <a:effectLst/>
                          <a:latin typeface="Times New Roman" panose="02020603050405020304" pitchFamily="18" charset="0"/>
                        </a:rPr>
                        <a:t>A899</a:t>
                      </a:r>
                      <a:endParaRPr lang="en-US" sz="1200" b="0" i="0" u="none" strike="noStrike" dirty="0">
                        <a:solidFill>
                          <a:schemeClr val="tx1"/>
                        </a:solidFill>
                        <a:effectLst/>
                        <a:latin typeface="Times New Roman" panose="02020603050405020304" pitchFamily="18" charset="0"/>
                      </a:endParaRPr>
                    </a:p>
                  </a:txBody>
                  <a:tcPr marL="8467" marR="8467" marT="8467"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Times New Roman" panose="02020603050405020304" pitchFamily="18" charset="0"/>
                          <a:cs typeface="Times New Roman" panose="02020603050405020304" pitchFamily="18" charset="0"/>
                        </a:rPr>
                        <a:t>Do </a:t>
                      </a:r>
                      <a:r>
                        <a:rPr lang="en-US" sz="1200" dirty="0" err="1">
                          <a:solidFill>
                            <a:schemeClr val="tx1"/>
                          </a:solidFill>
                          <a:latin typeface="Times New Roman" panose="02020603050405020304" pitchFamily="18" charset="0"/>
                          <a:cs typeface="Times New Roman" panose="02020603050405020304" pitchFamily="18" charset="0"/>
                        </a:rPr>
                        <a:t>tàu</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phải</a:t>
                      </a:r>
                      <a:r>
                        <a:rPr lang="en-US" sz="1200" dirty="0">
                          <a:solidFill>
                            <a:schemeClr val="tx1"/>
                          </a:solidFill>
                          <a:latin typeface="Times New Roman" panose="02020603050405020304" pitchFamily="18" charset="0"/>
                          <a:cs typeface="Times New Roman" panose="02020603050405020304" pitchFamily="18" charset="0"/>
                        </a:rPr>
                        <a:t> bay </a:t>
                      </a:r>
                      <a:r>
                        <a:rPr lang="en-US" sz="1200" dirty="0" err="1">
                          <a:solidFill>
                            <a:schemeClr val="tx1"/>
                          </a:solidFill>
                          <a:latin typeface="Times New Roman" panose="02020603050405020304" pitchFamily="18" charset="0"/>
                          <a:cs typeface="Times New Roman" panose="02020603050405020304" pitchFamily="18" charset="0"/>
                        </a:rPr>
                        <a:t>bù</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các</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tàu</a:t>
                      </a:r>
                      <a:r>
                        <a:rPr lang="en-US" sz="1200" dirty="0">
                          <a:solidFill>
                            <a:schemeClr val="tx1"/>
                          </a:solidFill>
                          <a:latin typeface="Times New Roman" panose="02020603050405020304" pitchFamily="18" charset="0"/>
                          <a:cs typeface="Times New Roman" panose="02020603050405020304" pitchFamily="18" charset="0"/>
                        </a:rPr>
                        <a:t> VIP </a:t>
                      </a:r>
                      <a:r>
                        <a:rPr lang="en-US" sz="1200" dirty="0" err="1">
                          <a:solidFill>
                            <a:schemeClr val="tx1"/>
                          </a:solidFill>
                          <a:latin typeface="Times New Roman" panose="02020603050405020304" pitchFamily="18" charset="0"/>
                          <a:cs typeface="Times New Roman" panose="02020603050405020304" pitchFamily="18" charset="0"/>
                        </a:rPr>
                        <a:t>tháng</a:t>
                      </a:r>
                      <a:r>
                        <a:rPr lang="en-US" sz="1200" dirty="0">
                          <a:solidFill>
                            <a:schemeClr val="tx1"/>
                          </a:solidFill>
                          <a:latin typeface="Times New Roman" panose="02020603050405020304" pitchFamily="18" charset="0"/>
                          <a:cs typeface="Times New Roman" panose="02020603050405020304" pitchFamily="18" charset="0"/>
                        </a:rPr>
                        <a:t> 1 </a:t>
                      </a:r>
                      <a:r>
                        <a:rPr lang="en-US" sz="1200" dirty="0" err="1">
                          <a:solidFill>
                            <a:schemeClr val="tx1"/>
                          </a:solidFill>
                          <a:latin typeface="Times New Roman" panose="02020603050405020304" pitchFamily="18" charset="0"/>
                          <a:cs typeface="Times New Roman" panose="02020603050405020304" pitchFamily="18" charset="0"/>
                        </a:rPr>
                        <a:t>nên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tăng</a:t>
                      </a:r>
                      <a:r>
                        <a:rPr lang="en-US" sz="1200" dirty="0">
                          <a:solidFill>
                            <a:schemeClr val="tx1"/>
                          </a:solidFill>
                          <a:latin typeface="Times New Roman" panose="02020603050405020304" pitchFamily="18" charset="0"/>
                          <a:cs typeface="Times New Roman" panose="02020603050405020304" pitchFamily="18" charset="0"/>
                        </a:rPr>
                        <a:t> utilization, </a:t>
                      </a:r>
                      <a:r>
                        <a:rPr lang="en-US" sz="1200" dirty="0" err="1">
                          <a:solidFill>
                            <a:schemeClr val="tx1"/>
                          </a:solidFill>
                          <a:latin typeface="Times New Roman" panose="02020603050405020304" pitchFamily="18" charset="0"/>
                          <a:cs typeface="Times New Roman" panose="02020603050405020304" pitchFamily="18" charset="0"/>
                        </a:rPr>
                        <a:t>không</a:t>
                      </a:r>
                      <a:r>
                        <a:rPr lang="en-US" sz="1200" dirty="0">
                          <a:solidFill>
                            <a:schemeClr val="tx1"/>
                          </a:solidFill>
                          <a:latin typeface="Times New Roman" panose="02020603050405020304" pitchFamily="18" charset="0"/>
                          <a:cs typeface="Times New Roman" panose="02020603050405020304" pitchFamily="18" charset="0"/>
                        </a:rPr>
                        <a:t> bay đ</a:t>
                      </a:r>
                      <a:r>
                        <a:rPr lang="vi-VN" sz="1200" dirty="0">
                          <a:solidFill>
                            <a:schemeClr val="tx1"/>
                          </a:solidFill>
                          <a:latin typeface="Times New Roman" panose="02020603050405020304" pitchFamily="18" charset="0"/>
                          <a:cs typeface="Times New Roman" panose="02020603050405020304" pitchFamily="18" charset="0"/>
                        </a:rPr>
                        <a:t>ư</a:t>
                      </a:r>
                      <a:r>
                        <a:rPr lang="en-US" sz="1200" dirty="0" err="1">
                          <a:solidFill>
                            <a:schemeClr val="tx1"/>
                          </a:solidFill>
                          <a:latin typeface="Times New Roman" panose="02020603050405020304" pitchFamily="18" charset="0"/>
                          <a:cs typeface="Times New Roman" panose="02020603050405020304" pitchFamily="18" charset="0"/>
                        </a:rPr>
                        <a:t>ợc</a:t>
                      </a:r>
                      <a:r>
                        <a:rPr lang="en-US" sz="1200" dirty="0">
                          <a:solidFill>
                            <a:schemeClr val="tx1"/>
                          </a:solidFill>
                          <a:latin typeface="Times New Roman" panose="02020603050405020304" pitchFamily="18" charset="0"/>
                          <a:cs typeface="Times New Roman" panose="02020603050405020304" pitchFamily="18" charset="0"/>
                        </a:rPr>
                        <a:t> qua </a:t>
                      </a:r>
                      <a:r>
                        <a:rPr lang="en-US" sz="1200" dirty="0" err="1">
                          <a:solidFill>
                            <a:schemeClr val="tx1"/>
                          </a:solidFill>
                          <a:latin typeface="Times New Roman" panose="02020603050405020304" pitchFamily="18" charset="0"/>
                          <a:cs typeface="Times New Roman" panose="02020603050405020304" pitchFamily="18" charset="0"/>
                        </a:rPr>
                        <a:t>Tết</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cần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phải</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hạn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chế</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chờ</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động</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cơ</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Quickturn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đi</a:t>
                      </a:r>
                      <a:r>
                        <a:rPr lang="en-US" sz="1200" dirty="0">
                          <a:solidFill>
                            <a:schemeClr val="tx1"/>
                          </a:solidFill>
                          <a:latin typeface="Times New Roman" panose="02020603050405020304" pitchFamily="18" charset="0"/>
                          <a:cs typeface="Times New Roman" panose="02020603050405020304" pitchFamily="18" charset="0"/>
                        </a:rPr>
                        <a:t> shop </a:t>
                      </a:r>
                      <a:r>
                        <a:rPr lang="en-US" sz="1200" dirty="0" err="1">
                          <a:solidFill>
                            <a:schemeClr val="tx1"/>
                          </a:solidFill>
                          <a:latin typeface="Times New Roman" panose="02020603050405020304" pitchFamily="18" charset="0"/>
                          <a:cs typeface="Times New Roman" panose="02020603050405020304" pitchFamily="18" charset="0"/>
                        </a:rPr>
                        <a:t>về</a:t>
                      </a:r>
                      <a:r>
                        <a:rPr lang="en-US" sz="1200" dirty="0">
                          <a:solidFill>
                            <a:schemeClr val="tx1"/>
                          </a:solidFill>
                          <a:latin typeface="Times New Roman" panose="02020603050405020304" pitchFamily="18" charset="0"/>
                          <a:cs typeface="Times New Roman" panose="02020603050405020304" pitchFamily="18" charset="0"/>
                        </a:rPr>
                        <a:t>. </a:t>
                      </a:r>
                    </a:p>
                  </a:txBody>
                  <a:tcPr marL="8467" marR="8467" marT="8467"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chemeClr val="tx1"/>
                          </a:solidFill>
                          <a:latin typeface="Times New Roman" panose="02020603050405020304" pitchFamily="18" charset="0"/>
                          <a:cs typeface="Times New Roman" panose="02020603050405020304" pitchFamily="18" charset="0"/>
                        </a:rPr>
                        <a:t>Chờ</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động</a:t>
                      </a:r>
                      <a:r>
                        <a:rPr lang="en-US" sz="1200" dirty="0">
                          <a:solidFill>
                            <a:schemeClr val="tx1"/>
                          </a:solidFill>
                          <a:latin typeface="Times New Roman" panose="02020603050405020304" pitchFamily="18" charset="0"/>
                          <a:cs typeface="Times New Roman" panose="02020603050405020304" pitchFamily="18" charset="0"/>
                        </a:rPr>
                        <a:t> c</a:t>
                      </a:r>
                      <a:r>
                        <a:rPr lang="vi-VN" sz="1200" dirty="0">
                          <a:solidFill>
                            <a:schemeClr val="tx1"/>
                          </a:solidFill>
                          <a:latin typeface="Times New Roman" panose="02020603050405020304" pitchFamily="18" charset="0"/>
                          <a:cs typeface="Times New Roman" panose="02020603050405020304" pitchFamily="18" charset="0"/>
                        </a:rPr>
                        <a:t>ơ</a:t>
                      </a:r>
                      <a:r>
                        <a:rPr lang="en-US" sz="1200" dirty="0">
                          <a:solidFill>
                            <a:schemeClr val="tx1"/>
                          </a:solidFill>
                          <a:latin typeface="Times New Roman" panose="02020603050405020304" pitchFamily="18" charset="0"/>
                          <a:cs typeface="Times New Roman" panose="02020603050405020304" pitchFamily="18" charset="0"/>
                        </a:rPr>
                        <a:t> 21316 </a:t>
                      </a:r>
                      <a:r>
                        <a:rPr lang="en-US" sz="1200" dirty="0" err="1">
                          <a:solidFill>
                            <a:schemeClr val="tx1"/>
                          </a:solidFill>
                          <a:latin typeface="Times New Roman" panose="02020603050405020304" pitchFamily="18" charset="0"/>
                          <a:cs typeface="Times New Roman" panose="02020603050405020304" pitchFamily="18" charset="0"/>
                        </a:rPr>
                        <a:t>đi</a:t>
                      </a:r>
                      <a:r>
                        <a:rPr lang="en-US" sz="1200" dirty="0">
                          <a:solidFill>
                            <a:schemeClr val="tx1"/>
                          </a:solidFill>
                          <a:latin typeface="Times New Roman" panose="02020603050405020304" pitchFamily="18" charset="0"/>
                          <a:cs typeface="Times New Roman" panose="02020603050405020304" pitchFamily="18" charset="0"/>
                        </a:rPr>
                        <a:t> shop </a:t>
                      </a:r>
                      <a:r>
                        <a:rPr lang="en-US" sz="1200" dirty="0" err="1">
                          <a:solidFill>
                            <a:schemeClr val="tx1"/>
                          </a:solidFill>
                          <a:latin typeface="Times New Roman" panose="02020603050405020304" pitchFamily="18" charset="0"/>
                          <a:cs typeface="Times New Roman" panose="02020603050405020304" pitchFamily="18" charset="0"/>
                        </a:rPr>
                        <a:t>về</a:t>
                      </a:r>
                      <a:r>
                        <a:rPr lang="en-US" sz="1200" dirty="0">
                          <a:solidFill>
                            <a:schemeClr val="tx1"/>
                          </a:solidFill>
                          <a:latin typeface="Times New Roman" panose="02020603050405020304" pitchFamily="18" charset="0"/>
                          <a:cs typeface="Times New Roman" panose="02020603050405020304" pitchFamily="18" charset="0"/>
                        </a:rPr>
                        <a:t>. </a:t>
                      </a:r>
                    </a:p>
                  </a:txBody>
                  <a:tcPr marL="8467" marR="8467" marT="8467" marB="0" anchor="ctr"/>
                </a:tc>
                <a:extLst>
                  <a:ext uri="{0D108BD9-81ED-4DB2-BD59-A6C34878D82A}">
                    <a16:rowId xmlns:a16="http://schemas.microsoft.com/office/drawing/2014/main" val="3138330128"/>
                  </a:ext>
                </a:extLst>
              </a:tr>
            </a:tbl>
          </a:graphicData>
        </a:graphic>
      </p:graphicFrame>
      <p:sp>
        <p:nvSpPr>
          <p:cNvPr id="6" name="TextBox 5">
            <a:extLst>
              <a:ext uri="{FF2B5EF4-FFF2-40B4-BE49-F238E27FC236}">
                <a16:creationId xmlns:a16="http://schemas.microsoft.com/office/drawing/2014/main" id="{42078504-4E4E-DE69-F896-C7268F910BB0}"/>
              </a:ext>
            </a:extLst>
          </p:cNvPr>
          <p:cNvSpPr txBox="1"/>
          <p:nvPr/>
        </p:nvSpPr>
        <p:spPr>
          <a:xfrm>
            <a:off x="1397713" y="4768821"/>
            <a:ext cx="9419049" cy="666786"/>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thay</a:t>
            </a:r>
            <a:r>
              <a:rPr kumimoji="0" lang="en-US"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a:t>
            </a:r>
            <a:r>
              <a:rPr kumimoji="0" lang="vi-VN"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A350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r>
              <a:rPr kumimoji="0" lang="en-US" sz="1600" b="1" i="1"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các</a:t>
            </a:r>
            <a:r>
              <a:rPr kumimoji="0" lang="en-US" sz="16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600" b="1" i="1"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tàu</a:t>
            </a:r>
            <a:r>
              <a:rPr kumimoji="0" lang="en-US" sz="16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600" b="1" i="1"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ảnh</a:t>
            </a:r>
            <a:r>
              <a:rPr kumimoji="0" lang="en-US" sz="16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h</a:t>
            </a:r>
            <a:r>
              <a:rPr kumimoji="0" lang="vi-VN" sz="16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ư</a:t>
            </a:r>
            <a:r>
              <a:rPr kumimoji="0" lang="en-US" sz="1600" b="1" i="1"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ởng</a:t>
            </a:r>
            <a:r>
              <a:rPr kumimoji="0" lang="en-US" sz="16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600" b="1" i="1"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nguồn</a:t>
            </a:r>
            <a:r>
              <a:rPr kumimoji="0" lang="en-US" sz="16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600" b="1" i="1"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lực</a:t>
            </a:r>
            <a:r>
              <a:rPr kumimoji="0" lang="en-US" sz="16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endParaRPr kumimoji="0" lang="en-GB" sz="24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7" name="TextBox 6">
            <a:extLst>
              <a:ext uri="{FF2B5EF4-FFF2-40B4-BE49-F238E27FC236}">
                <a16:creationId xmlns:a16="http://schemas.microsoft.com/office/drawing/2014/main" id="{C91619BD-7E24-FDB8-BC7A-A4CB0B20AAAA}"/>
              </a:ext>
            </a:extLst>
          </p:cNvPr>
          <p:cNvSpPr txBox="1"/>
          <p:nvPr/>
        </p:nvSpPr>
        <p:spPr>
          <a:xfrm>
            <a:off x="1" y="31001"/>
            <a:ext cx="11480800"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KHẢ NĂNG CUNG ỨNG ĐỘNG CƠ </a:t>
            </a: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ĐỘI BAY A350 T10 – T2/2025</a:t>
            </a:r>
            <a:endPar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2658492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6EF2E-39D3-88C6-5607-59E0B3AACB2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A0A6B4-0D57-91D1-E90B-8552E0AD5555}"/>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8" name="Slide Number Placeholder 3">
            <a:extLst>
              <a:ext uri="{FF2B5EF4-FFF2-40B4-BE49-F238E27FC236}">
                <a16:creationId xmlns:a16="http://schemas.microsoft.com/office/drawing/2014/main" id="{A871A205-15F4-FDCC-D904-DBF790C95818}"/>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600" b="0" i="0" u="none" strike="noStrike" kern="1200" cap="none" spc="0" normalizeH="0" baseline="0" noProof="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6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endParaRPr>
          </a:p>
        </p:txBody>
      </p:sp>
      <p:sp>
        <p:nvSpPr>
          <p:cNvPr id="9" name="TextBox 8">
            <a:extLst>
              <a:ext uri="{FF2B5EF4-FFF2-40B4-BE49-F238E27FC236}">
                <a16:creationId xmlns:a16="http://schemas.microsoft.com/office/drawing/2014/main" id="{45661717-286B-9E25-9E8B-05A140AC533E}"/>
              </a:ext>
            </a:extLst>
          </p:cNvPr>
          <p:cNvSpPr txBox="1"/>
          <p:nvPr/>
        </p:nvSpPr>
        <p:spPr>
          <a:xfrm>
            <a:off x="317020" y="5056389"/>
            <a:ext cx="11557960" cy="986809"/>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marR="0" lvl="0" indent="-380990" algn="l" defTabSz="121917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vi-VN"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B225 dùng động cơ ED0214 trong kho còn 151 FC và động cơ ED0241 từ shp về. Dự kiến giữa tháng 1/25 sẽ lấy</a:t>
            </a: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động cơ ED0181 từ Shop về thay cho ED0214.</a:t>
            </a: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380990" marR="0" lvl="0" indent="-380990" algn="l" defTabSz="121917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Từ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11/2024,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với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05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do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K6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thuê</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khô</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B220.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7/2025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sẽ</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trở</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lại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06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sau</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K6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trả</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B220.</a:t>
            </a:r>
          </a:p>
        </p:txBody>
      </p:sp>
      <p:graphicFrame>
        <p:nvGraphicFramePr>
          <p:cNvPr id="10" name="Chart 9">
            <a:extLst>
              <a:ext uri="{FF2B5EF4-FFF2-40B4-BE49-F238E27FC236}">
                <a16:creationId xmlns:a16="http://schemas.microsoft.com/office/drawing/2014/main" id="{76DFC592-D88A-43FC-09E5-06AD8D727013}"/>
              </a:ext>
            </a:extLst>
          </p:cNvPr>
          <p:cNvGraphicFramePr/>
          <p:nvPr/>
        </p:nvGraphicFramePr>
        <p:xfrm>
          <a:off x="295373" y="770468"/>
          <a:ext cx="11557960" cy="42164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0AA8E0DF-2FF0-D5DB-6896-3F1AD07908A4}"/>
              </a:ext>
            </a:extLst>
          </p:cNvPr>
          <p:cNvSpPr txBox="1"/>
          <p:nvPr/>
        </p:nvSpPr>
        <p:spPr>
          <a:xfrm>
            <a:off x="0" y="88859"/>
            <a:ext cx="11142133"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KHẢ NĂNG CUNG ỨNG ĐỘNG CƠ </a:t>
            </a: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ĐỘI BAY ATR72</a:t>
            </a:r>
            <a:endPar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3098932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0E34002-24DE-E466-318F-A982D9E240D3}"/>
              </a:ext>
            </a:extLst>
          </p:cNvPr>
          <p:cNvSpPr txBox="1"/>
          <p:nvPr/>
        </p:nvSpPr>
        <p:spPr>
          <a:xfrm>
            <a:off x="0" y="475864"/>
            <a:ext cx="4165600"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sửa</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chữa</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4" name="Table 2">
            <a:extLst>
              <a:ext uri="{FF2B5EF4-FFF2-40B4-BE49-F238E27FC236}">
                <a16:creationId xmlns:a16="http://schemas.microsoft.com/office/drawing/2014/main" id="{C9E599B2-7A6B-AE61-6B47-ABFA60F331B8}"/>
              </a:ext>
            </a:extLst>
          </p:cNvPr>
          <p:cNvGraphicFramePr>
            <a:graphicFrameLocks noGrp="1"/>
          </p:cNvGraphicFramePr>
          <p:nvPr/>
        </p:nvGraphicFramePr>
        <p:xfrm>
          <a:off x="711200" y="1134199"/>
          <a:ext cx="11040533" cy="3595095"/>
        </p:xfrm>
        <a:graphic>
          <a:graphicData uri="http://schemas.openxmlformats.org/drawingml/2006/table">
            <a:tbl>
              <a:tblPr firstRow="1" bandRow="1">
                <a:tableStyleId>{5C22544A-7EE6-4342-B048-85BDC9FD1C3A}</a:tableStyleId>
              </a:tblPr>
              <a:tblGrid>
                <a:gridCol w="441621">
                  <a:extLst>
                    <a:ext uri="{9D8B030D-6E8A-4147-A177-3AD203B41FA5}">
                      <a16:colId xmlns:a16="http://schemas.microsoft.com/office/drawing/2014/main" val="1598605427"/>
                    </a:ext>
                  </a:extLst>
                </a:gridCol>
                <a:gridCol w="1177657">
                  <a:extLst>
                    <a:ext uri="{9D8B030D-6E8A-4147-A177-3AD203B41FA5}">
                      <a16:colId xmlns:a16="http://schemas.microsoft.com/office/drawing/2014/main" val="3845954792"/>
                    </a:ext>
                  </a:extLst>
                </a:gridCol>
                <a:gridCol w="1251260">
                  <a:extLst>
                    <a:ext uri="{9D8B030D-6E8A-4147-A177-3AD203B41FA5}">
                      <a16:colId xmlns:a16="http://schemas.microsoft.com/office/drawing/2014/main" val="2148822928"/>
                    </a:ext>
                  </a:extLst>
                </a:gridCol>
                <a:gridCol w="1987296">
                  <a:extLst>
                    <a:ext uri="{9D8B030D-6E8A-4147-A177-3AD203B41FA5}">
                      <a16:colId xmlns:a16="http://schemas.microsoft.com/office/drawing/2014/main" val="2136763095"/>
                    </a:ext>
                  </a:extLst>
                </a:gridCol>
                <a:gridCol w="2060900">
                  <a:extLst>
                    <a:ext uri="{9D8B030D-6E8A-4147-A177-3AD203B41FA5}">
                      <a16:colId xmlns:a16="http://schemas.microsoft.com/office/drawing/2014/main" val="1185879436"/>
                    </a:ext>
                  </a:extLst>
                </a:gridCol>
                <a:gridCol w="1913692">
                  <a:extLst>
                    <a:ext uri="{9D8B030D-6E8A-4147-A177-3AD203B41FA5}">
                      <a16:colId xmlns:a16="http://schemas.microsoft.com/office/drawing/2014/main" val="3807119371"/>
                    </a:ext>
                  </a:extLst>
                </a:gridCol>
                <a:gridCol w="2208107">
                  <a:extLst>
                    <a:ext uri="{9D8B030D-6E8A-4147-A177-3AD203B41FA5}">
                      <a16:colId xmlns:a16="http://schemas.microsoft.com/office/drawing/2014/main" val="3735753066"/>
                    </a:ext>
                  </a:extLst>
                </a:gridCol>
              </a:tblGrid>
              <a:tr h="709240">
                <a:tc>
                  <a:txBody>
                    <a:bodyPr/>
                    <a:lstStyle/>
                    <a:p>
                      <a:pPr algn="ctr"/>
                      <a:r>
                        <a:rPr lang="en-GB" sz="1500">
                          <a:latin typeface="Times New Roman" panose="02020603050405020304" pitchFamily="18" charset="0"/>
                          <a:cs typeface="Times New Roman" panose="02020603050405020304" pitchFamily="18" charset="0"/>
                        </a:rPr>
                        <a:t>No.</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ESN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Status</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Induction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err="1">
                          <a:latin typeface="Times New Roman" panose="02020603050405020304" pitchFamily="18" charset="0"/>
                          <a:cs typeface="Times New Roman" panose="02020603050405020304" pitchFamily="18" charset="0"/>
                        </a:rPr>
                        <a:t>Dự</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kiến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về</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KH Sử dụng</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Remark</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577171">
                <a:tc>
                  <a:txBody>
                    <a:bodyPr/>
                    <a:lstStyle/>
                    <a:p>
                      <a:pPr algn="ctr"/>
                      <a:r>
                        <a:rPr lang="en-US" sz="1500">
                          <a:latin typeface="Times New Roman" panose="02020603050405020304" pitchFamily="18" charset="0"/>
                          <a:cs typeface="Times New Roman" panose="02020603050405020304" pitchFamily="18" charset="0"/>
                        </a:rPr>
                        <a:t>1</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ED0181</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17/07/2024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b="0">
                          <a:solidFill>
                            <a:schemeClr val="tx1"/>
                          </a:solidFill>
                          <a:latin typeface="Times New Roman" panose="02020603050405020304" pitchFamily="18" charset="0"/>
                          <a:cs typeface="Times New Roman" panose="02020603050405020304" pitchFamily="18" charset="0"/>
                        </a:rPr>
                        <a:t>16/01/2025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500">
                          <a:solidFill>
                            <a:schemeClr val="tx1"/>
                          </a:solidFill>
                          <a:latin typeface="Times New Roman" panose="02020603050405020304" pitchFamily="18" charset="0"/>
                          <a:cs typeface="Times New Roman" panose="02020603050405020304" pitchFamily="18" charset="0"/>
                        </a:rPr>
                        <a:t>B225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RTS</a:t>
                      </a:r>
                      <a:endParaRPr kumimoji="0" lang="en-GB" sz="15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4277853865"/>
                  </a:ext>
                </a:extLst>
              </a:tr>
              <a:tr h="577171">
                <a:tc>
                  <a:txBody>
                    <a:bodyPr/>
                    <a:lstStyle/>
                    <a:p>
                      <a:pPr algn="ctr"/>
                      <a:r>
                        <a:rPr lang="en-GB" sz="15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5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ED0241</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20/08/2024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09/12/2024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500" dirty="0">
                          <a:solidFill>
                            <a:schemeClr val="tx1"/>
                          </a:solidFill>
                          <a:latin typeface="Times New Roman" panose="02020603050405020304" pitchFamily="18" charset="0"/>
                          <a:cs typeface="Times New Roman" panose="02020603050405020304" pitchFamily="18" charset="0"/>
                        </a:rPr>
                        <a:t>B225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RTS</a:t>
                      </a:r>
                      <a:endParaRPr kumimoji="0" lang="en-GB" sz="15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124338883"/>
                  </a:ext>
                </a:extLst>
              </a:tr>
              <a:tr h="577171">
                <a:tc>
                  <a:txBody>
                    <a:bodyPr/>
                    <a:lstStyle/>
                    <a:p>
                      <a:pPr algn="ctr"/>
                      <a:r>
                        <a:rPr lang="en-US" sz="1500" dirty="0">
                          <a:latin typeface="Times New Roman" panose="02020603050405020304" pitchFamily="18" charset="0"/>
                          <a:cs typeface="Times New Roman" panose="02020603050405020304" pitchFamily="18" charset="0"/>
                        </a:rPr>
                        <a:t>3</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5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ED0192</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29/08/2024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rgbClr val="FF0000"/>
                          </a:solidFill>
                          <a:latin typeface="Times New Roman" panose="02020603050405020304" pitchFamily="18" charset="0"/>
                          <a:ea typeface="+mn-ea"/>
                          <a:cs typeface="Times New Roman" panose="02020603050405020304" pitchFamily="18" charset="0"/>
                        </a:rPr>
                        <a:t>23/01/2025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500">
                          <a:solidFill>
                            <a:schemeClr val="tx1"/>
                          </a:solidFill>
                          <a:latin typeface="Times New Roman" panose="02020603050405020304" pitchFamily="18" charset="0"/>
                          <a:cs typeface="Times New Roman" panose="02020603050405020304" pitchFamily="18" charset="0"/>
                        </a:rPr>
                        <a:t>Stagger</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N/A</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165882103"/>
                  </a:ext>
                </a:extLst>
              </a:tr>
              <a:tr h="577171">
                <a:tc>
                  <a:txBody>
                    <a:bodyPr/>
                    <a:lstStyle/>
                    <a:p>
                      <a:pPr algn="ctr"/>
                      <a:r>
                        <a:rPr lang="en-GB" sz="15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5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ED0239</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16/10/2024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rgbClr val="FF0000"/>
                          </a:solidFill>
                          <a:latin typeface="Times New Roman" panose="02020603050405020304" pitchFamily="18" charset="0"/>
                          <a:ea typeface="+mn-ea"/>
                          <a:cs typeface="Times New Roman" panose="02020603050405020304" pitchFamily="18" charset="0"/>
                        </a:rPr>
                        <a:t>15/04/2025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N/A</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227979002"/>
                  </a:ext>
                </a:extLst>
              </a:tr>
              <a:tr h="577171">
                <a:tc>
                  <a:txBody>
                    <a:bodyPr/>
                    <a:lstStyle/>
                    <a:p>
                      <a:pPr algn="ctr"/>
                      <a:r>
                        <a:rPr lang="en-GB" sz="1500">
                          <a:latin typeface="Times New Roman" panose="02020603050405020304" pitchFamily="18" charset="0"/>
                          <a:cs typeface="Times New Roman" panose="02020603050405020304" pitchFamily="18" charset="0"/>
                        </a:rPr>
                        <a:t>5</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ED238</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T12/2024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7893171"/>
                  </a:ext>
                </a:extLst>
              </a:tr>
            </a:tbl>
          </a:graphicData>
        </a:graphic>
      </p:graphicFrame>
      <p:sp>
        <p:nvSpPr>
          <p:cNvPr id="15" name="TextBox 14">
            <a:extLst>
              <a:ext uri="{FF2B5EF4-FFF2-40B4-BE49-F238E27FC236}">
                <a16:creationId xmlns:a16="http://schemas.microsoft.com/office/drawing/2014/main" id="{A3B0CE8D-D087-9B22-2C61-0CD1AD45567F}"/>
              </a:ext>
            </a:extLst>
          </p:cNvPr>
          <p:cNvSpPr txBox="1"/>
          <p:nvPr/>
        </p:nvSpPr>
        <p:spPr>
          <a:xfrm>
            <a:off x="1" y="805"/>
            <a:ext cx="11418041"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ĐỘI BAY ATR</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
        <p:nvSpPr>
          <p:cNvPr id="16" name="TextBox 15">
            <a:extLst>
              <a:ext uri="{FF2B5EF4-FFF2-40B4-BE49-F238E27FC236}">
                <a16:creationId xmlns:a16="http://schemas.microsoft.com/office/drawing/2014/main" id="{86965A40-485F-F6CF-1E94-FB69A37B616A}"/>
              </a:ext>
            </a:extLst>
          </p:cNvPr>
          <p:cNvSpPr txBox="1"/>
          <p:nvPr/>
        </p:nvSpPr>
        <p:spPr>
          <a:xfrm>
            <a:off x="84667" y="4895186"/>
            <a:ext cx="7239699"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cơ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đội</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bay</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id="{E8A28E79-E20A-AF25-AF54-BB552A4A1E80}"/>
              </a:ext>
            </a:extLst>
          </p:cNvPr>
          <p:cNvSpPr txBox="1"/>
          <p:nvPr/>
        </p:nvSpPr>
        <p:spPr>
          <a:xfrm>
            <a:off x="291533" y="5387629"/>
            <a:ext cx="11460201" cy="1180003"/>
          </a:xfrm>
          <a:prstGeom prst="rect">
            <a:avLst/>
          </a:prstGeom>
          <a:noFill/>
        </p:spPr>
        <p:txBody>
          <a:bodyPr wrap="square" rtlCol="0">
            <a:spAutoFit/>
          </a:bodyPr>
          <a:lstStyle/>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không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ED0217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HPT Vane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còn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38 FH), ED0233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hết</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LLP,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còn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78 FC), ED0214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hết</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LLP,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còn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151 FC)</a:t>
            </a:r>
          </a:p>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it-IT"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Động cơ thuê: ED0321, ED0036 và ED0715</a:t>
            </a:r>
          </a:p>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it-IT"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Động cơ cao giờ: NIL</a:t>
            </a:r>
            <a:endPar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9035466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AEDC4A0-D9E4-308A-B81A-C497E56EC867}"/>
              </a:ext>
            </a:extLst>
          </p:cNvPr>
          <p:cNvSpPr>
            <a:spLocks noGrp="1"/>
          </p:cNvSpPr>
          <p:nvPr>
            <p:ph type="sldNum" sz="quarter" idx="12"/>
          </p:nvPr>
        </p:nvSpPr>
        <p:spPr>
          <a:xfrm>
            <a:off x="11469279" y="8154511"/>
            <a:ext cx="3657600" cy="486833"/>
          </a:xfrm>
        </p:spPr>
        <p:txBody>
          <a:bodyPr>
            <a:normAutofit/>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D2A43B"/>
                </a:solidFill>
                <a:effectLst/>
                <a:uLnTx/>
                <a:uFillTx/>
                <a:latin typeface="Montserrat" pitchFamily="2" charset="77"/>
                <a:ea typeface="+mn-ea"/>
                <a:cs typeface="+mn-cs"/>
              </a:rPr>
              <a:t>1</a:t>
            </a:r>
          </a:p>
        </p:txBody>
      </p:sp>
      <p:sp>
        <p:nvSpPr>
          <p:cNvPr id="4" name="TextBox 3">
            <a:extLst>
              <a:ext uri="{FF2B5EF4-FFF2-40B4-BE49-F238E27FC236}">
                <a16:creationId xmlns:a16="http://schemas.microsoft.com/office/drawing/2014/main" id="{5039FD0F-D84D-F582-FC95-7FD457F3C903}"/>
              </a:ext>
            </a:extLst>
          </p:cNvPr>
          <p:cNvSpPr txBox="1"/>
          <p:nvPr/>
        </p:nvSpPr>
        <p:spPr>
          <a:xfrm>
            <a:off x="61186" y="565751"/>
            <a:ext cx="12054615" cy="1077218"/>
          </a:xfrm>
          <a:prstGeom prst="rect">
            <a:avLst/>
          </a:prstGeom>
          <a:noFill/>
          <a:ln>
            <a:solidFill>
              <a:schemeClr val="tx1"/>
            </a:solidFill>
          </a:ln>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30/12/2024 – 05/01/2025:</a:t>
            </a:r>
          </a:p>
          <a:p>
            <a:pPr marL="380990" marR="0" lvl="0" indent="-380990" algn="l" defTabSz="1219170" rtl="0" eaLnBrk="1" fontAlgn="auto" latinLnBrk="0" hangingPunct="1">
              <a:lnSpc>
                <a:spcPct val="100000"/>
              </a:lnSpc>
              <a:spcBef>
                <a:spcPts val="0"/>
              </a:spcBef>
              <a:spcAft>
                <a:spcPts val="0"/>
              </a:spcAft>
              <a:buClrTx/>
              <a:buSzTx/>
              <a:buFont typeface="Times New Roman" panose="02020603050405020304" pitchFamily="18" charset="0"/>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Phát</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sinh</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tuần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A867, A869, A603.</a:t>
            </a:r>
          </a:p>
          <a:p>
            <a:pPr marL="380990" marR="0" lvl="0" indent="-380990" algn="l" defTabSz="914400" rtl="0" eaLnBrk="1" fontAlgn="auto" latinLnBrk="0" hangingPunct="1">
              <a:lnSpc>
                <a:spcPct val="100000"/>
              </a:lnSpc>
              <a:spcBef>
                <a:spcPts val="0"/>
              </a:spcBef>
              <a:spcAft>
                <a:spcPts val="0"/>
              </a:spcAft>
              <a:buClrTx/>
              <a:buSzTx/>
              <a:buFont typeface="Times New Roman" panose="02020603050405020304" pitchFamily="18" charset="0"/>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A621 (wash APU), A357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thay</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Surge Valve), A332 (clean Connector), A605 (Ops test).</a:t>
            </a:r>
          </a:p>
          <a:p>
            <a:pPr marL="380990" marR="0" lvl="0" indent="-380990" algn="l" defTabSz="1219170" rtl="0" eaLnBrk="1" fontAlgn="auto" latinLnBrk="0" hangingPunct="1">
              <a:lnSpc>
                <a:spcPct val="100000"/>
              </a:lnSpc>
              <a:spcBef>
                <a:spcPts val="0"/>
              </a:spcBef>
              <a:spcAft>
                <a:spcPts val="0"/>
              </a:spcAft>
              <a:buClrTx/>
              <a:buSzTx/>
              <a:buFont typeface="Times New Roman" panose="02020603050405020304" pitchFamily="18" charset="0"/>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04 APU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chờ</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A879, A867, A869, A603.</a:t>
            </a:r>
          </a:p>
        </p:txBody>
      </p:sp>
      <p:graphicFrame>
        <p:nvGraphicFramePr>
          <p:cNvPr id="3" name="Table 2">
            <a:extLst>
              <a:ext uri="{FF2B5EF4-FFF2-40B4-BE49-F238E27FC236}">
                <a16:creationId xmlns:a16="http://schemas.microsoft.com/office/drawing/2014/main" id="{6684DBD8-A2D2-50A1-B1FB-698DABA16090}"/>
              </a:ext>
            </a:extLst>
          </p:cNvPr>
          <p:cNvGraphicFramePr>
            <a:graphicFrameLocks noGrp="1"/>
          </p:cNvGraphicFramePr>
          <p:nvPr/>
        </p:nvGraphicFramePr>
        <p:xfrm>
          <a:off x="61186" y="1787549"/>
          <a:ext cx="12054615" cy="4937508"/>
        </p:xfrm>
        <a:graphic>
          <a:graphicData uri="http://schemas.openxmlformats.org/drawingml/2006/table">
            <a:tbl>
              <a:tblPr firstRow="1" firstCol="1" bandRow="1">
                <a:tableStyleId>{5C22544A-7EE6-4342-B048-85BDC9FD1C3A}</a:tableStyleId>
              </a:tblPr>
              <a:tblGrid>
                <a:gridCol w="635792">
                  <a:extLst>
                    <a:ext uri="{9D8B030D-6E8A-4147-A177-3AD203B41FA5}">
                      <a16:colId xmlns:a16="http://schemas.microsoft.com/office/drawing/2014/main" val="1827702162"/>
                    </a:ext>
                  </a:extLst>
                </a:gridCol>
                <a:gridCol w="1715656">
                  <a:extLst>
                    <a:ext uri="{9D8B030D-6E8A-4147-A177-3AD203B41FA5}">
                      <a16:colId xmlns:a16="http://schemas.microsoft.com/office/drawing/2014/main" val="2395768341"/>
                    </a:ext>
                  </a:extLst>
                </a:gridCol>
                <a:gridCol w="4013376">
                  <a:extLst>
                    <a:ext uri="{9D8B030D-6E8A-4147-A177-3AD203B41FA5}">
                      <a16:colId xmlns:a16="http://schemas.microsoft.com/office/drawing/2014/main" val="4155011410"/>
                    </a:ext>
                  </a:extLst>
                </a:gridCol>
                <a:gridCol w="5689791">
                  <a:extLst>
                    <a:ext uri="{9D8B030D-6E8A-4147-A177-3AD203B41FA5}">
                      <a16:colId xmlns:a16="http://schemas.microsoft.com/office/drawing/2014/main" val="1412321077"/>
                    </a:ext>
                  </a:extLst>
                </a:gridCol>
              </a:tblGrid>
              <a:tr h="239236">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5328572"/>
                  </a:ext>
                </a:extLst>
              </a:tr>
              <a:tr h="1174568">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A879</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AUTO SHUTDOWN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ngày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25/12.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Chờ</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vật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tư</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FMU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T/S.</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lên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kế</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hoạch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A321NEO RTS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swap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khai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1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04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tại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1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Triển khai </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TI-2023-1002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khi T/S APU bad smell.</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Tổ bay chưa tuân thủ điền và gửi report SIC khi có event, đã nêu trong cuộc họp KT-Khai thác, để nghị nghiêm túc thực hiện.</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FON22/061 R03.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034225"/>
                  </a:ext>
                </a:extLst>
              </a:tr>
              <a:tr h="1174568">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A867</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AUTO SHUTDOWN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ngày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31/12.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Chờ</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vật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tư</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FMU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T/S.</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tc>
                <a:extLst>
                  <a:ext uri="{0D108BD9-81ED-4DB2-BD59-A6C34878D82A}">
                    <a16:rowId xmlns:a16="http://schemas.microsoft.com/office/drawing/2014/main" val="1073163020"/>
                  </a:ext>
                </a:extLst>
              </a:tr>
              <a:tr h="1174568">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A869</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AUTO SHUTDOWN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ngày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02/01.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xin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downtime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soi APU.</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tc>
                <a:extLst>
                  <a:ext uri="{0D108BD9-81ED-4DB2-BD59-A6C34878D82A}">
                    <a16:rowId xmlns:a16="http://schemas.microsoft.com/office/drawing/2014/main" val="1975779337"/>
                  </a:ext>
                </a:extLst>
              </a:tr>
              <a:tr h="1174568">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A603</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INOP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ngày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03/01.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tượng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Smoke from exhaust,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TS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theo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khuyến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NSX. KH TS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kết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hợp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trong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check 04-08/01.</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36160297"/>
                  </a:ext>
                </a:extLst>
              </a:tr>
            </a:tbl>
          </a:graphicData>
        </a:graphic>
      </p:graphicFrame>
      <p:sp>
        <p:nvSpPr>
          <p:cNvPr id="5" name="TextBox 4">
            <a:extLst>
              <a:ext uri="{FF2B5EF4-FFF2-40B4-BE49-F238E27FC236}">
                <a16:creationId xmlns:a16="http://schemas.microsoft.com/office/drawing/2014/main" id="{C90E461A-8FB3-5729-0D39-FAC90BDE96E0}"/>
              </a:ext>
            </a:extLst>
          </p:cNvPr>
          <p:cNvSpPr txBox="1"/>
          <p:nvPr/>
        </p:nvSpPr>
        <p:spPr>
          <a:xfrm>
            <a:off x="0" y="4175"/>
            <a:ext cx="10155179"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HỎNG HÓC APU TRONG TUẦN</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1837561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4E34AA5-0AD7-89EB-D556-85A4E3C161E2}"/>
              </a:ext>
            </a:extLst>
          </p:cNvPr>
          <p:cNvGraphicFramePr>
            <a:graphicFrameLocks noGrp="1"/>
          </p:cNvGraphicFramePr>
          <p:nvPr/>
        </p:nvGraphicFramePr>
        <p:xfrm>
          <a:off x="548320" y="609601"/>
          <a:ext cx="11169547" cy="4599134"/>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val="1598605427"/>
                    </a:ext>
                  </a:extLst>
                </a:gridCol>
                <a:gridCol w="1692295">
                  <a:extLst>
                    <a:ext uri="{9D8B030D-6E8A-4147-A177-3AD203B41FA5}">
                      <a16:colId xmlns:a16="http://schemas.microsoft.com/office/drawing/2014/main" val="3845954792"/>
                    </a:ext>
                  </a:extLst>
                </a:gridCol>
                <a:gridCol w="3352017">
                  <a:extLst>
                    <a:ext uri="{9D8B030D-6E8A-4147-A177-3AD203B41FA5}">
                      <a16:colId xmlns:a16="http://schemas.microsoft.com/office/drawing/2014/main" val="2148822928"/>
                    </a:ext>
                  </a:extLst>
                </a:gridCol>
                <a:gridCol w="2161848">
                  <a:extLst>
                    <a:ext uri="{9D8B030D-6E8A-4147-A177-3AD203B41FA5}">
                      <a16:colId xmlns:a16="http://schemas.microsoft.com/office/drawing/2014/main" val="1106888684"/>
                    </a:ext>
                  </a:extLst>
                </a:gridCol>
                <a:gridCol w="2161848">
                  <a:extLst>
                    <a:ext uri="{9D8B030D-6E8A-4147-A177-3AD203B41FA5}">
                      <a16:colId xmlns:a16="http://schemas.microsoft.com/office/drawing/2014/main" val="571731565"/>
                    </a:ext>
                  </a:extLst>
                </a:gridCol>
              </a:tblGrid>
              <a:tr h="439904">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val="1234812354"/>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EPCOR</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22-May-24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25-Jan-24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Spare</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716492321"/>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P-5361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28-Oct-24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10-Jan-24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A615</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287019261"/>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P-8524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07-Nov-24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20-Jan-25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Spare</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841585950"/>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P-5535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19-Aug-24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26-Jan-24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A619</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127734706"/>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P-4708</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AMECO</a:t>
                      </a:r>
                      <a:endPar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17-Dec-24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17-Feb-25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Spare</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02873862"/>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P-5222</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AMECO</a:t>
                      </a:r>
                      <a:endPar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17-Dec-24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17-Feb-25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Spare</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8517020"/>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HSC-</a:t>
                      </a: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E1525371PL</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03-Dec-24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09-Feb-25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A871</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6">
                        <a:lumMod val="20000"/>
                        <a:lumOff val="80000"/>
                      </a:schemeClr>
                    </a:solidFill>
                  </a:tcPr>
                </a:tc>
                <a:extLst>
                  <a:ext uri="{0D108BD9-81ED-4DB2-BD59-A6C34878D82A}">
                    <a16:rowId xmlns:a16="http://schemas.microsoft.com/office/drawing/2014/main" val="1251250973"/>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PWC-Z925500</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22-Dec-24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05-Mar-25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A861</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3190860515"/>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P-00124</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02-Oct-24</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11-Jan-25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A886</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2064948272"/>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P-00255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10-Oct-24</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20-Jan-25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Spare</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148885825"/>
                  </a:ext>
                </a:extLst>
              </a:tr>
            </a:tbl>
          </a:graphicData>
        </a:graphic>
      </p:graphicFrame>
      <p:sp>
        <p:nvSpPr>
          <p:cNvPr id="3" name="TextBox 2">
            <a:extLst>
              <a:ext uri="{FF2B5EF4-FFF2-40B4-BE49-F238E27FC236}">
                <a16:creationId xmlns:a16="http://schemas.microsoft.com/office/drawing/2014/main" id="{683815DC-3726-60C6-9F9A-C1A095C6A727}"/>
              </a:ext>
            </a:extLst>
          </p:cNvPr>
          <p:cNvSpPr txBox="1"/>
          <p:nvPr/>
        </p:nvSpPr>
        <p:spPr>
          <a:xfrm>
            <a:off x="508019" y="5151765"/>
            <a:ext cx="11169547" cy="1241622"/>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8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8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990575" marR="0" lvl="1"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A321: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990575" marR="0" lvl="1" indent="-38099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Đội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bay A350: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990575" marR="0" lvl="1"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Đội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bay B787: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p:txBody>
      </p:sp>
      <p:sp>
        <p:nvSpPr>
          <p:cNvPr id="4" name="TextBox 3">
            <a:extLst>
              <a:ext uri="{FF2B5EF4-FFF2-40B4-BE49-F238E27FC236}">
                <a16:creationId xmlns:a16="http://schemas.microsoft.com/office/drawing/2014/main" id="{2A0F6081-1E4E-10D7-02C6-BC54E456A673}"/>
              </a:ext>
            </a:extLst>
          </p:cNvPr>
          <p:cNvSpPr txBox="1"/>
          <p:nvPr/>
        </p:nvSpPr>
        <p:spPr>
          <a:xfrm>
            <a:off x="1" y="1"/>
            <a:ext cx="7521623"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SỬA CHỮA APU TẠI SHOP</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3643700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D2A43B"/>
              </a:buClr>
              <a:buSzPts val="1200"/>
              <a:buFont typeface="Montserrat"/>
              <a:buNone/>
              <a:tabLst/>
              <a:defRPr/>
            </a:pPr>
            <a:fld id="{00000000-1234-1234-1234-123412341234}" type="slidenum">
              <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
                  <a:srgbClr val="D2A43B"/>
                </a:buClr>
                <a:buSzPts val="1200"/>
                <a:buFont typeface="Montserrat"/>
                <a:buNone/>
                <a:tabLst/>
                <a:defRPr/>
              </a:pPr>
              <a:t>38</a:t>
            </a:fld>
            <a:endParaRPr kumimoji="0"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76" name="Google Shape;76;p2"/>
          <p:cNvSpPr txBox="1">
            <a:spLocks noGrp="1"/>
          </p:cNvSpPr>
          <p:nvPr>
            <p:ph type="title"/>
          </p:nvPr>
        </p:nvSpPr>
        <p:spPr>
          <a:xfrm>
            <a:off x="762001" y="28333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ĐỊNH KỲ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5" name="Google Shape;75;p2">
            <a:extLst>
              <a:ext uri="{FF2B5EF4-FFF2-40B4-BE49-F238E27FC236}">
                <a16:creationId xmlns:a16="http://schemas.microsoft.com/office/drawing/2014/main" id="{637BC1EA-95C9-6D4F-9E46-CF744FAC7800}"/>
              </a:ext>
            </a:extLst>
          </p:cNvPr>
          <p:cNvSpPr txBox="1">
            <a:spLocks/>
          </p:cNvSpPr>
          <p:nvPr/>
        </p:nvSpPr>
        <p:spPr>
          <a:xfrm>
            <a:off x="762001" y="770549"/>
            <a:ext cx="10820399" cy="5971873"/>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BQDB: </a:t>
            </a:r>
            <a:r>
              <a:rPr kumimoji="0" lang="pt-BR" sz="1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HAN (A503/05/06/08/10/11, A619/22/23/25, A886, A887/A895/A898) /</a:t>
            </a:r>
            <a:r>
              <a:rPr kumimoji="0" lang="pt-BR" sz="1600" b="1" i="0" u="none" strike="noStrike" kern="1200" cap="none" spc="0" normalizeH="0" baseline="0" noProof="0" dirty="0">
                <a:ln>
                  <a:noFill/>
                </a:ln>
                <a:solidFill>
                  <a:srgbClr val="5B9BD5">
                    <a:lumMod val="75000"/>
                  </a:srgbClr>
                </a:solidFill>
                <a:effectLst/>
                <a:uLnTx/>
                <a:uFillTx/>
                <a:latin typeface="Times New Roman" panose="02020603050405020304" pitchFamily="18" charset="0"/>
                <a:ea typeface="+mn-ea"/>
                <a:cs typeface="Times New Roman" panose="02020603050405020304" pitchFamily="18" charset="0"/>
              </a:rPr>
              <a:t> SGN (A617).</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BDĐK: A321: 06 </a:t>
            </a:r>
            <a:r>
              <a:rPr kumimoji="0" lang="en-US" sz="16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(A501/509/616/624/603/334)</a:t>
            </a:r>
          </a:p>
          <a:p>
            <a:pPr marL="12700" marR="0" lvl="0" indent="0" algn="just" defTabSz="914400" rtl="0" eaLnBrk="1" fontAlgn="auto" latinLnBrk="0" hangingPunct="1">
              <a:lnSpc>
                <a:spcPct val="90000"/>
              </a:lnSpc>
              <a:spcBef>
                <a:spcPts val="1000"/>
              </a:spcBef>
              <a:spcAft>
                <a:spcPts val="0"/>
              </a:spcAft>
              <a:buClr>
                <a:prstClr val="black"/>
              </a:buClr>
              <a:buSzPts val="1100"/>
              <a:buFont typeface="Arial" panose="020B0604020202020204" pitchFamily="34" charset="0"/>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1" i="0" u="none" strike="noStrike" kern="1200" cap="none" spc="0" normalizeH="0" baseline="0" noProof="0" dirty="0">
                <a:ln>
                  <a:noFill/>
                </a:ln>
                <a:solidFill>
                  <a:srgbClr val="5B9BD5"/>
                </a:solidFill>
                <a:effectLst/>
                <a:uLnTx/>
                <a:uFillTx/>
                <a:latin typeface="Times New Roman" panose="02020603050405020304" pitchFamily="18" charset="0"/>
                <a:ea typeface="+mn-ea"/>
                <a:cs typeface="Times New Roman" panose="02020603050405020304" pitchFamily="18" charset="0"/>
              </a:rPr>
              <a:t>A350: A889; ATR: B221;</a:t>
            </a:r>
          </a:p>
          <a:p>
            <a:pPr marL="12700" marR="0" lvl="0" indent="0" algn="just" defTabSz="914400" rtl="0" eaLnBrk="1" fontAlgn="auto" latinLnBrk="0" hangingPunct="1">
              <a:lnSpc>
                <a:spcPct val="90000"/>
              </a:lnSpc>
              <a:spcBef>
                <a:spcPts val="1000"/>
              </a:spcBef>
              <a:spcAft>
                <a:spcPts val="0"/>
              </a:spcAft>
              <a:buClr>
                <a:prstClr val="black"/>
              </a:buClr>
              <a:buSzPts val="1100"/>
              <a:buFont typeface="Arial" panose="020B0604020202020204" pitchFamily="34" charset="0"/>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 A873;</a:t>
            </a:r>
            <a:endParaRPr kumimoji="0" lang="pt-BR" sz="1600" b="1" i="0" u="none" strike="noStrike" kern="1200" cap="none" spc="0" normalizeH="0" baseline="0" noProof="0" dirty="0">
              <a:ln>
                <a:noFill/>
              </a:ln>
              <a:solidFill>
                <a:srgbClr val="5B9BD5">
                  <a:lumMod val="75000"/>
                </a:srgbClr>
              </a:solidFill>
              <a:effectLst/>
              <a:uLnTx/>
              <a:uFillTx/>
              <a:latin typeface="Times New Roman" panose="02020603050405020304" pitchFamily="18" charset="0"/>
              <a:ea typeface="+mn-ea"/>
              <a:cs typeface="Times New Roman" panose="02020603050405020304" pitchFamily="18" charset="0"/>
            </a:endParaRPr>
          </a:p>
          <a:p>
            <a:pPr marL="12700" marR="0" lvl="0" indent="0" algn="just" defTabSz="914400" rtl="0" eaLnBrk="1" fontAlgn="auto" latinLnBrk="0" hangingPunct="1">
              <a:lnSpc>
                <a:spcPct val="90000"/>
              </a:lnSpc>
              <a:spcBef>
                <a:spcPts val="1000"/>
              </a:spcBef>
              <a:spcAft>
                <a:spcPts val="0"/>
              </a:spcAft>
              <a:buClr>
                <a:prstClr val="black"/>
              </a:buClr>
              <a:buSzPts val="1100"/>
              <a:buFont typeface="Arial" panose="020B0604020202020204" pitchFamily="34" charset="0"/>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 A321: </a:t>
            </a:r>
            <a:endParaRPr kumimoji="0" lang="vi-VN"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endParaRP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s-ES" sz="16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1. A334: HAN-ENGCHG+Y01 (01/01-06/01):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Check</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dư</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kiến</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giư</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đúng</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tiến</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đô</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ra</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Check</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tối</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mai</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06/01.</a:t>
            </a: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 Card 9: TRANSLATING COWL R/H ENG#2 CRACK = &gt;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Vật</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tư</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dư</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kiến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sẽ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được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sửa</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xong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va</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bàn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giao</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sáng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mai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06/01.</a:t>
            </a:r>
            <a:endPar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endParaRP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 &gt; Đ/n VAECO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hoàn</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thiện</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sửa</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chữa</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và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bàn</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giao</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đúng</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tiến</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đô</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s-ES" sz="16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2</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A603: EVENTS, Y01 (04/01-09/01):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Tàu</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dư</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kiến</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sẽ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được</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hoàn</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thiện</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Check</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sớm</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1 </a:t>
            </a:r>
            <a:r>
              <a:rPr kumimoji="0" lang="es-E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ngày</a:t>
            </a: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08/01.</a:t>
            </a: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 Theo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đánh</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gia</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hiện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tại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chưa</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có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các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phát</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sinh</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lớn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VAECO sẽ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tập</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trung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nhân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lực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đê</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Release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tàu</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sớm</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1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ngày</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so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với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kê</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hoạch</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=&gt; Đ/n VAECO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tập</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trung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tối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đa</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nguồn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lực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đê</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có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thê</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Release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tàu</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vào</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08/01,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đáp</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ứng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nhu</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cầu</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thác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s-ES" sz="16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3. </a:t>
            </a:r>
            <a:r>
              <a:rPr kumimoji="0" lang="es-ES" sz="16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Vấn</a:t>
            </a:r>
            <a:r>
              <a:rPr kumimoji="0" lang="es-ES" sz="16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đề</a:t>
            </a:r>
            <a:r>
              <a:rPr kumimoji="0" lang="es-ES" sz="16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s-ES" sz="16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s-ES" sz="16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đến</a:t>
            </a:r>
            <a:r>
              <a:rPr kumimoji="0" lang="es-ES" sz="16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kế</a:t>
            </a:r>
            <a:r>
              <a:rPr kumimoji="0" lang="es-ES" sz="16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hoạch</a:t>
            </a:r>
            <a:r>
              <a:rPr kumimoji="0" lang="es-ES" sz="16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hoàn</a:t>
            </a:r>
            <a:r>
              <a:rPr kumimoji="0" lang="es-ES" sz="16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thành</a:t>
            </a:r>
            <a:r>
              <a:rPr kumimoji="0" lang="es-ES" sz="16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định</a:t>
            </a:r>
            <a:r>
              <a:rPr kumimoji="0" lang="es-ES" sz="16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kỳ</a:t>
            </a:r>
            <a:r>
              <a:rPr kumimoji="0" lang="es-ES" sz="16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đội</a:t>
            </a:r>
            <a:r>
              <a:rPr kumimoji="0" lang="es-ES" sz="16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6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tàu</a:t>
            </a:r>
            <a:r>
              <a:rPr kumimoji="0" lang="es-ES" sz="16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A321.</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98450" marR="0" lvl="0" indent="-285750" algn="just" defTabSz="914400" rtl="0" eaLnBrk="1" fontAlgn="auto" latinLnBrk="0" hangingPunct="1">
              <a:lnSpc>
                <a:spcPct val="90000"/>
              </a:lnSpc>
              <a:spcBef>
                <a:spcPts val="600"/>
              </a:spcBef>
              <a:spcAft>
                <a:spcPts val="0"/>
              </a:spcAft>
              <a:buClrTx/>
              <a:buSzPts val="1100"/>
              <a:buFont typeface="Wingdings" pitchFamily="2" charset="2"/>
              <a:buChar char="Ø"/>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Một</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sô</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Anti Ice Duct có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dấu</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hiệu</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có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thê</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bị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hỏng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hóc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=&gt; Đ/n QLVT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lên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phương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dư</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phòng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sớm</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chuẩn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bị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cho</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các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trường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hợp</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phát</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sinh</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hỏng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hóc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thể</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khắc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phục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được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thác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cao</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điểm</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endPar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5036460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D2A43B"/>
              </a:buClr>
              <a:buSzPts val="1200"/>
              <a:buFont typeface="Montserrat"/>
              <a:buNone/>
              <a:tabLst/>
              <a:defRPr/>
            </a:pPr>
            <a:fld id="{00000000-1234-1234-1234-123412341234}" type="slidenum">
              <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
                  <a:srgbClr val="D2A43B"/>
                </a:buClr>
                <a:buSzPts val="1200"/>
                <a:buFont typeface="Montserrat"/>
                <a:buNone/>
                <a:tabLst/>
                <a:defRPr/>
              </a:pPr>
              <a:t>39</a:t>
            </a:fld>
            <a:endParaRPr kumimoji="0"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76" name="Google Shape;76;p2"/>
          <p:cNvSpPr txBox="1">
            <a:spLocks noGrp="1"/>
          </p:cNvSpPr>
          <p:nvPr>
            <p:ph type="title"/>
          </p:nvPr>
        </p:nvSpPr>
        <p:spPr>
          <a:xfrm>
            <a:off x="838200" y="685800"/>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ĐỊNH KỲ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4" name="Text Placeholder 1">
            <a:extLst>
              <a:ext uri="{FF2B5EF4-FFF2-40B4-BE49-F238E27FC236}">
                <a16:creationId xmlns:a16="http://schemas.microsoft.com/office/drawing/2014/main" id="{312CF2C2-6EB0-B14C-95A4-C4BAAE6ACB25}"/>
              </a:ext>
            </a:extLst>
          </p:cNvPr>
          <p:cNvSpPr txBox="1">
            <a:spLocks/>
          </p:cNvSpPr>
          <p:nvPr/>
        </p:nvSpPr>
        <p:spPr>
          <a:xfrm>
            <a:off x="838200" y="1219200"/>
            <a:ext cx="10591800" cy="5105400"/>
          </a:xfrm>
          <a:prstGeom prst="rect">
            <a:avLst/>
          </a:prstGeom>
        </p:spPr>
        <p:txBody>
          <a:bodyPr>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120000"/>
              </a:lnSpc>
              <a:spcBef>
                <a:spcPts val="1000"/>
              </a:spcBef>
              <a:spcAft>
                <a:spcPts val="0"/>
              </a:spcAft>
              <a:buClrTx/>
              <a:buSzPts val="1100"/>
              <a:buFont typeface="Arial" panose="020B0604020202020204" pitchFamily="34" charset="0"/>
              <a:buNone/>
              <a:tabLst/>
              <a:defRPr/>
            </a:pPr>
            <a:r>
              <a:rPr kumimoji="0" lang="en-US" sz="15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III. A350:</a:t>
            </a:r>
            <a:r>
              <a:rPr kumimoji="0" lang="es-ES" sz="15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p>
          <a:p>
            <a:pPr marL="12700" marR="0" lvl="0" indent="0" algn="l" defTabSz="914400" rtl="0" eaLnBrk="1" fontAlgn="auto" latinLnBrk="0" hangingPunct="1">
              <a:lnSpc>
                <a:spcPct val="120000"/>
              </a:lnSpc>
              <a:spcBef>
                <a:spcPts val="1000"/>
              </a:spcBef>
              <a:spcAft>
                <a:spcPts val="0"/>
              </a:spcAft>
              <a:buClrTx/>
              <a:buSzPts val="1100"/>
              <a:buFont typeface="Arial" panose="020B0604020202020204" pitchFamily="34" charset="0"/>
              <a:buNone/>
              <a:tabLst/>
              <a:defRPr/>
            </a:pPr>
            <a:r>
              <a:rPr kumimoji="0" lang="es-ES" sz="1500" b="1"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1. </a:t>
            </a:r>
            <a:r>
              <a:rPr kumimoji="0" lang="es-ES" sz="15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A889- HAN A02+Y03(03/01-10/01): </a:t>
            </a:r>
            <a:r>
              <a:rPr kumimoji="0" lang="es-ES" sz="15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Check</a:t>
            </a:r>
            <a:r>
              <a:rPr kumimoji="0" lang="es-ES" sz="15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vẫn</a:t>
            </a:r>
            <a:r>
              <a:rPr kumimoji="0" lang="es-ES" sz="15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giư</a:t>
            </a:r>
            <a:r>
              <a:rPr kumimoji="0" lang="es-ES" sz="15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tiến</a:t>
            </a:r>
            <a:r>
              <a:rPr kumimoji="0" lang="es-ES" sz="15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đô</a:t>
            </a:r>
            <a:r>
              <a:rPr kumimoji="0" lang="es-ES" sz="15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12700" marR="0" lvl="0" indent="0" algn="l" defTabSz="914400" rtl="0" eaLnBrk="1" fontAlgn="auto" latinLnBrk="0" hangingPunct="1">
              <a:lnSpc>
                <a:spcPct val="120000"/>
              </a:lnSpc>
              <a:spcBef>
                <a:spcPts val="1000"/>
              </a:spcBef>
              <a:spcAft>
                <a:spcPts val="0"/>
              </a:spcAft>
              <a:buClrTx/>
              <a:buSzPts val="1100"/>
              <a:buFont typeface="Arial" panose="020B0604020202020204" pitchFamily="34" charset="0"/>
              <a:buNone/>
              <a:tabLst/>
              <a:defRPr/>
            </a:pP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02 Burn Marks ở Latch Beam Beaver Tail Fairing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của</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L/H Thrust Reverser ENG#1 = &gt;</a:t>
            </a:r>
            <a:r>
              <a:rPr kumimoji="0" lang="en-US" sz="15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TAR 12320</a:t>
            </a:r>
          </a:p>
          <a:p>
            <a:pPr marL="12700" marR="0" lvl="0" indent="0" algn="l" defTabSz="914400" rtl="0" eaLnBrk="1" fontAlgn="auto" latinLnBrk="0" hangingPunct="1">
              <a:lnSpc>
                <a:spcPct val="120000"/>
              </a:lnSpc>
              <a:spcBef>
                <a:spcPts val="1000"/>
              </a:spcBef>
              <a:spcAft>
                <a:spcPts val="0"/>
              </a:spcAft>
              <a:buClrTx/>
              <a:buSzPts val="1100"/>
              <a:buFont typeface="Arial" panose="020B0604020202020204" pitchFamily="34" charset="0"/>
              <a:buNone/>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&gt;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Dư</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kiến</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Collins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tra</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lời</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phương</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án</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vào</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ngày</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mai</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06/01.  Đ/n Ban KT VAECO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đánh</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gia</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tìm</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p/a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sửa</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chữa</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PTVT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sớm</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tránh</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ảnh</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hưởng</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tiến</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đô</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12700" marR="0" lvl="0" indent="0" algn="l" defTabSz="914400" rtl="0" eaLnBrk="1" fontAlgn="auto" latinLnBrk="0" hangingPunct="1">
              <a:lnSpc>
                <a:spcPct val="120000"/>
              </a:lnSpc>
              <a:spcBef>
                <a:spcPts val="1000"/>
              </a:spcBef>
              <a:spcAft>
                <a:spcPts val="0"/>
              </a:spcAft>
              <a:buClrTx/>
              <a:buSzPts val="1100"/>
              <a:buFont typeface="Arial" panose="020B0604020202020204" pitchFamily="34" charset="0"/>
              <a:buNone/>
              <a:tabLst/>
              <a:defRPr/>
            </a:pPr>
            <a:endPar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12700" marR="0" lvl="0" indent="0" algn="l" defTabSz="914400" rtl="0" eaLnBrk="1" fontAlgn="auto" latinLnBrk="0" hangingPunct="1">
              <a:lnSpc>
                <a:spcPct val="120000"/>
              </a:lnSpc>
              <a:spcBef>
                <a:spcPts val="600"/>
              </a:spcBef>
              <a:spcAft>
                <a:spcPts val="0"/>
              </a:spcAft>
              <a:buClrTx/>
              <a:buSzPts val="1100"/>
              <a:buFont typeface="Arial" panose="020B0604020202020204" pitchFamily="34" charset="0"/>
              <a:buNone/>
              <a:tabLst/>
              <a:defRPr/>
            </a:pPr>
            <a:r>
              <a:rPr kumimoji="0" lang="en-US" sz="15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II. B787: </a:t>
            </a:r>
          </a:p>
          <a:p>
            <a:pPr marL="12700" marR="0" lvl="0" indent="0" algn="l" defTabSz="914400" rtl="0" eaLnBrk="1" fontAlgn="auto" latinLnBrk="0" hangingPunct="1">
              <a:lnSpc>
                <a:spcPct val="120000"/>
              </a:lnSpc>
              <a:spcBef>
                <a:spcPts val="600"/>
              </a:spcBef>
              <a:spcAft>
                <a:spcPts val="0"/>
              </a:spcAft>
              <a:buClrTx/>
              <a:buSzPts val="1100"/>
              <a:buFont typeface="Arial" panose="020B0604020202020204" pitchFamily="34" charset="0"/>
              <a:buNone/>
              <a:tabLst/>
              <a:defRPr/>
            </a:pPr>
            <a:r>
              <a:rPr kumimoji="0" lang="es-ES" sz="15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1. A873: SGN – A12 (05/01-09/01):</a:t>
            </a:r>
          </a:p>
          <a:p>
            <a:pPr marL="12700" marR="0" lvl="0" indent="0" algn="l" defTabSz="914400" rtl="0" eaLnBrk="1" fontAlgn="auto" latinLnBrk="0" hangingPunct="1">
              <a:lnSpc>
                <a:spcPct val="120000"/>
              </a:lnSpc>
              <a:spcBef>
                <a:spcPts val="600"/>
              </a:spcBef>
              <a:spcAft>
                <a:spcPts val="0"/>
              </a:spcAft>
              <a:buClrTx/>
              <a:buSzPts val="1100"/>
              <a:buFont typeface="Arial" panose="020B0604020202020204" pitchFamily="34" charset="0"/>
              <a:buNone/>
              <a:tabLst/>
              <a:defRPr/>
            </a:pP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Thông</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tin</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định</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kỳ</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298450" marR="0" lvl="0" indent="-285750" algn="l" defTabSz="914400" rtl="0" eaLnBrk="1" fontAlgn="auto" latinLnBrk="0" hangingPunct="1">
              <a:lnSpc>
                <a:spcPct val="120000"/>
              </a:lnSpc>
              <a:spcBef>
                <a:spcPts val="600"/>
              </a:spcBef>
              <a:spcAft>
                <a:spcPts val="0"/>
              </a:spcAft>
              <a:buClrTx/>
              <a:buSzPts val="1100"/>
              <a:buFontTx/>
              <a:buChar char="-"/>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1 </a:t>
            </a:r>
            <a:r>
              <a:rPr kumimoji="0" lang="vi-VN"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VFSG bị Rob cho A86</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2</a:t>
            </a:r>
            <a:r>
              <a:rPr kumimoji="0" lang="vi-VN"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hoàn thiện định kỳ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cần</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vê</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sớm</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đê</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tàu</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ra</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Check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đúng</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hạn</a:t>
            </a:r>
            <a:r>
              <a:rPr kumimoji="0" lang="vi-VN"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endPar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endParaRPr>
          </a:p>
          <a:p>
            <a:pPr marL="298450" marR="0" lvl="0" indent="-285750" algn="l" defTabSz="914400" rtl="0" eaLnBrk="1" fontAlgn="auto" latinLnBrk="0" hangingPunct="1">
              <a:lnSpc>
                <a:spcPct val="120000"/>
              </a:lnSpc>
              <a:spcBef>
                <a:spcPts val="600"/>
              </a:spcBef>
              <a:spcAft>
                <a:spcPts val="0"/>
              </a:spcAft>
              <a:buClrTx/>
              <a:buSzPts val="1100"/>
              <a:buFontTx/>
              <a:buChar char="-"/>
              <a:tabLst/>
              <a:defRPr/>
            </a:pP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Các</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VFSG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đang</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thác</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bị Rob/Swap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nhiều</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có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rủi</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bị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hỏng</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do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việc</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VFSG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vận</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hành</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nhiều</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có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nguy</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cơ</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bị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rơ</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trục</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quay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dẫn</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đến</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kho</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lắp</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ráp</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tiềm</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ẩn</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nguy</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cơ</a:t>
            </a:r>
            <a:endPar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endParaRPr>
          </a:p>
          <a:p>
            <a:pPr marL="12700" marR="0" lvl="0" indent="0" algn="l" defTabSz="914400" rtl="0" eaLnBrk="1" fontAlgn="auto" latinLnBrk="0" hangingPunct="1">
              <a:lnSpc>
                <a:spcPct val="120000"/>
              </a:lnSpc>
              <a:spcBef>
                <a:spcPts val="600"/>
              </a:spcBef>
              <a:spcAft>
                <a:spcPts val="0"/>
              </a:spcAft>
              <a:buClrTx/>
              <a:buSzPts val="1100"/>
              <a:buFont typeface="Arial" panose="020B0604020202020204" pitchFamily="34" charset="0"/>
              <a:buNone/>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01 Thrust Control Module PN: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p/n</a:t>
            </a: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4260-0029-8 bị Rob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chưa</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có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dư</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kiến</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endParaRPr kumimoji="0" lang="vi-VN"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endParaRPr>
          </a:p>
          <a:p>
            <a:pPr marL="12700" marR="0" lvl="0" indent="0" algn="l" defTabSz="914400" rtl="0" eaLnBrk="1" fontAlgn="auto" latinLnBrk="0" hangingPunct="1">
              <a:lnSpc>
                <a:spcPct val="120000"/>
              </a:lnSpc>
              <a:spcBef>
                <a:spcPts val="600"/>
              </a:spcBef>
              <a:spcAft>
                <a:spcPts val="0"/>
              </a:spcAft>
              <a:buClrTx/>
              <a:buSzPts val="1100"/>
              <a:buFont typeface="Arial" panose="020B0604020202020204" pitchFamily="34" charset="0"/>
              <a:buNone/>
              <a:tabLst/>
              <a:defRPr/>
            </a:pPr>
            <a:r>
              <a:rPr kumimoji="0" lang="es-ES" sz="15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Kết</a:t>
            </a:r>
            <a:r>
              <a:rPr kumimoji="0" lang="es-ES" sz="15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luận</a:t>
            </a:r>
            <a:r>
              <a:rPr kumimoji="0" lang="es-ES" sz="15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và</a:t>
            </a:r>
            <a:r>
              <a:rPr kumimoji="0" lang="es-ES" sz="15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đề</a:t>
            </a:r>
            <a:r>
              <a:rPr kumimoji="0" lang="es-ES" sz="15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xuất</a:t>
            </a:r>
            <a:r>
              <a:rPr kumimoji="0" lang="es-ES" sz="15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p>
          <a:p>
            <a:pPr marL="12700" marR="0" lvl="0" indent="0" algn="l" defTabSz="914400" rtl="0" eaLnBrk="1" fontAlgn="auto" latinLnBrk="0" hangingPunct="1">
              <a:lnSpc>
                <a:spcPct val="120000"/>
              </a:lnSpc>
              <a:spcBef>
                <a:spcPts val="600"/>
              </a:spcBef>
              <a:spcAft>
                <a:spcPts val="0"/>
              </a:spcAft>
              <a:buClrTx/>
              <a:buSzPts val="1100"/>
              <a:buFont typeface="Arial" panose="020B0604020202020204" pitchFamily="34" charset="0"/>
              <a:buNone/>
              <a:tabLst/>
              <a:defRPr/>
            </a:pP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  Đ/n QLVT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sớm</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tìm</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nguồn</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cung</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Vật</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tư</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cho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tàu</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A873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ra</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Check</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đúng</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hạn</a:t>
            </a:r>
            <a:endPar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endParaRPr>
          </a:p>
          <a:p>
            <a:pPr marL="12700" marR="0" lvl="0" indent="0" algn="l" defTabSz="914400" rtl="0" eaLnBrk="1" fontAlgn="auto" latinLnBrk="0" hangingPunct="1">
              <a:lnSpc>
                <a:spcPct val="120000"/>
              </a:lnSpc>
              <a:spcBef>
                <a:spcPts val="600"/>
              </a:spcBef>
              <a:spcAft>
                <a:spcPts val="0"/>
              </a:spcAft>
              <a:buClrTx/>
              <a:buSzPts val="1100"/>
              <a:buFont typeface="Arial" panose="020B0604020202020204" pitchFamily="34" charset="0"/>
              <a:buNone/>
              <a:tabLst/>
              <a:defRPr/>
            </a:pP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 A873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co</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ADD B486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cần</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thêm</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1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item</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VFSG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đê</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clear</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Dư</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kiến</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co</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thê</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xin</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NN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đên</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15/01)</a:t>
            </a:r>
          </a:p>
          <a:p>
            <a:pPr marL="12700" marR="0" lvl="0" indent="0" algn="l" defTabSz="914400" rtl="0" eaLnBrk="1" fontAlgn="auto" latinLnBrk="0" hangingPunct="1">
              <a:lnSpc>
                <a:spcPct val="120000"/>
              </a:lnSpc>
              <a:spcBef>
                <a:spcPts val="600"/>
              </a:spcBef>
              <a:spcAft>
                <a:spcPts val="0"/>
              </a:spcAft>
              <a:buClrTx/>
              <a:buSzPts val="1100"/>
              <a:buFont typeface="Arial" panose="020B0604020202020204" pitchFamily="34" charset="0"/>
              <a:buNone/>
              <a:tabLst/>
              <a:defRPr/>
            </a:pP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Cần</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chê</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tối</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đa</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việc</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Rob/Swap.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Trong</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trường</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hợp</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cần</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Rob/Swap = &gt; Đ/n VAECO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co</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phương</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án</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Record</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lại</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quá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trình</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lắp</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ráp</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đồng</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thời</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cư</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NVKT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co</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kinh</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nghiệm</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thực</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hiện</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đê</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hạn</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chê</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tối</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đa</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nguy</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cơ</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hỏng</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hóc</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12700" marR="0" lvl="0" indent="0" algn="l"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endPar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endParaRPr>
          </a:p>
          <a:p>
            <a:pPr marL="12700" marR="0" lvl="0" indent="0" algn="l"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endParaRPr kumimoji="0" lang="es-ES" sz="21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endParaRPr>
          </a:p>
          <a:p>
            <a:pPr marL="5080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VN"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5331046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D2A43B"/>
              </a:buClr>
              <a:buSzPts val="1200"/>
              <a:buFont typeface="Montserrat"/>
              <a:buNone/>
              <a:tabLst/>
              <a:defRPr/>
            </a:pPr>
            <a:fld id="{00000000-1234-1234-1234-123412341234}" type="slidenum">
              <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
                  <a:srgbClr val="D2A43B"/>
                </a:buClr>
                <a:buSzPts val="1200"/>
                <a:buFont typeface="Montserrat"/>
                <a:buNone/>
                <a:tabLst/>
                <a:defRPr/>
              </a:pPr>
              <a:t>40</a:t>
            </a:fld>
            <a:endParaRPr kumimoji="0"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76" name="Google Shape;76;p2"/>
          <p:cNvSpPr txBox="1">
            <a:spLocks noGrp="1"/>
          </p:cNvSpPr>
          <p:nvPr>
            <p:ph type="title"/>
          </p:nvPr>
        </p:nvSpPr>
        <p:spPr>
          <a:xfrm>
            <a:off x="918210" y="40462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ĐỊNH KỲ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4" name="Text Placeholder 1">
            <a:extLst>
              <a:ext uri="{FF2B5EF4-FFF2-40B4-BE49-F238E27FC236}">
                <a16:creationId xmlns:a16="http://schemas.microsoft.com/office/drawing/2014/main" id="{B9199712-3F74-CE43-A89F-22D9CF338BBE}"/>
              </a:ext>
            </a:extLst>
          </p:cNvPr>
          <p:cNvSpPr txBox="1">
            <a:spLocks/>
          </p:cNvSpPr>
          <p:nvPr/>
        </p:nvSpPr>
        <p:spPr>
          <a:xfrm>
            <a:off x="918210" y="990600"/>
            <a:ext cx="10744201" cy="562304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s-ES" sz="15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IV. ATR72</a:t>
            </a: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s-ES" sz="15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1. B221: B221:A04, Y01 (04/01-05/01, EXT 07/01):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Tàu</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dừng</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chơ</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Cartridges</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đê</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hoàn</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thiện</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Check</a:t>
            </a:r>
            <a:r>
              <a:rPr kumimoji="0" lang="es-ES" sz="15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Thông</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tin</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định</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kỳ</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298450" marR="0" lvl="0" indent="-285750" algn="just" defTabSz="914400" rtl="0" eaLnBrk="1" fontAlgn="auto" latinLnBrk="0" hangingPunct="1">
              <a:lnSpc>
                <a:spcPct val="90000"/>
              </a:lnSpc>
              <a:spcBef>
                <a:spcPts val="1000"/>
              </a:spcBef>
              <a:spcAft>
                <a:spcPts val="0"/>
              </a:spcAft>
              <a:buClrTx/>
              <a:buSzPts val="1100"/>
              <a:buFont typeface="Wingdings" pitchFamily="2" charset="2"/>
              <a:buChar char="Ø"/>
              <a:tabLst/>
              <a:defRPr/>
            </a:pP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01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Cartridge</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dự</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kiến</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tối</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ngày</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07/01/2025.</a:t>
            </a:r>
          </a:p>
          <a:p>
            <a:pPr marL="5080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VN"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9733864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81061" y="6162545"/>
            <a:ext cx="2743200" cy="365125"/>
          </a:xfrm>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1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1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21" name="TextBox 20"/>
          <p:cNvSpPr txBox="1"/>
          <p:nvPr/>
        </p:nvSpPr>
        <p:spPr>
          <a:xfrm>
            <a:off x="-170830" y="36637"/>
            <a:ext cx="11937647" cy="492443"/>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2600" b="1" i="0" u="none" strike="noStrike" kern="1200" cap="none" spc="0" normalizeH="0" baseline="0" noProof="0" dirty="0">
                <a:ln w="0"/>
                <a:solidFill>
                  <a:srgbClr val="FFC000"/>
                </a:solidFill>
                <a:effectLst/>
                <a:uLnTx/>
                <a:uFillTx/>
                <a:latin typeface="Times New Roman" panose="02020603050405020304" pitchFamily="18" charset="0"/>
                <a:ea typeface="+mn-ea"/>
                <a:cs typeface="Times New Roman" panose="02020603050405020304" pitchFamily="18" charset="0"/>
              </a:rPr>
              <a:t>HỎNG HÓC CABIN ẢNH HƯỞNG KHAI THÁC VÀ PTVT – TUẦN </a:t>
            </a:r>
            <a:r>
              <a:rPr kumimoji="0" lang="en-US" sz="2600" b="1" i="0" u="none" strike="noStrike" kern="1200" cap="none" spc="0" normalizeH="0" baseline="0" noProof="0" dirty="0" smtClean="0">
                <a:ln w="0"/>
                <a:solidFill>
                  <a:srgbClr val="FFC000"/>
                </a:solidFill>
                <a:effectLst/>
                <a:uLnTx/>
                <a:uFillTx/>
                <a:latin typeface="Times New Roman" panose="02020603050405020304" pitchFamily="18" charset="0"/>
                <a:ea typeface="+mn-ea"/>
                <a:cs typeface="Times New Roman" panose="02020603050405020304" pitchFamily="18" charset="0"/>
              </a:rPr>
              <a:t>01/2025</a:t>
            </a:r>
            <a:endParaRPr kumimoji="0" lang="vi-VN" sz="2600" b="1" i="0" u="none" strike="noStrike" kern="1200" cap="none" spc="0" normalizeH="0" baseline="0" noProof="0" dirty="0">
              <a:ln w="0"/>
              <a:solidFill>
                <a:srgbClr val="FFC000"/>
              </a:solidFill>
              <a:effectLst/>
              <a:uLnTx/>
              <a:uFillTx/>
              <a:latin typeface="Times New Roman" panose="02020603050405020304" pitchFamily="18" charset="0"/>
              <a:ea typeface="+mn-ea"/>
              <a:cs typeface="Times New Roman" panose="02020603050405020304" pitchFamily="18" charset="0"/>
            </a:endParaRPr>
          </a:p>
        </p:txBody>
      </p:sp>
      <p:sp>
        <p:nvSpPr>
          <p:cNvPr id="24" name="TextBox 23"/>
          <p:cNvSpPr txBox="1"/>
          <p:nvPr/>
        </p:nvSpPr>
        <p:spPr>
          <a:xfrm>
            <a:off x="350881" y="3873495"/>
            <a:ext cx="10876298" cy="2953116"/>
          </a:xfrm>
          <a:prstGeom prst="rect">
            <a:avLst/>
          </a:prstGeom>
          <a:noFill/>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Nội</a:t>
            </a: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dung </a:t>
            </a:r>
            <a:r>
              <a:rPr kumimoji="0" lang="en-US" sz="11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khác</a:t>
            </a: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285750" marR="0" lvl="0" indent="-285750" algn="l" defTabSz="914400" rtl="0" eaLnBrk="1" fontAlgn="auto" latinLnBrk="0" hangingPunct="1">
              <a:lnSpc>
                <a:spcPct val="130000"/>
              </a:lnSpc>
              <a:spcBef>
                <a:spcPts val="0"/>
              </a:spcBef>
              <a:spcAft>
                <a:spcPts val="0"/>
              </a:spcAft>
              <a:buClrTx/>
              <a:buSzTx/>
              <a:buFontTx/>
              <a:buChar char="-"/>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Tháo PCU 787: </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Đã thực hiện 06 tàu A861, A863, A865, A866, A867, A868 =&gt; tiếp tục thực hiện 07 tàu còn </a:t>
            </a:r>
            <a:r>
              <a:rPr kumimoji="0" lang="en-US" sz="11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lại sau cao điểm</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30000"/>
              </a:lnSpc>
              <a:spcBef>
                <a:spcPts val="0"/>
              </a:spcBef>
              <a:spcAft>
                <a:spcPts val="0"/>
              </a:spcAft>
              <a:buClrTx/>
              <a:buSzTx/>
              <a:buFontTx/>
              <a:buChar char="-"/>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Interchange SVDU 787&amp;350: </a:t>
            </a:r>
          </a:p>
          <a:p>
            <a:pPr marL="742950" marR="0" lvl="1" indent="-285750" algn="l" defTabSz="914400" rtl="0" eaLnBrk="1" fontAlgn="auto" latinLnBrk="0" hangingPunct="1">
              <a:lnSpc>
                <a:spcPct val="130000"/>
              </a:lnSpc>
              <a:spcBef>
                <a:spcPts val="0"/>
              </a:spcBef>
              <a:spcAft>
                <a:spcPts val="0"/>
              </a:spcAft>
              <a:buClrTx/>
              <a:buSzTx/>
              <a:buFontTx/>
              <a:buChar char="-"/>
              <a:tabLst/>
              <a:defRPr/>
            </a:pP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Đã chuyển hồ sơ sang SQD tiếp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trình</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CAAV,  CAAV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chưa</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đồng</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ý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phương</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án</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interchange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của</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VNA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yêu</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ý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kiến</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của</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Boeing;</a:t>
            </a:r>
          </a:p>
          <a:p>
            <a:pPr marL="742950" marR="0" lvl="1" indent="-285750" algn="l" defTabSz="914400" rtl="0" eaLnBrk="1" fontAlgn="auto" latinLnBrk="0" hangingPunct="1">
              <a:lnSpc>
                <a:spcPct val="130000"/>
              </a:lnSpc>
              <a:spcBef>
                <a:spcPts val="0"/>
              </a:spcBef>
              <a:spcAft>
                <a:spcPts val="0"/>
              </a:spcAft>
              <a:buClrTx/>
              <a:buSzTx/>
              <a:buFontTx/>
              <a:buChar char="-"/>
              <a:tabLst/>
              <a:defRPr/>
            </a:pP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KT đồng thời tiếp tục làm việc Boeing, Thales, Collins giải pháp SB =&gt; chờ seat Collins ban hành NTO và chỉnh sửa CMM để làm việc với Boeing (dự kiến </a:t>
            </a:r>
            <a:r>
              <a:rPr kumimoji="0" lang="en-US" sz="11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10/1/2025 Collins có phản hồi chính thức)</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30000"/>
              </a:lnSpc>
              <a:spcBef>
                <a:spcPts val="0"/>
              </a:spcBef>
              <a:spcAft>
                <a:spcPts val="0"/>
              </a:spcAft>
              <a:buClrTx/>
              <a:buSzTx/>
              <a:buFontTx/>
              <a:buChar char="-"/>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IFC 10 tàu A350: </a:t>
            </a:r>
          </a:p>
          <a:p>
            <a:pPr marL="742950" marR="0" lvl="1" indent="-285750" algn="l" defTabSz="914400" rtl="0" eaLnBrk="1" fontAlgn="auto" latinLnBrk="0" hangingPunct="1">
              <a:lnSpc>
                <a:spcPct val="130000"/>
              </a:lnSpc>
              <a:spcBef>
                <a:spcPts val="0"/>
              </a:spcBef>
              <a:spcAft>
                <a:spcPts val="0"/>
              </a:spcAft>
              <a:buClrTx/>
              <a:buSzTx/>
              <a:buFontTx/>
              <a:buChar char="-"/>
              <a:tabLst/>
              <a:defRPr/>
            </a:pPr>
            <a:r>
              <a:rPr kumimoji="0" lang="en-US" sz="11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Đã phát PO mua vật tư dự phòng, PO mua tài liệu TSM. Vật tư dự phòng bắt đâu giao 2/2024, MPS và FSAT ban giao 3/2024.</a:t>
            </a:r>
          </a:p>
          <a:p>
            <a:pPr marL="742950" marR="0" lvl="1" indent="-285750" algn="l" defTabSz="914400" rtl="0" eaLnBrk="1" fontAlgn="auto" latinLnBrk="0" hangingPunct="1">
              <a:lnSpc>
                <a:spcPct val="130000"/>
              </a:lnSpc>
              <a:spcBef>
                <a:spcPts val="0"/>
              </a:spcBef>
              <a:spcAft>
                <a:spcPts val="0"/>
              </a:spcAft>
              <a:buClrTx/>
              <a:buSzTx/>
              <a:buFontTx/>
              <a:buChar char="-"/>
              <a:tabLst/>
              <a:defRPr/>
            </a:pPr>
            <a:r>
              <a:rPr kumimoji="0" lang="en-US" sz="11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Đã gửi 02 shipset tàu bảo quản đi nâng cấp firmwarre, TAT 60-70 ngày =&gt; tiếp tục giục Thales &amp; Honeywell</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auto" latinLnBrk="0" hangingPunct="1">
              <a:lnSpc>
                <a:spcPct val="130000"/>
              </a:lnSpc>
              <a:spcBef>
                <a:spcPts val="0"/>
              </a:spcBef>
              <a:spcAft>
                <a:spcPts val="0"/>
              </a:spcAft>
              <a:buClrTx/>
              <a:buSzTx/>
              <a:buFontTx/>
              <a:buChar char="-"/>
              <a:tabLst/>
              <a:defRPr/>
            </a:pP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Đào tạo IFC VAECO dự kiến tháng </a:t>
            </a:r>
            <a:r>
              <a:rPr kumimoji="0" lang="en-US" sz="11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2/2025</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30000"/>
              </a:lnSpc>
              <a:spcBef>
                <a:spcPts val="0"/>
              </a:spcBef>
              <a:spcAft>
                <a:spcPts val="0"/>
              </a:spcAft>
              <a:buClrTx/>
              <a:buSzTx/>
              <a:buFontTx/>
              <a:buChar char="-"/>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CĐCH ghế 23 tàu A321CEO:</a:t>
            </a:r>
          </a:p>
          <a:p>
            <a:pPr marL="742950" marR="0" lvl="1" indent="-285750" algn="l" defTabSz="914400" rtl="0" eaLnBrk="1" fontAlgn="auto" latinLnBrk="0" hangingPunct="1">
              <a:lnSpc>
                <a:spcPct val="130000"/>
              </a:lnSpc>
              <a:spcBef>
                <a:spcPts val="0"/>
              </a:spcBef>
              <a:spcAft>
                <a:spcPts val="0"/>
              </a:spcAft>
              <a:buClrTx/>
              <a:buSzTx/>
              <a:buFontTx/>
              <a:buChar char="-"/>
              <a:tabLst/>
              <a:defRPr/>
            </a:pP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Đã phát HSYC lần 1, tổ đang làm rõ bản chào lần 1 của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đối</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tác</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742950" marR="0" lvl="1" indent="-285750" algn="l" defTabSz="914400" rtl="0" eaLnBrk="1" fontAlgn="auto" latinLnBrk="0" hangingPunct="1">
              <a:lnSpc>
                <a:spcPct val="130000"/>
              </a:lnSpc>
              <a:spcBef>
                <a:spcPts val="0"/>
              </a:spcBef>
              <a:spcAft>
                <a:spcPts val="0"/>
              </a:spcAft>
              <a:buClrTx/>
              <a:buSzTx/>
              <a:buFontTx/>
              <a:buChar char="-"/>
              <a:tabLst/>
              <a:defRPr/>
            </a:pP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Trong các đối tác tham gia chào giá, AIB: chưa đưa giá chào firm và chưa gửi thông tin làm rõ cho </a:t>
            </a:r>
            <a:r>
              <a:rPr kumimoji="0" lang="en-US" sz="11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tổ. AIB xin lùi hạn trả lời 8/1/2025</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22" name="TextBox 21"/>
          <p:cNvSpPr txBox="1"/>
          <p:nvPr/>
        </p:nvSpPr>
        <p:spPr>
          <a:xfrm>
            <a:off x="366570" y="2885929"/>
            <a:ext cx="10862852" cy="93871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Galley:</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Hỏng hóc wine chiller</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còn hỏng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04 ea.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Hỏng</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hóc</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chiller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đã</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được</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kiểm</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soát</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Tiến</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sửa</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chữa</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tại</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shop</a:t>
            </a:r>
          </a:p>
          <a:p>
            <a:pPr marL="742950" marR="0" lvl="1" indent="-285750" algn="l" defTabSz="914400" rtl="0" eaLnBrk="1" fontAlgn="auto" latinLnBrk="0" hangingPunct="1">
              <a:lnSpc>
                <a:spcPct val="100000"/>
              </a:lnSpc>
              <a:spcBef>
                <a:spcPts val="0"/>
              </a:spcBef>
              <a:spcAft>
                <a:spcPts val="0"/>
              </a:spcAft>
              <a:buClr>
                <a:srgbClr val="000000"/>
              </a:buClr>
              <a:buSzPts val="1300"/>
              <a:buFont typeface="Arial" panose="020B0604020202020204" pitchFamily="34" charset="0"/>
              <a:buChar char="•"/>
              <a:tabLst/>
              <a:defRPr/>
            </a:pPr>
            <a:r>
              <a:rPr kumimoji="0" lang="vi-VN"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Chiller B787: </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01</a:t>
            </a:r>
            <a:r>
              <a:rPr kumimoji="0" lang="vi-VN"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ADD; </a:t>
            </a:r>
            <a:r>
              <a:rPr kumimoji="0" lang="en-US" sz="1100" b="0" i="0" u="none" strike="noStrike" kern="1200" cap="none" spc="0" normalizeH="0" baseline="0" noProof="0" dirty="0">
                <a:ln>
                  <a:noFill/>
                </a:ln>
                <a:solidFill>
                  <a:prstClr val="black"/>
                </a:solidFill>
                <a:effectLst/>
                <a:uLnTx/>
                <a:uFillTx/>
                <a:latin typeface="Times New Roman"/>
                <a:ea typeface="Times New Roman"/>
                <a:cs typeface="Times New Roman"/>
                <a:sym typeface="Times New Roman"/>
              </a:rPr>
              <a:t>02RO </a:t>
            </a:r>
            <a:r>
              <a:rPr kumimoji="0" lang="vi-VN"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chưa có EDD</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auto" latinLnBrk="0" hangingPunct="1">
              <a:lnSpc>
                <a:spcPct val="100000"/>
              </a:lnSpc>
              <a:spcBef>
                <a:spcPts val="0"/>
              </a:spcBef>
              <a:spcAft>
                <a:spcPts val="0"/>
              </a:spcAft>
              <a:buClr>
                <a:srgbClr val="000000"/>
              </a:buClr>
              <a:buSzPts val="1300"/>
              <a:buFont typeface="Arial" panose="020B0604020202020204" pitchFamily="34" charset="0"/>
              <a:buChar char="•"/>
              <a:tabLst/>
              <a:defRPr/>
            </a:pPr>
            <a:r>
              <a:rPr kumimoji="0" lang="vi-VN"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Chiller A350: </a:t>
            </a:r>
            <a:r>
              <a:rPr kumimoji="0" lang="en-US" sz="11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03  </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ADD; </a:t>
            </a:r>
            <a:r>
              <a:rPr kumimoji="0" lang="en-US" sz="1100" b="0" i="0" u="none" strike="noStrike" kern="1200" cap="none" spc="0" normalizeH="0" baseline="0" noProof="0" dirty="0">
                <a:ln>
                  <a:noFill/>
                </a:ln>
                <a:solidFill>
                  <a:prstClr val="black"/>
                </a:solidFill>
                <a:effectLst/>
                <a:uLnTx/>
                <a:uFillTx/>
                <a:latin typeface="Times New Roman"/>
                <a:ea typeface="+mn-ea"/>
                <a:cs typeface="Times New Roman"/>
                <a:sym typeface="Times New Roman"/>
              </a:rPr>
              <a:t>05</a:t>
            </a:r>
            <a:r>
              <a:rPr kumimoji="0" lang="en-US" sz="1100" b="0" i="0" u="none" strike="noStrike" kern="1200" cap="none" spc="0" normalizeH="0" baseline="0" noProof="0" dirty="0">
                <a:ln>
                  <a:noFill/>
                </a:ln>
                <a:solidFill>
                  <a:prstClr val="black"/>
                </a:solidFill>
                <a:effectLst/>
                <a:uLnTx/>
                <a:uFillTx/>
                <a:latin typeface="Times New Roman"/>
                <a:ea typeface="Times New Roman"/>
                <a:cs typeface="Times New Roman"/>
                <a:sym typeface="Times New Roman"/>
              </a:rPr>
              <a:t> RO, </a:t>
            </a:r>
            <a:r>
              <a:rPr kumimoji="0" lang="vi-VN"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chưa có EDD</a:t>
            </a:r>
            <a:endParaRPr kumimoji="0" lang="en-US" sz="1100" b="0" i="0" u="none" strike="noStrike" kern="1200" cap="none" spc="0" normalizeH="0" baseline="0" noProof="0" dirty="0">
              <a:ln>
                <a:noFill/>
              </a:ln>
              <a:solidFill>
                <a:prstClr val="black"/>
              </a:solidFill>
              <a:effectLst/>
              <a:uLnTx/>
              <a:uFillTx/>
              <a:latin typeface="Times New Roman"/>
              <a:ea typeface="+mn-ea"/>
              <a:cs typeface="Times New Roman"/>
              <a:sym typeface="Times New Roman"/>
            </a:endParaRPr>
          </a:p>
          <a:p>
            <a:pPr marL="285750" marR="0" lvl="0" indent="-285750" algn="l" defTabSz="914400" rtl="0" eaLnBrk="1" fontAlgn="auto" latinLnBrk="0" hangingPunct="1">
              <a:lnSpc>
                <a:spcPct val="100000"/>
              </a:lnSpc>
              <a:spcBef>
                <a:spcPts val="0"/>
              </a:spcBef>
              <a:spcAft>
                <a:spcPts val="0"/>
              </a:spcAft>
              <a:buClr>
                <a:srgbClr val="000000"/>
              </a:buClr>
              <a:buSzPts val="1300"/>
              <a:buFont typeface="Times New Roman" panose="02020603050405020304" pitchFamily="18" charset="0"/>
              <a:buChar char="⁃"/>
              <a:tabLst/>
              <a:defRPr/>
            </a:pP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Hỏng hóc oven: </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hỏng hóc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10ea</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khắc phục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06ea</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tồn 04ea</a:t>
            </a:r>
          </a:p>
        </p:txBody>
      </p:sp>
      <p:sp>
        <p:nvSpPr>
          <p:cNvPr id="23" name="TextBox 22"/>
          <p:cNvSpPr txBox="1"/>
          <p:nvPr/>
        </p:nvSpPr>
        <p:spPr>
          <a:xfrm>
            <a:off x="359264" y="1584445"/>
            <a:ext cx="10830313" cy="6001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IFE: Thales SVDU (A350/B787): </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replaced </a:t>
            </a:r>
            <a:r>
              <a:rPr kumimoji="0" lang="en-US" sz="11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2738/3220 </a:t>
            </a: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SVDU (còn </a:t>
            </a:r>
            <a:r>
              <a:rPr kumimoji="0" lang="en-US" sz="11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532 </a:t>
            </a: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INOP SVDU). </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Trong tuần :  hỏng mới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26ea</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khắc phục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13ea</a:t>
            </a:r>
            <a:r>
              <a:rPr kumimoji="0" lang="en-US" sz="11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 </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a:t>
            </a:r>
            <a:r>
              <a:rPr kumimoji="0" lang="en-US" sz="11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     Hỏng </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hóc đội bay A350: đã được khắc phục và kiểm soát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        Hỏng hóc tồn đọng: tập trung đội bay B787, số lượng quay vòng ít (50ea).</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25" name="TextBox 24"/>
          <p:cNvSpPr txBox="1"/>
          <p:nvPr/>
        </p:nvSpPr>
        <p:spPr>
          <a:xfrm>
            <a:off x="366570" y="2248689"/>
            <a:ext cx="10844923" cy="6001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LAV:</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Toilet Assy</a:t>
            </a:r>
            <a:r>
              <a:rPr kumimoji="0" lang="en-US" sz="11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hỏng</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03 ea, khắc phục 01ea,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tồn</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02ea</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Faucet Assy: </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hỏng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06ea</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khắc phục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01, </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tồn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05ea (03 ADD A350 + 02 ADD A321) =&gt; đôn đốc VAECO khắc phục tuần 02/2025  </a:t>
            </a:r>
          </a:p>
        </p:txBody>
      </p:sp>
      <p:sp>
        <p:nvSpPr>
          <p:cNvPr id="26" name="TextBox 25"/>
          <p:cNvSpPr txBox="1"/>
          <p:nvPr/>
        </p:nvSpPr>
        <p:spPr>
          <a:xfrm>
            <a:off x="375533" y="577246"/>
            <a:ext cx="10844923" cy="26161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ADD ảnh hưởng dịch vụ tuần </a:t>
            </a:r>
            <a:r>
              <a:rPr kumimoji="0" lang="en-US" sz="11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01: </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Tổng </a:t>
            </a:r>
            <a:r>
              <a:rPr kumimoji="0" lang="en-US" sz="11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237, </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khắc phục </a:t>
            </a:r>
            <a:r>
              <a:rPr kumimoji="0" lang="en-US" sz="11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91ADD </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=&gt; tồn đọng </a:t>
            </a:r>
            <a:r>
              <a:rPr kumimoji="0" lang="en-US" sz="11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146ADD</a:t>
            </a:r>
            <a:r>
              <a:rPr kumimoji="0" lang="en-US" sz="11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(giảm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1% </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tuần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52/2024)</a:t>
            </a:r>
            <a:r>
              <a:rPr kumimoji="0" lang="en-US" sz="11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27" name="TextBox 26"/>
          <p:cNvSpPr txBox="1"/>
          <p:nvPr/>
        </p:nvSpPr>
        <p:spPr>
          <a:xfrm>
            <a:off x="359264" y="935434"/>
            <a:ext cx="10844923" cy="6001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hóc</a:t>
            </a: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thuộc</a:t>
            </a: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diện</a:t>
            </a: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cắt</a:t>
            </a: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khách</a:t>
            </a: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tuần</a:t>
            </a: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51</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Ghế C</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hỏng 03, đã khắc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phục</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03,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tồn</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00.</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Ghế Y</a:t>
            </a:r>
            <a:r>
              <a:rPr kumimoji="0" lang="en-US" sz="11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hỏng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05, </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đã khắc phục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03, </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tồn 02</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7914237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NGUỒN LỰC TÀU BAY – A321</a:t>
            </a:r>
          </a:p>
        </p:txBody>
      </p:sp>
      <p:graphicFrame>
        <p:nvGraphicFramePr>
          <p:cNvPr id="4" name="Table 3"/>
          <p:cNvGraphicFramePr>
            <a:graphicFrameLocks noGrp="1"/>
          </p:cNvGraphicFramePr>
          <p:nvPr>
            <p:extLst/>
          </p:nvPr>
        </p:nvGraphicFramePr>
        <p:xfrm>
          <a:off x="369439" y="1142999"/>
          <a:ext cx="11593962" cy="5195447"/>
        </p:xfrm>
        <a:graphic>
          <a:graphicData uri="http://schemas.openxmlformats.org/drawingml/2006/table">
            <a:tbl>
              <a:tblPr/>
              <a:tblGrid>
                <a:gridCol w="322772">
                  <a:extLst>
                    <a:ext uri="{9D8B030D-6E8A-4147-A177-3AD203B41FA5}">
                      <a16:colId xmlns:a16="http://schemas.microsoft.com/office/drawing/2014/main" val="3363301013"/>
                    </a:ext>
                  </a:extLst>
                </a:gridCol>
                <a:gridCol w="2272314">
                  <a:extLst>
                    <a:ext uri="{9D8B030D-6E8A-4147-A177-3AD203B41FA5}">
                      <a16:colId xmlns:a16="http://schemas.microsoft.com/office/drawing/2014/main" val="2040270993"/>
                    </a:ext>
                  </a:extLst>
                </a:gridCol>
                <a:gridCol w="490613">
                  <a:extLst>
                    <a:ext uri="{9D8B030D-6E8A-4147-A177-3AD203B41FA5}">
                      <a16:colId xmlns:a16="http://schemas.microsoft.com/office/drawing/2014/main" val="426032902"/>
                    </a:ext>
                  </a:extLst>
                </a:gridCol>
                <a:gridCol w="464791">
                  <a:extLst>
                    <a:ext uri="{9D8B030D-6E8A-4147-A177-3AD203B41FA5}">
                      <a16:colId xmlns:a16="http://schemas.microsoft.com/office/drawing/2014/main" val="2626241433"/>
                    </a:ext>
                  </a:extLst>
                </a:gridCol>
                <a:gridCol w="477702">
                  <a:extLst>
                    <a:ext uri="{9D8B030D-6E8A-4147-A177-3AD203B41FA5}">
                      <a16:colId xmlns:a16="http://schemas.microsoft.com/office/drawing/2014/main" val="1240100025"/>
                    </a:ext>
                  </a:extLst>
                </a:gridCol>
                <a:gridCol w="477702">
                  <a:extLst>
                    <a:ext uri="{9D8B030D-6E8A-4147-A177-3AD203B41FA5}">
                      <a16:colId xmlns:a16="http://schemas.microsoft.com/office/drawing/2014/main" val="3725669426"/>
                    </a:ext>
                  </a:extLst>
                </a:gridCol>
                <a:gridCol w="490613">
                  <a:extLst>
                    <a:ext uri="{9D8B030D-6E8A-4147-A177-3AD203B41FA5}">
                      <a16:colId xmlns:a16="http://schemas.microsoft.com/office/drawing/2014/main" val="691575350"/>
                    </a:ext>
                  </a:extLst>
                </a:gridCol>
                <a:gridCol w="490613">
                  <a:extLst>
                    <a:ext uri="{9D8B030D-6E8A-4147-A177-3AD203B41FA5}">
                      <a16:colId xmlns:a16="http://schemas.microsoft.com/office/drawing/2014/main" val="681942277"/>
                    </a:ext>
                  </a:extLst>
                </a:gridCol>
                <a:gridCol w="490613">
                  <a:extLst>
                    <a:ext uri="{9D8B030D-6E8A-4147-A177-3AD203B41FA5}">
                      <a16:colId xmlns:a16="http://schemas.microsoft.com/office/drawing/2014/main" val="3424580853"/>
                    </a:ext>
                  </a:extLst>
                </a:gridCol>
                <a:gridCol w="490613">
                  <a:extLst>
                    <a:ext uri="{9D8B030D-6E8A-4147-A177-3AD203B41FA5}">
                      <a16:colId xmlns:a16="http://schemas.microsoft.com/office/drawing/2014/main" val="1511376717"/>
                    </a:ext>
                  </a:extLst>
                </a:gridCol>
                <a:gridCol w="490613">
                  <a:extLst>
                    <a:ext uri="{9D8B030D-6E8A-4147-A177-3AD203B41FA5}">
                      <a16:colId xmlns:a16="http://schemas.microsoft.com/office/drawing/2014/main" val="3042494988"/>
                    </a:ext>
                  </a:extLst>
                </a:gridCol>
                <a:gridCol w="490613">
                  <a:extLst>
                    <a:ext uri="{9D8B030D-6E8A-4147-A177-3AD203B41FA5}">
                      <a16:colId xmlns:a16="http://schemas.microsoft.com/office/drawing/2014/main" val="3732356743"/>
                    </a:ext>
                  </a:extLst>
                </a:gridCol>
                <a:gridCol w="490613">
                  <a:extLst>
                    <a:ext uri="{9D8B030D-6E8A-4147-A177-3AD203B41FA5}">
                      <a16:colId xmlns:a16="http://schemas.microsoft.com/office/drawing/2014/main" val="886631350"/>
                    </a:ext>
                  </a:extLst>
                </a:gridCol>
                <a:gridCol w="490613">
                  <a:extLst>
                    <a:ext uri="{9D8B030D-6E8A-4147-A177-3AD203B41FA5}">
                      <a16:colId xmlns:a16="http://schemas.microsoft.com/office/drawing/2014/main" val="444195080"/>
                    </a:ext>
                  </a:extLst>
                </a:gridCol>
                <a:gridCol w="490613">
                  <a:extLst>
                    <a:ext uri="{9D8B030D-6E8A-4147-A177-3AD203B41FA5}">
                      <a16:colId xmlns:a16="http://schemas.microsoft.com/office/drawing/2014/main" val="2386791822"/>
                    </a:ext>
                  </a:extLst>
                </a:gridCol>
                <a:gridCol w="2672551">
                  <a:extLst>
                    <a:ext uri="{9D8B030D-6E8A-4147-A177-3AD203B41FA5}">
                      <a16:colId xmlns:a16="http://schemas.microsoft.com/office/drawing/2014/main" val="1954650445"/>
                    </a:ext>
                  </a:extLst>
                </a:gridCol>
              </a:tblGrid>
              <a:tr h="475992">
                <a:tc gridSpan="16">
                  <a:txBody>
                    <a:bodyPr/>
                    <a:lstStyle/>
                    <a:p>
                      <a:pPr algn="ctr" fontAlgn="ctr"/>
                      <a:r>
                        <a:rPr lang="en-US" sz="1400" b="1" i="0" u="none" strike="noStrike" dirty="0">
                          <a:solidFill>
                            <a:srgbClr val="000000"/>
                          </a:solidFill>
                          <a:effectLst/>
                          <a:latin typeface="Times New Roman" panose="02020603050405020304" pitchFamily="18" charset="0"/>
                          <a:cs typeface="Times New Roman" panose="02020603050405020304" pitchFamily="18" charset="0"/>
                        </a:rPr>
                        <a:t>NGUỒN LỰC KỸ THUÂT FLEET A321 (</a:t>
                      </a:r>
                      <a:r>
                        <a:rPr lang="en-US" sz="1400" b="1" i="0" u="none" strike="noStrike">
                          <a:solidFill>
                            <a:srgbClr val="000000"/>
                          </a:solidFill>
                          <a:effectLst/>
                          <a:latin typeface="Times New Roman" panose="02020603050405020304" pitchFamily="18" charset="0"/>
                          <a:cs typeface="Times New Roman" panose="02020603050405020304" pitchFamily="18" charset="0"/>
                        </a:rPr>
                        <a:t>UPDATED </a:t>
                      </a:r>
                      <a:r>
                        <a:rPr lang="en-US" sz="1400" b="1" i="0" u="none" strike="noStrike" smtClean="0">
                          <a:solidFill>
                            <a:srgbClr val="000000"/>
                          </a:solidFill>
                          <a:effectLst/>
                          <a:latin typeface="Times New Roman" panose="02020603050405020304" pitchFamily="18" charset="0"/>
                          <a:cs typeface="Times New Roman" panose="02020603050405020304" pitchFamily="18" charset="0"/>
                        </a:rPr>
                        <a:t>05/01)</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5270979"/>
                  </a:ext>
                </a:extLst>
              </a:tr>
              <a:tr h="438409">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Dec-24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Jan-25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Feb-25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Mar-25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33188196"/>
                  </a:ext>
                </a:extLst>
              </a:tr>
              <a:tr h="888519">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1" i="0" u="none" strike="noStrike">
                          <a:solidFill>
                            <a:srgbClr val="000000"/>
                          </a:solidFill>
                          <a:effectLst/>
                          <a:latin typeface="Times New Roman" panose="02020603050405020304" pitchFamily="18" charset="0"/>
                          <a:cs typeface="Times New Roman" panose="02020603050405020304" pitchFamily="18" charset="0"/>
                        </a:rPr>
                        <a:t>A321 NEO AOG</a:t>
                      </a:r>
                      <a:br>
                        <a:rPr lang="pt-BR" sz="1100" b="1" i="0" u="none" strike="noStrike">
                          <a:solidFill>
                            <a:srgbClr val="000000"/>
                          </a:solidFill>
                          <a:effectLst/>
                          <a:latin typeface="Times New Roman" panose="02020603050405020304" pitchFamily="18" charset="0"/>
                          <a:cs typeface="Times New Roman" panose="02020603050405020304" pitchFamily="18" charset="0"/>
                        </a:rPr>
                      </a:br>
                      <a:r>
                        <a:rPr lang="pt-BR" sz="1100" b="1" i="0" u="none" strike="noStrike">
                          <a:solidFill>
                            <a:srgbClr val="000000"/>
                          </a:solidFill>
                          <a:effectLst/>
                          <a:latin typeface="Times New Roman" panose="02020603050405020304" pitchFamily="18" charset="0"/>
                          <a:cs typeface="Times New Roman" panose="02020603050405020304" pitchFamily="18" charset="0"/>
                        </a:rPr>
                        <a:t>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02/2025: thêm 01 tàu dừng do ENG về muộn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3561654"/>
                  </a:ext>
                </a:extLst>
              </a:tr>
              <a:tr h="807745">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100" b="1" i="0" u="none" strike="noStrike">
                          <a:solidFill>
                            <a:srgbClr val="000000"/>
                          </a:solidFill>
                          <a:effectLst/>
                          <a:latin typeface="Times New Roman" panose="02020603050405020304" pitchFamily="18" charset="0"/>
                          <a:cs typeface="Times New Roman" panose="02020603050405020304" pitchFamily="18" charset="0"/>
                        </a:rPr>
                        <a:t>A321 CEO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324718174"/>
                  </a:ext>
                </a:extLst>
              </a:tr>
              <a:tr h="1061606">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A321 dừng thực hiện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0.50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17.00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100" b="0" i="0" u="none" strike="noStrike" dirty="0" smtClean="0">
                          <a:solidFill>
                            <a:schemeClr val="tx1"/>
                          </a:solidFill>
                          <a:effectLst/>
                          <a:latin typeface="Times New Roman" panose="02020603050405020304" pitchFamily="18" charset="0"/>
                          <a:cs typeface="Times New Roman" panose="02020603050405020304" pitchFamily="18" charset="0"/>
                        </a:rPr>
                        <a:t>03/2025: </a:t>
                      </a:r>
                      <a:r>
                        <a:rPr lang="vi-VN" sz="1100" b="0" i="0" u="none" strike="noStrike" dirty="0" smtClean="0">
                          <a:solidFill>
                            <a:schemeClr val="tx1"/>
                          </a:solidFill>
                          <a:effectLst/>
                          <a:latin typeface="Times New Roman" panose="02020603050405020304" pitchFamily="18" charset="0"/>
                          <a:cs typeface="Times New Roman" panose="02020603050405020304" pitchFamily="18" charset="0"/>
                        </a:rPr>
                        <a:t>Giảm </a:t>
                      </a:r>
                      <a:r>
                        <a:rPr lang="vi-VN" sz="1100" b="0" i="0" u="none" strike="noStrike" dirty="0">
                          <a:solidFill>
                            <a:schemeClr val="tx1"/>
                          </a:solidFill>
                          <a:effectLst/>
                          <a:latin typeface="Times New Roman" panose="02020603050405020304" pitchFamily="18" charset="0"/>
                          <a:cs typeface="Times New Roman" panose="02020603050405020304" pitchFamily="18" charset="0"/>
                        </a:rPr>
                        <a:t>0.3 tàu dừng BD từ 18-27/03 để bay bù A870 sơn cánh.</a:t>
                      </a:r>
                      <a:br>
                        <a:rPr lang="vi-VN" sz="1100" b="0" i="0" u="none" strike="noStrike" dirty="0">
                          <a:solidFill>
                            <a:schemeClr val="tx1"/>
                          </a:solidFill>
                          <a:effectLst/>
                          <a:latin typeface="Times New Roman" panose="02020603050405020304" pitchFamily="18" charset="0"/>
                          <a:cs typeface="Times New Roman" panose="02020603050405020304" pitchFamily="18" charset="0"/>
                        </a:rPr>
                      </a:br>
                      <a:r>
                        <a:rPr lang="vi-VN" sz="1100" b="0" i="0" u="none" strike="noStrike" dirty="0">
                          <a:solidFill>
                            <a:schemeClr val="tx1"/>
                          </a:solidFill>
                          <a:effectLst/>
                          <a:latin typeface="Times New Roman" panose="02020603050405020304" pitchFamily="18" charset="0"/>
                          <a:cs typeface="Times New Roman" panose="02020603050405020304" pitchFamily="18" charset="0"/>
                        </a:rPr>
                        <a:t>- 12/2024: thêm 0.5 tàu dừng do A614 AOG do xe thang va frame 17 từ </a:t>
                      </a:r>
                      <a:r>
                        <a:rPr lang="vi-VN" sz="1100" b="0" i="0" u="none" strike="noStrike" dirty="0" smtClean="0">
                          <a:solidFill>
                            <a:schemeClr val="tx1"/>
                          </a:solidFill>
                          <a:effectLst/>
                          <a:latin typeface="Times New Roman" panose="02020603050405020304" pitchFamily="18" charset="0"/>
                          <a:cs typeface="Times New Roman" panose="02020603050405020304" pitchFamily="18" charset="0"/>
                        </a:rPr>
                        <a:t>15-2</a:t>
                      </a:r>
                      <a:r>
                        <a:rPr lang="en-US" sz="1100" b="0" i="0" u="none" strike="noStrike" dirty="0" smtClean="0">
                          <a:solidFill>
                            <a:schemeClr val="tx1"/>
                          </a:solidFill>
                          <a:effectLst/>
                          <a:latin typeface="Times New Roman" panose="02020603050405020304" pitchFamily="18" charset="0"/>
                          <a:cs typeface="Times New Roman" panose="02020603050405020304" pitchFamily="18" charset="0"/>
                        </a:rPr>
                        <a:t>8</a:t>
                      </a:r>
                      <a:r>
                        <a:rPr lang="vi-VN" sz="1100" b="0" i="0" u="none" strike="noStrike" dirty="0" smtClean="0">
                          <a:solidFill>
                            <a:schemeClr val="tx1"/>
                          </a:solidFill>
                          <a:effectLst/>
                          <a:latin typeface="Times New Roman" panose="02020603050405020304" pitchFamily="18" charset="0"/>
                          <a:cs typeface="Times New Roman" panose="02020603050405020304" pitchFamily="18" charset="0"/>
                        </a:rPr>
                        <a:t>/12</a:t>
                      </a:r>
                      <a:endParaRPr lang="vi-VN"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3361226"/>
                  </a:ext>
                </a:extLst>
              </a:tr>
              <a:tr h="761588">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Tổng số tàu A321 Dừng</a:t>
                      </a:r>
                      <a:br>
                        <a:rPr lang="en-US" sz="1100" b="1" i="0" u="none" strike="noStrike">
                          <a:solidFill>
                            <a:srgbClr val="000000"/>
                          </a:solidFill>
                          <a:effectLst/>
                          <a:latin typeface="Times New Roman" panose="02020603050405020304" pitchFamily="18" charset="0"/>
                          <a:cs typeface="Times New Roman" panose="02020603050405020304" pitchFamily="18" charset="0"/>
                        </a:rPr>
                      </a:br>
                      <a:r>
                        <a:rPr lang="en-US" sz="1100" b="1" i="0" u="none" strike="noStrike">
                          <a:solidFill>
                            <a:srgbClr val="000000"/>
                          </a:solidFill>
                          <a:effectLst/>
                          <a:latin typeface="Times New Roman" panose="02020603050405020304" pitchFamily="18" charset="0"/>
                          <a:cs typeface="Times New Roman" panose="02020603050405020304" pitchFamily="18" charset="0"/>
                        </a:rPr>
                        <a:t>(Do thiếu ENG + BD)</a:t>
                      </a:r>
                      <a:br>
                        <a:rPr lang="en-US" sz="1100" b="1" i="0" u="none" strike="noStrike">
                          <a:solidFill>
                            <a:srgbClr val="000000"/>
                          </a:solidFill>
                          <a:effectLst/>
                          <a:latin typeface="Times New Roman" panose="02020603050405020304" pitchFamily="18" charset="0"/>
                          <a:cs typeface="Times New Roman" panose="02020603050405020304" pitchFamily="18" charset="0"/>
                        </a:rPr>
                      </a:br>
                      <a:r>
                        <a:rPr lang="en-US" sz="1100" b="1" i="0" u="none" strike="noStrike">
                          <a:solidFill>
                            <a:srgbClr val="000000"/>
                          </a:solidFill>
                          <a:effectLst/>
                          <a:latin typeface="Times New Roman" panose="02020603050405020304" pitchFamily="18" charset="0"/>
                          <a:cs typeface="Times New Roman" panose="02020603050405020304" pitchFamily="18" charset="0"/>
                        </a:rPr>
                        <a:t>(4) = (1) + (2)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14.70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14.50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31.00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13.50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12.50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882449563"/>
                  </a:ext>
                </a:extLst>
              </a:tr>
              <a:tr h="761588">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Tổng số tàu A321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50.5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34.0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73218087"/>
                  </a:ext>
                </a:extLst>
              </a:tr>
            </a:tbl>
          </a:graphicData>
        </a:graphic>
      </p:graphicFrame>
    </p:spTree>
    <p:extLst>
      <p:ext uri="{BB962C8B-B14F-4D97-AF65-F5344CB8AC3E}">
        <p14:creationId xmlns:p14="http://schemas.microsoft.com/office/powerpoint/2010/main" val="3032233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id="{5781951A-75AB-4FD9-911A-99894057CF57}"/>
              </a:ext>
            </a:extLst>
          </p:cNvPr>
          <p:cNvSpPr txBox="1">
            <a:spLocks/>
          </p:cNvSpPr>
          <p:nvPr/>
        </p:nvSpPr>
        <p:spPr>
          <a:xfrm>
            <a:off x="457200" y="152400"/>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NGUỒN LỰC TÀU BAY – A350/B787</a:t>
            </a:r>
          </a:p>
        </p:txBody>
      </p:sp>
      <p:graphicFrame>
        <p:nvGraphicFramePr>
          <p:cNvPr id="3" name="Table 2"/>
          <p:cNvGraphicFramePr>
            <a:graphicFrameLocks noGrp="1"/>
          </p:cNvGraphicFramePr>
          <p:nvPr>
            <p:extLst/>
          </p:nvPr>
        </p:nvGraphicFramePr>
        <p:xfrm>
          <a:off x="304796" y="990600"/>
          <a:ext cx="11582409" cy="5638797"/>
        </p:xfrm>
        <a:graphic>
          <a:graphicData uri="http://schemas.openxmlformats.org/drawingml/2006/table">
            <a:tbl>
              <a:tblPr/>
              <a:tblGrid>
                <a:gridCol w="360497">
                  <a:extLst>
                    <a:ext uri="{9D8B030D-6E8A-4147-A177-3AD203B41FA5}">
                      <a16:colId xmlns:a16="http://schemas.microsoft.com/office/drawing/2014/main" val="2328303508"/>
                    </a:ext>
                  </a:extLst>
                </a:gridCol>
                <a:gridCol w="2465330">
                  <a:extLst>
                    <a:ext uri="{9D8B030D-6E8A-4147-A177-3AD203B41FA5}">
                      <a16:colId xmlns:a16="http://schemas.microsoft.com/office/drawing/2014/main" val="2357433016"/>
                    </a:ext>
                  </a:extLst>
                </a:gridCol>
                <a:gridCol w="465157">
                  <a:extLst>
                    <a:ext uri="{9D8B030D-6E8A-4147-A177-3AD203B41FA5}">
                      <a16:colId xmlns:a16="http://schemas.microsoft.com/office/drawing/2014/main" val="3710569427"/>
                    </a:ext>
                  </a:extLst>
                </a:gridCol>
                <a:gridCol w="465157">
                  <a:extLst>
                    <a:ext uri="{9D8B030D-6E8A-4147-A177-3AD203B41FA5}">
                      <a16:colId xmlns:a16="http://schemas.microsoft.com/office/drawing/2014/main" val="1040126446"/>
                    </a:ext>
                  </a:extLst>
                </a:gridCol>
                <a:gridCol w="430270">
                  <a:extLst>
                    <a:ext uri="{9D8B030D-6E8A-4147-A177-3AD203B41FA5}">
                      <a16:colId xmlns:a16="http://schemas.microsoft.com/office/drawing/2014/main" val="4289197608"/>
                    </a:ext>
                  </a:extLst>
                </a:gridCol>
                <a:gridCol w="465157">
                  <a:extLst>
                    <a:ext uri="{9D8B030D-6E8A-4147-A177-3AD203B41FA5}">
                      <a16:colId xmlns:a16="http://schemas.microsoft.com/office/drawing/2014/main" val="852764194"/>
                    </a:ext>
                  </a:extLst>
                </a:gridCol>
                <a:gridCol w="441900">
                  <a:extLst>
                    <a:ext uri="{9D8B030D-6E8A-4147-A177-3AD203B41FA5}">
                      <a16:colId xmlns:a16="http://schemas.microsoft.com/office/drawing/2014/main" val="235071892"/>
                    </a:ext>
                  </a:extLst>
                </a:gridCol>
                <a:gridCol w="476785">
                  <a:extLst>
                    <a:ext uri="{9D8B030D-6E8A-4147-A177-3AD203B41FA5}">
                      <a16:colId xmlns:a16="http://schemas.microsoft.com/office/drawing/2014/main" val="1071112044"/>
                    </a:ext>
                  </a:extLst>
                </a:gridCol>
                <a:gridCol w="441900">
                  <a:extLst>
                    <a:ext uri="{9D8B030D-6E8A-4147-A177-3AD203B41FA5}">
                      <a16:colId xmlns:a16="http://schemas.microsoft.com/office/drawing/2014/main" val="1539598932"/>
                    </a:ext>
                  </a:extLst>
                </a:gridCol>
                <a:gridCol w="441900">
                  <a:extLst>
                    <a:ext uri="{9D8B030D-6E8A-4147-A177-3AD203B41FA5}">
                      <a16:colId xmlns:a16="http://schemas.microsoft.com/office/drawing/2014/main" val="2158283057"/>
                    </a:ext>
                  </a:extLst>
                </a:gridCol>
                <a:gridCol w="465157">
                  <a:extLst>
                    <a:ext uri="{9D8B030D-6E8A-4147-A177-3AD203B41FA5}">
                      <a16:colId xmlns:a16="http://schemas.microsoft.com/office/drawing/2014/main" val="3441075533"/>
                    </a:ext>
                  </a:extLst>
                </a:gridCol>
                <a:gridCol w="465157">
                  <a:extLst>
                    <a:ext uri="{9D8B030D-6E8A-4147-A177-3AD203B41FA5}">
                      <a16:colId xmlns:a16="http://schemas.microsoft.com/office/drawing/2014/main" val="2411120827"/>
                    </a:ext>
                  </a:extLst>
                </a:gridCol>
                <a:gridCol w="441900">
                  <a:extLst>
                    <a:ext uri="{9D8B030D-6E8A-4147-A177-3AD203B41FA5}">
                      <a16:colId xmlns:a16="http://schemas.microsoft.com/office/drawing/2014/main" val="2852226683"/>
                    </a:ext>
                  </a:extLst>
                </a:gridCol>
                <a:gridCol w="441900">
                  <a:extLst>
                    <a:ext uri="{9D8B030D-6E8A-4147-A177-3AD203B41FA5}">
                      <a16:colId xmlns:a16="http://schemas.microsoft.com/office/drawing/2014/main" val="2047896649"/>
                    </a:ext>
                  </a:extLst>
                </a:gridCol>
                <a:gridCol w="465157">
                  <a:extLst>
                    <a:ext uri="{9D8B030D-6E8A-4147-A177-3AD203B41FA5}">
                      <a16:colId xmlns:a16="http://schemas.microsoft.com/office/drawing/2014/main" val="764803274"/>
                    </a:ext>
                  </a:extLst>
                </a:gridCol>
                <a:gridCol w="2849085">
                  <a:extLst>
                    <a:ext uri="{9D8B030D-6E8A-4147-A177-3AD203B41FA5}">
                      <a16:colId xmlns:a16="http://schemas.microsoft.com/office/drawing/2014/main" val="2867458965"/>
                    </a:ext>
                  </a:extLst>
                </a:gridCol>
              </a:tblGrid>
              <a:tr h="383354">
                <a:tc gridSpan="16">
                  <a:txBody>
                    <a:bodyPr/>
                    <a:lstStyle/>
                    <a:p>
                      <a:pPr algn="ctr" fontAlgn="ctr"/>
                      <a:r>
                        <a:rPr lang="en-US" sz="1400" b="1" i="0" u="none" strike="noStrike" dirty="0">
                          <a:solidFill>
                            <a:srgbClr val="000000"/>
                          </a:solidFill>
                          <a:effectLst/>
                          <a:latin typeface="Times New Roman" panose="02020603050405020304" pitchFamily="18" charset="0"/>
                          <a:cs typeface="Times New Roman" panose="02020603050405020304" pitchFamily="18" charset="0"/>
                        </a:rPr>
                        <a:t>NGUỒN LỰC KỸ THUÂT A350/B787 </a:t>
                      </a:r>
                      <a:r>
                        <a:rPr lang="en-US" sz="1400" b="1" i="0" u="none" strike="noStrike" dirty="0" smtClean="0">
                          <a:solidFill>
                            <a:srgbClr val="000000"/>
                          </a:solidFill>
                          <a:effectLst/>
                          <a:latin typeface="Times New Roman" panose="02020603050405020304" pitchFamily="18" charset="0"/>
                          <a:cs typeface="Times New Roman" panose="02020603050405020304" pitchFamily="18" charset="0"/>
                        </a:rPr>
                        <a:t>(</a:t>
                      </a:r>
                      <a:r>
                        <a:rPr lang="en-US" sz="1400" b="1" i="0" u="none" strike="noStrike" smtClean="0">
                          <a:solidFill>
                            <a:srgbClr val="000000"/>
                          </a:solidFill>
                          <a:effectLst/>
                          <a:latin typeface="Times New Roman" panose="02020603050405020304" pitchFamily="18" charset="0"/>
                          <a:cs typeface="Times New Roman" panose="02020603050405020304" pitchFamily="18" charset="0"/>
                        </a:rPr>
                        <a:t>UPDATED 05/01)</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22107851"/>
                  </a:ext>
                </a:extLst>
              </a:tr>
              <a:tr h="362444">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Dec-24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Jan-25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Feb-25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Mar-25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939487252"/>
                  </a:ext>
                </a:extLst>
              </a:tr>
              <a:tr h="501847">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1" i="0" u="none" strike="noStrike">
                          <a:solidFill>
                            <a:srgbClr val="000000"/>
                          </a:solidFill>
                          <a:effectLst/>
                          <a:latin typeface="Times New Roman" panose="02020603050405020304" pitchFamily="18" charset="0"/>
                          <a:cs typeface="Times New Roman" panose="02020603050405020304" pitchFamily="18" charset="0"/>
                        </a:rPr>
                        <a:t>A350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vi-V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26247348"/>
                  </a:ext>
                </a:extLst>
              </a:tr>
              <a:tr h="464672">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A350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599448090"/>
                  </a:ext>
                </a:extLst>
              </a:tr>
              <a:tr h="464672">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A350 Dừng (ENG + BD)</a:t>
                      </a:r>
                      <a:br>
                        <a:rPr lang="en-US" sz="1100" b="1" i="0" u="none" strike="noStrike">
                          <a:solidFill>
                            <a:srgbClr val="000000"/>
                          </a:solidFill>
                          <a:effectLst/>
                          <a:latin typeface="Times New Roman" panose="02020603050405020304" pitchFamily="18" charset="0"/>
                          <a:cs typeface="Times New Roman" panose="02020603050405020304" pitchFamily="18" charset="0"/>
                        </a:rPr>
                      </a:br>
                      <a:r>
                        <a:rPr lang="en-US" sz="1100" b="1" i="0" u="none" strike="noStrike">
                          <a:solidFill>
                            <a:srgbClr val="000000"/>
                          </a:solidFill>
                          <a:effectLst/>
                          <a:latin typeface="Times New Roman" panose="02020603050405020304" pitchFamily="18" charset="0"/>
                          <a:cs typeface="Times New Roman" panose="02020603050405020304" pitchFamily="18" charset="0"/>
                        </a:rPr>
                        <a:t>(3) = (1) +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5725728"/>
                  </a:ext>
                </a:extLst>
              </a:tr>
              <a:tr h="464672">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A350 thực tế có thể khai thác</a:t>
                      </a:r>
                      <a:br>
                        <a:rPr lang="en-US" sz="1100" b="1" i="0" u="none" strike="noStrike">
                          <a:solidFill>
                            <a:srgbClr val="000000"/>
                          </a:solidFill>
                          <a:effectLst/>
                          <a:latin typeface="Times New Roman" panose="02020603050405020304" pitchFamily="18" charset="0"/>
                          <a:cs typeface="Times New Roman" panose="02020603050405020304" pitchFamily="18" charset="0"/>
                        </a:rPr>
                      </a:br>
                      <a:r>
                        <a:rPr lang="en-US" sz="1100" b="1" i="0" u="none" strike="noStrike">
                          <a:solidFill>
                            <a:srgbClr val="000000"/>
                          </a:solidFill>
                          <a:effectLst/>
                          <a:latin typeface="Times New Roman" panose="02020603050405020304" pitchFamily="18" charset="0"/>
                          <a:cs typeface="Times New Roman" panose="02020603050405020304" pitchFamily="18" charset="0"/>
                        </a:rPr>
                        <a:t>(4) = 14 -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203465466"/>
                  </a:ext>
                </a:extLst>
              </a:tr>
              <a:tr h="673776">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1" i="0" u="none" strike="noStrike">
                          <a:solidFill>
                            <a:srgbClr val="000000"/>
                          </a:solidFill>
                          <a:effectLst/>
                          <a:latin typeface="Times New Roman" panose="02020603050405020304" pitchFamily="18" charset="0"/>
                          <a:cs typeface="Times New Roman" panose="02020603050405020304" pitchFamily="18" charset="0"/>
                        </a:rPr>
                        <a:t>B787 rủi ro AOG do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pt-BR"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25562536"/>
                  </a:ext>
                </a:extLst>
              </a:tr>
              <a:tr h="464672">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B787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0.7</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100" b="0" i="0" u="none" strike="noStrike" dirty="0" smtClean="0">
                          <a:solidFill>
                            <a:schemeClr val="tx1"/>
                          </a:solidFill>
                          <a:effectLst/>
                          <a:latin typeface="Times New Roman" panose="02020603050405020304" pitchFamily="18" charset="0"/>
                          <a:cs typeface="Times New Roman" panose="02020603050405020304" pitchFamily="18" charset="0"/>
                        </a:rPr>
                        <a:t>03/2025: </a:t>
                      </a:r>
                      <a:r>
                        <a:rPr lang="en-US" sz="1100" b="0" i="0" u="none" strike="noStrike" dirty="0" err="1" smtClean="0">
                          <a:solidFill>
                            <a:schemeClr val="tx1"/>
                          </a:solidFill>
                          <a:effectLst/>
                          <a:latin typeface="Times New Roman" panose="02020603050405020304" pitchFamily="18" charset="0"/>
                          <a:cs typeface="Times New Roman" panose="02020603050405020304" pitchFamily="18" charset="0"/>
                        </a:rPr>
                        <a:t>tăng</a:t>
                      </a:r>
                      <a:r>
                        <a:rPr lang="en-US" sz="1100" b="0" i="0" u="none" strike="noStrike" baseline="0" dirty="0" smtClean="0">
                          <a:solidFill>
                            <a:schemeClr val="tx1"/>
                          </a:solidFill>
                          <a:effectLst/>
                          <a:latin typeface="Times New Roman" panose="02020603050405020304" pitchFamily="18" charset="0"/>
                          <a:cs typeface="Times New Roman" panose="02020603050405020304" pitchFamily="18" charset="0"/>
                        </a:rPr>
                        <a:t> 0.3 </a:t>
                      </a:r>
                      <a:r>
                        <a:rPr lang="en-US" sz="1100" b="0" i="0" u="none" strike="noStrike" baseline="0" dirty="0" err="1" smtClean="0">
                          <a:solidFill>
                            <a:schemeClr val="tx1"/>
                          </a:solidFill>
                          <a:effectLst/>
                          <a:latin typeface="Times New Roman" panose="02020603050405020304" pitchFamily="18" charset="0"/>
                          <a:cs typeface="Times New Roman" panose="02020603050405020304" pitchFamily="18" charset="0"/>
                        </a:rPr>
                        <a:t>tàu</a:t>
                      </a:r>
                      <a:r>
                        <a:rPr lang="en-US" sz="1100" b="0" i="0" u="none" strike="noStrike" baseline="0" dirty="0" smtClean="0">
                          <a:solidFill>
                            <a:schemeClr val="tx1"/>
                          </a:solidFill>
                          <a:effectLst/>
                          <a:latin typeface="Times New Roman" panose="02020603050405020304" pitchFamily="18" charset="0"/>
                          <a:cs typeface="Times New Roman" panose="02020603050405020304" pitchFamily="18" charset="0"/>
                        </a:rPr>
                        <a:t> </a:t>
                      </a:r>
                      <a:r>
                        <a:rPr lang="en-US" sz="1100" b="0" i="0" u="none" strike="noStrike" baseline="0" dirty="0" err="1" smtClean="0">
                          <a:solidFill>
                            <a:schemeClr val="tx1"/>
                          </a:solidFill>
                          <a:effectLst/>
                          <a:latin typeface="Times New Roman" panose="02020603050405020304" pitchFamily="18" charset="0"/>
                          <a:cs typeface="Times New Roman" panose="02020603050405020304" pitchFamily="18" charset="0"/>
                        </a:rPr>
                        <a:t>dừng</a:t>
                      </a:r>
                      <a:r>
                        <a:rPr lang="en-US" sz="1100" b="0" i="0" u="none" strike="noStrike" baseline="0" dirty="0" smtClean="0">
                          <a:solidFill>
                            <a:schemeClr val="tx1"/>
                          </a:solidFill>
                          <a:effectLst/>
                          <a:latin typeface="Times New Roman" panose="02020603050405020304" pitchFamily="18" charset="0"/>
                          <a:cs typeface="Times New Roman" panose="02020603050405020304" pitchFamily="18" charset="0"/>
                        </a:rPr>
                        <a:t> do b</a:t>
                      </a:r>
                      <a:r>
                        <a:rPr lang="vi-VN" sz="1100" b="0" i="0" u="none" strike="noStrike" dirty="0" smtClean="0">
                          <a:solidFill>
                            <a:schemeClr val="tx1"/>
                          </a:solidFill>
                          <a:effectLst/>
                          <a:latin typeface="Times New Roman" panose="02020603050405020304" pitchFamily="18" charset="0"/>
                          <a:cs typeface="Times New Roman" panose="02020603050405020304" pitchFamily="18" charset="0"/>
                        </a:rPr>
                        <a:t>ổ </a:t>
                      </a:r>
                      <a:r>
                        <a:rPr lang="vi-VN" sz="1100" b="0" i="0" u="none" strike="noStrike" dirty="0">
                          <a:solidFill>
                            <a:schemeClr val="tx1"/>
                          </a:solidFill>
                          <a:effectLst/>
                          <a:latin typeface="Times New Roman" panose="02020603050405020304" pitchFamily="18" charset="0"/>
                          <a:cs typeface="Times New Roman" panose="02020603050405020304" pitchFamily="18" charset="0"/>
                        </a:rPr>
                        <a:t>sung sơn cánh A870 từ 18-27/03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175287393"/>
                  </a:ext>
                </a:extLst>
              </a:tr>
              <a:tr h="464672">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nb-NO" sz="1100" b="1" i="0" u="none" strike="noStrike">
                          <a:solidFill>
                            <a:srgbClr val="000000"/>
                          </a:solidFill>
                          <a:effectLst/>
                          <a:latin typeface="Times New Roman" panose="02020603050405020304" pitchFamily="18" charset="0"/>
                          <a:cs typeface="Times New Roman" panose="02020603050405020304" pitchFamily="18" charset="0"/>
                        </a:rPr>
                        <a:t>B787 Dừng (ENG + BD)</a:t>
                      </a:r>
                      <a:br>
                        <a:rPr lang="nb-NO" sz="1100" b="1" i="0" u="none" strike="noStrike">
                          <a:solidFill>
                            <a:srgbClr val="000000"/>
                          </a:solidFill>
                          <a:effectLst/>
                          <a:latin typeface="Times New Roman" panose="02020603050405020304" pitchFamily="18" charset="0"/>
                          <a:cs typeface="Times New Roman" panose="02020603050405020304" pitchFamily="18" charset="0"/>
                        </a:rPr>
                      </a:br>
                      <a:r>
                        <a:rPr lang="nb-NO" sz="1100" b="1" i="0" u="none" strike="noStrike">
                          <a:solidFill>
                            <a:srgbClr val="000000"/>
                          </a:solidFill>
                          <a:effectLst/>
                          <a:latin typeface="Times New Roman" panose="02020603050405020304" pitchFamily="18" charset="0"/>
                          <a:cs typeface="Times New Roman" panose="02020603050405020304" pitchFamily="18" charset="0"/>
                        </a:rPr>
                        <a:t>(7) = (5) + (6)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0.7</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9771950"/>
                  </a:ext>
                </a:extLst>
              </a:tr>
              <a:tr h="464672">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B787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16.3</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320910836"/>
                  </a:ext>
                </a:extLst>
              </a:tr>
              <a:tr h="464672">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A350/B787 dừng ( ENG + BD)</a:t>
                      </a:r>
                      <a:br>
                        <a:rPr lang="en-US" sz="1100" b="1" i="0" u="none" strike="noStrike">
                          <a:solidFill>
                            <a:srgbClr val="000000"/>
                          </a:solidFill>
                          <a:effectLst/>
                          <a:latin typeface="Times New Roman" panose="02020603050405020304" pitchFamily="18" charset="0"/>
                          <a:cs typeface="Times New Roman" panose="02020603050405020304" pitchFamily="18" charset="0"/>
                        </a:rPr>
                      </a:br>
                      <a:r>
                        <a:rPr lang="en-US" sz="1100" b="1" i="0" u="none" strike="noStrike">
                          <a:solidFill>
                            <a:srgbClr val="000000"/>
                          </a:solidFill>
                          <a:effectLst/>
                          <a:latin typeface="Times New Roman" panose="02020603050405020304" pitchFamily="18" charset="0"/>
                          <a:cs typeface="Times New Roman" panose="02020603050405020304" pitchFamily="18" charset="0"/>
                        </a:rPr>
                        <a:t>(9) = (3) + (7)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5.7</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41926528"/>
                  </a:ext>
                </a:extLst>
              </a:tr>
              <a:tr h="464672">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A350/B787 thực tế có thể khai thác</a:t>
                      </a:r>
                      <a:br>
                        <a:rPr lang="en-US" sz="1100" b="1" i="0" u="none" strike="noStrike">
                          <a:solidFill>
                            <a:srgbClr val="000000"/>
                          </a:solidFill>
                          <a:effectLst/>
                          <a:latin typeface="Times New Roman" panose="02020603050405020304" pitchFamily="18" charset="0"/>
                          <a:cs typeface="Times New Roman" panose="02020603050405020304" pitchFamily="18" charset="0"/>
                        </a:rPr>
                      </a:br>
                      <a:r>
                        <a:rPr lang="en-US" sz="1100" b="1" i="0" u="none" strike="noStrike">
                          <a:solidFill>
                            <a:srgbClr val="000000"/>
                          </a:solidFill>
                          <a:effectLst/>
                          <a:latin typeface="Times New Roman" panose="02020603050405020304" pitchFamily="18" charset="0"/>
                          <a:cs typeface="Times New Roman" panose="02020603050405020304" pitchFamily="18" charset="0"/>
                        </a:rPr>
                        <a:t>(10) = (8) + (4)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23.8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25.3</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24.5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553312171"/>
                  </a:ext>
                </a:extLst>
              </a:tr>
            </a:tbl>
          </a:graphicData>
        </a:graphic>
      </p:graphicFrame>
    </p:spTree>
    <p:extLst>
      <p:ext uri="{BB962C8B-B14F-4D97-AF65-F5344CB8AC3E}">
        <p14:creationId xmlns:p14="http://schemas.microsoft.com/office/powerpoint/2010/main" val="20616695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6"/>
          <p:cNvSpPr txBox="1"/>
          <p:nvPr/>
        </p:nvSpPr>
        <p:spPr>
          <a:xfrm>
            <a:off x="372872" y="527600"/>
            <a:ext cx="10715339" cy="543635"/>
          </a:xfrm>
          <a:prstGeom prst="rect">
            <a:avLst/>
          </a:prstGeom>
          <a:noFill/>
          <a:ln>
            <a:noFill/>
          </a:ln>
        </p:spPr>
        <p:txBody>
          <a:bodyPr spcFirstLastPara="1" wrap="square" lIns="91433" tIns="45700" rIns="91433" bIns="45700" anchor="t" anchorCtr="0">
            <a:spAutoFit/>
          </a:bodyPr>
          <a:lstStyle/>
          <a:p>
            <a:pPr defTabSz="1219170">
              <a:buClr>
                <a:srgbClr val="000000"/>
              </a:buClr>
            </a:pPr>
            <a:r>
              <a:rPr lang="en-US" sz="2933" b="1" kern="0" dirty="0">
                <a:ln w="0"/>
                <a:solidFill>
                  <a:srgbClr val="FBAC00"/>
                </a:solidFill>
                <a:latin typeface="Times New Roman" panose="02020603050405020304" pitchFamily="18" charset="0"/>
                <a:cs typeface="Times New Roman" panose="02020603050405020304" pitchFamily="18" charset="0"/>
                <a:sym typeface="Arial"/>
              </a:rPr>
              <a:t>CÔNG TÁC BÁN TRẢ/TIẾP NHẬN/BÀN GIAO TÀU BAY</a:t>
            </a:r>
            <a:endParaRPr sz="2933" kern="0" dirty="0">
              <a:solidFill>
                <a:srgbClr val="000000"/>
              </a:solidFill>
              <a:latin typeface="Arial"/>
              <a:cs typeface="Arial"/>
              <a:sym typeface="Arial"/>
            </a:endParaRPr>
          </a:p>
        </p:txBody>
      </p:sp>
      <p:sp>
        <p:nvSpPr>
          <p:cNvPr id="66" name="Google Shape;66;p6"/>
          <p:cNvSpPr txBox="1"/>
          <p:nvPr/>
        </p:nvSpPr>
        <p:spPr>
          <a:xfrm>
            <a:off x="519677" y="1231705"/>
            <a:ext cx="11337043" cy="1980245"/>
          </a:xfrm>
          <a:prstGeom prst="rect">
            <a:avLst/>
          </a:prstGeom>
          <a:noFill/>
          <a:ln>
            <a:noFill/>
          </a:ln>
        </p:spPr>
        <p:txBody>
          <a:bodyPr spcFirstLastPara="1" wrap="square" lIns="91433" tIns="45700" rIns="91433" bIns="45700" anchor="t" anchorCtr="0">
            <a:spAutoFit/>
          </a:bodyPr>
          <a:lstStyle/>
          <a:p>
            <a:pPr defTabSz="1219170">
              <a:buClr>
                <a:srgbClr val="000000"/>
              </a:buClr>
            </a:pPr>
            <a:r>
              <a:rPr lang="en-US" sz="1867" b="1" kern="0" dirty="0">
                <a:solidFill>
                  <a:srgbClr val="006880"/>
                </a:solidFill>
                <a:latin typeface="Montserrat SemiBold"/>
                <a:cs typeface="Arial"/>
                <a:sym typeface="Arial"/>
              </a:rPr>
              <a:t>   1. DỰ ÁN NHẬN TÀU BAY MỚI </a:t>
            </a:r>
          </a:p>
          <a:p>
            <a:pPr marL="0" lvl="2" defTabSz="1219170">
              <a:buClr>
                <a:srgbClr val="000000"/>
              </a:buClr>
            </a:pPr>
            <a:r>
              <a:rPr lang="en-US" sz="1867" kern="0" dirty="0">
                <a:solidFill>
                  <a:srgbClr val="008BA7"/>
                </a:solidFill>
                <a:latin typeface="Exo"/>
                <a:cs typeface="Arial"/>
                <a:sym typeface="Arial"/>
              </a:rPr>
              <a:t>    - Hoàn </a:t>
            </a:r>
            <a:r>
              <a:rPr lang="en-US" sz="1867" kern="0" dirty="0" err="1">
                <a:solidFill>
                  <a:srgbClr val="008BA7"/>
                </a:solidFill>
                <a:latin typeface="Exo"/>
                <a:cs typeface="Arial"/>
                <a:sym typeface="Arial"/>
              </a:rPr>
              <a:t>thành</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nhận</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tàu</a:t>
            </a:r>
            <a:r>
              <a:rPr lang="en-US" sz="1867" kern="0" dirty="0">
                <a:solidFill>
                  <a:srgbClr val="008BA7"/>
                </a:solidFill>
                <a:latin typeface="Exo"/>
                <a:cs typeface="Arial"/>
                <a:sym typeface="Arial"/>
              </a:rPr>
              <a:t> bay </a:t>
            </a:r>
            <a:r>
              <a:rPr lang="en-US" sz="1867" kern="0" dirty="0" err="1">
                <a:solidFill>
                  <a:srgbClr val="008BA7"/>
                </a:solidFill>
                <a:latin typeface="Exo"/>
                <a:cs typeface="Arial"/>
                <a:sym typeface="Arial"/>
              </a:rPr>
              <a:t>mới</a:t>
            </a:r>
            <a:r>
              <a:rPr lang="en-US" sz="1867" kern="0" dirty="0">
                <a:solidFill>
                  <a:srgbClr val="008BA7"/>
                </a:solidFill>
                <a:latin typeface="Exo"/>
                <a:cs typeface="Arial"/>
                <a:sym typeface="Arial"/>
              </a:rPr>
              <a:t> Airbus A320 NEO VN-A514/ MSN 12253 </a:t>
            </a:r>
            <a:r>
              <a:rPr lang="en-US" sz="1867" kern="0" dirty="0" err="1">
                <a:solidFill>
                  <a:srgbClr val="008BA7"/>
                </a:solidFill>
                <a:latin typeface="Exo"/>
                <a:cs typeface="Arial"/>
                <a:sym typeface="Arial"/>
              </a:rPr>
              <a:t>ngày</a:t>
            </a:r>
            <a:r>
              <a:rPr lang="en-US" sz="1867" kern="0" dirty="0">
                <a:solidFill>
                  <a:srgbClr val="008BA7"/>
                </a:solidFill>
                <a:latin typeface="Exo"/>
                <a:cs typeface="Arial"/>
                <a:sym typeface="Arial"/>
              </a:rPr>
              <a:t> 28/12/2024 </a:t>
            </a:r>
            <a:r>
              <a:rPr lang="en-US" sz="1867" kern="0" dirty="0" err="1">
                <a:solidFill>
                  <a:srgbClr val="008BA7"/>
                </a:solidFill>
                <a:latin typeface="Exo"/>
                <a:cs typeface="Arial"/>
                <a:sym typeface="Arial"/>
              </a:rPr>
              <a:t>tại</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Pháp</a:t>
            </a:r>
            <a:r>
              <a:rPr lang="en-US" sz="1867" kern="0" dirty="0">
                <a:solidFill>
                  <a:srgbClr val="008BA7"/>
                </a:solidFill>
                <a:latin typeface="Exo"/>
                <a:cs typeface="Arial"/>
                <a:sym typeface="Arial"/>
              </a:rPr>
              <a:t>.</a:t>
            </a:r>
          </a:p>
          <a:p>
            <a:pPr marL="228594" indent="-228594" defTabSz="1219170">
              <a:buClr>
                <a:srgbClr val="000000"/>
              </a:buClr>
              <a:buFont typeface="Arial" panose="020B0604020202020204" pitchFamily="34" charset="0"/>
              <a:buChar char="•"/>
            </a:pPr>
            <a:endParaRPr lang="en-US" sz="1867" kern="0" dirty="0">
              <a:solidFill>
                <a:srgbClr val="008BA7"/>
              </a:solidFill>
              <a:latin typeface="Exo"/>
              <a:cs typeface="Arial"/>
              <a:sym typeface="Arial"/>
            </a:endParaRPr>
          </a:p>
          <a:p>
            <a:pPr defTabSz="1219170">
              <a:buClr>
                <a:srgbClr val="000000"/>
              </a:buClr>
            </a:pPr>
            <a:endParaRPr lang="en-US" sz="1867" kern="0" dirty="0">
              <a:solidFill>
                <a:srgbClr val="008BA7"/>
              </a:solidFill>
              <a:latin typeface="Exo"/>
              <a:cs typeface="Arial"/>
              <a:sym typeface="Arial"/>
            </a:endParaRPr>
          </a:p>
          <a:p>
            <a:pPr marL="304792" indent="-304792" defTabSz="1219170">
              <a:buClr>
                <a:srgbClr val="000000"/>
              </a:buClr>
              <a:buFont typeface="Arial" panose="020B0604020202020204" pitchFamily="34" charset="0"/>
              <a:buChar char="•"/>
            </a:pPr>
            <a:endParaRPr lang="en-US" sz="1600" b="1" kern="0" dirty="0">
              <a:solidFill>
                <a:srgbClr val="006880"/>
              </a:solidFill>
              <a:latin typeface="Montserrat SemiBold"/>
              <a:cs typeface="Arial"/>
              <a:sym typeface="Arial"/>
            </a:endParaRPr>
          </a:p>
          <a:p>
            <a:pPr marL="304792" indent="-304792" defTabSz="1219170">
              <a:buClr>
                <a:srgbClr val="000000"/>
              </a:buClr>
              <a:buFont typeface="+mj-lt"/>
              <a:buAutoNum type="alphaUcPeriod"/>
            </a:pPr>
            <a:endParaRPr lang="en-US" sz="1600" b="1" kern="0" dirty="0">
              <a:solidFill>
                <a:srgbClr val="006880"/>
              </a:solidFill>
              <a:latin typeface="Montserrat SemiBold"/>
              <a:cs typeface="Arial"/>
              <a:sym typeface="Arial"/>
            </a:endParaRPr>
          </a:p>
          <a:p>
            <a:pPr defTabSz="1219170">
              <a:buClr>
                <a:srgbClr val="000000"/>
              </a:buClr>
            </a:pPr>
            <a:endParaRPr sz="1600" b="1" kern="0" dirty="0">
              <a:solidFill>
                <a:srgbClr val="006880"/>
              </a:solidFill>
              <a:latin typeface="Montserrat SemiBold"/>
              <a:cs typeface="Arial"/>
              <a:sym typeface="Arial"/>
            </a:endParaRPr>
          </a:p>
        </p:txBody>
      </p:sp>
      <p:sp>
        <p:nvSpPr>
          <p:cNvPr id="76" name="Google Shape;76;p6"/>
          <p:cNvSpPr txBox="1">
            <a:spLocks noGrp="1"/>
          </p:cNvSpPr>
          <p:nvPr>
            <p:ph type="sldNum" idx="12"/>
          </p:nvPr>
        </p:nvSpPr>
        <p:spPr>
          <a:xfrm>
            <a:off x="11296611" y="6217623"/>
            <a:ext cx="731600" cy="524800"/>
          </a:xfrm>
          <a:prstGeom prst="rect">
            <a:avLst/>
          </a:prstGeom>
        </p:spPr>
        <p:txBody>
          <a:bodyPr spcFirstLastPara="1" wrap="square" lIns="121900" tIns="121900" rIns="121900" bIns="121900" anchor="ctr" anchorCtr="0">
            <a:normAutofit/>
          </a:bodyPr>
          <a:lstStyle/>
          <a:p>
            <a:pPr defTabSz="1219170">
              <a:buClr>
                <a:srgbClr val="000000"/>
              </a:buClr>
            </a:pPr>
            <a:fld id="{00000000-1234-1234-1234-123412341234}" type="slidenum">
              <a:rPr lang="vi" kern="0">
                <a:solidFill>
                  <a:srgbClr val="595959"/>
                </a:solidFill>
                <a:latin typeface="Arial"/>
                <a:cs typeface="Arial"/>
                <a:sym typeface="Arial"/>
              </a:rPr>
              <a:pPr defTabSz="1219170">
                <a:buClr>
                  <a:srgbClr val="000000"/>
                </a:buClr>
              </a:pPr>
              <a:t>44</a:t>
            </a:fld>
            <a:endParaRPr kern="0">
              <a:solidFill>
                <a:srgbClr val="595959"/>
              </a:solidFill>
              <a:latin typeface="Arial"/>
              <a:cs typeface="Arial"/>
              <a:sym typeface="Arial"/>
            </a:endParaRPr>
          </a:p>
        </p:txBody>
      </p:sp>
      <p:sp>
        <p:nvSpPr>
          <p:cNvPr id="5" name="Google Shape;66;p6">
            <a:extLst>
              <a:ext uri="{FF2B5EF4-FFF2-40B4-BE49-F238E27FC236}">
                <a16:creationId xmlns:a16="http://schemas.microsoft.com/office/drawing/2014/main" id="{AA9B0D3D-0DAD-44FC-823C-85BE98B011B3}"/>
              </a:ext>
            </a:extLst>
          </p:cNvPr>
          <p:cNvSpPr txBox="1"/>
          <p:nvPr/>
        </p:nvSpPr>
        <p:spPr>
          <a:xfrm>
            <a:off x="691168" y="2083189"/>
            <a:ext cx="11337043" cy="5345782"/>
          </a:xfrm>
          <a:prstGeom prst="rect">
            <a:avLst/>
          </a:prstGeom>
          <a:noFill/>
          <a:ln>
            <a:noFill/>
          </a:ln>
        </p:spPr>
        <p:txBody>
          <a:bodyPr spcFirstLastPara="1" wrap="square" lIns="91433" tIns="45700" rIns="91433" bIns="45700" anchor="t" anchorCtr="0">
            <a:spAutoFit/>
          </a:bodyPr>
          <a:lstStyle/>
          <a:p>
            <a:pPr defTabSz="1219170">
              <a:buClr>
                <a:srgbClr val="000000"/>
              </a:buClr>
            </a:pPr>
            <a:r>
              <a:rPr lang="en-US" sz="1867" b="1" kern="0" dirty="0">
                <a:solidFill>
                  <a:srgbClr val="006880"/>
                </a:solidFill>
                <a:latin typeface="Montserrat SemiBold"/>
                <a:cs typeface="Arial"/>
                <a:sym typeface="Arial"/>
              </a:rPr>
              <a:t>2. GIA HẠN THUÊ 10 TÀU VALC </a:t>
            </a:r>
          </a:p>
          <a:p>
            <a:pPr defTabSz="1219170">
              <a:buClr>
                <a:srgbClr val="000000"/>
              </a:buClr>
            </a:pPr>
            <a:r>
              <a:rPr lang="en-US" sz="1867" kern="0" dirty="0">
                <a:solidFill>
                  <a:srgbClr val="008BA7"/>
                </a:solidFill>
                <a:latin typeface="Exo"/>
                <a:cs typeface="Arial"/>
                <a:sym typeface="Arial"/>
              </a:rPr>
              <a:t>VNA </a:t>
            </a:r>
            <a:r>
              <a:rPr lang="en-US" sz="1867" kern="0" dirty="0" err="1">
                <a:solidFill>
                  <a:srgbClr val="008BA7"/>
                </a:solidFill>
                <a:latin typeface="Exo"/>
                <a:cs typeface="Arial"/>
                <a:sym typeface="Arial"/>
              </a:rPr>
              <a:t>và</a:t>
            </a:r>
            <a:r>
              <a:rPr lang="en-US" sz="1867" kern="0" dirty="0">
                <a:solidFill>
                  <a:srgbClr val="008BA7"/>
                </a:solidFill>
                <a:latin typeface="Exo"/>
                <a:cs typeface="Arial"/>
                <a:sym typeface="Arial"/>
              </a:rPr>
              <a:t> VALC </a:t>
            </a:r>
            <a:r>
              <a:rPr lang="en-US" sz="1867" kern="0" dirty="0" err="1">
                <a:solidFill>
                  <a:srgbClr val="008BA7"/>
                </a:solidFill>
                <a:latin typeface="Exo"/>
                <a:cs typeface="Arial"/>
                <a:sym typeface="Arial"/>
              </a:rPr>
              <a:t>đã</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đồng</a:t>
            </a:r>
            <a:r>
              <a:rPr lang="en-US" sz="1867" kern="0" dirty="0">
                <a:solidFill>
                  <a:srgbClr val="008BA7"/>
                </a:solidFill>
                <a:latin typeface="Exo"/>
                <a:cs typeface="Arial"/>
                <a:sym typeface="Arial"/>
              </a:rPr>
              <a:t> ý </a:t>
            </a:r>
            <a:r>
              <a:rPr lang="en-US" sz="1867" kern="0" dirty="0" err="1">
                <a:solidFill>
                  <a:srgbClr val="008BA7"/>
                </a:solidFill>
                <a:latin typeface="Exo"/>
                <a:cs typeface="Arial"/>
                <a:sym typeface="Arial"/>
              </a:rPr>
              <a:t>gia</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hạn</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tạm</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thời</a:t>
            </a:r>
            <a:r>
              <a:rPr lang="en-US" sz="1867" kern="0" dirty="0">
                <a:solidFill>
                  <a:srgbClr val="008BA7"/>
                </a:solidFill>
                <a:latin typeface="Exo"/>
                <a:cs typeface="Arial"/>
                <a:sym typeface="Arial"/>
              </a:rPr>
              <a:t> 10 </a:t>
            </a:r>
            <a:r>
              <a:rPr lang="en-US" sz="1867" kern="0" dirty="0" err="1">
                <a:solidFill>
                  <a:srgbClr val="008BA7"/>
                </a:solidFill>
                <a:latin typeface="Exo"/>
                <a:cs typeface="Arial"/>
                <a:sym typeface="Arial"/>
              </a:rPr>
              <a:t>tàu</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thuê</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đến</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hết</a:t>
            </a:r>
            <a:r>
              <a:rPr lang="en-US" sz="1867" kern="0" dirty="0">
                <a:solidFill>
                  <a:srgbClr val="008BA7"/>
                </a:solidFill>
                <a:latin typeface="Exo"/>
                <a:cs typeface="Arial"/>
                <a:sym typeface="Arial"/>
              </a:rPr>
              <a:t> 31/03/2025. </a:t>
            </a:r>
            <a:r>
              <a:rPr lang="en-US" sz="1867" kern="0" dirty="0" err="1">
                <a:solidFill>
                  <a:srgbClr val="008BA7"/>
                </a:solidFill>
                <a:latin typeface="Exo"/>
                <a:cs typeface="Arial"/>
                <a:sym typeface="Arial"/>
              </a:rPr>
              <a:t>Hiện</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có</a:t>
            </a:r>
            <a:r>
              <a:rPr lang="en-US" sz="1867" kern="0" dirty="0">
                <a:solidFill>
                  <a:srgbClr val="008BA7"/>
                </a:solidFill>
                <a:latin typeface="Exo"/>
                <a:cs typeface="Arial"/>
                <a:sym typeface="Arial"/>
              </a:rPr>
              <a:t> 02 </a:t>
            </a:r>
            <a:r>
              <a:rPr lang="en-US" sz="1867" kern="0" dirty="0" err="1">
                <a:solidFill>
                  <a:srgbClr val="008BA7"/>
                </a:solidFill>
                <a:latin typeface="Exo"/>
                <a:cs typeface="Arial"/>
                <a:sym typeface="Arial"/>
              </a:rPr>
              <a:t>đối</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tác</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quan</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tâm</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tới</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mua</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và</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cho</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thuê</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lại</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tàu</a:t>
            </a:r>
            <a:r>
              <a:rPr lang="en-US" sz="1867" kern="0" dirty="0">
                <a:solidFill>
                  <a:srgbClr val="008BA7"/>
                </a:solidFill>
                <a:latin typeface="Exo"/>
                <a:cs typeface="Arial"/>
                <a:sym typeface="Arial"/>
              </a:rPr>
              <a:t> bay </a:t>
            </a:r>
            <a:r>
              <a:rPr lang="en-US" sz="1867" kern="0" dirty="0" err="1">
                <a:solidFill>
                  <a:srgbClr val="008BA7"/>
                </a:solidFill>
                <a:latin typeface="Exo"/>
                <a:cs typeface="Arial"/>
                <a:sym typeface="Arial"/>
              </a:rPr>
              <a:t>là</a:t>
            </a:r>
            <a:r>
              <a:rPr lang="en-US" sz="1867" kern="0" dirty="0">
                <a:solidFill>
                  <a:srgbClr val="008BA7"/>
                </a:solidFill>
                <a:latin typeface="Exo"/>
                <a:cs typeface="Arial"/>
                <a:sym typeface="Arial"/>
              </a:rPr>
              <a:t> Arena </a:t>
            </a:r>
            <a:r>
              <a:rPr lang="en-US" sz="1867" kern="0" dirty="0" err="1">
                <a:solidFill>
                  <a:srgbClr val="008BA7"/>
                </a:solidFill>
                <a:latin typeface="Exo"/>
                <a:cs typeface="Arial"/>
                <a:sym typeface="Arial"/>
              </a:rPr>
              <a:t>và</a:t>
            </a:r>
            <a:r>
              <a:rPr lang="en-US" sz="1867" kern="0" dirty="0">
                <a:solidFill>
                  <a:srgbClr val="008BA7"/>
                </a:solidFill>
                <a:latin typeface="Exo"/>
                <a:cs typeface="Arial"/>
                <a:sym typeface="Arial"/>
              </a:rPr>
              <a:t> FTAI</a:t>
            </a:r>
          </a:p>
          <a:p>
            <a:pPr defTabSz="1219170">
              <a:buClr>
                <a:srgbClr val="000000"/>
              </a:buClr>
            </a:pPr>
            <a:r>
              <a:rPr lang="en-US" sz="1867" kern="0" dirty="0">
                <a:solidFill>
                  <a:srgbClr val="008BA7"/>
                </a:solidFill>
                <a:latin typeface="Exo"/>
                <a:cs typeface="Arial"/>
                <a:sym typeface="Arial"/>
              </a:rPr>
              <a:t>2.1 Arena: </a:t>
            </a:r>
            <a:r>
              <a:rPr lang="en-US" sz="1867" kern="0" dirty="0" err="1">
                <a:solidFill>
                  <a:srgbClr val="008BA7"/>
                </a:solidFill>
                <a:latin typeface="Exo"/>
                <a:cs typeface="Arial"/>
                <a:sym typeface="Arial"/>
              </a:rPr>
              <a:t>Bản</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chào</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gia</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hạn</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thuê</a:t>
            </a:r>
            <a:r>
              <a:rPr lang="en-US" sz="1867" kern="0" dirty="0">
                <a:solidFill>
                  <a:srgbClr val="008BA7"/>
                </a:solidFill>
                <a:latin typeface="Exo"/>
                <a:cs typeface="Arial"/>
                <a:sym typeface="Arial"/>
              </a:rPr>
              <a:t> 10 </a:t>
            </a:r>
            <a:r>
              <a:rPr lang="en-US" sz="1867" kern="0" dirty="0" err="1">
                <a:solidFill>
                  <a:srgbClr val="008BA7"/>
                </a:solidFill>
                <a:latin typeface="Exo"/>
                <a:cs typeface="Arial"/>
                <a:sym typeface="Arial"/>
              </a:rPr>
              <a:t>tàu</a:t>
            </a:r>
            <a:r>
              <a:rPr lang="en-US" sz="1867" kern="0" dirty="0">
                <a:solidFill>
                  <a:srgbClr val="008BA7"/>
                </a:solidFill>
                <a:latin typeface="Exo"/>
                <a:cs typeface="Arial"/>
                <a:sym typeface="Arial"/>
              </a:rPr>
              <a:t> A321 </a:t>
            </a:r>
            <a:r>
              <a:rPr lang="en-US" sz="1867" kern="0" dirty="0" err="1">
                <a:solidFill>
                  <a:srgbClr val="008BA7"/>
                </a:solidFill>
                <a:latin typeface="Exo"/>
                <a:cs typeface="Arial"/>
                <a:sym typeface="Arial"/>
              </a:rPr>
              <a:t>với</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thời</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gian</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trung</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bình</a:t>
            </a:r>
            <a:r>
              <a:rPr lang="en-US" sz="1867" kern="0" dirty="0">
                <a:solidFill>
                  <a:srgbClr val="008BA7"/>
                </a:solidFill>
                <a:latin typeface="Exo"/>
                <a:cs typeface="Arial"/>
                <a:sym typeface="Arial"/>
              </a:rPr>
              <a:t> 5 </a:t>
            </a:r>
            <a:r>
              <a:rPr lang="en-US" sz="1867" kern="0" dirty="0" err="1">
                <a:solidFill>
                  <a:srgbClr val="008BA7"/>
                </a:solidFill>
                <a:latin typeface="Exo"/>
                <a:cs typeface="Arial"/>
                <a:sym typeface="Arial"/>
              </a:rPr>
              <a:t>năm</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hiện</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đang</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trong</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quá</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trình</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đàm</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phán</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gia</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hạn</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Cơ</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bản</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đã</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đàm</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phán</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thống</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nhất</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các</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nội</a:t>
            </a:r>
            <a:r>
              <a:rPr lang="en-US" sz="1867" kern="0" dirty="0">
                <a:solidFill>
                  <a:srgbClr val="008BA7"/>
                </a:solidFill>
                <a:latin typeface="Exo"/>
                <a:cs typeface="Arial"/>
                <a:sym typeface="Arial"/>
              </a:rPr>
              <a:t> dung </a:t>
            </a:r>
            <a:r>
              <a:rPr lang="en-US" sz="1867" kern="0" dirty="0" err="1">
                <a:solidFill>
                  <a:srgbClr val="008BA7"/>
                </a:solidFill>
                <a:latin typeface="Exo"/>
                <a:cs typeface="Arial"/>
                <a:sym typeface="Arial"/>
              </a:rPr>
              <a:t>liên</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quan</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tới</a:t>
            </a:r>
            <a:r>
              <a:rPr lang="en-US" sz="1867" kern="0" dirty="0">
                <a:solidFill>
                  <a:srgbClr val="008BA7"/>
                </a:solidFill>
                <a:latin typeface="Exo"/>
                <a:cs typeface="Arial"/>
                <a:sym typeface="Arial"/>
              </a:rPr>
              <a:t> KT</a:t>
            </a:r>
          </a:p>
          <a:p>
            <a:pPr defTabSz="1219170">
              <a:buClr>
                <a:srgbClr val="000000"/>
              </a:buClr>
            </a:pPr>
            <a:r>
              <a:rPr lang="en-US" sz="1867" kern="0" dirty="0" err="1">
                <a:solidFill>
                  <a:srgbClr val="008BA7"/>
                </a:solidFill>
                <a:latin typeface="Exo"/>
                <a:cs typeface="Arial"/>
                <a:sym typeface="Arial"/>
              </a:rPr>
              <a:t>Các</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vấn</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đề</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lớn</a:t>
            </a:r>
            <a:r>
              <a:rPr lang="en-US" sz="1867" kern="0" dirty="0">
                <a:solidFill>
                  <a:srgbClr val="008BA7"/>
                </a:solidFill>
                <a:latin typeface="Exo"/>
                <a:cs typeface="Arial"/>
                <a:sym typeface="Arial"/>
              </a:rPr>
              <a:t> / </a:t>
            </a:r>
            <a:r>
              <a:rPr lang="en-US" sz="1867" kern="0" dirty="0" err="1">
                <a:solidFill>
                  <a:srgbClr val="008BA7"/>
                </a:solidFill>
                <a:latin typeface="Exo"/>
                <a:cs typeface="Arial"/>
                <a:sym typeface="Arial"/>
              </a:rPr>
              <a:t>cơ</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bản</a:t>
            </a:r>
            <a:r>
              <a:rPr lang="en-US" sz="1867" kern="0" dirty="0">
                <a:solidFill>
                  <a:srgbClr val="008BA7"/>
                </a:solidFill>
                <a:latin typeface="Exo"/>
                <a:cs typeface="Arial"/>
                <a:sym typeface="Arial"/>
              </a:rPr>
              <a:t> Arena </a:t>
            </a:r>
            <a:r>
              <a:rPr lang="en-US" sz="1867" kern="0" dirty="0" err="1">
                <a:solidFill>
                  <a:srgbClr val="008BA7"/>
                </a:solidFill>
                <a:latin typeface="Exo"/>
                <a:cs typeface="Arial"/>
                <a:sym typeface="Arial"/>
              </a:rPr>
              <a:t>đang</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đề</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xuất</a:t>
            </a:r>
            <a:r>
              <a:rPr lang="en-US" sz="1867" kern="0" dirty="0">
                <a:solidFill>
                  <a:srgbClr val="008BA7"/>
                </a:solidFill>
                <a:latin typeface="Exo"/>
                <a:cs typeface="Arial"/>
                <a:sym typeface="Arial"/>
              </a:rPr>
              <a:t>:</a:t>
            </a:r>
          </a:p>
          <a:p>
            <a:pPr marL="0" lvl="1" algn="just" defTabSz="1219170">
              <a:spcBef>
                <a:spcPts val="800"/>
              </a:spcBef>
              <a:spcAft>
                <a:spcPts val="800"/>
              </a:spcAft>
              <a:buClr>
                <a:srgbClr val="000000"/>
              </a:buClr>
            </a:pPr>
            <a:r>
              <a:rPr lang="en-US" sz="1867" kern="0" dirty="0">
                <a:solidFill>
                  <a:srgbClr val="008BA7"/>
                </a:solidFill>
                <a:latin typeface="Exo"/>
                <a:cs typeface="Arial"/>
                <a:sym typeface="Arial"/>
              </a:rPr>
              <a:t>a. </a:t>
            </a:r>
            <a:r>
              <a:rPr lang="vi-VN" sz="1867" kern="0" dirty="0">
                <a:solidFill>
                  <a:srgbClr val="008BA7"/>
                </a:solidFill>
                <a:latin typeface="Exo"/>
                <a:cs typeface="Arial"/>
                <a:sym typeface="Arial"/>
              </a:rPr>
              <a:t>10 tàu bay cần được duy trì khả năng khai thác sau khi hết hợp đồng gia hạn với Arena.</a:t>
            </a:r>
          </a:p>
          <a:p>
            <a:pPr marL="0" lvl="1" algn="just" defTabSz="1219170">
              <a:spcBef>
                <a:spcPts val="800"/>
              </a:spcBef>
              <a:spcAft>
                <a:spcPts val="800"/>
              </a:spcAft>
              <a:buClr>
                <a:srgbClr val="000000"/>
              </a:buClr>
            </a:pPr>
            <a:r>
              <a:rPr lang="en-US" sz="1867" kern="0" dirty="0">
                <a:solidFill>
                  <a:srgbClr val="008BA7"/>
                </a:solidFill>
                <a:latin typeface="Exo"/>
                <a:cs typeface="Arial"/>
                <a:sym typeface="Arial"/>
              </a:rPr>
              <a:t>b.</a:t>
            </a:r>
            <a:r>
              <a:rPr lang="vi-VN" sz="1867" kern="0" dirty="0">
                <a:solidFill>
                  <a:srgbClr val="008BA7"/>
                </a:solidFill>
                <a:latin typeface="Exo"/>
                <a:cs typeface="Arial"/>
                <a:sym typeface="Arial"/>
              </a:rPr>
              <a:t>Thực hiện balancing quỹ bảo dưỡng sau khi kết thúc gia hạn thuê.</a:t>
            </a:r>
          </a:p>
          <a:p>
            <a:pPr marL="0" lvl="1" algn="just" defTabSz="1219170">
              <a:spcBef>
                <a:spcPts val="800"/>
              </a:spcBef>
              <a:spcAft>
                <a:spcPts val="800"/>
              </a:spcAft>
              <a:buClr>
                <a:srgbClr val="000000"/>
              </a:buClr>
            </a:pPr>
            <a:r>
              <a:rPr lang="en-US" sz="1867" kern="0" dirty="0">
                <a:solidFill>
                  <a:srgbClr val="008BA7"/>
                </a:solidFill>
                <a:latin typeface="Exo"/>
                <a:cs typeface="Arial"/>
                <a:sym typeface="Arial"/>
              </a:rPr>
              <a:t>c.</a:t>
            </a:r>
            <a:r>
              <a:rPr lang="vi-VN" sz="1867" kern="0" dirty="0">
                <a:solidFill>
                  <a:srgbClr val="008BA7"/>
                </a:solidFill>
                <a:latin typeface="Exo"/>
                <a:cs typeface="Arial"/>
                <a:sym typeface="Arial"/>
              </a:rPr>
              <a:t>Đồng ý giảm MR và đề xuất phương án buy-out</a:t>
            </a:r>
            <a:r>
              <a:rPr lang="en-US" sz="1867" kern="0" dirty="0">
                <a:solidFill>
                  <a:srgbClr val="008BA7"/>
                </a:solidFill>
                <a:latin typeface="Exo"/>
                <a:cs typeface="Arial"/>
                <a:sym typeface="Arial"/>
              </a:rPr>
              <a:t> </a:t>
            </a:r>
            <a:r>
              <a:rPr lang="vi-VN" sz="1867" kern="0" dirty="0">
                <a:solidFill>
                  <a:srgbClr val="008BA7"/>
                </a:solidFill>
                <a:latin typeface="Exo"/>
                <a:cs typeface="Arial"/>
                <a:sym typeface="Arial"/>
              </a:rPr>
              <a:t>cho </a:t>
            </a:r>
            <a:r>
              <a:rPr lang="en-US" sz="1867" kern="0" dirty="0" err="1">
                <a:solidFill>
                  <a:srgbClr val="008BA7"/>
                </a:solidFill>
                <a:latin typeface="Exo"/>
                <a:cs typeface="Arial"/>
                <a:sym typeface="Arial"/>
              </a:rPr>
              <a:t>một</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số</a:t>
            </a:r>
            <a:r>
              <a:rPr lang="en-US" sz="1867" kern="0" dirty="0">
                <a:solidFill>
                  <a:srgbClr val="008BA7"/>
                </a:solidFill>
                <a:latin typeface="Exo"/>
                <a:cs typeface="Arial"/>
                <a:sym typeface="Arial"/>
              </a:rPr>
              <a:t> </a:t>
            </a:r>
            <a:r>
              <a:rPr lang="vi-VN" sz="1867" kern="0" dirty="0">
                <a:solidFill>
                  <a:srgbClr val="008BA7"/>
                </a:solidFill>
                <a:latin typeface="Exo"/>
                <a:cs typeface="Arial"/>
                <a:sym typeface="Arial"/>
              </a:rPr>
              <a:t>điều kiện trả</a:t>
            </a:r>
            <a:r>
              <a:rPr lang="en-US" sz="1867" kern="0" dirty="0">
                <a:solidFill>
                  <a:srgbClr val="008BA7"/>
                </a:solidFill>
                <a:latin typeface="Exo"/>
                <a:cs typeface="Arial"/>
                <a:sym typeface="Arial"/>
              </a:rPr>
              <a:t>.</a:t>
            </a:r>
          </a:p>
          <a:p>
            <a:pPr marL="0" lvl="1" algn="just" defTabSz="1219170">
              <a:spcBef>
                <a:spcPts val="800"/>
              </a:spcBef>
              <a:spcAft>
                <a:spcPts val="800"/>
              </a:spcAft>
              <a:buClr>
                <a:srgbClr val="000000"/>
              </a:buClr>
            </a:pPr>
            <a:r>
              <a:rPr lang="en-US" sz="1867" kern="0" dirty="0">
                <a:solidFill>
                  <a:srgbClr val="008BA7"/>
                </a:solidFill>
                <a:latin typeface="Exo"/>
                <a:cs typeface="Arial"/>
                <a:sym typeface="Arial"/>
              </a:rPr>
              <a:t>2.2 FTAI: </a:t>
            </a:r>
            <a:r>
              <a:rPr lang="en-US" sz="1867" kern="0" dirty="0" err="1">
                <a:solidFill>
                  <a:srgbClr val="008BA7"/>
                </a:solidFill>
                <a:latin typeface="Exo"/>
                <a:cs typeface="Arial"/>
                <a:sym typeface="Arial"/>
              </a:rPr>
              <a:t>Bản</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chào</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thuê</a:t>
            </a:r>
            <a:r>
              <a:rPr lang="en-US" sz="1867" kern="0" dirty="0">
                <a:solidFill>
                  <a:srgbClr val="008BA7"/>
                </a:solidFill>
                <a:latin typeface="Exo"/>
                <a:cs typeface="Arial"/>
                <a:sym typeface="Arial"/>
              </a:rPr>
              <a:t> 10 </a:t>
            </a:r>
            <a:r>
              <a:rPr lang="en-US" sz="1867" kern="0" dirty="0" err="1">
                <a:solidFill>
                  <a:srgbClr val="008BA7"/>
                </a:solidFill>
                <a:latin typeface="Exo"/>
                <a:cs typeface="Arial"/>
                <a:sym typeface="Arial"/>
              </a:rPr>
              <a:t>tàu</a:t>
            </a:r>
            <a:r>
              <a:rPr lang="en-US" sz="1867" kern="0" dirty="0">
                <a:solidFill>
                  <a:srgbClr val="008BA7"/>
                </a:solidFill>
                <a:latin typeface="Exo"/>
                <a:cs typeface="Arial"/>
                <a:sym typeface="Arial"/>
              </a:rPr>
              <a:t> A321 </a:t>
            </a:r>
            <a:r>
              <a:rPr lang="en-US" sz="1867" kern="0" dirty="0" err="1">
                <a:solidFill>
                  <a:srgbClr val="008BA7"/>
                </a:solidFill>
                <a:latin typeface="Exo"/>
                <a:cs typeface="Arial"/>
                <a:sym typeface="Arial"/>
              </a:rPr>
              <a:t>với</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điều</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kiện</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trả</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là</a:t>
            </a:r>
            <a:r>
              <a:rPr lang="en-US" sz="1867" kern="0" dirty="0">
                <a:solidFill>
                  <a:srgbClr val="008BA7"/>
                </a:solidFill>
                <a:latin typeface="Exo"/>
                <a:cs typeface="Arial"/>
                <a:sym typeface="Arial"/>
              </a:rPr>
              <a:t> As-is, </a:t>
            </a:r>
            <a:r>
              <a:rPr lang="en-US" sz="1867" kern="0" dirty="0" err="1">
                <a:solidFill>
                  <a:srgbClr val="008BA7"/>
                </a:solidFill>
                <a:latin typeface="Exo"/>
                <a:cs typeface="Arial"/>
                <a:sym typeface="Arial"/>
              </a:rPr>
              <a:t>có</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đảm</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bảo</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hỗ</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trợ</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động</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cơ</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khai</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thác</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đến</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hết</a:t>
            </a:r>
            <a:r>
              <a:rPr lang="en-US" sz="1867" kern="0" dirty="0">
                <a:solidFill>
                  <a:srgbClr val="008BA7"/>
                </a:solidFill>
                <a:latin typeface="Exo"/>
                <a:cs typeface="Arial"/>
                <a:sym typeface="Arial"/>
              </a:rPr>
              <a:t> run-out. </a:t>
            </a:r>
            <a:r>
              <a:rPr lang="en-US" sz="1867" kern="0" dirty="0" err="1">
                <a:solidFill>
                  <a:srgbClr val="008BA7"/>
                </a:solidFill>
                <a:latin typeface="Exo"/>
                <a:cs typeface="Arial"/>
                <a:sym typeface="Arial"/>
              </a:rPr>
              <a:t>Không</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phải</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thực</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hiện</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đóng</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quỹ</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ngoại</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trừ</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động</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cơ</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Bàn</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chào</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có</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nhiều</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thuận</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lợi</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cho</a:t>
            </a:r>
            <a:r>
              <a:rPr lang="en-US" sz="1867" kern="0" dirty="0">
                <a:solidFill>
                  <a:srgbClr val="008BA7"/>
                </a:solidFill>
                <a:latin typeface="Exo"/>
                <a:cs typeface="Arial"/>
                <a:sym typeface="Arial"/>
              </a:rPr>
              <a:t> VNA </a:t>
            </a:r>
            <a:r>
              <a:rPr lang="en-US" sz="1867" kern="0" dirty="0" err="1">
                <a:solidFill>
                  <a:srgbClr val="008BA7"/>
                </a:solidFill>
                <a:latin typeface="Exo"/>
                <a:cs typeface="Arial"/>
                <a:sym typeface="Arial"/>
              </a:rPr>
              <a:t>trong</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quá</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trình</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khai</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thác</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và</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trả</a:t>
            </a:r>
            <a:r>
              <a:rPr lang="en-US" sz="1867" kern="0" dirty="0">
                <a:solidFill>
                  <a:srgbClr val="008BA7"/>
                </a:solidFill>
                <a:latin typeface="Exo"/>
                <a:cs typeface="Arial"/>
                <a:sym typeface="Arial"/>
              </a:rPr>
              <a:t> </a:t>
            </a:r>
            <a:r>
              <a:rPr lang="en-US" sz="1867" kern="0" dirty="0" err="1">
                <a:solidFill>
                  <a:srgbClr val="008BA7"/>
                </a:solidFill>
                <a:latin typeface="Exo"/>
                <a:cs typeface="Arial"/>
                <a:sym typeface="Arial"/>
              </a:rPr>
              <a:t>tàu</a:t>
            </a:r>
            <a:r>
              <a:rPr lang="en-US" sz="1867" kern="0" dirty="0">
                <a:solidFill>
                  <a:srgbClr val="008BA7"/>
                </a:solidFill>
                <a:latin typeface="Exo"/>
                <a:cs typeface="Arial"/>
                <a:sym typeface="Arial"/>
              </a:rPr>
              <a:t> bay. </a:t>
            </a:r>
          </a:p>
          <a:p>
            <a:pPr defTabSz="1219170">
              <a:buClr>
                <a:srgbClr val="000000"/>
              </a:buClr>
            </a:pPr>
            <a:endParaRPr lang="en-US" sz="1600" kern="0" dirty="0">
              <a:solidFill>
                <a:srgbClr val="000000"/>
              </a:solidFill>
              <a:latin typeface="Calibri" panose="020F0502020204030204" pitchFamily="34" charset="0"/>
              <a:cs typeface="Calibri" panose="020F0502020204030204" pitchFamily="34" charset="0"/>
              <a:sym typeface="Arial"/>
            </a:endParaRPr>
          </a:p>
          <a:p>
            <a:pPr marL="304792" indent="-304792" defTabSz="1219170">
              <a:buClr>
                <a:srgbClr val="000000"/>
              </a:buClr>
              <a:buFont typeface="Arial" panose="020B0604020202020204" pitchFamily="34" charset="0"/>
              <a:buChar char="•"/>
            </a:pPr>
            <a:endParaRPr lang="en-US" sz="1600" b="1" kern="0" dirty="0">
              <a:solidFill>
                <a:srgbClr val="006880"/>
              </a:solidFill>
              <a:latin typeface="Montserrat SemiBold"/>
              <a:cs typeface="Arial"/>
              <a:sym typeface="Arial"/>
            </a:endParaRPr>
          </a:p>
          <a:p>
            <a:pPr marL="304792" indent="-304792" defTabSz="1219170">
              <a:buClr>
                <a:srgbClr val="000000"/>
              </a:buClr>
              <a:buFont typeface="+mj-lt"/>
              <a:buAutoNum type="alphaUcPeriod"/>
            </a:pPr>
            <a:endParaRPr lang="en-US" sz="1600" b="1" kern="0" dirty="0">
              <a:solidFill>
                <a:srgbClr val="006880"/>
              </a:solidFill>
              <a:latin typeface="Montserrat SemiBold"/>
              <a:cs typeface="Arial"/>
              <a:sym typeface="Arial"/>
            </a:endParaRPr>
          </a:p>
          <a:p>
            <a:pPr defTabSz="1219170">
              <a:buClr>
                <a:srgbClr val="000000"/>
              </a:buClr>
            </a:pPr>
            <a:endParaRPr sz="1600" b="1" kern="0" dirty="0">
              <a:solidFill>
                <a:srgbClr val="006880"/>
              </a:solidFill>
              <a:latin typeface="Montserrat SemiBold"/>
              <a:cs typeface="Arial"/>
              <a:sym typeface="Arial"/>
            </a:endParaRPr>
          </a:p>
        </p:txBody>
      </p:sp>
    </p:spTree>
    <p:extLst>
      <p:ext uri="{BB962C8B-B14F-4D97-AF65-F5344CB8AC3E}">
        <p14:creationId xmlns:p14="http://schemas.microsoft.com/office/powerpoint/2010/main" val="27577056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45</a:t>
            </a:fld>
            <a:endParaRPr lang="en-US"/>
          </a:p>
        </p:txBody>
      </p:sp>
      <p:sp>
        <p:nvSpPr>
          <p:cNvPr id="5" name="Title 4"/>
          <p:cNvSpPr>
            <a:spLocks noGrp="1"/>
          </p:cNvSpPr>
          <p:nvPr>
            <p:ph type="title"/>
          </p:nvPr>
        </p:nvSpPr>
        <p:spPr>
          <a:xfrm>
            <a:off x="509151" y="457200"/>
            <a:ext cx="5663033" cy="815200"/>
          </a:xfrm>
        </p:spPr>
        <p:txBody>
          <a:bodyPr>
            <a:normAutofit/>
          </a:bodyPr>
          <a:lstStyle/>
          <a:p>
            <a:r>
              <a:rPr lang="en-US" sz="2800" dirty="0" err="1">
                <a:ln w="0"/>
                <a:solidFill>
                  <a:srgbClr val="FFC000"/>
                </a:solidFill>
                <a:latin typeface="Times New Roman" panose="02020603050405020304" pitchFamily="18" charset="0"/>
                <a:cs typeface="Times New Roman" panose="02020603050405020304" pitchFamily="18" charset="0"/>
              </a:rPr>
              <a:t>Nhân</a:t>
            </a:r>
            <a:r>
              <a:rPr lang="en-US" sz="2800" dirty="0">
                <a:ln w="0"/>
                <a:solidFill>
                  <a:srgbClr val="FFC000"/>
                </a:solidFill>
                <a:latin typeface="Times New Roman" panose="02020603050405020304" pitchFamily="18" charset="0"/>
                <a:cs typeface="Times New Roman" panose="02020603050405020304" pitchFamily="18" charset="0"/>
              </a:rPr>
              <a:t> </a:t>
            </a:r>
            <a:r>
              <a:rPr lang="en-US" sz="2800" dirty="0" err="1">
                <a:ln w="0"/>
                <a:solidFill>
                  <a:srgbClr val="FFC000"/>
                </a:solidFill>
                <a:latin typeface="Times New Roman" panose="02020603050405020304" pitchFamily="18" charset="0"/>
                <a:cs typeface="Times New Roman" panose="02020603050405020304" pitchFamily="18" charset="0"/>
              </a:rPr>
              <a:t>nhượng</a:t>
            </a:r>
            <a:r>
              <a:rPr lang="en-US" sz="2800" dirty="0">
                <a:ln w="0"/>
                <a:solidFill>
                  <a:srgbClr val="FFC000"/>
                </a:solidFill>
                <a:latin typeface="Times New Roman" panose="02020603050405020304" pitchFamily="18" charset="0"/>
                <a:cs typeface="Times New Roman" panose="02020603050405020304" pitchFamily="18" charset="0"/>
              </a:rPr>
              <a:t> </a:t>
            </a:r>
            <a:r>
              <a:rPr lang="en-US" sz="2800" dirty="0" err="1">
                <a:ln w="0"/>
                <a:solidFill>
                  <a:srgbClr val="FFC000"/>
                </a:solidFill>
                <a:latin typeface="Times New Roman" panose="02020603050405020304" pitchFamily="18" charset="0"/>
                <a:cs typeface="Times New Roman" panose="02020603050405020304" pitchFamily="18" charset="0"/>
              </a:rPr>
              <a:t>trong</a:t>
            </a:r>
            <a:r>
              <a:rPr lang="en-US" sz="2800" dirty="0">
                <a:ln w="0"/>
                <a:solidFill>
                  <a:srgbClr val="FFC000"/>
                </a:solidFill>
                <a:latin typeface="Times New Roman" panose="02020603050405020304" pitchFamily="18" charset="0"/>
                <a:cs typeface="Times New Roman" panose="02020603050405020304" pitchFamily="18" charset="0"/>
              </a:rPr>
              <a:t> </a:t>
            </a:r>
            <a:r>
              <a:rPr lang="en-US" sz="2800" dirty="0" err="1">
                <a:ln w="0"/>
                <a:solidFill>
                  <a:srgbClr val="FFC000"/>
                </a:solidFill>
                <a:latin typeface="Times New Roman" panose="02020603050405020304" pitchFamily="18" charset="0"/>
                <a:cs typeface="Times New Roman" panose="02020603050405020304" pitchFamily="18" charset="0"/>
              </a:rPr>
              <a:t>tuần</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7" name="Chart 6">
            <a:extLst>
              <a:ext uri="{FF2B5EF4-FFF2-40B4-BE49-F238E27FC236}">
                <a16:creationId xmlns:a16="http://schemas.microsoft.com/office/drawing/2014/main" id="{00000000-0008-0000-0900-000007000000}"/>
              </a:ext>
            </a:extLst>
          </p:cNvPr>
          <p:cNvGraphicFramePr>
            <a:graphicFrameLocks/>
          </p:cNvGraphicFramePr>
          <p:nvPr>
            <p:extLst>
              <p:ext uri="{D42A27DB-BD31-4B8C-83A1-F6EECF244321}">
                <p14:modId xmlns:p14="http://schemas.microsoft.com/office/powerpoint/2010/main" val="3874753196"/>
              </p:ext>
            </p:extLst>
          </p:nvPr>
        </p:nvGraphicFramePr>
        <p:xfrm>
          <a:off x="3770862" y="990600"/>
          <a:ext cx="4116876" cy="235937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Table 2"/>
          <p:cNvGraphicFramePr>
            <a:graphicFrameLocks noGrp="1"/>
          </p:cNvGraphicFramePr>
          <p:nvPr>
            <p:extLst>
              <p:ext uri="{D42A27DB-BD31-4B8C-83A1-F6EECF244321}">
                <p14:modId xmlns:p14="http://schemas.microsoft.com/office/powerpoint/2010/main" val="1941230222"/>
              </p:ext>
            </p:extLst>
          </p:nvPr>
        </p:nvGraphicFramePr>
        <p:xfrm>
          <a:off x="228600" y="3548687"/>
          <a:ext cx="11201400" cy="2931336"/>
        </p:xfrm>
        <a:graphic>
          <a:graphicData uri="http://schemas.openxmlformats.org/drawingml/2006/table">
            <a:tbl>
              <a:tblPr/>
              <a:tblGrid>
                <a:gridCol w="206545">
                  <a:extLst>
                    <a:ext uri="{9D8B030D-6E8A-4147-A177-3AD203B41FA5}">
                      <a16:colId xmlns:a16="http://schemas.microsoft.com/office/drawing/2014/main" val="1855597577"/>
                    </a:ext>
                  </a:extLst>
                </a:gridCol>
                <a:gridCol w="1648185">
                  <a:extLst>
                    <a:ext uri="{9D8B030D-6E8A-4147-A177-3AD203B41FA5}">
                      <a16:colId xmlns:a16="http://schemas.microsoft.com/office/drawing/2014/main" val="4063563005"/>
                    </a:ext>
                  </a:extLst>
                </a:gridCol>
                <a:gridCol w="425607">
                  <a:extLst>
                    <a:ext uri="{9D8B030D-6E8A-4147-A177-3AD203B41FA5}">
                      <a16:colId xmlns:a16="http://schemas.microsoft.com/office/drawing/2014/main" val="2578220320"/>
                    </a:ext>
                  </a:extLst>
                </a:gridCol>
                <a:gridCol w="458988">
                  <a:extLst>
                    <a:ext uri="{9D8B030D-6E8A-4147-A177-3AD203B41FA5}">
                      <a16:colId xmlns:a16="http://schemas.microsoft.com/office/drawing/2014/main" val="3557707448"/>
                    </a:ext>
                  </a:extLst>
                </a:gridCol>
                <a:gridCol w="5320091">
                  <a:extLst>
                    <a:ext uri="{9D8B030D-6E8A-4147-A177-3AD203B41FA5}">
                      <a16:colId xmlns:a16="http://schemas.microsoft.com/office/drawing/2014/main" val="3733238597"/>
                    </a:ext>
                  </a:extLst>
                </a:gridCol>
                <a:gridCol w="513232">
                  <a:extLst>
                    <a:ext uri="{9D8B030D-6E8A-4147-A177-3AD203B41FA5}">
                      <a16:colId xmlns:a16="http://schemas.microsoft.com/office/drawing/2014/main" val="4133836349"/>
                    </a:ext>
                  </a:extLst>
                </a:gridCol>
                <a:gridCol w="834524">
                  <a:extLst>
                    <a:ext uri="{9D8B030D-6E8A-4147-A177-3AD203B41FA5}">
                      <a16:colId xmlns:a16="http://schemas.microsoft.com/office/drawing/2014/main" val="855063669"/>
                    </a:ext>
                  </a:extLst>
                </a:gridCol>
                <a:gridCol w="1293513">
                  <a:extLst>
                    <a:ext uri="{9D8B030D-6E8A-4147-A177-3AD203B41FA5}">
                      <a16:colId xmlns:a16="http://schemas.microsoft.com/office/drawing/2014/main" val="3739674214"/>
                    </a:ext>
                  </a:extLst>
                </a:gridCol>
                <a:gridCol w="500715">
                  <a:extLst>
                    <a:ext uri="{9D8B030D-6E8A-4147-A177-3AD203B41FA5}">
                      <a16:colId xmlns:a16="http://schemas.microsoft.com/office/drawing/2014/main" val="2888024956"/>
                    </a:ext>
                  </a:extLst>
                </a:gridCol>
              </a:tblGrid>
              <a:tr h="135929">
                <a:tc gridSpan="9">
                  <a:txBody>
                    <a:bodyPr/>
                    <a:lstStyle/>
                    <a:p>
                      <a:pPr algn="ctr" fontAlgn="ctr"/>
                      <a:r>
                        <a:rPr lang="vi-VN" sz="1100" b="1" i="0" u="none" strike="noStrike">
                          <a:solidFill>
                            <a:srgbClr val="000000"/>
                          </a:solidFill>
                          <a:effectLst/>
                          <a:latin typeface="Times New Roman" panose="02020603050405020304" pitchFamily="18" charset="0"/>
                        </a:rPr>
                        <a:t>BẢNG TỔNG HỢP VÀ THEO DÕI NHÂN NHƯỢNG - VIETNAM AIRLINES</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71381090"/>
                  </a:ext>
                </a:extLst>
              </a:tr>
              <a:tr h="135929">
                <a:tc>
                  <a:txBody>
                    <a:bodyPr/>
                    <a:lstStyle/>
                    <a:p>
                      <a:pPr algn="ctr" fontAlgn="ctr"/>
                      <a:r>
                        <a:rPr lang="en-US" sz="1100" b="1" i="0" u="none" strike="noStrike">
                          <a:solidFill>
                            <a:srgbClr val="000000"/>
                          </a:solidFill>
                          <a:effectLst/>
                          <a:latin typeface="Times New Roman" panose="02020603050405020304" pitchFamily="18" charset="0"/>
                        </a:rPr>
                        <a:t>No</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Concession No.</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Type</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Reg</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Description</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Issued By</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Issued Date</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ADD/CHK/Task No</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Status</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55701779"/>
                  </a:ext>
                </a:extLst>
              </a:tr>
              <a:tr h="147256">
                <a:tc>
                  <a:txBody>
                    <a:bodyPr/>
                    <a:lstStyle/>
                    <a:p>
                      <a:pPr algn="ctr" fontAlgn="ctr"/>
                      <a:r>
                        <a:rPr lang="en-150" sz="1200" b="0" i="0" u="none" strike="noStrike">
                          <a:solidFill>
                            <a:srgbClr val="000000"/>
                          </a:solidFill>
                          <a:effectLst/>
                          <a:latin typeface="Times New Roman" panose="02020603050405020304" pitchFamily="18" charset="0"/>
                        </a:rPr>
                        <a:t>1</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VNA/VN-A868/2025-01-03/01</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ADD</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A868</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Times New Roman" panose="02020603050405020304" pitchFamily="18" charset="0"/>
                        </a:rPr>
                        <a:t>ADD B1073 RAISED “ELEC GEN SYS R2”, REF MEL 24-22-01-03B, CAT A, D/L 02/01/2025.  </a:t>
                      </a:r>
                    </a:p>
                  </a:txBody>
                  <a:tcPr marL="5664" marR="5664" marT="566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CAAV</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Times New Roman" panose="02020603050405020304" pitchFamily="18" charset="0"/>
                        </a:rPr>
                        <a:t>3-Jan-2025</a:t>
                      </a:r>
                    </a:p>
                  </a:txBody>
                  <a:tcPr marL="5664" marR="5664" marT="566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Times New Roman" panose="02020603050405020304" pitchFamily="18" charset="0"/>
                        </a:rPr>
                        <a:t>ADD B1073</a:t>
                      </a:r>
                    </a:p>
                  </a:txBody>
                  <a:tcPr marL="5664" marR="5664" marT="566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150" sz="1200" b="0" i="0" u="none" strike="noStrike">
                          <a:solidFill>
                            <a:srgbClr val="000000"/>
                          </a:solidFill>
                          <a:effectLst/>
                          <a:latin typeface="Times New Roman" panose="02020603050405020304" pitchFamily="18" charset="0"/>
                        </a:rPr>
                        <a:t> </a:t>
                      </a:r>
                    </a:p>
                  </a:txBody>
                  <a:tcPr marL="5664" marR="5664" marT="566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1227485"/>
                  </a:ext>
                </a:extLst>
              </a:tr>
              <a:tr h="441769">
                <a:tc>
                  <a:txBody>
                    <a:bodyPr/>
                    <a:lstStyle/>
                    <a:p>
                      <a:pPr algn="ctr" fontAlgn="ctr"/>
                      <a:r>
                        <a:rPr lang="en-150" sz="1200" b="0" i="0" u="none" strike="noStrike">
                          <a:solidFill>
                            <a:srgbClr val="000000"/>
                          </a:solidFill>
                          <a:effectLst/>
                          <a:latin typeface="Times New Roman" panose="02020603050405020304" pitchFamily="18" charset="0"/>
                        </a:rPr>
                        <a:t>2</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HVN/2024-01-02/A867/01</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ADD</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A867</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ADD B1502 WAS RAISED “CCR GPM 8L”, REF MEL 42-21-01-01-01, CAT C,</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D/L: 24/12/2024 </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CONCESSION HVN/2024-12-27/A867/01 ISSUED BY HVN WILL EXPIRED ON 03/01/2025</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CAAV</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2-Jan-2025</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ADD B1502</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200" b="0" i="0" u="none" strike="noStrike">
                          <a:solidFill>
                            <a:srgbClr val="000000"/>
                          </a:solidFill>
                          <a:effectLst/>
                          <a:latin typeface="Times New Roman" panose="02020603050405020304" pitchFamily="18" charset="0"/>
                        </a:rPr>
                        <a:t> </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25317305"/>
                  </a:ext>
                </a:extLst>
              </a:tr>
              <a:tr h="294512">
                <a:tc>
                  <a:txBody>
                    <a:bodyPr/>
                    <a:lstStyle/>
                    <a:p>
                      <a:pPr algn="ctr" fontAlgn="ctr"/>
                      <a:r>
                        <a:rPr lang="en-150" sz="1200" b="0" i="0" u="none" strike="noStrike">
                          <a:solidFill>
                            <a:srgbClr val="000000"/>
                          </a:solidFill>
                          <a:effectLst/>
                          <a:latin typeface="Times New Roman" panose="02020603050405020304" pitchFamily="18" charset="0"/>
                        </a:rPr>
                        <a:t>3</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VN-A398/2025/01/01</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ADD</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A398</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ADD B1707 RAISED “SEAL OF FLAP TRACK FIXED FAIRING 631EB RH WING PARTIALLY DAMAGED”, REF CDL 27-15, D/L: 30198FH.  </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CAAV</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1-Jan-2025</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ADD B1707</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200" b="0" i="0" u="none" strike="noStrike">
                          <a:solidFill>
                            <a:srgbClr val="000000"/>
                          </a:solidFill>
                          <a:effectLst/>
                          <a:latin typeface="Times New Roman" panose="02020603050405020304" pitchFamily="18" charset="0"/>
                        </a:rPr>
                        <a:t> </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6276427"/>
                  </a:ext>
                </a:extLst>
              </a:tr>
              <a:tr h="294512">
                <a:tc>
                  <a:txBody>
                    <a:bodyPr/>
                    <a:lstStyle/>
                    <a:p>
                      <a:pPr algn="ctr" fontAlgn="ctr"/>
                      <a:r>
                        <a:rPr lang="en-150" sz="1200" b="0" i="0" u="none" strike="noStrike">
                          <a:solidFill>
                            <a:srgbClr val="000000"/>
                          </a:solidFill>
                          <a:effectLst/>
                          <a:latin typeface="Times New Roman" panose="02020603050405020304" pitchFamily="18" charset="0"/>
                        </a:rPr>
                        <a:t>4</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VN-A396/2025/01/01</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ADD</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A396</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ADD B921 RAISED “FLAP TRACK FIX FAIRING 533EB SEALDAMAGED”, REF CDL 27-15, D/L:25665FH.  </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CAAV</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1-Jan-2025</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ADD B921</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200" b="0" i="0" u="none" strike="noStrike">
                          <a:solidFill>
                            <a:srgbClr val="000000"/>
                          </a:solidFill>
                          <a:effectLst/>
                          <a:latin typeface="Times New Roman" panose="02020603050405020304" pitchFamily="18" charset="0"/>
                        </a:rPr>
                        <a:t> </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0127348"/>
                  </a:ext>
                </a:extLst>
              </a:tr>
              <a:tr h="147256">
                <a:tc>
                  <a:txBody>
                    <a:bodyPr/>
                    <a:lstStyle/>
                    <a:p>
                      <a:pPr algn="ctr" fontAlgn="ctr"/>
                      <a:r>
                        <a:rPr lang="en-150" sz="1200" b="0" i="0" u="none" strike="noStrike">
                          <a:solidFill>
                            <a:srgbClr val="000000"/>
                          </a:solidFill>
                          <a:effectLst/>
                          <a:latin typeface="Times New Roman" panose="02020603050405020304" pitchFamily="18" charset="0"/>
                        </a:rPr>
                        <a:t>5</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100" b="0" i="0" u="none" strike="noStrike">
                          <a:solidFill>
                            <a:srgbClr val="000000"/>
                          </a:solidFill>
                          <a:effectLst/>
                          <a:latin typeface="Times New Roman" panose="02020603050405020304" pitchFamily="18" charset="0"/>
                        </a:rPr>
                        <a:t>871-15/24</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Other</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A871</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GT 18MO/6000 FH</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100" b="0" i="0" u="none" strike="noStrike">
                          <a:solidFill>
                            <a:srgbClr val="000000"/>
                          </a:solidFill>
                          <a:effectLst/>
                          <a:latin typeface="Times New Roman" panose="02020603050405020304" pitchFamily="18" charset="0"/>
                        </a:rPr>
                        <a:t>31/12/2024</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CHK</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150" sz="1200" b="0" i="0" u="none" strike="noStrike">
                          <a:solidFill>
                            <a:srgbClr val="000000"/>
                          </a:solidFill>
                          <a:effectLst/>
                          <a:latin typeface="Times New Roman" panose="02020603050405020304" pitchFamily="18" charset="0"/>
                        </a:rPr>
                        <a:t> </a:t>
                      </a:r>
                    </a:p>
                  </a:txBody>
                  <a:tcPr marL="5664" marR="5664" marT="566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42723803"/>
                  </a:ext>
                </a:extLst>
              </a:tr>
              <a:tr h="147256">
                <a:tc>
                  <a:txBody>
                    <a:bodyPr/>
                    <a:lstStyle/>
                    <a:p>
                      <a:pPr algn="ctr" fontAlgn="ctr"/>
                      <a:r>
                        <a:rPr lang="en-150" sz="1200" b="0" i="0" u="none" strike="noStrike">
                          <a:solidFill>
                            <a:srgbClr val="000000"/>
                          </a:solidFill>
                          <a:effectLst/>
                          <a:latin typeface="Times New Roman" panose="02020603050405020304" pitchFamily="18" charset="0"/>
                        </a:rPr>
                        <a:t>6</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100" b="0" i="0" u="none" strike="noStrike">
                          <a:solidFill>
                            <a:srgbClr val="000000"/>
                          </a:solidFill>
                          <a:effectLst/>
                          <a:latin typeface="Times New Roman" panose="02020603050405020304" pitchFamily="18" charset="0"/>
                        </a:rPr>
                        <a:t>863-21/24</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Other</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A863</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CMP task 12-ECO-00 WASHING AIRCRAFT</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100" b="0" i="0" u="none" strike="noStrike">
                          <a:solidFill>
                            <a:srgbClr val="000000"/>
                          </a:solidFill>
                          <a:effectLst/>
                          <a:latin typeface="Times New Roman" panose="02020603050405020304" pitchFamily="18" charset="0"/>
                        </a:rPr>
                        <a:t>30/12/2024</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CHK</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150" sz="1200" b="0" i="0" u="none" strike="noStrike">
                          <a:solidFill>
                            <a:srgbClr val="000000"/>
                          </a:solidFill>
                          <a:effectLst/>
                          <a:latin typeface="Times New Roman" panose="02020603050405020304" pitchFamily="18" charset="0"/>
                        </a:rPr>
                        <a:t> </a:t>
                      </a:r>
                    </a:p>
                  </a:txBody>
                  <a:tcPr marL="5664" marR="5664" marT="566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88603081"/>
                  </a:ext>
                </a:extLst>
              </a:tr>
              <a:tr h="147256">
                <a:tc>
                  <a:txBody>
                    <a:bodyPr/>
                    <a:lstStyle/>
                    <a:p>
                      <a:pPr algn="ctr" fontAlgn="ctr"/>
                      <a:r>
                        <a:rPr lang="en-150" sz="1200" b="0" i="0" u="none" strike="noStrike">
                          <a:solidFill>
                            <a:srgbClr val="000000"/>
                          </a:solidFill>
                          <a:effectLst/>
                          <a:latin typeface="Times New Roman" panose="02020603050405020304" pitchFamily="18" charset="0"/>
                        </a:rPr>
                        <a:t>7</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100" b="0" i="0" u="none" strike="noStrike">
                          <a:solidFill>
                            <a:srgbClr val="000000"/>
                          </a:solidFill>
                          <a:effectLst/>
                          <a:latin typeface="Times New Roman" panose="02020603050405020304" pitchFamily="18" charset="0"/>
                        </a:rPr>
                        <a:t>223-31/24</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Other</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B223</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GROUP TASKS A02</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100" b="0" i="0" u="none" strike="noStrike">
                          <a:solidFill>
                            <a:srgbClr val="000000"/>
                          </a:solidFill>
                          <a:effectLst/>
                          <a:latin typeface="Times New Roman" panose="02020603050405020304" pitchFamily="18" charset="0"/>
                        </a:rPr>
                        <a:t>31/12/2024</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CHK</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150" sz="1200" b="0" i="0" u="none" strike="noStrike">
                          <a:solidFill>
                            <a:srgbClr val="000000"/>
                          </a:solidFill>
                          <a:effectLst/>
                          <a:latin typeface="Times New Roman" panose="02020603050405020304" pitchFamily="18" charset="0"/>
                        </a:rPr>
                        <a:t> </a:t>
                      </a:r>
                    </a:p>
                  </a:txBody>
                  <a:tcPr marL="5664" marR="5664" marT="566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6660090"/>
                  </a:ext>
                </a:extLst>
              </a:tr>
            </a:tbl>
          </a:graphicData>
        </a:graphic>
      </p:graphicFrame>
    </p:spTree>
    <p:extLst>
      <p:ext uri="{BB962C8B-B14F-4D97-AF65-F5344CB8AC3E}">
        <p14:creationId xmlns:p14="http://schemas.microsoft.com/office/powerpoint/2010/main" val="25850181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059507" y="520783"/>
            <a:ext cx="10370492" cy="560972"/>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1059507" y="3904055"/>
          <a:ext cx="4954432" cy="2793501"/>
        </p:xfrm>
        <a:graphic>
          <a:graphicData uri="http://schemas.openxmlformats.org/drawingml/2006/table">
            <a:tbl>
              <a:tblPr/>
              <a:tblGrid>
                <a:gridCol w="792709">
                  <a:extLst>
                    <a:ext uri="{9D8B030D-6E8A-4147-A177-3AD203B41FA5}">
                      <a16:colId xmlns:a16="http://schemas.microsoft.com/office/drawing/2014/main" val="4293334556"/>
                    </a:ext>
                  </a:extLst>
                </a:gridCol>
                <a:gridCol w="1118287">
                  <a:extLst>
                    <a:ext uri="{9D8B030D-6E8A-4147-A177-3AD203B41FA5}">
                      <a16:colId xmlns:a16="http://schemas.microsoft.com/office/drawing/2014/main" val="3593396119"/>
                    </a:ext>
                  </a:extLst>
                </a:gridCol>
                <a:gridCol w="948420">
                  <a:extLst>
                    <a:ext uri="{9D8B030D-6E8A-4147-A177-3AD203B41FA5}">
                      <a16:colId xmlns:a16="http://schemas.microsoft.com/office/drawing/2014/main" val="1444269426"/>
                    </a:ext>
                  </a:extLst>
                </a:gridCol>
                <a:gridCol w="990886">
                  <a:extLst>
                    <a:ext uri="{9D8B030D-6E8A-4147-A177-3AD203B41FA5}">
                      <a16:colId xmlns:a16="http://schemas.microsoft.com/office/drawing/2014/main" val="2696731085"/>
                    </a:ext>
                  </a:extLst>
                </a:gridCol>
                <a:gridCol w="1104130">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This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929344"/>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964238"/>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189:45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122.81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391:00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455108"/>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133:10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896:50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760:50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315:20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520:35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224:00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9" name="Table 8"/>
          <p:cNvGraphicFramePr>
            <a:graphicFrameLocks noGrp="1"/>
          </p:cNvGraphicFramePr>
          <p:nvPr>
            <p:extLst/>
          </p:nvPr>
        </p:nvGraphicFramePr>
        <p:xfrm>
          <a:off x="6312510" y="3904053"/>
          <a:ext cx="5117489" cy="2793501"/>
        </p:xfrm>
        <a:graphic>
          <a:graphicData uri="http://schemas.openxmlformats.org/drawingml/2006/table">
            <a:tbl>
              <a:tblPr/>
              <a:tblGrid>
                <a:gridCol w="818798">
                  <a:extLst>
                    <a:ext uri="{9D8B030D-6E8A-4147-A177-3AD203B41FA5}">
                      <a16:colId xmlns:a16="http://schemas.microsoft.com/office/drawing/2014/main" val="4293334556"/>
                    </a:ext>
                  </a:extLst>
                </a:gridCol>
                <a:gridCol w="1155092">
                  <a:extLst>
                    <a:ext uri="{9D8B030D-6E8A-4147-A177-3AD203B41FA5}">
                      <a16:colId xmlns:a16="http://schemas.microsoft.com/office/drawing/2014/main" val="3593396119"/>
                    </a:ext>
                  </a:extLst>
                </a:gridCol>
                <a:gridCol w="979634">
                  <a:extLst>
                    <a:ext uri="{9D8B030D-6E8A-4147-A177-3AD203B41FA5}">
                      <a16:colId xmlns:a16="http://schemas.microsoft.com/office/drawing/2014/main" val="1444269426"/>
                    </a:ext>
                  </a:extLst>
                </a:gridCol>
                <a:gridCol w="1023497">
                  <a:extLst>
                    <a:ext uri="{9D8B030D-6E8A-4147-A177-3AD203B41FA5}">
                      <a16:colId xmlns:a16="http://schemas.microsoft.com/office/drawing/2014/main" val="2696731085"/>
                    </a:ext>
                  </a:extLst>
                </a:gridCol>
                <a:gridCol w="1140468">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Next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2051267"/>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213:55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123.37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386:05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139:00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905:50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854:50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297:00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433:05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242:05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10" name="Chart 9"/>
          <p:cNvGraphicFramePr>
            <a:graphicFrameLocks/>
          </p:cNvGraphicFramePr>
          <p:nvPr>
            <p:extLst/>
          </p:nvPr>
        </p:nvGraphicFramePr>
        <p:xfrm>
          <a:off x="1059507" y="1246909"/>
          <a:ext cx="10370492" cy="236912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260081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Số chuyến bay theo ngày trong </a:t>
            </a:r>
            <a:r>
              <a:rPr lang="en-US" sz="2400">
                <a:ln w="0"/>
                <a:solidFill>
                  <a:schemeClr val="accent4"/>
                </a:solidFill>
                <a:latin typeface="Times New Roman" panose="02020603050405020304" pitchFamily="18" charset="0"/>
                <a:cs typeface="Times New Roman" panose="02020603050405020304" pitchFamily="18" charset="0"/>
              </a:rPr>
              <a:t>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925417" y="3601492"/>
          <a:ext cx="5166913" cy="3074728"/>
        </p:xfrm>
        <a:graphic>
          <a:graphicData uri="http://schemas.openxmlformats.org/drawingml/2006/table">
            <a:tbl>
              <a:tblPr/>
              <a:tblGrid>
                <a:gridCol w="508916">
                  <a:extLst>
                    <a:ext uri="{9D8B030D-6E8A-4147-A177-3AD203B41FA5}">
                      <a16:colId xmlns:a16="http://schemas.microsoft.com/office/drawing/2014/main" val="4007203340"/>
                    </a:ext>
                  </a:extLst>
                </a:gridCol>
                <a:gridCol w="664419">
                  <a:extLst>
                    <a:ext uri="{9D8B030D-6E8A-4147-A177-3AD203B41FA5}">
                      <a16:colId xmlns:a16="http://schemas.microsoft.com/office/drawing/2014/main" val="426832351"/>
                    </a:ext>
                  </a:extLst>
                </a:gridCol>
                <a:gridCol w="558394">
                  <a:extLst>
                    <a:ext uri="{9D8B030D-6E8A-4147-A177-3AD203B41FA5}">
                      <a16:colId xmlns:a16="http://schemas.microsoft.com/office/drawing/2014/main" val="1721542108"/>
                    </a:ext>
                  </a:extLst>
                </a:gridCol>
                <a:gridCol w="558394">
                  <a:extLst>
                    <a:ext uri="{9D8B030D-6E8A-4147-A177-3AD203B41FA5}">
                      <a16:colId xmlns:a16="http://schemas.microsoft.com/office/drawing/2014/main" val="1471932876"/>
                    </a:ext>
                  </a:extLst>
                </a:gridCol>
                <a:gridCol w="558394">
                  <a:extLst>
                    <a:ext uri="{9D8B030D-6E8A-4147-A177-3AD203B41FA5}">
                      <a16:colId xmlns:a16="http://schemas.microsoft.com/office/drawing/2014/main" val="4014421323"/>
                    </a:ext>
                  </a:extLst>
                </a:gridCol>
                <a:gridCol w="558394">
                  <a:extLst>
                    <a:ext uri="{9D8B030D-6E8A-4147-A177-3AD203B41FA5}">
                      <a16:colId xmlns:a16="http://schemas.microsoft.com/office/drawing/2014/main" val="3056975398"/>
                    </a:ext>
                  </a:extLst>
                </a:gridCol>
                <a:gridCol w="558394">
                  <a:extLst>
                    <a:ext uri="{9D8B030D-6E8A-4147-A177-3AD203B41FA5}">
                      <a16:colId xmlns:a16="http://schemas.microsoft.com/office/drawing/2014/main" val="3963358169"/>
                    </a:ext>
                  </a:extLst>
                </a:gridCol>
                <a:gridCol w="643214">
                  <a:extLst>
                    <a:ext uri="{9D8B030D-6E8A-4147-A177-3AD203B41FA5}">
                      <a16:colId xmlns:a16="http://schemas.microsoft.com/office/drawing/2014/main" val="2287965264"/>
                    </a:ext>
                  </a:extLst>
                </a:gridCol>
                <a:gridCol w="558394">
                  <a:extLst>
                    <a:ext uri="{9D8B030D-6E8A-4147-A177-3AD203B41FA5}">
                      <a16:colId xmlns:a16="http://schemas.microsoft.com/office/drawing/2014/main" val="280549794"/>
                    </a:ext>
                  </a:extLst>
                </a:gridCol>
              </a:tblGrid>
              <a:tr h="316070">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1903382"/>
                  </a:ext>
                </a:extLst>
              </a:tr>
              <a:tr h="316070">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30-Dec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31-Dec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01-Jan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02-Jan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03-Jan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04-Jan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05-Jan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60127"/>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804899"/>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196478"/>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5283256"/>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2940620"/>
                  </a:ext>
                </a:extLst>
              </a:tr>
              <a:tr h="316070">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01083"/>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332843"/>
                  </a:ext>
                </a:extLst>
              </a:tr>
            </a:tbl>
          </a:graphicData>
        </a:graphic>
      </p:graphicFrame>
      <p:graphicFrame>
        <p:nvGraphicFramePr>
          <p:cNvPr id="6" name="Table 5"/>
          <p:cNvGraphicFramePr>
            <a:graphicFrameLocks noGrp="1"/>
          </p:cNvGraphicFramePr>
          <p:nvPr>
            <p:extLst/>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val="3551115474"/>
                    </a:ext>
                  </a:extLst>
                </a:gridCol>
                <a:gridCol w="566020">
                  <a:extLst>
                    <a:ext uri="{9D8B030D-6E8A-4147-A177-3AD203B41FA5}">
                      <a16:colId xmlns:a16="http://schemas.microsoft.com/office/drawing/2014/main" val="1314180557"/>
                    </a:ext>
                  </a:extLst>
                </a:gridCol>
                <a:gridCol w="566020">
                  <a:extLst>
                    <a:ext uri="{9D8B030D-6E8A-4147-A177-3AD203B41FA5}">
                      <a16:colId xmlns:a16="http://schemas.microsoft.com/office/drawing/2014/main" val="2680264810"/>
                    </a:ext>
                  </a:extLst>
                </a:gridCol>
                <a:gridCol w="566020">
                  <a:extLst>
                    <a:ext uri="{9D8B030D-6E8A-4147-A177-3AD203B41FA5}">
                      <a16:colId xmlns:a16="http://schemas.microsoft.com/office/drawing/2014/main" val="184617242"/>
                    </a:ext>
                  </a:extLst>
                </a:gridCol>
                <a:gridCol w="566020">
                  <a:extLst>
                    <a:ext uri="{9D8B030D-6E8A-4147-A177-3AD203B41FA5}">
                      <a16:colId xmlns:a16="http://schemas.microsoft.com/office/drawing/2014/main" val="3552461699"/>
                    </a:ext>
                  </a:extLst>
                </a:gridCol>
                <a:gridCol w="566020">
                  <a:extLst>
                    <a:ext uri="{9D8B030D-6E8A-4147-A177-3AD203B41FA5}">
                      <a16:colId xmlns:a16="http://schemas.microsoft.com/office/drawing/2014/main" val="3621213656"/>
                    </a:ext>
                  </a:extLst>
                </a:gridCol>
                <a:gridCol w="566020">
                  <a:extLst>
                    <a:ext uri="{9D8B030D-6E8A-4147-A177-3AD203B41FA5}">
                      <a16:colId xmlns:a16="http://schemas.microsoft.com/office/drawing/2014/main" val="4002416887"/>
                    </a:ext>
                  </a:extLst>
                </a:gridCol>
                <a:gridCol w="566020">
                  <a:extLst>
                    <a:ext uri="{9D8B030D-6E8A-4147-A177-3AD203B41FA5}">
                      <a16:colId xmlns:a16="http://schemas.microsoft.com/office/drawing/2014/main" val="2192548362"/>
                    </a:ext>
                  </a:extLst>
                </a:gridCol>
                <a:gridCol w="566020">
                  <a:extLst>
                    <a:ext uri="{9D8B030D-6E8A-4147-A177-3AD203B41FA5}">
                      <a16:colId xmlns:a16="http://schemas.microsoft.com/office/drawing/2014/main" val="604295541"/>
                    </a:ext>
                  </a:extLst>
                </a:gridCol>
              </a:tblGrid>
              <a:tr h="273744">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3633610"/>
                  </a:ext>
                </a:extLst>
              </a:tr>
              <a:tr h="338389">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06-Jan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07-Jan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08-Jan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09-Jan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12-Jan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169036"/>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065108"/>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632801"/>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8142930"/>
                  </a:ext>
                </a:extLst>
              </a:tr>
              <a:tr h="339912">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9221019"/>
                  </a:ext>
                </a:extLst>
              </a:tr>
              <a:tr h="344439">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154933"/>
                  </a:ext>
                </a:extLst>
              </a:tr>
              <a:tr h="273744">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859539"/>
                  </a:ext>
                </a:extLst>
              </a:tr>
            </a:tbl>
          </a:graphicData>
        </a:graphic>
      </p:graphicFrame>
      <p:graphicFrame>
        <p:nvGraphicFramePr>
          <p:cNvPr id="9" name="Chart 8"/>
          <p:cNvGraphicFramePr>
            <a:graphicFrameLocks/>
          </p:cNvGraphicFramePr>
          <p:nvPr>
            <p:extLst/>
          </p:nvPr>
        </p:nvGraphicFramePr>
        <p:xfrm>
          <a:off x="925418" y="1163783"/>
          <a:ext cx="10521106" cy="214186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9042889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a:t>
            </a:r>
            <a:r>
              <a:rPr lang="en-GB" sz="2400" smtClean="0">
                <a:ln w="0"/>
                <a:solidFill>
                  <a:schemeClr val="accent4"/>
                </a:solidFill>
                <a:latin typeface="Times New Roman" panose="02020603050405020304" pitchFamily="18" charset="0"/>
                <a:cs typeface="Times New Roman" panose="02020603050405020304" pitchFamily="18" charset="0"/>
              </a:rPr>
              <a:t>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7" name="Chart 6"/>
          <p:cNvGraphicFramePr>
            <a:graphicFrameLocks/>
          </p:cNvGraphicFramePr>
          <p:nvPr>
            <p:extLst/>
          </p:nvPr>
        </p:nvGraphicFramePr>
        <p:xfrm>
          <a:off x="1191491" y="1233054"/>
          <a:ext cx="10487891" cy="519350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8296546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49</a:t>
            </a:fld>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Số chuyến bay theo ngày trong </a:t>
            </a:r>
            <a:r>
              <a:rPr lang="en-US" sz="2400">
                <a:ln w="0"/>
                <a:solidFill>
                  <a:schemeClr val="accent4"/>
                </a:solidFill>
                <a:latin typeface="Times New Roman" panose="02020603050405020304" pitchFamily="18" charset="0"/>
                <a:cs typeface="Times New Roman" panose="02020603050405020304" pitchFamily="18" charset="0"/>
              </a:rPr>
              <a:t>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925417" y="3601492"/>
          <a:ext cx="5166913" cy="3074728"/>
        </p:xfrm>
        <a:graphic>
          <a:graphicData uri="http://schemas.openxmlformats.org/drawingml/2006/table">
            <a:tbl>
              <a:tblPr/>
              <a:tblGrid>
                <a:gridCol w="508916">
                  <a:extLst>
                    <a:ext uri="{9D8B030D-6E8A-4147-A177-3AD203B41FA5}">
                      <a16:colId xmlns:a16="http://schemas.microsoft.com/office/drawing/2014/main" val="4007203340"/>
                    </a:ext>
                  </a:extLst>
                </a:gridCol>
                <a:gridCol w="664419">
                  <a:extLst>
                    <a:ext uri="{9D8B030D-6E8A-4147-A177-3AD203B41FA5}">
                      <a16:colId xmlns:a16="http://schemas.microsoft.com/office/drawing/2014/main" val="426832351"/>
                    </a:ext>
                  </a:extLst>
                </a:gridCol>
                <a:gridCol w="558394">
                  <a:extLst>
                    <a:ext uri="{9D8B030D-6E8A-4147-A177-3AD203B41FA5}">
                      <a16:colId xmlns:a16="http://schemas.microsoft.com/office/drawing/2014/main" val="1721542108"/>
                    </a:ext>
                  </a:extLst>
                </a:gridCol>
                <a:gridCol w="558394">
                  <a:extLst>
                    <a:ext uri="{9D8B030D-6E8A-4147-A177-3AD203B41FA5}">
                      <a16:colId xmlns:a16="http://schemas.microsoft.com/office/drawing/2014/main" val="1471932876"/>
                    </a:ext>
                  </a:extLst>
                </a:gridCol>
                <a:gridCol w="558394">
                  <a:extLst>
                    <a:ext uri="{9D8B030D-6E8A-4147-A177-3AD203B41FA5}">
                      <a16:colId xmlns:a16="http://schemas.microsoft.com/office/drawing/2014/main" val="4014421323"/>
                    </a:ext>
                  </a:extLst>
                </a:gridCol>
                <a:gridCol w="558394">
                  <a:extLst>
                    <a:ext uri="{9D8B030D-6E8A-4147-A177-3AD203B41FA5}">
                      <a16:colId xmlns:a16="http://schemas.microsoft.com/office/drawing/2014/main" val="3056975398"/>
                    </a:ext>
                  </a:extLst>
                </a:gridCol>
                <a:gridCol w="558394">
                  <a:extLst>
                    <a:ext uri="{9D8B030D-6E8A-4147-A177-3AD203B41FA5}">
                      <a16:colId xmlns:a16="http://schemas.microsoft.com/office/drawing/2014/main" val="3963358169"/>
                    </a:ext>
                  </a:extLst>
                </a:gridCol>
                <a:gridCol w="643214">
                  <a:extLst>
                    <a:ext uri="{9D8B030D-6E8A-4147-A177-3AD203B41FA5}">
                      <a16:colId xmlns:a16="http://schemas.microsoft.com/office/drawing/2014/main" val="2287965264"/>
                    </a:ext>
                  </a:extLst>
                </a:gridCol>
                <a:gridCol w="558394">
                  <a:extLst>
                    <a:ext uri="{9D8B030D-6E8A-4147-A177-3AD203B41FA5}">
                      <a16:colId xmlns:a16="http://schemas.microsoft.com/office/drawing/2014/main" val="280549794"/>
                    </a:ext>
                  </a:extLst>
                </a:gridCol>
              </a:tblGrid>
              <a:tr h="316070">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1903382"/>
                  </a:ext>
                </a:extLst>
              </a:tr>
              <a:tr h="316070">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23-Dec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24-Dec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25-Dec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26-Dec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27-Dec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28-Dec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29-Dec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60127"/>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804899"/>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196478"/>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5283256"/>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2940620"/>
                  </a:ext>
                </a:extLst>
              </a:tr>
              <a:tr h="316070">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01083"/>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332843"/>
                  </a:ext>
                </a:extLst>
              </a:tr>
            </a:tbl>
          </a:graphicData>
        </a:graphic>
      </p:graphicFrame>
      <p:graphicFrame>
        <p:nvGraphicFramePr>
          <p:cNvPr id="6" name="Table 5"/>
          <p:cNvGraphicFramePr>
            <a:graphicFrameLocks noGrp="1"/>
          </p:cNvGraphicFramePr>
          <p:nvPr>
            <p:extLst/>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val="3551115474"/>
                    </a:ext>
                  </a:extLst>
                </a:gridCol>
                <a:gridCol w="566020">
                  <a:extLst>
                    <a:ext uri="{9D8B030D-6E8A-4147-A177-3AD203B41FA5}">
                      <a16:colId xmlns:a16="http://schemas.microsoft.com/office/drawing/2014/main" val="1314180557"/>
                    </a:ext>
                  </a:extLst>
                </a:gridCol>
                <a:gridCol w="566020">
                  <a:extLst>
                    <a:ext uri="{9D8B030D-6E8A-4147-A177-3AD203B41FA5}">
                      <a16:colId xmlns:a16="http://schemas.microsoft.com/office/drawing/2014/main" val="2680264810"/>
                    </a:ext>
                  </a:extLst>
                </a:gridCol>
                <a:gridCol w="566020">
                  <a:extLst>
                    <a:ext uri="{9D8B030D-6E8A-4147-A177-3AD203B41FA5}">
                      <a16:colId xmlns:a16="http://schemas.microsoft.com/office/drawing/2014/main" val="184617242"/>
                    </a:ext>
                  </a:extLst>
                </a:gridCol>
                <a:gridCol w="566020">
                  <a:extLst>
                    <a:ext uri="{9D8B030D-6E8A-4147-A177-3AD203B41FA5}">
                      <a16:colId xmlns:a16="http://schemas.microsoft.com/office/drawing/2014/main" val="3552461699"/>
                    </a:ext>
                  </a:extLst>
                </a:gridCol>
                <a:gridCol w="566020">
                  <a:extLst>
                    <a:ext uri="{9D8B030D-6E8A-4147-A177-3AD203B41FA5}">
                      <a16:colId xmlns:a16="http://schemas.microsoft.com/office/drawing/2014/main" val="3621213656"/>
                    </a:ext>
                  </a:extLst>
                </a:gridCol>
                <a:gridCol w="566020">
                  <a:extLst>
                    <a:ext uri="{9D8B030D-6E8A-4147-A177-3AD203B41FA5}">
                      <a16:colId xmlns:a16="http://schemas.microsoft.com/office/drawing/2014/main" val="4002416887"/>
                    </a:ext>
                  </a:extLst>
                </a:gridCol>
                <a:gridCol w="566020">
                  <a:extLst>
                    <a:ext uri="{9D8B030D-6E8A-4147-A177-3AD203B41FA5}">
                      <a16:colId xmlns:a16="http://schemas.microsoft.com/office/drawing/2014/main" val="2192548362"/>
                    </a:ext>
                  </a:extLst>
                </a:gridCol>
                <a:gridCol w="566020">
                  <a:extLst>
                    <a:ext uri="{9D8B030D-6E8A-4147-A177-3AD203B41FA5}">
                      <a16:colId xmlns:a16="http://schemas.microsoft.com/office/drawing/2014/main" val="604295541"/>
                    </a:ext>
                  </a:extLst>
                </a:gridCol>
              </a:tblGrid>
              <a:tr h="273744">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3633610"/>
                  </a:ext>
                </a:extLst>
              </a:tr>
              <a:tr h="338389">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30-Dec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31-Dec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01-Jan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02-Jan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03-Jan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04-Jan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05-Jan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169036"/>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065108"/>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632801"/>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4.91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8142930"/>
                  </a:ext>
                </a:extLst>
              </a:tr>
              <a:tr h="339912">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9221019"/>
                  </a:ext>
                </a:extLst>
              </a:tr>
              <a:tr h="344439">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154933"/>
                  </a:ext>
                </a:extLst>
              </a:tr>
              <a:tr h="273744">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859539"/>
                  </a:ext>
                </a:extLst>
              </a:tr>
            </a:tbl>
          </a:graphicData>
        </a:graphic>
      </p:graphicFrame>
      <p:graphicFrame>
        <p:nvGraphicFramePr>
          <p:cNvPr id="8" name="Chart 7"/>
          <p:cNvGraphicFramePr>
            <a:graphicFrameLocks/>
          </p:cNvGraphicFramePr>
          <p:nvPr/>
        </p:nvGraphicFramePr>
        <p:xfrm>
          <a:off x="925418" y="1108364"/>
          <a:ext cx="10521106" cy="231134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9483105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50</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158" name="Google Shape;158;g31ccdae391d_0_248"/>
          <p:cNvSpPr/>
          <p:nvPr/>
        </p:nvSpPr>
        <p:spPr>
          <a:xfrm>
            <a:off x="475582"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Tình</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trạng</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vật</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tư</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cho</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hỏng</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hóc</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trên</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đội</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bay</a:t>
            </a:r>
            <a:endParaRPr kumimoji="0"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Tàu</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AOG: NIL</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Tình</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hình</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tàu</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check: </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914400" marR="0" lvl="0" indent="-323850" algn="just" defTabSz="914400" rtl="0" eaLnBrk="1" fontAlgn="auto" latinLnBrk="0" hangingPunct="1">
              <a:lnSpc>
                <a:spcPct val="110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A334/HAN-ENG CHG + Y01 (01/01-06/01</a:t>
            </a:r>
            <a:r>
              <a:rPr kumimoji="0" lang="en-US" sz="15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cấp</a:t>
            </a:r>
            <a:r>
              <a:rPr kumimoji="0" lang="en-US" sz="15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đủ</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PRV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5/1 (do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bị</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rob).</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914400" marR="0" lvl="0" indent="-323850" algn="just" defTabSz="914400" rtl="0" eaLnBrk="1" fontAlgn="auto" latinLnBrk="0" hangingPunct="1">
              <a:lnSpc>
                <a:spcPct val="110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A616 (SGN 16/10-31/12)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thực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hiện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RTS</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914400" marR="0" lvl="0" indent="-323850" algn="just" defTabSz="914400" rtl="0" eaLnBrk="1" fontAlgn="auto" latinLnBrk="0" hangingPunct="1">
              <a:lnSpc>
                <a:spcPct val="110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A619 (HAN 02/11-30/12)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thực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hiện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RTS</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914400" marR="0" lvl="0" indent="-323850" algn="just" defTabSz="914400" rtl="0" eaLnBrk="1" fontAlgn="auto" latinLnBrk="0" hangingPunct="1">
              <a:lnSpc>
                <a:spcPct val="110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A624: (HAN 14/12-17/01) ENG1CHG+ENG2CHG+MO18+C01+C03+Y01+Y06+EA18-EA24+RTS </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914400" marR="0" lvl="0" indent="-323850" algn="just" defTabSz="914400" rtl="0" eaLnBrk="1" fontAlgn="auto" latinLnBrk="0" hangingPunct="1">
              <a:lnSpc>
                <a:spcPct val="110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A501: EC06+EC01+C03+Y06+EA04-EA10 (27/11-19/12)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thực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hiện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RTS</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914400" marR="0" lvl="0" indent="-323850" algn="just" defTabSz="914400" rtl="0" eaLnBrk="1" fontAlgn="auto" latinLnBrk="0" hangingPunct="1">
              <a:lnSpc>
                <a:spcPct val="110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A603: EVENTS, Y01 (04/01-09/01):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chưa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phát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sinh</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914400" marR="0" lvl="0" indent="-323850" algn="just" defTabSz="914400" rtl="0" eaLnBrk="1" fontAlgn="auto" latinLnBrk="0" hangingPunct="1">
              <a:lnSpc>
                <a:spcPct val="110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A509: EA08-19, Y01, RTS (27/12-10/01):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thực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hiện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RTS</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0000"/>
              </a:lnSpc>
              <a:spcBef>
                <a:spcPts val="600"/>
              </a:spcBef>
              <a:spcAft>
                <a:spcPts val="0"/>
              </a:spcAft>
              <a:buClr>
                <a:srgbClr val="000000"/>
              </a:buClr>
              <a:buSzPts val="1500"/>
              <a:buFont typeface="Times New Roman"/>
              <a:buChar char="●"/>
              <a:tabLst/>
              <a:defRPr/>
            </a:pP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Hỏng</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hóc</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ảnh</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hưởng</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khai</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thác</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ngoài</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các</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hỏng</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hóc</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sắp</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hết</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hạn</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914400" marR="0" lvl="0" indent="-323850" algn="just" defTabSz="914400" rtl="0" eaLnBrk="1" fontAlgn="auto" latinLnBrk="0" hangingPunct="1">
              <a:lnSpc>
                <a:spcPct val="110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A332 BRAKE FAN INOP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đặt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hàng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Brake fan motor PN AE1502U02: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kiến 15/1/25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xong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Hỏng</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hóc</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B defect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hết</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hạn</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10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91440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215500672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g31ccdae391d_0_25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5" name="Google Shape;165;g31ccdae391d_0_25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51</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166" name="Google Shape;166;g31ccdae391d_0_255"/>
          <p:cNvSpPr/>
          <p:nvPr/>
        </p:nvSpPr>
        <p:spPr>
          <a:xfrm>
            <a:off x="475582"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Hỏng hóc B defect sắp hết hạn trong 10 ngày</a:t>
            </a:r>
            <a:endParaRPr kumimoji="0"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91440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167" name="Google Shape;167;g31ccdae391d_0_255"/>
          <p:cNvPicPr preferRelativeResize="0"/>
          <p:nvPr/>
        </p:nvPicPr>
        <p:blipFill>
          <a:blip r:embed="rId3">
            <a:alphaModFix/>
          </a:blip>
          <a:stretch>
            <a:fillRect/>
          </a:stretch>
        </p:blipFill>
        <p:spPr>
          <a:xfrm>
            <a:off x="304799" y="1868574"/>
            <a:ext cx="11335583" cy="3120851"/>
          </a:xfrm>
          <a:prstGeom prst="rect">
            <a:avLst/>
          </a:prstGeom>
          <a:noFill/>
          <a:ln>
            <a:noFill/>
          </a:ln>
        </p:spPr>
      </p:pic>
    </p:spTree>
    <p:extLst>
      <p:ext uri="{BB962C8B-B14F-4D97-AF65-F5344CB8AC3E}">
        <p14:creationId xmlns:p14="http://schemas.microsoft.com/office/powerpoint/2010/main" val="216662580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31ccdae391d_0_26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74" name="Google Shape;174;g31ccdae391d_0_26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52</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175" name="Google Shape;175;g31ccdae391d_0_263"/>
          <p:cNvSpPr/>
          <p:nvPr/>
        </p:nvSpPr>
        <p:spPr>
          <a:xfrm>
            <a:off x="475582"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A321: Tình trạng đơn hàng Pooling trước 2/10/2024: còn 22 đơn hàng đang open</a:t>
            </a:r>
            <a:endParaRPr kumimoji="0" sz="2000" b="1" i="0" u="none" strike="noStrike" kern="0" cap="none" spc="0" normalizeH="0" baseline="0" noProof="0">
              <a:ln>
                <a:noFill/>
              </a:ln>
              <a:solidFill>
                <a:srgbClr val="FF0000"/>
              </a:solidFill>
              <a:effectLst/>
              <a:uLnTx/>
              <a:uFillTx/>
              <a:latin typeface="Arial"/>
              <a:ea typeface="Arial"/>
              <a:cs typeface="Arial"/>
              <a:sym typeface="Arial"/>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lấp đầy kho MBK: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12 đơn hàng</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Hardtime &amp; Softtime: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9 đơn hàng (hết hạn trước 2/10) </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1F497D"/>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khác</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(Defect, lấp đầy kho VNA, trả tàu bảo quản…): 01 đơn hàng</a:t>
            </a:r>
            <a:endParaRPr kumimoji="0" sz="1500" b="0" i="0" u="none" strike="noStrike" kern="0" cap="none" spc="0" normalizeH="0" baseline="0" noProof="0">
              <a:ln>
                <a:noFill/>
              </a:ln>
              <a:solidFill>
                <a:srgbClr val="1F497D"/>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Với các yêu cầu phát sinh sau ngày 2/10/2024, Ban QLVT vẫn tiếp tục đặt hàng trên hệ thống của STEA để claim sau này. </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Hiện đối tác đang từ chối cung cấp vật tư cho các yêu cầu sau:</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914400" marR="0" lvl="0" indent="-323850" algn="just" defTabSz="914400" rtl="0" eaLnBrk="1" fontAlgn="auto" latinLnBrk="0" hangingPunct="1">
              <a:lnSpc>
                <a:spcPct val="110000"/>
              </a:lnSpc>
              <a:spcBef>
                <a:spcPts val="0"/>
              </a:spcBef>
              <a:spcAft>
                <a:spcPts val="0"/>
              </a:spcAft>
              <a:buClr>
                <a:srgbClr val="000000"/>
              </a:buClr>
              <a:buSzPts val="1500"/>
              <a:buFont typeface="Times New Roman"/>
              <a:buAutoNum type="arabicPeriod"/>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Phát sinh từ ngày 3/10/2024 trở về sau.</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914400" marR="0" lvl="0" indent="-323850" algn="just" defTabSz="914400" rtl="0" eaLnBrk="1" fontAlgn="auto" latinLnBrk="0" hangingPunct="1">
              <a:lnSpc>
                <a:spcPct val="110000"/>
              </a:lnSpc>
              <a:spcBef>
                <a:spcPts val="0"/>
              </a:spcBef>
              <a:spcAft>
                <a:spcPts val="0"/>
              </a:spcAft>
              <a:buClr>
                <a:srgbClr val="000000"/>
              </a:buClr>
              <a:buSzPts val="1500"/>
              <a:buFont typeface="Times New Roman"/>
              <a:buAutoNum type="arabicPeriod"/>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Các đặt hàng cho tàu release (A338/A339/A392/A393).</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76" name="Google Shape;176;g31ccdae391d_0_263"/>
          <p:cNvSpPr txBox="1"/>
          <p:nvPr/>
        </p:nvSpPr>
        <p:spPr>
          <a:xfrm>
            <a:off x="608975" y="6288450"/>
            <a:ext cx="10744800" cy="400200"/>
          </a:xfrm>
          <a:prstGeom prst="rect">
            <a:avLst/>
          </a:prstGeom>
          <a:noFill/>
          <a:ln>
            <a:noFill/>
          </a:ln>
        </p:spPr>
        <p:txBody>
          <a:bodyPr spcFirstLastPara="1" wrap="square" lIns="91425" tIns="91425" rIns="91425" bIns="91425" anchor="t" anchorCtr="0">
            <a:spAutoFit/>
          </a:bodyPr>
          <a:lstStyle/>
          <a:p>
            <a:pPr marL="0" marR="0" lvl="0" indent="0" algn="just" defTabSz="914400" rtl="0" eaLnBrk="1" fontAlgn="auto" latinLnBrk="0" hangingPunct="1">
              <a:lnSpc>
                <a:spcPct val="110000"/>
              </a:lnSpc>
              <a:spcBef>
                <a:spcPts val="60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FF0000"/>
              </a:solidFill>
              <a:effectLst/>
              <a:uLnTx/>
              <a:uFillTx/>
              <a:latin typeface="Arial"/>
              <a:ea typeface="Arial"/>
              <a:cs typeface="Arial"/>
              <a:sym typeface="Arial"/>
            </a:endParaRPr>
          </a:p>
        </p:txBody>
      </p:sp>
    </p:spTree>
    <p:extLst>
      <p:ext uri="{BB962C8B-B14F-4D97-AF65-F5344CB8AC3E}">
        <p14:creationId xmlns:p14="http://schemas.microsoft.com/office/powerpoint/2010/main" val="75255765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g31ccdae391d_0_271"/>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83" name="Google Shape;183;g31ccdae391d_0_27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53</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184" name="Google Shape;184;g31ccdae391d_0_271"/>
          <p:cNvGraphicFramePr/>
          <p:nvPr/>
        </p:nvGraphicFramePr>
        <p:xfrm>
          <a:off x="489114" y="611396"/>
          <a:ext cx="11570675" cy="4459402"/>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946125">
                  <a:extLst>
                    <a:ext uri="{9D8B030D-6E8A-4147-A177-3AD203B41FA5}">
                      <a16:colId xmlns:a16="http://schemas.microsoft.com/office/drawing/2014/main" val="20001"/>
                    </a:ext>
                  </a:extLst>
                </a:gridCol>
                <a:gridCol w="1285550">
                  <a:extLst>
                    <a:ext uri="{9D8B030D-6E8A-4147-A177-3AD203B41FA5}">
                      <a16:colId xmlns:a16="http://schemas.microsoft.com/office/drawing/2014/main" val="20002"/>
                    </a:ext>
                  </a:extLst>
                </a:gridCol>
                <a:gridCol w="5174925">
                  <a:extLst>
                    <a:ext uri="{9D8B030D-6E8A-4147-A177-3AD203B41FA5}">
                      <a16:colId xmlns:a16="http://schemas.microsoft.com/office/drawing/2014/main" val="20003"/>
                    </a:ext>
                  </a:extLst>
                </a:gridCol>
                <a:gridCol w="24228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2000" b="1" u="none" strike="noStrike" cap="none">
                          <a:solidFill>
                            <a:srgbClr val="FF0000"/>
                          </a:solidFill>
                          <a:latin typeface="Times New Roman"/>
                          <a:ea typeface="Times New Roman"/>
                          <a:cs typeface="Times New Roman"/>
                          <a:sym typeface="Times New Roman"/>
                        </a:rPr>
                        <a:t>DANH MỤC VẬT TƯ CRITICAL</a:t>
                      </a:r>
                      <a:endParaRPr sz="20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STT</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Tên thiết bị</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P/N</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Tình trạng vật tư</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Note</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4202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FDRV</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17300G11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2ea alt PN </a:t>
                      </a:r>
                      <a:r>
                        <a:rPr lang="en-US" sz="1600" u="none" strike="noStrike" cap="none">
                          <a:solidFill>
                            <a:schemeClr val="dk1"/>
                          </a:solidFill>
                          <a:latin typeface="Times New Roman"/>
                          <a:ea typeface="Times New Roman"/>
                          <a:cs typeface="Times New Roman"/>
                          <a:sym typeface="Times New Roman"/>
                        </a:rPr>
                        <a:t>17300G12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69797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SSTU</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321000M03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NIL, mới gửi đi sửa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a:solidFill>
                            <a:schemeClr val="dk1"/>
                          </a:solidFill>
                          <a:latin typeface="Times New Roman"/>
                          <a:ea typeface="Times New Roman"/>
                          <a:cs typeface="Times New Roman"/>
                          <a:sym typeface="Times New Roman"/>
                        </a:rPr>
                        <a:t>đang tìm phương án đổi</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4400">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CNA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745-1101-507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NIL, </a:t>
                      </a:r>
                      <a:r>
                        <a:rPr lang="en-US" sz="1600" u="none" strike="noStrike" cap="none">
                          <a:solidFill>
                            <a:schemeClr val="dk1"/>
                          </a:solidFill>
                          <a:latin typeface="Times New Roman"/>
                          <a:ea typeface="Times New Roman"/>
                          <a:cs typeface="Times New Roman"/>
                          <a:sym typeface="Times New Roman"/>
                        </a:rPr>
                        <a:t>đang giục </a:t>
                      </a:r>
                      <a:r>
                        <a:rPr lang="en-US" sz="1600">
                          <a:solidFill>
                            <a:schemeClr val="dk1"/>
                          </a:solidFill>
                          <a:latin typeface="Times New Roman"/>
                          <a:ea typeface="Times New Roman"/>
                          <a:cs typeface="Times New Roman"/>
                          <a:sym typeface="Times New Roman"/>
                        </a:rPr>
                        <a:t>RO </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16325">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4</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LH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665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5</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RH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NIL</a:t>
                      </a:r>
                      <a:r>
                        <a:rPr lang="en-US" sz="1600" u="none" strike="noStrike" cap="none">
                          <a:solidFill>
                            <a:schemeClr val="dk1"/>
                          </a:solidFill>
                          <a:latin typeface="Times New Roman"/>
                          <a:ea typeface="Times New Roman"/>
                          <a:cs typeface="Times New Roman"/>
                          <a:sym typeface="Times New Roman"/>
                        </a:rPr>
                        <a:t>, đang giục VAECO sửa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373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6</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AIR INLET COWL</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745-3400-507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IPCV NEO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5325192 (1020925-3)</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2ea </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8</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EIU NEO</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777461-1-1</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NIL, đang </a:t>
                      </a:r>
                      <a:r>
                        <a:rPr lang="en-US" sz="1600">
                          <a:latin typeface="Times New Roman"/>
                          <a:ea typeface="Times New Roman"/>
                          <a:cs typeface="Times New Roman"/>
                          <a:sym typeface="Times New Roman"/>
                        </a:rPr>
                        <a:t>giục sửa chữa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3943058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91" name="Google Shape;191;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54</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192" name="Google Shape;192;g31ccdae391d_0_278"/>
          <p:cNvGraphicFramePr/>
          <p:nvPr/>
        </p:nvGraphicFramePr>
        <p:xfrm>
          <a:off x="558675" y="462325"/>
          <a:ext cx="10287000" cy="6130632"/>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2130900">
                  <a:extLst>
                    <a:ext uri="{9D8B030D-6E8A-4147-A177-3AD203B41FA5}">
                      <a16:colId xmlns:a16="http://schemas.microsoft.com/office/drawing/2014/main" val="20001"/>
                    </a:ext>
                  </a:extLst>
                </a:gridCol>
                <a:gridCol w="2382725">
                  <a:extLst>
                    <a:ext uri="{9D8B030D-6E8A-4147-A177-3AD203B41FA5}">
                      <a16:colId xmlns:a16="http://schemas.microsoft.com/office/drawing/2014/main" val="20002"/>
                    </a:ext>
                  </a:extLst>
                </a:gridCol>
                <a:gridCol w="1051825">
                  <a:extLst>
                    <a:ext uri="{9D8B030D-6E8A-4147-A177-3AD203B41FA5}">
                      <a16:colId xmlns:a16="http://schemas.microsoft.com/office/drawing/2014/main" val="20003"/>
                    </a:ext>
                  </a:extLst>
                </a:gridCol>
                <a:gridCol w="4338700">
                  <a:extLst>
                    <a:ext uri="{9D8B030D-6E8A-4147-A177-3AD203B41FA5}">
                      <a16:colId xmlns:a16="http://schemas.microsoft.com/office/drawing/2014/main" val="20004"/>
                    </a:ext>
                  </a:extLst>
                </a:gridCol>
              </a:tblGrid>
              <a:tr h="381000">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it</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r>
                        <a:rPr lang="en-US" sz="1300">
                          <a:solidFill>
                            <a:schemeClr val="dk1"/>
                          </a:solidFill>
                          <a:latin typeface="Times New Roman"/>
                          <a:ea typeface="Times New Roman"/>
                          <a:cs typeface="Times New Roman"/>
                          <a:sym typeface="Times New Roman"/>
                        </a:rPr>
                        <a:t> đang đặt mua bù scrap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đang đặt mua bù scrap 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3416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 </a:t>
                      </a:r>
                      <a:r>
                        <a:rPr lang="en-US" sz="1300">
                          <a:solidFill>
                            <a:schemeClr val="dk1"/>
                          </a:solidFill>
                          <a:latin typeface="Times New Roman"/>
                          <a:ea typeface="Times New Roman"/>
                          <a:cs typeface="Times New Roman"/>
                          <a:sym typeface="Times New Roman"/>
                        </a:rPr>
                        <a:t> đang đặt mua bù scrap 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06ea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 </a:t>
                      </a:r>
                      <a:r>
                        <a:rPr lang="en-US" sz="1300">
                          <a:latin typeface="Times New Roman"/>
                          <a:ea typeface="Times New Roman"/>
                          <a:cs typeface="Times New Roman"/>
                          <a:sym typeface="Times New Roman"/>
                        </a:rPr>
                        <a:t>thiết bị gửi đi bị scrap, đang tìm phương án mua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183619455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31ccdae391d_0_285"/>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KHÁC</a:t>
            </a:r>
            <a:endParaRPr sz="2800">
              <a:solidFill>
                <a:srgbClr val="FFC000"/>
              </a:solidFill>
              <a:latin typeface="Times New Roman"/>
              <a:ea typeface="Times New Roman"/>
              <a:cs typeface="Times New Roman"/>
              <a:sym typeface="Times New Roman"/>
            </a:endParaRPr>
          </a:p>
        </p:txBody>
      </p:sp>
      <p:sp>
        <p:nvSpPr>
          <p:cNvPr id="199" name="Google Shape;199;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55</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00" name="Google Shape;200;g31ccdae391d_0_285"/>
          <p:cNvGraphicFramePr/>
          <p:nvPr/>
        </p:nvGraphicFramePr>
        <p:xfrm>
          <a:off x="438751" y="690871"/>
          <a:ext cx="11570675" cy="3855160"/>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442775">
                  <a:extLst>
                    <a:ext uri="{9D8B030D-6E8A-4147-A177-3AD203B41FA5}">
                      <a16:colId xmlns:a16="http://schemas.microsoft.com/office/drawing/2014/main" val="20001"/>
                    </a:ext>
                  </a:extLst>
                </a:gridCol>
                <a:gridCol w="1263625">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u="none" strike="noStrike" cap="none">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20850">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Rotating mech MLG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4133801011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dirty="0" err="1">
                          <a:latin typeface="Times New Roman"/>
                          <a:ea typeface="Times New Roman"/>
                          <a:cs typeface="Times New Roman"/>
                          <a:sym typeface="Times New Roman"/>
                        </a:rPr>
                        <a:t>Hỏng</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hóc</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nhiều</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tuy</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nhiên</a:t>
                      </a:r>
                      <a:r>
                        <a:rPr lang="en-US" sz="1150" u="none" strike="noStrike" cap="none" dirty="0">
                          <a:latin typeface="Times New Roman"/>
                          <a:ea typeface="Times New Roman"/>
                          <a:cs typeface="Times New Roman"/>
                          <a:sym typeface="Times New Roman"/>
                        </a:rPr>
                        <a:t> ST </a:t>
                      </a:r>
                      <a:r>
                        <a:rPr lang="en-US" sz="1150" u="none" strike="noStrike" cap="none" dirty="0" err="1">
                          <a:latin typeface="Times New Roman"/>
                          <a:ea typeface="Times New Roman"/>
                          <a:cs typeface="Times New Roman"/>
                          <a:sym typeface="Times New Roman"/>
                        </a:rPr>
                        <a:t>cấp</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hàng</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chậm</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với</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lý</a:t>
                      </a:r>
                      <a:r>
                        <a:rPr lang="en-US" sz="1150" u="none" strike="noStrike" cap="none" dirty="0">
                          <a:latin typeface="Times New Roman"/>
                          <a:ea typeface="Times New Roman"/>
                          <a:cs typeface="Times New Roman"/>
                          <a:sym typeface="Times New Roman"/>
                        </a:rPr>
                        <a:t> do </a:t>
                      </a:r>
                      <a:r>
                        <a:rPr lang="en-US" sz="1150" u="none" strike="noStrike" cap="none" dirty="0" err="1">
                          <a:latin typeface="Times New Roman"/>
                          <a:ea typeface="Times New Roman"/>
                          <a:cs typeface="Times New Roman"/>
                          <a:sym typeface="Times New Roman"/>
                        </a:rPr>
                        <a:t>các</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thiết</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bị</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gửi</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đi</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sửa</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chữa</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có</a:t>
                      </a:r>
                      <a:r>
                        <a:rPr lang="en-US" sz="1150" u="none" strike="noStrike" cap="none" dirty="0">
                          <a:latin typeface="Times New Roman"/>
                          <a:ea typeface="Times New Roman"/>
                          <a:cs typeface="Times New Roman"/>
                          <a:sym typeface="Times New Roman"/>
                        </a:rPr>
                        <a:t> TAT </a:t>
                      </a:r>
                      <a:r>
                        <a:rPr lang="en-US" sz="1150" u="none" strike="noStrike" cap="none" dirty="0" err="1">
                          <a:latin typeface="Times New Roman"/>
                          <a:ea typeface="Times New Roman"/>
                          <a:cs typeface="Times New Roman"/>
                          <a:sym typeface="Times New Roman"/>
                        </a:rPr>
                        <a:t>dài</a:t>
                      </a:r>
                      <a:r>
                        <a:rPr lang="en-US" sz="1150" u="none" strike="noStrike" cap="none" dirty="0">
                          <a:latin typeface="Times New Roman"/>
                          <a:ea typeface="Times New Roman"/>
                          <a:cs typeface="Times New Roman"/>
                          <a:sym typeface="Times New Roman"/>
                        </a:rPr>
                        <a:t>, PO </a:t>
                      </a:r>
                      <a:r>
                        <a:rPr lang="en-US" sz="1150" u="none" strike="noStrike" cap="none" dirty="0" err="1">
                          <a:latin typeface="Times New Roman"/>
                          <a:ea typeface="Times New Roman"/>
                          <a:cs typeface="Times New Roman"/>
                          <a:sym typeface="Times New Roman"/>
                        </a:rPr>
                        <a:t>mua</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mới</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tới</a:t>
                      </a:r>
                      <a:r>
                        <a:rPr lang="en-US" sz="1150" u="none" strike="noStrike" cap="none" dirty="0">
                          <a:latin typeface="Times New Roman"/>
                          <a:ea typeface="Times New Roman"/>
                          <a:cs typeface="Times New Roman"/>
                          <a:sym typeface="Times New Roman"/>
                        </a:rPr>
                        <a:t> OEM </a:t>
                      </a:r>
                      <a:r>
                        <a:rPr lang="en-US" sz="1150" u="none" strike="noStrike" cap="none" dirty="0" err="1">
                          <a:latin typeface="Times New Roman"/>
                          <a:ea typeface="Times New Roman"/>
                          <a:cs typeface="Times New Roman"/>
                          <a:sym typeface="Times New Roman"/>
                        </a:rPr>
                        <a:t>Safran</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có</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leadtime</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dài</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Hiện</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đã</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phải</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dừng</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chương</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trình</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kiểm</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tra</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theo</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khuyến</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cáo</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của</a:t>
                      </a:r>
                      <a:r>
                        <a:rPr lang="en-US" sz="1150" u="none" strike="noStrike" cap="none" dirty="0">
                          <a:latin typeface="Times New Roman"/>
                          <a:ea typeface="Times New Roman"/>
                          <a:cs typeface="Times New Roman"/>
                          <a:sym typeface="Times New Roman"/>
                        </a:rPr>
                        <a:t> OEM </a:t>
                      </a:r>
                      <a:r>
                        <a:rPr lang="en-US" sz="1150" u="none" strike="noStrike" cap="none" dirty="0" err="1">
                          <a:latin typeface="Times New Roman"/>
                          <a:ea typeface="Times New Roman"/>
                          <a:cs typeface="Times New Roman"/>
                          <a:sym typeface="Times New Roman"/>
                        </a:rPr>
                        <a:t>để</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có</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đủ</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vật</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tư</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cho</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các</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tàu</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tháo</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bảo</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quản</a:t>
                      </a:r>
                      <a:r>
                        <a:rPr lang="en-US" sz="1150" u="none" strike="noStrike" cap="none" dirty="0">
                          <a:latin typeface="Times New Roman"/>
                          <a:ea typeface="Times New Roman"/>
                          <a:cs typeface="Times New Roman"/>
                          <a:sym typeface="Times New Roman"/>
                        </a:rPr>
                        <a:t>. </a:t>
                      </a:r>
                      <a:endParaRPr sz="1150" u="none" strike="noStrike" cap="none" dirty="0">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dirty="0">
                          <a:latin typeface="Times New Roman"/>
                          <a:ea typeface="Times New Roman"/>
                          <a:cs typeface="Times New Roman"/>
                          <a:sym typeface="Times New Roman"/>
                        </a:rPr>
                        <a:t>Stock </a:t>
                      </a:r>
                      <a:r>
                        <a:rPr lang="en-US" sz="1150" dirty="0">
                          <a:latin typeface="Times New Roman"/>
                          <a:ea typeface="Times New Roman"/>
                          <a:cs typeface="Times New Roman"/>
                          <a:sym typeface="Times New Roman"/>
                        </a:rPr>
                        <a:t>3</a:t>
                      </a:r>
                      <a:r>
                        <a:rPr lang="en-US" sz="1150" u="none" strike="noStrike" cap="none" dirty="0">
                          <a:latin typeface="Times New Roman"/>
                          <a:ea typeface="Times New Roman"/>
                          <a:cs typeface="Times New Roman"/>
                          <a:sym typeface="Times New Roman"/>
                        </a:rPr>
                        <a:t>ea</a:t>
                      </a:r>
                      <a:endParaRPr sz="1150" u="none" strike="noStrike" cap="none" dirty="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dirty="0" err="1">
                          <a:latin typeface="Times New Roman"/>
                          <a:ea typeface="Times New Roman"/>
                          <a:cs typeface="Times New Roman"/>
                          <a:sym typeface="Times New Roman"/>
                        </a:rPr>
                        <a:t>Các</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khối</a:t>
                      </a:r>
                      <a:r>
                        <a:rPr lang="en-US" sz="1150" u="none" strike="noStrike" cap="none" dirty="0">
                          <a:latin typeface="Times New Roman"/>
                          <a:ea typeface="Times New Roman"/>
                          <a:cs typeface="Times New Roman"/>
                          <a:sym typeface="Times New Roman"/>
                        </a:rPr>
                        <a:t> VNA </a:t>
                      </a:r>
                      <a:r>
                        <a:rPr lang="en-US" sz="1150" u="none" strike="noStrike" cap="none" dirty="0" err="1">
                          <a:latin typeface="Times New Roman"/>
                          <a:ea typeface="Times New Roman"/>
                          <a:cs typeface="Times New Roman"/>
                          <a:sym typeface="Times New Roman"/>
                        </a:rPr>
                        <a:t>gửi</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sửa</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chữa</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bị</a:t>
                      </a:r>
                      <a:r>
                        <a:rPr lang="en-US" sz="1150" u="none" strike="noStrike" cap="none" dirty="0">
                          <a:latin typeface="Times New Roman"/>
                          <a:ea typeface="Times New Roman"/>
                          <a:cs typeface="Times New Roman"/>
                          <a:sym typeface="Times New Roman"/>
                        </a:rPr>
                        <a:t> scrap, </a:t>
                      </a:r>
                      <a:r>
                        <a:rPr lang="en-US" sz="1150" u="none" strike="noStrike" cap="none" dirty="0" err="1">
                          <a:latin typeface="Times New Roman"/>
                          <a:ea typeface="Times New Roman"/>
                          <a:cs typeface="Times New Roman"/>
                          <a:sym typeface="Times New Roman"/>
                        </a:rPr>
                        <a:t>đã</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đặt</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mua</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bổ</a:t>
                      </a:r>
                      <a:r>
                        <a:rPr lang="en-US" sz="1150" u="none" strike="noStrike" cap="none" dirty="0">
                          <a:latin typeface="Times New Roman"/>
                          <a:ea typeface="Times New Roman"/>
                          <a:cs typeface="Times New Roman"/>
                          <a:sym typeface="Times New Roman"/>
                        </a:rPr>
                        <a:t> sung 2ea, </a:t>
                      </a:r>
                      <a:r>
                        <a:rPr lang="en-US" sz="1150" u="none" strike="noStrike" cap="none" dirty="0" err="1">
                          <a:latin typeface="Times New Roman"/>
                          <a:ea typeface="Times New Roman"/>
                          <a:cs typeface="Times New Roman"/>
                          <a:sym typeface="Times New Roman"/>
                        </a:rPr>
                        <a:t>leadtime</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d</a:t>
                      </a:r>
                      <a:r>
                        <a:rPr lang="en-US" sz="1150" dirty="0" err="1">
                          <a:latin typeface="Times New Roman"/>
                          <a:ea typeface="Times New Roman"/>
                          <a:cs typeface="Times New Roman"/>
                          <a:sym typeface="Times New Roman"/>
                        </a:rPr>
                        <a:t>ài</a:t>
                      </a:r>
                      <a:endParaRPr sz="1150" u="none" strike="noStrike" cap="none" dirty="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2</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Các thiết bị IFE của Panasonic:</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LCD</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VSEB</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RD-AV9844-01</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RD-KA3303-05</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dirty="0" err="1">
                          <a:latin typeface="Times New Roman"/>
                          <a:ea typeface="Times New Roman"/>
                          <a:cs typeface="Times New Roman"/>
                          <a:sym typeface="Times New Roman"/>
                        </a:rPr>
                        <a:t>Hỏng</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hóc</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phát</a:t>
                      </a:r>
                      <a:r>
                        <a:rPr lang="en-US" sz="1150" u="none" strike="noStrike" cap="none" dirty="0">
                          <a:latin typeface="Times New Roman"/>
                          <a:ea typeface="Times New Roman"/>
                          <a:cs typeface="Times New Roman"/>
                          <a:sym typeface="Times New Roman"/>
                        </a:rPr>
                        <a:t> sinh </a:t>
                      </a:r>
                      <a:r>
                        <a:rPr lang="en-US" sz="1150" u="none" strike="noStrike" cap="none" dirty="0" err="1">
                          <a:latin typeface="Times New Roman"/>
                          <a:ea typeface="Times New Roman"/>
                          <a:cs typeface="Times New Roman"/>
                          <a:sym typeface="Times New Roman"/>
                        </a:rPr>
                        <a:t>nhiều</a:t>
                      </a:r>
                      <a:r>
                        <a:rPr lang="en-US" sz="1150" u="none" strike="noStrike" cap="none" dirty="0">
                          <a:latin typeface="Times New Roman"/>
                          <a:ea typeface="Times New Roman"/>
                          <a:cs typeface="Times New Roman"/>
                          <a:sym typeface="Times New Roman"/>
                        </a:rPr>
                        <a:t> trong </a:t>
                      </a:r>
                      <a:r>
                        <a:rPr lang="en-US" sz="1150" u="none" strike="noStrike" cap="none" dirty="0" err="1">
                          <a:latin typeface="Times New Roman"/>
                          <a:ea typeface="Times New Roman"/>
                          <a:cs typeface="Times New Roman"/>
                          <a:sym typeface="Times New Roman"/>
                        </a:rPr>
                        <a:t>khai</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thác</a:t>
                      </a:r>
                      <a:r>
                        <a:rPr lang="en-US" sz="1150" u="none" strike="noStrike" cap="none" dirty="0">
                          <a:latin typeface="Times New Roman"/>
                          <a:ea typeface="Times New Roman"/>
                          <a:cs typeface="Times New Roman"/>
                          <a:sym typeface="Times New Roman"/>
                        </a:rPr>
                        <a:t> trong </a:t>
                      </a:r>
                      <a:r>
                        <a:rPr lang="en-US" sz="1150" u="none" strike="noStrike" cap="none" dirty="0" err="1">
                          <a:latin typeface="Times New Roman"/>
                          <a:ea typeface="Times New Roman"/>
                          <a:cs typeface="Times New Roman"/>
                          <a:sym typeface="Times New Roman"/>
                        </a:rPr>
                        <a:t>khi</a:t>
                      </a:r>
                      <a:r>
                        <a:rPr lang="en-US" sz="1150" u="none" strike="noStrike" cap="none" dirty="0">
                          <a:latin typeface="Times New Roman"/>
                          <a:ea typeface="Times New Roman"/>
                          <a:cs typeface="Times New Roman"/>
                          <a:sym typeface="Times New Roman"/>
                        </a:rPr>
                        <a:t> Panasonic </a:t>
                      </a:r>
                      <a:r>
                        <a:rPr lang="en-US" sz="1150" u="none" strike="noStrike" cap="none" dirty="0" err="1">
                          <a:latin typeface="Times New Roman"/>
                          <a:ea typeface="Times New Roman"/>
                          <a:cs typeface="Times New Roman"/>
                          <a:sym typeface="Times New Roman"/>
                        </a:rPr>
                        <a:t>sửa</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chữa</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có</a:t>
                      </a:r>
                      <a:r>
                        <a:rPr lang="en-US" sz="1150" u="none" strike="noStrike" cap="none" dirty="0">
                          <a:latin typeface="Times New Roman"/>
                          <a:ea typeface="Times New Roman"/>
                          <a:cs typeface="Times New Roman"/>
                          <a:sym typeface="Times New Roman"/>
                        </a:rPr>
                        <a:t> TAT </a:t>
                      </a:r>
                      <a:r>
                        <a:rPr lang="en-US" sz="1150" u="none" strike="noStrike" cap="none" dirty="0" err="1">
                          <a:latin typeface="Times New Roman"/>
                          <a:ea typeface="Times New Roman"/>
                          <a:cs typeface="Times New Roman"/>
                          <a:sym typeface="Times New Roman"/>
                        </a:rPr>
                        <a:t>dài</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chủ</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yếu</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với</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lý</a:t>
                      </a:r>
                      <a:r>
                        <a:rPr lang="en-US" sz="1150" u="none" strike="noStrike" cap="none" dirty="0">
                          <a:latin typeface="Times New Roman"/>
                          <a:ea typeface="Times New Roman"/>
                          <a:cs typeface="Times New Roman"/>
                          <a:sym typeface="Times New Roman"/>
                        </a:rPr>
                        <a:t> do </a:t>
                      </a:r>
                      <a:r>
                        <a:rPr lang="en-US" sz="1150" u="none" strike="noStrike" cap="none" dirty="0" err="1">
                          <a:latin typeface="Times New Roman"/>
                          <a:ea typeface="Times New Roman"/>
                          <a:cs typeface="Times New Roman"/>
                          <a:sym typeface="Times New Roman"/>
                        </a:rPr>
                        <a:t>thiếu</a:t>
                      </a:r>
                      <a:r>
                        <a:rPr lang="en-US" sz="1150" u="none" strike="noStrike" cap="none" dirty="0">
                          <a:latin typeface="Times New Roman"/>
                          <a:ea typeface="Times New Roman"/>
                          <a:cs typeface="Times New Roman"/>
                          <a:sym typeface="Times New Roman"/>
                        </a:rPr>
                        <a:t> PTVT </a:t>
                      </a:r>
                      <a:r>
                        <a:rPr lang="en-US" sz="1150" u="none" strike="noStrike" cap="none" dirty="0" err="1">
                          <a:latin typeface="Times New Roman"/>
                          <a:ea typeface="Times New Roman"/>
                          <a:cs typeface="Times New Roman"/>
                          <a:sym typeface="Times New Roman"/>
                        </a:rPr>
                        <a:t>sửa</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chữa</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thay</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thế</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Các</a:t>
                      </a:r>
                      <a:r>
                        <a:rPr lang="en-US" sz="1150" u="none" strike="noStrike" cap="none" dirty="0">
                          <a:latin typeface="Times New Roman"/>
                          <a:ea typeface="Times New Roman"/>
                          <a:cs typeface="Times New Roman"/>
                          <a:sym typeface="Times New Roman"/>
                        </a:rPr>
                        <a:t> PTVT </a:t>
                      </a:r>
                      <a:r>
                        <a:rPr lang="en-US" sz="1150" u="none" strike="noStrike" cap="none" dirty="0" err="1">
                          <a:latin typeface="Times New Roman"/>
                          <a:ea typeface="Times New Roman"/>
                          <a:cs typeface="Times New Roman"/>
                          <a:sym typeface="Times New Roman"/>
                        </a:rPr>
                        <a:t>này</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hiện</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đều</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là</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đời</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cũ</a:t>
                      </a:r>
                      <a:r>
                        <a:rPr lang="en-US" sz="1150" u="none" strike="noStrike" cap="none" dirty="0">
                          <a:latin typeface="Times New Roman"/>
                          <a:ea typeface="Times New Roman"/>
                          <a:cs typeface="Times New Roman"/>
                          <a:sym typeface="Times New Roman"/>
                        </a:rPr>
                        <a:t>, VSEB </a:t>
                      </a:r>
                      <a:r>
                        <a:rPr lang="en-US" sz="1150" u="none" strike="noStrike" cap="none" dirty="0" err="1">
                          <a:latin typeface="Times New Roman"/>
                          <a:ea typeface="Times New Roman"/>
                          <a:cs typeface="Times New Roman"/>
                          <a:sym typeface="Times New Roman"/>
                        </a:rPr>
                        <a:t>đã</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dừng</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sản</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xuất</a:t>
                      </a:r>
                      <a:r>
                        <a:rPr lang="en-US" sz="1150" u="none" strike="noStrike" cap="none" dirty="0">
                          <a:latin typeface="Times New Roman"/>
                          <a:ea typeface="Times New Roman"/>
                          <a:cs typeface="Times New Roman"/>
                          <a:sym typeface="Times New Roman"/>
                        </a:rPr>
                        <a:t>. </a:t>
                      </a:r>
                      <a:endParaRPr sz="1150" u="none" strike="noStrike" cap="none" dirty="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Phối hợp với Panasonic để đổi PTVT, rút ngắn TAT</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Đề nghị Ban KT xem xét phương án tìm PN thay thế</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80575">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Jetpipe</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745-1107-503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Thiết bị nằm trên CNA, hỏng hóc nặng crack, không sửa được tại Vaeco. Gửi đi sửa chữa có TAT dài. Có 3 cấp độ hỏng: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Disbond: TAT nhanh (&lt;30 ngày), chi phí sửa thấp (8k - 10k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1 vị trí: TAT khoảng 40-50 ngày, chi phí sửa khoảng 20k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2 vị trí trở lên: TAT dài 60-80 ngày, chi phí sửa &gt;40kUSD </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50"/>
                        <a:buFont typeface="Times New Roman"/>
                        <a:buNone/>
                      </a:pPr>
                      <a:r>
                        <a:rPr lang="en-US" sz="1150" u="none" strike="noStrike" cap="none">
                          <a:latin typeface="Times New Roman"/>
                          <a:ea typeface="Times New Roman"/>
                          <a:cs typeface="Times New Roman"/>
                          <a:sym typeface="Times New Roman"/>
                        </a:rPr>
                        <a:t>Tình trạng kho: stock </a:t>
                      </a:r>
                      <a:r>
                        <a:rPr lang="en-US" sz="1150">
                          <a:latin typeface="Times New Roman"/>
                          <a:ea typeface="Times New Roman"/>
                          <a:cs typeface="Times New Roman"/>
                          <a:sym typeface="Times New Roman"/>
                        </a:rPr>
                        <a:t>1ea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 </a:t>
                      </a:r>
                      <a:r>
                        <a:rPr lang="en-US" sz="1150" u="none" strike="noStrike" cap="none">
                          <a:latin typeface="Times New Roman"/>
                          <a:ea typeface="Times New Roman"/>
                          <a:cs typeface="Times New Roman"/>
                          <a:sym typeface="Times New Roman"/>
                        </a:rPr>
                        <a:t>Đề nghị VAECO có đánh giá hỏng hóc (SDR) sớm và gửi Ban QLVT để hỏi repair cap và chọn cơ sở sửa chữa phù hợp.</a:t>
                      </a:r>
                      <a:endParaRPr sz="115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a:t>
                      </a:r>
                      <a:r>
                        <a:rPr lang="en-US" sz="1150" b="0" i="0" u="none" strike="noStrike" cap="none">
                          <a:solidFill>
                            <a:srgbClr val="000000"/>
                          </a:solidFill>
                          <a:latin typeface="Times New Roman"/>
                          <a:ea typeface="Times New Roman"/>
                          <a:cs typeface="Times New Roman"/>
                          <a:sym typeface="Times New Roman"/>
                        </a:rPr>
                        <a:t>Ban QLVT tiếp tục làm việc với</a:t>
                      </a:r>
                      <a:r>
                        <a:rPr lang="en-US" sz="1150" u="none" strike="noStrike" cap="none">
                          <a:latin typeface="Times New Roman"/>
                          <a:ea typeface="Times New Roman"/>
                          <a:cs typeface="Times New Roman"/>
                          <a:sym typeface="Times New Roman"/>
                        </a:rPr>
                        <a:t> cơ sở sửa chữa để rút ngắn TAT</a:t>
                      </a:r>
                      <a:r>
                        <a:rPr lang="en-US" sz="1150" b="0" i="0" u="none" strike="noStrike" cap="none">
                          <a:solidFill>
                            <a:srgbClr val="000000"/>
                          </a:solidFill>
                          <a:latin typeface="Times New Roman"/>
                          <a:ea typeface="Times New Roman"/>
                          <a:cs typeface="Times New Roman"/>
                          <a:sym typeface="Times New Roman"/>
                        </a:rPr>
                        <a:t/>
                      </a:r>
                      <a:br>
                        <a:rPr lang="en-US" sz="1150" b="0" i="0" u="none" strike="noStrike" cap="none">
                          <a:solidFill>
                            <a:srgbClr val="000000"/>
                          </a:solidFill>
                          <a:latin typeface="Times New Roman"/>
                          <a:ea typeface="Times New Roman"/>
                          <a:cs typeface="Times New Roman"/>
                          <a:sym typeface="Times New Roman"/>
                        </a:rPr>
                      </a:br>
                      <a:r>
                        <a:rPr lang="en-US" sz="1150" b="0" i="0" u="none" strike="noStrike" cap="none">
                          <a:solidFill>
                            <a:srgbClr val="000000"/>
                          </a:solidFill>
                          <a:latin typeface="Times New Roman"/>
                          <a:ea typeface="Times New Roman"/>
                          <a:cs typeface="Times New Roman"/>
                          <a:sym typeface="Times New Roman"/>
                        </a:rPr>
                        <a:t>- Đề nghị Ban KT/Vaeco có giải pháp hạn chế hỏng hóc</a:t>
                      </a:r>
                      <a:r>
                        <a:rPr lang="en-US" sz="1150" u="none" strike="noStrike" cap="none">
                          <a:latin typeface="Times New Roman"/>
                          <a:ea typeface="Times New Roman"/>
                          <a:cs typeface="Times New Roman"/>
                          <a:sym typeface="Times New Roman"/>
                        </a:rPr>
                        <a:t> bằng các phương án kiểm tra chủ động, thay thế khi bị disbond sẽ tiết kiệm chi phí sửa và TAT ngắn.</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Với các hỏng hóc phát sinh, đề nghị xem xét phương án mở defect để Ban QLVT chủ động phương án cung ứng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657170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g31ccdae391d_0_292"/>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VƯỚNG MẮC VẬT TƯ VAECO</a:t>
            </a:r>
            <a:endParaRPr sz="2800">
              <a:solidFill>
                <a:srgbClr val="FFC000"/>
              </a:solidFill>
              <a:latin typeface="Times New Roman"/>
              <a:ea typeface="Times New Roman"/>
              <a:cs typeface="Times New Roman"/>
              <a:sym typeface="Times New Roman"/>
            </a:endParaRPr>
          </a:p>
        </p:txBody>
      </p:sp>
      <p:sp>
        <p:nvSpPr>
          <p:cNvPr id="207" name="Google Shape;207;g31ccdae391d_0_29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56</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08" name="Google Shape;208;g31ccdae391d_0_292"/>
          <p:cNvGraphicFramePr/>
          <p:nvPr/>
        </p:nvGraphicFramePr>
        <p:xfrm>
          <a:off x="414739" y="1604714"/>
          <a:ext cx="11570675" cy="1823565"/>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429625">
                  <a:extLst>
                    <a:ext uri="{9D8B030D-6E8A-4147-A177-3AD203B41FA5}">
                      <a16:colId xmlns:a16="http://schemas.microsoft.com/office/drawing/2014/main" val="20001"/>
                    </a:ext>
                  </a:extLst>
                </a:gridCol>
                <a:gridCol w="1269800">
                  <a:extLst>
                    <a:ext uri="{9D8B030D-6E8A-4147-A177-3AD203B41FA5}">
                      <a16:colId xmlns:a16="http://schemas.microsoft.com/office/drawing/2014/main" val="20002"/>
                    </a:ext>
                  </a:extLst>
                </a:gridCol>
                <a:gridCol w="4068475">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1500" b="1" u="none" strike="noStrike" cap="none">
                          <a:solidFill>
                            <a:srgbClr val="FF0000"/>
                          </a:solidFill>
                          <a:latin typeface="Times New Roman"/>
                          <a:ea typeface="Times New Roman"/>
                          <a:cs typeface="Times New Roman"/>
                          <a:sym typeface="Times New Roman"/>
                        </a:rPr>
                        <a:t>A321 – VAECO</a:t>
                      </a:r>
                      <a:endParaRPr sz="14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1</a:t>
                      </a:r>
                      <a:endParaRPr sz="1150"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solidFill>
                            <a:schemeClr val="dk1"/>
                          </a:solidFill>
                          <a:highlight>
                            <a:srgbClr val="FFFFFF"/>
                          </a:highlight>
                          <a:latin typeface="Times New Roman"/>
                          <a:ea typeface="Times New Roman"/>
                          <a:cs typeface="Times New Roman"/>
                          <a:sym typeface="Times New Roman"/>
                        </a:rPr>
                        <a:t>BELOW</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solidFill>
                            <a:schemeClr val="dk1"/>
                          </a:solidFill>
                          <a:highlight>
                            <a:srgbClr val="FFFFFF"/>
                          </a:highlight>
                          <a:latin typeface="Times New Roman"/>
                          <a:ea typeface="Times New Roman"/>
                          <a:cs typeface="Times New Roman"/>
                          <a:sym typeface="Times New Roman"/>
                        </a:rPr>
                        <a:t>D2157160120000</a:t>
                      </a:r>
                      <a:endParaRPr sz="1150" u="none" strike="noStrike" cap="none">
                        <a:solidFill>
                          <a:schemeClr val="dk1"/>
                        </a:solidFill>
                        <a:highlight>
                          <a:srgbClr val="FFFFFF"/>
                        </a:highlight>
                        <a:latin typeface="Times New Roman"/>
                        <a:ea typeface="Times New Roman"/>
                        <a:cs typeface="Times New Roman"/>
                        <a:sym typeface="Times New Roman"/>
                      </a:endParaRPr>
                    </a:p>
                    <a:p>
                      <a:pPr marL="0" marR="0" lvl="0" indent="0" algn="l" rtl="0">
                        <a:spcBef>
                          <a:spcPts val="0"/>
                        </a:spcBef>
                        <a:spcAft>
                          <a:spcPts val="0"/>
                        </a:spcAft>
                        <a:buClr>
                          <a:schemeClr val="dk1"/>
                        </a:buClr>
                        <a:buSzPts val="1150"/>
                        <a:buFont typeface="Arial"/>
                        <a:buNone/>
                      </a:pPr>
                      <a:r>
                        <a:rPr lang="en-US" sz="1150" u="none" strike="noStrike" cap="none">
                          <a:solidFill>
                            <a:schemeClr val="dk1"/>
                          </a:solidFill>
                          <a:highlight>
                            <a:schemeClr val="lt1"/>
                          </a:highlight>
                          <a:latin typeface="Times New Roman"/>
                          <a:ea typeface="Times New Roman"/>
                          <a:cs typeface="Times New Roman"/>
                          <a:sym typeface="Times New Roman"/>
                        </a:rPr>
                        <a:t>D2157160000000</a:t>
                      </a:r>
                      <a:endParaRPr sz="1150" u="none" strike="noStrike" cap="none">
                        <a:solidFill>
                          <a:schemeClr val="dk1"/>
                        </a:solidFill>
                        <a:highlight>
                          <a:srgbClr val="FFFFFF"/>
                        </a:highlight>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gây A359 AOG hỏng Bellow của hệ thống Pack. Các tàu trong check có task kiểm tra hệ thống Pack đều phát hiện ra hỏng Bellow. Ngoài ra, Ban KT triển khai việc kiểm tra chủ động nhưng Airbus không cấp được hàng.</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VAECO vẫn mua dự phòng nhưng gần đây Airbus cấp hàng chậm.</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Tình trạng:</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PN D2157160120000 stock 5ea</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PN D2157160000000 stock 3EA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Arial"/>
                        <a:buChar char="-"/>
                      </a:pPr>
                      <a:r>
                        <a:rPr lang="en-US" sz="1150" u="none" strike="noStrike" cap="none" dirty="0">
                          <a:solidFill>
                            <a:schemeClr val="dk1"/>
                          </a:solidFill>
                          <a:latin typeface="Times New Roman"/>
                          <a:ea typeface="Times New Roman"/>
                          <a:cs typeface="Times New Roman"/>
                          <a:sym typeface="Times New Roman"/>
                        </a:rPr>
                        <a:t>Ban QLVT </a:t>
                      </a:r>
                      <a:r>
                        <a:rPr lang="en-US" sz="1150" u="none" strike="noStrike" cap="none" dirty="0" err="1">
                          <a:solidFill>
                            <a:schemeClr val="dk1"/>
                          </a:solidFill>
                          <a:latin typeface="Times New Roman"/>
                          <a:ea typeface="Times New Roman"/>
                          <a:cs typeface="Times New Roman"/>
                          <a:sym typeface="Times New Roman"/>
                        </a:rPr>
                        <a:t>đã</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hỗ</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trợ</a:t>
                      </a:r>
                      <a:r>
                        <a:rPr lang="en-US" sz="1150" u="none" strike="noStrike" cap="none" dirty="0">
                          <a:solidFill>
                            <a:schemeClr val="dk1"/>
                          </a:solidFill>
                          <a:latin typeface="Times New Roman"/>
                          <a:ea typeface="Times New Roman"/>
                          <a:cs typeface="Times New Roman"/>
                          <a:sym typeface="Times New Roman"/>
                        </a:rPr>
                        <a:t> claim Airbus </a:t>
                      </a:r>
                      <a:r>
                        <a:rPr lang="en-US" sz="1150" u="none" strike="noStrike" cap="none" dirty="0" err="1">
                          <a:solidFill>
                            <a:schemeClr val="dk1"/>
                          </a:solidFill>
                          <a:latin typeface="Times New Roman"/>
                          <a:ea typeface="Times New Roman"/>
                          <a:cs typeface="Times New Roman"/>
                          <a:sym typeface="Times New Roman"/>
                        </a:rPr>
                        <a:t>đồng</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thời</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tìm</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kiếm</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nguồn</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cung</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ứng</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giúp</a:t>
                      </a:r>
                      <a:r>
                        <a:rPr lang="en-US" sz="1150" u="none" strike="noStrike" cap="none" dirty="0">
                          <a:solidFill>
                            <a:schemeClr val="dk1"/>
                          </a:solidFill>
                          <a:latin typeface="Times New Roman"/>
                          <a:ea typeface="Times New Roman"/>
                          <a:cs typeface="Times New Roman"/>
                          <a:sym typeface="Times New Roman"/>
                        </a:rPr>
                        <a:t> VAECO </a:t>
                      </a:r>
                      <a:r>
                        <a:rPr lang="en-US" sz="1150" u="none" strike="noStrike" cap="none" dirty="0" err="1">
                          <a:solidFill>
                            <a:schemeClr val="dk1"/>
                          </a:solidFill>
                          <a:latin typeface="Times New Roman"/>
                          <a:ea typeface="Times New Roman"/>
                          <a:cs typeface="Times New Roman"/>
                          <a:sym typeface="Times New Roman"/>
                        </a:rPr>
                        <a:t>tuy</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nhiên</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việc</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cung</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ứng</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vẫn</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rất</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khó</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khăn</a:t>
                      </a:r>
                      <a:r>
                        <a:rPr lang="en-US" sz="1150" u="none" strike="noStrike" cap="none" dirty="0">
                          <a:solidFill>
                            <a:schemeClr val="dk1"/>
                          </a:solidFill>
                          <a:latin typeface="Times New Roman"/>
                          <a:ea typeface="Times New Roman"/>
                          <a:cs typeface="Times New Roman"/>
                          <a:sym typeface="Times New Roman"/>
                        </a:rPr>
                        <a:t> do </a:t>
                      </a:r>
                      <a:r>
                        <a:rPr lang="en-US" sz="1150" u="none" strike="noStrike" cap="none" dirty="0" err="1">
                          <a:solidFill>
                            <a:schemeClr val="dk1"/>
                          </a:solidFill>
                          <a:latin typeface="Times New Roman"/>
                          <a:ea typeface="Times New Roman"/>
                          <a:cs typeface="Times New Roman"/>
                          <a:sym typeface="Times New Roman"/>
                        </a:rPr>
                        <a:t>thiếu</a:t>
                      </a:r>
                      <a:r>
                        <a:rPr lang="en-US" sz="1150" u="none" strike="noStrike" cap="none" dirty="0">
                          <a:solidFill>
                            <a:schemeClr val="dk1"/>
                          </a:solidFill>
                          <a:latin typeface="Times New Roman"/>
                          <a:ea typeface="Times New Roman"/>
                          <a:cs typeface="Times New Roman"/>
                          <a:sym typeface="Times New Roman"/>
                        </a:rPr>
                        <a:t> raw materials, Airbus </a:t>
                      </a:r>
                      <a:r>
                        <a:rPr lang="en-US" sz="1150" u="none" strike="noStrike" cap="none" dirty="0" err="1">
                          <a:solidFill>
                            <a:schemeClr val="dk1"/>
                          </a:solidFill>
                          <a:latin typeface="Times New Roman"/>
                          <a:ea typeface="Times New Roman"/>
                          <a:cs typeface="Times New Roman"/>
                          <a:sym typeface="Times New Roman"/>
                        </a:rPr>
                        <a:t>chỉ</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cấp</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hàng</a:t>
                      </a:r>
                      <a:r>
                        <a:rPr lang="en-US" sz="1150" u="none" strike="noStrike" cap="none" dirty="0">
                          <a:solidFill>
                            <a:schemeClr val="dk1"/>
                          </a:solidFill>
                          <a:latin typeface="Times New Roman"/>
                          <a:ea typeface="Times New Roman"/>
                          <a:cs typeface="Times New Roman"/>
                          <a:sym typeface="Times New Roman"/>
                        </a:rPr>
                        <a:t> AOG </a:t>
                      </a:r>
                      <a:r>
                        <a:rPr lang="en-US" sz="1150" u="none" strike="noStrike" cap="none" dirty="0" err="1">
                          <a:solidFill>
                            <a:schemeClr val="dk1"/>
                          </a:solidFill>
                          <a:latin typeface="Times New Roman"/>
                          <a:ea typeface="Times New Roman"/>
                          <a:cs typeface="Times New Roman"/>
                          <a:sym typeface="Times New Roman"/>
                        </a:rPr>
                        <a:t>và</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chưa</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đồng</a:t>
                      </a:r>
                      <a:r>
                        <a:rPr lang="en-US" sz="1150" u="none" strike="noStrike" cap="none" dirty="0">
                          <a:solidFill>
                            <a:schemeClr val="dk1"/>
                          </a:solidFill>
                          <a:latin typeface="Times New Roman"/>
                          <a:ea typeface="Times New Roman"/>
                          <a:cs typeface="Times New Roman"/>
                          <a:sym typeface="Times New Roman"/>
                        </a:rPr>
                        <a:t> ý </a:t>
                      </a:r>
                      <a:r>
                        <a:rPr lang="en-US" sz="1150" u="none" strike="noStrike" cap="none" dirty="0" err="1">
                          <a:solidFill>
                            <a:schemeClr val="dk1"/>
                          </a:solidFill>
                          <a:latin typeface="Times New Roman"/>
                          <a:ea typeface="Times New Roman"/>
                          <a:cs typeface="Times New Roman"/>
                          <a:sym typeface="Times New Roman"/>
                        </a:rPr>
                        <a:t>cấp</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cho</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chương</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trình</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đánh</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chặn</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Hiện</a:t>
                      </a:r>
                      <a:r>
                        <a:rPr lang="en-US" sz="1150" u="none" strike="noStrike" cap="none" dirty="0">
                          <a:solidFill>
                            <a:schemeClr val="dk1"/>
                          </a:solidFill>
                          <a:latin typeface="Times New Roman"/>
                          <a:ea typeface="Times New Roman"/>
                          <a:cs typeface="Times New Roman"/>
                          <a:sym typeface="Times New Roman"/>
                        </a:rPr>
                        <a:t> Airbus </a:t>
                      </a:r>
                      <a:r>
                        <a:rPr lang="en-US" sz="1150" u="none" strike="noStrike" cap="none" dirty="0" err="1">
                          <a:solidFill>
                            <a:schemeClr val="dk1"/>
                          </a:solidFill>
                          <a:latin typeface="Times New Roman"/>
                          <a:ea typeface="Times New Roman"/>
                          <a:cs typeface="Times New Roman"/>
                          <a:sym typeface="Times New Roman"/>
                        </a:rPr>
                        <a:t>chưa</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có</a:t>
                      </a:r>
                      <a:r>
                        <a:rPr lang="en-US" sz="1150" u="none" strike="noStrike" cap="none" dirty="0">
                          <a:solidFill>
                            <a:schemeClr val="dk1"/>
                          </a:solidFill>
                          <a:latin typeface="Times New Roman"/>
                          <a:ea typeface="Times New Roman"/>
                          <a:cs typeface="Times New Roman"/>
                          <a:sym typeface="Times New Roman"/>
                        </a:rPr>
                        <a:t> </a:t>
                      </a:r>
                      <a:r>
                        <a:rPr lang="en-US" sz="1150" u="none" strike="noStrike" cap="none" dirty="0" err="1">
                          <a:solidFill>
                            <a:schemeClr val="dk1"/>
                          </a:solidFill>
                          <a:latin typeface="Times New Roman"/>
                          <a:ea typeface="Times New Roman"/>
                          <a:cs typeface="Times New Roman"/>
                          <a:sym typeface="Times New Roman"/>
                        </a:rPr>
                        <a:t>dự</a:t>
                      </a:r>
                      <a:r>
                        <a:rPr lang="en-US" sz="1150" u="none" strike="noStrike" cap="none" dirty="0">
                          <a:solidFill>
                            <a:schemeClr val="dk1"/>
                          </a:solidFill>
                          <a:latin typeface="Times New Roman"/>
                          <a:ea typeface="Times New Roman"/>
                          <a:cs typeface="Times New Roman"/>
                          <a:sym typeface="Times New Roman"/>
                        </a:rPr>
                        <a:t> kiến </a:t>
                      </a:r>
                      <a:r>
                        <a:rPr lang="en-US" sz="1150" u="none" strike="noStrike" cap="none" dirty="0" err="1">
                          <a:solidFill>
                            <a:schemeClr val="dk1"/>
                          </a:solidFill>
                          <a:latin typeface="Times New Roman"/>
                          <a:ea typeface="Times New Roman"/>
                          <a:cs typeface="Times New Roman"/>
                          <a:sym typeface="Times New Roman"/>
                        </a:rPr>
                        <a:t>ngày</a:t>
                      </a:r>
                      <a:r>
                        <a:rPr lang="en-US" sz="1150" u="none" strike="noStrike" cap="none" dirty="0">
                          <a:solidFill>
                            <a:schemeClr val="dk1"/>
                          </a:solidFill>
                          <a:latin typeface="Times New Roman"/>
                          <a:ea typeface="Times New Roman"/>
                          <a:cs typeface="Times New Roman"/>
                          <a:sym typeface="Times New Roman"/>
                        </a:rPr>
                        <a:t> ship</a:t>
                      </a:r>
                      <a:endParaRPr sz="1150" u="none" strike="noStrike" cap="none" dirty="0">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95898958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5" name="Google Shape;215;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57</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16" name="Google Shape;216;g31ccdae391d_0_299"/>
          <p:cNvSpPr/>
          <p:nvPr/>
        </p:nvSpPr>
        <p:spPr>
          <a:xfrm>
            <a:off x="533407" y="742682"/>
            <a:ext cx="11164800"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Tình trạng đơn hàng Pooling: 34 đơn hàng quá hạn trong tổng số 57 đơn hàng đang open</a:t>
            </a:r>
            <a:endParaRPr kumimoji="0" sz="2000" b="1" i="0" u="none" strike="noStrike" kern="0" cap="none" spc="0" normalizeH="0" baseline="0" noProof="0">
              <a:ln>
                <a:noFill/>
              </a:ln>
              <a:solidFill>
                <a:srgbClr val="FF0000"/>
              </a:solidFill>
              <a:effectLst/>
              <a:uLnTx/>
              <a:uFillTx/>
              <a:latin typeface="Arial"/>
              <a:ea typeface="Arial"/>
              <a:cs typeface="Arial"/>
              <a:sym typeface="Arial"/>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lấp đầy kho MBK: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overdue 17 LO / total  21 LO</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khác (Defect, Hardtime):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overdue 17 EO / total 36 EO </a:t>
            </a:r>
            <a:endParaRPr kumimoji="0" sz="1500" b="0" i="0" u="none" strike="noStrike" kern="0" cap="none" spc="0" normalizeH="0" baseline="0" noProof="0">
              <a:ln>
                <a:noFill/>
              </a:ln>
              <a:solidFill>
                <a:srgbClr val="1F497D"/>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Pts val="1500"/>
              <a:buFont typeface="Arial"/>
              <a:buNone/>
              <a:tabLst/>
              <a:defRPr/>
            </a:pPr>
            <a:endParaRPr kumimoji="0" sz="15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17" name="Google Shape;217;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218" name="Google Shape;218;g31ccdae391d_0_299"/>
          <p:cNvPicPr preferRelativeResize="0"/>
          <p:nvPr/>
        </p:nvPicPr>
        <p:blipFill>
          <a:blip r:embed="rId3">
            <a:alphaModFix/>
          </a:blip>
          <a:stretch>
            <a:fillRect/>
          </a:stretch>
        </p:blipFill>
        <p:spPr>
          <a:xfrm>
            <a:off x="2028825" y="1632475"/>
            <a:ext cx="7901001" cy="4801675"/>
          </a:xfrm>
          <a:prstGeom prst="rect">
            <a:avLst/>
          </a:prstGeom>
          <a:noFill/>
          <a:ln>
            <a:noFill/>
          </a:ln>
        </p:spPr>
      </p:pic>
    </p:spTree>
    <p:extLst>
      <p:ext uri="{BB962C8B-B14F-4D97-AF65-F5344CB8AC3E}">
        <p14:creationId xmlns:p14="http://schemas.microsoft.com/office/powerpoint/2010/main" val="279425243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25" name="Google Shape;225;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58</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26" name="Google Shape;226;g31ccdae391d_0_308"/>
          <p:cNvGraphicFramePr/>
          <p:nvPr>
            <p:extLst/>
          </p:nvPr>
        </p:nvGraphicFramePr>
        <p:xfrm>
          <a:off x="607288" y="787650"/>
          <a:ext cx="11227800" cy="5417385"/>
        </p:xfrm>
        <a:graphic>
          <a:graphicData uri="http://schemas.openxmlformats.org/drawingml/2006/table">
            <a:tbl>
              <a:tblPr>
                <a:noFill/>
              </a:tblPr>
              <a:tblGrid>
                <a:gridCol w="756400">
                  <a:extLst>
                    <a:ext uri="{9D8B030D-6E8A-4147-A177-3AD203B41FA5}">
                      <a16:colId xmlns:a16="http://schemas.microsoft.com/office/drawing/2014/main" val="20000"/>
                    </a:ext>
                  </a:extLst>
                </a:gridCol>
                <a:gridCol w="1531850">
                  <a:extLst>
                    <a:ext uri="{9D8B030D-6E8A-4147-A177-3AD203B41FA5}">
                      <a16:colId xmlns:a16="http://schemas.microsoft.com/office/drawing/2014/main" val="20001"/>
                    </a:ext>
                  </a:extLst>
                </a:gridCol>
                <a:gridCol w="1753750">
                  <a:extLst>
                    <a:ext uri="{9D8B030D-6E8A-4147-A177-3AD203B41FA5}">
                      <a16:colId xmlns:a16="http://schemas.microsoft.com/office/drawing/2014/main" val="20002"/>
                    </a:ext>
                  </a:extLst>
                </a:gridCol>
                <a:gridCol w="3592900">
                  <a:extLst>
                    <a:ext uri="{9D8B030D-6E8A-4147-A177-3AD203B41FA5}">
                      <a16:colId xmlns:a16="http://schemas.microsoft.com/office/drawing/2014/main" val="20003"/>
                    </a:ext>
                  </a:extLst>
                </a:gridCol>
                <a:gridCol w="3592900">
                  <a:extLst>
                    <a:ext uri="{9D8B030D-6E8A-4147-A177-3AD203B41FA5}">
                      <a16:colId xmlns:a16="http://schemas.microsoft.com/office/drawing/2014/main" val="20004"/>
                    </a:ext>
                  </a:extLst>
                </a:gridCol>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dirty="0">
                          <a:solidFill>
                            <a:srgbClr val="FF0000"/>
                          </a:solidFill>
                          <a:latin typeface="Times New Roman"/>
                          <a:ea typeface="Times New Roman"/>
                          <a:cs typeface="Times New Roman"/>
                          <a:sym typeface="Times New Roman"/>
                        </a:rPr>
                        <a:t> </a:t>
                      </a:r>
                      <a:endParaRPr sz="1600" b="1" i="0" u="none" strike="noStrike" cap="none" dirty="0">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05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dirty="0" err="1" smtClean="0">
                          <a:latin typeface="Times New Roman"/>
                          <a:ea typeface="Times New Roman"/>
                          <a:cs typeface="Times New Roman"/>
                          <a:sym typeface="Times New Roman"/>
                        </a:rPr>
                        <a:t>Cần</a:t>
                      </a:r>
                      <a:r>
                        <a:rPr lang="en-US" sz="1300" dirty="0" smtClean="0">
                          <a:latin typeface="Times New Roman"/>
                          <a:ea typeface="Times New Roman"/>
                          <a:cs typeface="Times New Roman"/>
                          <a:sym typeface="Times New Roman"/>
                        </a:rPr>
                        <a:t> </a:t>
                      </a:r>
                      <a:r>
                        <a:rPr lang="en-US" sz="1300" dirty="0">
                          <a:latin typeface="Times New Roman"/>
                          <a:ea typeface="Times New Roman"/>
                          <a:cs typeface="Times New Roman"/>
                          <a:sym typeface="Times New Roman"/>
                        </a:rPr>
                        <a:t>01ea </a:t>
                      </a:r>
                      <a:r>
                        <a:rPr lang="en-US" sz="1300" dirty="0" err="1">
                          <a:latin typeface="Times New Roman"/>
                          <a:ea typeface="Times New Roman"/>
                          <a:cs typeface="Times New Roman"/>
                          <a:sym typeface="Times New Roman"/>
                        </a:rPr>
                        <a:t>cho</a:t>
                      </a:r>
                      <a:r>
                        <a:rPr lang="en-US" sz="1300" dirty="0">
                          <a:latin typeface="Times New Roman"/>
                          <a:ea typeface="Times New Roman"/>
                          <a:cs typeface="Times New Roman"/>
                          <a:sym typeface="Times New Roman"/>
                        </a:rPr>
                        <a:t> A867 </a:t>
                      </a:r>
                      <a:r>
                        <a:rPr lang="en-US" sz="1300" dirty="0" err="1">
                          <a:latin typeface="Times New Roman"/>
                          <a:ea typeface="Times New Roman"/>
                          <a:cs typeface="Times New Roman"/>
                          <a:sym typeface="Times New Roman"/>
                        </a:rPr>
                        <a:t>chưa</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có</a:t>
                      </a:r>
                      <a:r>
                        <a:rPr lang="en-US" sz="1300" dirty="0">
                          <a:latin typeface="Times New Roman"/>
                          <a:ea typeface="Times New Roman"/>
                          <a:cs typeface="Times New Roman"/>
                          <a:sym typeface="Times New Roman"/>
                        </a:rPr>
                        <a:t> EDD.</a:t>
                      </a:r>
                      <a:endParaRPr sz="1300" u="none" strike="noStrike" cap="none" dirty="0">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cả fleet B787 có 0</a:t>
                      </a:r>
                      <a:r>
                        <a:rPr lang="en-US" sz="1300">
                          <a:latin typeface="Times New Roman"/>
                          <a:ea typeface="Times New Roman"/>
                          <a:cs typeface="Times New Roman"/>
                          <a:sym typeface="Times New Roman"/>
                        </a:rPr>
                        <a:t>1</a:t>
                      </a:r>
                      <a:r>
                        <a:rPr lang="en-US" sz="1300" u="none" strike="noStrike" cap="none">
                          <a:latin typeface="Times New Roman"/>
                          <a:ea typeface="Times New Roman"/>
                          <a:cs typeface="Times New Roman"/>
                          <a:sym typeface="Times New Roman"/>
                        </a:rPr>
                        <a:t> hỏng hóc. </a:t>
                      </a:r>
                      <a:endParaRPr sz="1300" u="none" strike="noStrike" cap="none">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dirty="0">
                          <a:latin typeface="Times New Roman"/>
                          <a:ea typeface="Times New Roman"/>
                          <a:cs typeface="Times New Roman"/>
                          <a:sym typeface="Times New Roman"/>
                        </a:rPr>
                        <a:t>- NIL stock</a:t>
                      </a:r>
                      <a:endParaRPr sz="1300"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dirty="0">
                          <a:latin typeface="Times New Roman"/>
                          <a:ea typeface="Times New Roman"/>
                          <a:cs typeface="Times New Roman"/>
                          <a:sym typeface="Times New Roman"/>
                        </a:rPr>
                        <a:t>- </a:t>
                      </a:r>
                      <a:r>
                        <a:rPr lang="en-US" sz="1300" u="none" strike="noStrike" cap="none" dirty="0" smtClean="0">
                          <a:latin typeface="Times New Roman"/>
                          <a:ea typeface="Times New Roman"/>
                          <a:cs typeface="Times New Roman"/>
                          <a:sym typeface="Times New Roman"/>
                        </a:rPr>
                        <a:t>0</a:t>
                      </a:r>
                      <a:r>
                        <a:rPr lang="en-US" sz="1300" u="none" strike="noStrike" cap="none" dirty="0">
                          <a:latin typeface="Times New Roman"/>
                          <a:ea typeface="Times New Roman"/>
                          <a:cs typeface="Times New Roman"/>
                          <a:sym typeface="Times New Roman"/>
                        </a:rPr>
                        <a:t>5</a:t>
                      </a:r>
                      <a:r>
                        <a:rPr lang="en-US" sz="1300" u="none" strike="noStrike" cap="none" dirty="0" smtClean="0">
                          <a:latin typeface="Times New Roman"/>
                          <a:ea typeface="Times New Roman"/>
                          <a:cs typeface="Times New Roman"/>
                          <a:sym typeface="Times New Roman"/>
                        </a:rPr>
                        <a:t>RO</a:t>
                      </a:r>
                      <a:r>
                        <a:rPr lang="en-US" sz="1300" u="none" strike="noStrike" cap="none" dirty="0">
                          <a:latin typeface="Times New Roman"/>
                          <a:ea typeface="Times New Roman"/>
                          <a:cs typeface="Times New Roman"/>
                          <a:sym typeface="Times New Roman"/>
                        </a:rPr>
                        <a:t>:</a:t>
                      </a:r>
                      <a:endParaRPr sz="1300"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dirty="0">
                          <a:latin typeface="Times New Roman"/>
                          <a:ea typeface="Times New Roman"/>
                          <a:cs typeface="Times New Roman"/>
                          <a:sym typeface="Times New Roman"/>
                        </a:rPr>
                        <a:t>+ 01ea EDD 10/01/2025, 01ea EDD 30/01/2025</a:t>
                      </a:r>
                      <a:endParaRPr sz="1300"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dirty="0">
                          <a:latin typeface="Times New Roman"/>
                          <a:ea typeface="Times New Roman"/>
                          <a:cs typeface="Times New Roman"/>
                          <a:sym typeface="Times New Roman"/>
                        </a:rPr>
                        <a:t>+ </a:t>
                      </a:r>
                      <a:r>
                        <a:rPr lang="en-US" sz="1300" u="none" strike="noStrike" cap="none" dirty="0">
                          <a:latin typeface="Times New Roman"/>
                          <a:ea typeface="Times New Roman"/>
                          <a:cs typeface="Times New Roman"/>
                          <a:sym typeface="Times New Roman"/>
                        </a:rPr>
                        <a:t>0</a:t>
                      </a:r>
                      <a:r>
                        <a:rPr lang="en-US" sz="1300" dirty="0">
                          <a:latin typeface="Times New Roman"/>
                          <a:ea typeface="Times New Roman"/>
                          <a:cs typeface="Times New Roman"/>
                          <a:sym typeface="Times New Roman"/>
                        </a:rPr>
                        <a:t>2</a:t>
                      </a:r>
                      <a:r>
                        <a:rPr lang="en-US" sz="1300" u="none" strike="noStrike" cap="none" dirty="0">
                          <a:latin typeface="Times New Roman"/>
                          <a:ea typeface="Times New Roman"/>
                          <a:cs typeface="Times New Roman"/>
                          <a:sym typeface="Times New Roman"/>
                        </a:rPr>
                        <a:t>ea </a:t>
                      </a:r>
                      <a:r>
                        <a:rPr lang="en-US" sz="1300" u="none" strike="noStrike" cap="none" dirty="0" err="1">
                          <a:latin typeface="Times New Roman"/>
                          <a:ea typeface="Times New Roman"/>
                          <a:cs typeface="Times New Roman"/>
                          <a:sym typeface="Times New Roman"/>
                        </a:rPr>
                        <a:t>chưa</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có</a:t>
                      </a:r>
                      <a:r>
                        <a:rPr lang="en-US" sz="1300" u="none" strike="noStrike" cap="none" dirty="0">
                          <a:latin typeface="Times New Roman"/>
                          <a:ea typeface="Times New Roman"/>
                          <a:cs typeface="Times New Roman"/>
                          <a:sym typeface="Times New Roman"/>
                        </a:rPr>
                        <a:t> EDD.</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dirty="0">
                          <a:latin typeface="Times New Roman"/>
                          <a:ea typeface="Times New Roman"/>
                          <a:cs typeface="Times New Roman"/>
                          <a:sym typeface="Times New Roman"/>
                        </a:rPr>
                        <a:t>+ 01ea </a:t>
                      </a:r>
                      <a:r>
                        <a:rPr lang="en-US" sz="1300" dirty="0" err="1">
                          <a:latin typeface="Times New Roman"/>
                          <a:ea typeface="Times New Roman"/>
                          <a:cs typeface="Times New Roman"/>
                          <a:sym typeface="Times New Roman"/>
                        </a:rPr>
                        <a:t>vào</a:t>
                      </a:r>
                      <a:r>
                        <a:rPr lang="en-US" sz="1300" dirty="0">
                          <a:latin typeface="Times New Roman"/>
                          <a:ea typeface="Times New Roman"/>
                          <a:cs typeface="Times New Roman"/>
                          <a:sym typeface="Times New Roman"/>
                        </a:rPr>
                        <a:t> shop </a:t>
                      </a:r>
                      <a:r>
                        <a:rPr lang="en-US" sz="1300" dirty="0" err="1">
                          <a:latin typeface="Times New Roman"/>
                          <a:ea typeface="Times New Roman"/>
                          <a:cs typeface="Times New Roman"/>
                          <a:sym typeface="Times New Roman"/>
                        </a:rPr>
                        <a:t>tuần</a:t>
                      </a:r>
                      <a:r>
                        <a:rPr lang="en-US" sz="1300" dirty="0">
                          <a:latin typeface="Times New Roman"/>
                          <a:ea typeface="Times New Roman"/>
                          <a:cs typeface="Times New Roman"/>
                          <a:sym typeface="Times New Roman"/>
                        </a:rPr>
                        <a:t> 2/2025</a:t>
                      </a:r>
                      <a:endParaRPr sz="1300"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dirty="0">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dirty="0">
                          <a:latin typeface="Times New Roman"/>
                          <a:ea typeface="Times New Roman"/>
                          <a:cs typeface="Times New Roman"/>
                          <a:sym typeface="Times New Roman"/>
                        </a:rPr>
                        <a:t>VFSG</a:t>
                      </a:r>
                      <a:endParaRPr sz="1300" u="none" strike="noStrike" cap="none" dirty="0">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rgbClr val="0070C0"/>
                          </a:solidFill>
                          <a:latin typeface="Times New Roman"/>
                          <a:ea typeface="Times New Roman"/>
                          <a:cs typeface="Times New Roman"/>
                          <a:sym typeface="Times New Roman"/>
                        </a:rPr>
                        <a:t>7001330H04</a:t>
                      </a:r>
                      <a:endParaRPr sz="1200" u="none" strike="noStrike" cap="none">
                        <a:solidFill>
                          <a:srgbClr val="0070C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dirty="0" err="1">
                          <a:solidFill>
                            <a:srgbClr val="0070C0"/>
                          </a:solidFill>
                          <a:latin typeface="Times New Roman"/>
                          <a:ea typeface="Times New Roman"/>
                          <a:cs typeface="Times New Roman"/>
                          <a:sym typeface="Times New Roman"/>
                        </a:rPr>
                        <a:t>Nếu</a:t>
                      </a:r>
                      <a:r>
                        <a:rPr lang="en-US" sz="1300" dirty="0">
                          <a:solidFill>
                            <a:srgbClr val="0070C0"/>
                          </a:solidFill>
                          <a:latin typeface="Times New Roman"/>
                          <a:ea typeface="Times New Roman"/>
                          <a:cs typeface="Times New Roman"/>
                          <a:sym typeface="Times New Roman"/>
                        </a:rPr>
                        <a:t> </a:t>
                      </a:r>
                      <a:r>
                        <a:rPr lang="en-US" sz="1300" dirty="0" err="1">
                          <a:solidFill>
                            <a:srgbClr val="0070C0"/>
                          </a:solidFill>
                          <a:latin typeface="Times New Roman"/>
                          <a:ea typeface="Times New Roman"/>
                          <a:cs typeface="Times New Roman"/>
                          <a:sym typeface="Times New Roman"/>
                        </a:rPr>
                        <a:t>phát</a:t>
                      </a:r>
                      <a:r>
                        <a:rPr lang="en-US" sz="1300" dirty="0">
                          <a:solidFill>
                            <a:srgbClr val="0070C0"/>
                          </a:solidFill>
                          <a:latin typeface="Times New Roman"/>
                          <a:ea typeface="Times New Roman"/>
                          <a:cs typeface="Times New Roman"/>
                          <a:sym typeface="Times New Roman"/>
                        </a:rPr>
                        <a:t> sinh </a:t>
                      </a:r>
                      <a:r>
                        <a:rPr lang="en-US" sz="1300" dirty="0" err="1">
                          <a:solidFill>
                            <a:srgbClr val="0070C0"/>
                          </a:solidFill>
                          <a:latin typeface="Times New Roman"/>
                          <a:ea typeface="Times New Roman"/>
                          <a:cs typeface="Times New Roman"/>
                          <a:sym typeface="Times New Roman"/>
                        </a:rPr>
                        <a:t>hỏng</a:t>
                      </a:r>
                      <a:r>
                        <a:rPr lang="en-US" sz="1300" dirty="0">
                          <a:solidFill>
                            <a:srgbClr val="0070C0"/>
                          </a:solidFill>
                          <a:latin typeface="Times New Roman"/>
                          <a:ea typeface="Times New Roman"/>
                          <a:cs typeface="Times New Roman"/>
                          <a:sym typeface="Times New Roman"/>
                        </a:rPr>
                        <a:t> </a:t>
                      </a:r>
                      <a:r>
                        <a:rPr lang="en-US" sz="1300" dirty="0" err="1">
                          <a:solidFill>
                            <a:srgbClr val="0070C0"/>
                          </a:solidFill>
                          <a:latin typeface="Times New Roman"/>
                          <a:ea typeface="Times New Roman"/>
                          <a:cs typeface="Times New Roman"/>
                          <a:sym typeface="Times New Roman"/>
                        </a:rPr>
                        <a:t>hóc</a:t>
                      </a:r>
                      <a:r>
                        <a:rPr lang="en-US" sz="1300" dirty="0">
                          <a:solidFill>
                            <a:srgbClr val="0070C0"/>
                          </a:solidFill>
                          <a:latin typeface="Times New Roman"/>
                          <a:ea typeface="Times New Roman"/>
                          <a:cs typeface="Times New Roman"/>
                          <a:sym typeface="Times New Roman"/>
                        </a:rPr>
                        <a:t> </a:t>
                      </a:r>
                      <a:r>
                        <a:rPr lang="en-US" sz="1300" dirty="0" err="1">
                          <a:solidFill>
                            <a:srgbClr val="0070C0"/>
                          </a:solidFill>
                          <a:latin typeface="Times New Roman"/>
                          <a:ea typeface="Times New Roman"/>
                          <a:cs typeface="Times New Roman"/>
                          <a:sym typeface="Times New Roman"/>
                        </a:rPr>
                        <a:t>sẽ</a:t>
                      </a:r>
                      <a:r>
                        <a:rPr lang="en-US" sz="1300" dirty="0">
                          <a:solidFill>
                            <a:srgbClr val="0070C0"/>
                          </a:solidFill>
                          <a:latin typeface="Times New Roman"/>
                          <a:ea typeface="Times New Roman"/>
                          <a:cs typeface="Times New Roman"/>
                          <a:sym typeface="Times New Roman"/>
                        </a:rPr>
                        <a:t> </a:t>
                      </a:r>
                      <a:r>
                        <a:rPr lang="en-US" sz="1300" dirty="0" err="1">
                          <a:solidFill>
                            <a:srgbClr val="0070C0"/>
                          </a:solidFill>
                          <a:latin typeface="Times New Roman"/>
                          <a:ea typeface="Times New Roman"/>
                          <a:cs typeface="Times New Roman"/>
                          <a:sym typeface="Times New Roman"/>
                        </a:rPr>
                        <a:t>chỉ</a:t>
                      </a:r>
                      <a:r>
                        <a:rPr lang="en-US" sz="1300" dirty="0">
                          <a:solidFill>
                            <a:srgbClr val="0070C0"/>
                          </a:solidFill>
                          <a:latin typeface="Times New Roman"/>
                          <a:ea typeface="Times New Roman"/>
                          <a:cs typeface="Times New Roman"/>
                          <a:sym typeface="Times New Roman"/>
                        </a:rPr>
                        <a:t> </a:t>
                      </a:r>
                      <a:r>
                        <a:rPr lang="en-US" sz="1300" dirty="0" err="1">
                          <a:solidFill>
                            <a:srgbClr val="0070C0"/>
                          </a:solidFill>
                          <a:latin typeface="Times New Roman"/>
                          <a:ea typeface="Times New Roman"/>
                          <a:cs typeface="Times New Roman"/>
                          <a:sym typeface="Times New Roman"/>
                        </a:rPr>
                        <a:t>mở</a:t>
                      </a:r>
                      <a:r>
                        <a:rPr lang="en-US" sz="1300" dirty="0">
                          <a:solidFill>
                            <a:srgbClr val="0070C0"/>
                          </a:solidFill>
                          <a:latin typeface="Times New Roman"/>
                          <a:ea typeface="Times New Roman"/>
                          <a:cs typeface="Times New Roman"/>
                          <a:sym typeface="Times New Roman"/>
                        </a:rPr>
                        <a:t> </a:t>
                      </a:r>
                      <a:r>
                        <a:rPr lang="en-US" sz="1300" dirty="0" err="1">
                          <a:solidFill>
                            <a:srgbClr val="0070C0"/>
                          </a:solidFill>
                          <a:latin typeface="Times New Roman"/>
                          <a:ea typeface="Times New Roman"/>
                          <a:cs typeface="Times New Roman"/>
                          <a:sym typeface="Times New Roman"/>
                        </a:rPr>
                        <a:t>được</a:t>
                      </a:r>
                      <a:r>
                        <a:rPr lang="en-US" sz="1300" dirty="0">
                          <a:solidFill>
                            <a:srgbClr val="0070C0"/>
                          </a:solidFill>
                          <a:latin typeface="Times New Roman"/>
                          <a:ea typeface="Times New Roman"/>
                          <a:cs typeface="Times New Roman"/>
                          <a:sym typeface="Times New Roman"/>
                        </a:rPr>
                        <a:t> 03 </a:t>
                      </a:r>
                      <a:r>
                        <a:rPr lang="en-US" sz="1300" dirty="0" err="1">
                          <a:solidFill>
                            <a:srgbClr val="0070C0"/>
                          </a:solidFill>
                          <a:latin typeface="Times New Roman"/>
                          <a:ea typeface="Times New Roman"/>
                          <a:cs typeface="Times New Roman"/>
                          <a:sym typeface="Times New Roman"/>
                        </a:rPr>
                        <a:t>ngày</a:t>
                      </a:r>
                      <a:r>
                        <a:rPr lang="en-US" sz="1300" dirty="0">
                          <a:solidFill>
                            <a:srgbClr val="0070C0"/>
                          </a:solidFill>
                          <a:latin typeface="Times New Roman"/>
                          <a:ea typeface="Times New Roman"/>
                          <a:cs typeface="Times New Roman"/>
                          <a:sym typeface="Times New Roman"/>
                        </a:rPr>
                        <a:t>.</a:t>
                      </a:r>
                      <a:endParaRPr sz="1300" dirty="0">
                        <a:solidFill>
                          <a:srgbClr val="0070C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dirty="0" err="1">
                          <a:solidFill>
                            <a:srgbClr val="0070C0"/>
                          </a:solidFill>
                          <a:latin typeface="Times New Roman"/>
                          <a:ea typeface="Times New Roman"/>
                          <a:cs typeface="Times New Roman"/>
                          <a:sym typeface="Times New Roman"/>
                        </a:rPr>
                        <a:t>Ngoài</a:t>
                      </a:r>
                      <a:r>
                        <a:rPr lang="en-US" sz="1300" dirty="0">
                          <a:solidFill>
                            <a:srgbClr val="0070C0"/>
                          </a:solidFill>
                          <a:latin typeface="Times New Roman"/>
                          <a:ea typeface="Times New Roman"/>
                          <a:cs typeface="Times New Roman"/>
                          <a:sym typeface="Times New Roman"/>
                        </a:rPr>
                        <a:t> </a:t>
                      </a:r>
                      <a:r>
                        <a:rPr lang="en-US" sz="1300" dirty="0" err="1">
                          <a:solidFill>
                            <a:srgbClr val="0070C0"/>
                          </a:solidFill>
                          <a:latin typeface="Times New Roman"/>
                          <a:ea typeface="Times New Roman"/>
                          <a:cs typeface="Times New Roman"/>
                          <a:sym typeface="Times New Roman"/>
                        </a:rPr>
                        <a:t>hỏng</a:t>
                      </a:r>
                      <a:r>
                        <a:rPr lang="en-US" sz="1300" dirty="0">
                          <a:solidFill>
                            <a:srgbClr val="0070C0"/>
                          </a:solidFill>
                          <a:latin typeface="Times New Roman"/>
                          <a:ea typeface="Times New Roman"/>
                          <a:cs typeface="Times New Roman"/>
                          <a:sym typeface="Times New Roman"/>
                        </a:rPr>
                        <a:t> </a:t>
                      </a:r>
                      <a:r>
                        <a:rPr lang="en-US" sz="1300" dirty="0" err="1">
                          <a:solidFill>
                            <a:srgbClr val="0070C0"/>
                          </a:solidFill>
                          <a:latin typeface="Times New Roman"/>
                          <a:ea typeface="Times New Roman"/>
                          <a:cs typeface="Times New Roman"/>
                          <a:sym typeface="Times New Roman"/>
                        </a:rPr>
                        <a:t>hóc</a:t>
                      </a:r>
                      <a:r>
                        <a:rPr lang="en-US" sz="1300" dirty="0">
                          <a:solidFill>
                            <a:srgbClr val="0070C0"/>
                          </a:solidFill>
                          <a:latin typeface="Times New Roman"/>
                          <a:ea typeface="Times New Roman"/>
                          <a:cs typeface="Times New Roman"/>
                          <a:sym typeface="Times New Roman"/>
                        </a:rPr>
                        <a:t> </a:t>
                      </a:r>
                      <a:r>
                        <a:rPr lang="en-US" sz="1300" dirty="0" err="1">
                          <a:solidFill>
                            <a:srgbClr val="0070C0"/>
                          </a:solidFill>
                          <a:latin typeface="Times New Roman"/>
                          <a:ea typeface="Times New Roman"/>
                          <a:cs typeface="Times New Roman"/>
                          <a:sym typeface="Times New Roman"/>
                        </a:rPr>
                        <a:t>nhiều</a:t>
                      </a:r>
                      <a:r>
                        <a:rPr lang="en-US" sz="1300" dirty="0">
                          <a:solidFill>
                            <a:srgbClr val="0070C0"/>
                          </a:solidFill>
                          <a:latin typeface="Times New Roman"/>
                          <a:ea typeface="Times New Roman"/>
                          <a:cs typeface="Times New Roman"/>
                          <a:sym typeface="Times New Roman"/>
                        </a:rPr>
                        <a:t> trong </a:t>
                      </a:r>
                      <a:r>
                        <a:rPr lang="en-US" sz="1300" dirty="0" err="1">
                          <a:solidFill>
                            <a:srgbClr val="0070C0"/>
                          </a:solidFill>
                          <a:latin typeface="Times New Roman"/>
                          <a:ea typeface="Times New Roman"/>
                          <a:cs typeface="Times New Roman"/>
                          <a:sym typeface="Times New Roman"/>
                        </a:rPr>
                        <a:t>tháng</a:t>
                      </a:r>
                      <a:r>
                        <a:rPr lang="en-US" sz="1300" dirty="0">
                          <a:solidFill>
                            <a:srgbClr val="0070C0"/>
                          </a:solidFill>
                          <a:latin typeface="Times New Roman"/>
                          <a:ea typeface="Times New Roman"/>
                          <a:cs typeface="Times New Roman"/>
                          <a:sym typeface="Times New Roman"/>
                        </a:rPr>
                        <a:t> 12/2024 </a:t>
                      </a:r>
                      <a:r>
                        <a:rPr lang="en-US" sz="1300" dirty="0" err="1">
                          <a:solidFill>
                            <a:srgbClr val="0070C0"/>
                          </a:solidFill>
                          <a:latin typeface="Times New Roman"/>
                          <a:ea typeface="Times New Roman"/>
                          <a:cs typeface="Times New Roman"/>
                          <a:sym typeface="Times New Roman"/>
                        </a:rPr>
                        <a:t>và</a:t>
                      </a:r>
                      <a:r>
                        <a:rPr lang="en-US" sz="1300" dirty="0">
                          <a:solidFill>
                            <a:srgbClr val="0070C0"/>
                          </a:solidFill>
                          <a:latin typeface="Times New Roman"/>
                          <a:ea typeface="Times New Roman"/>
                          <a:cs typeface="Times New Roman"/>
                          <a:sym typeface="Times New Roman"/>
                        </a:rPr>
                        <a:t> </a:t>
                      </a:r>
                      <a:r>
                        <a:rPr lang="en-US" sz="1300" dirty="0" err="1">
                          <a:solidFill>
                            <a:srgbClr val="0070C0"/>
                          </a:solidFill>
                          <a:latin typeface="Times New Roman"/>
                          <a:ea typeface="Times New Roman"/>
                          <a:cs typeface="Times New Roman"/>
                          <a:sym typeface="Times New Roman"/>
                        </a:rPr>
                        <a:t>đầu</a:t>
                      </a:r>
                      <a:r>
                        <a:rPr lang="en-US" sz="1300" dirty="0">
                          <a:solidFill>
                            <a:srgbClr val="0070C0"/>
                          </a:solidFill>
                          <a:latin typeface="Times New Roman"/>
                          <a:ea typeface="Times New Roman"/>
                          <a:cs typeface="Times New Roman"/>
                          <a:sym typeface="Times New Roman"/>
                        </a:rPr>
                        <a:t> </a:t>
                      </a:r>
                      <a:r>
                        <a:rPr lang="en-US" sz="1300" dirty="0" err="1">
                          <a:solidFill>
                            <a:srgbClr val="0070C0"/>
                          </a:solidFill>
                          <a:latin typeface="Times New Roman"/>
                          <a:ea typeface="Times New Roman"/>
                          <a:cs typeface="Times New Roman"/>
                          <a:sym typeface="Times New Roman"/>
                        </a:rPr>
                        <a:t>tháng</a:t>
                      </a:r>
                      <a:r>
                        <a:rPr lang="en-US" sz="1300" dirty="0">
                          <a:solidFill>
                            <a:srgbClr val="0070C0"/>
                          </a:solidFill>
                          <a:latin typeface="Times New Roman"/>
                          <a:ea typeface="Times New Roman"/>
                          <a:cs typeface="Times New Roman"/>
                          <a:sym typeface="Times New Roman"/>
                        </a:rPr>
                        <a:t> 1/2025 do 03 </a:t>
                      </a:r>
                      <a:r>
                        <a:rPr lang="en-US" sz="1300" dirty="0" err="1">
                          <a:solidFill>
                            <a:srgbClr val="0070C0"/>
                          </a:solidFill>
                          <a:latin typeface="Times New Roman"/>
                          <a:ea typeface="Times New Roman"/>
                          <a:cs typeface="Times New Roman"/>
                          <a:sym typeface="Times New Roman"/>
                        </a:rPr>
                        <a:t>khối</a:t>
                      </a:r>
                      <a:r>
                        <a:rPr lang="en-US" sz="1300" dirty="0">
                          <a:solidFill>
                            <a:srgbClr val="0070C0"/>
                          </a:solidFill>
                          <a:latin typeface="Times New Roman"/>
                          <a:ea typeface="Times New Roman"/>
                          <a:cs typeface="Times New Roman"/>
                          <a:sym typeface="Times New Roman"/>
                        </a:rPr>
                        <a:t> rob </a:t>
                      </a:r>
                      <a:r>
                        <a:rPr lang="en-US" sz="1300" dirty="0" err="1">
                          <a:solidFill>
                            <a:srgbClr val="0070C0"/>
                          </a:solidFill>
                          <a:latin typeface="Times New Roman"/>
                          <a:ea typeface="Times New Roman"/>
                          <a:cs typeface="Times New Roman"/>
                          <a:sym typeface="Times New Roman"/>
                        </a:rPr>
                        <a:t>lắp</a:t>
                      </a:r>
                      <a:r>
                        <a:rPr lang="en-US" sz="1300" dirty="0">
                          <a:solidFill>
                            <a:srgbClr val="0070C0"/>
                          </a:solidFill>
                          <a:latin typeface="Times New Roman"/>
                          <a:ea typeface="Times New Roman"/>
                          <a:cs typeface="Times New Roman"/>
                          <a:sym typeface="Times New Roman"/>
                        </a:rPr>
                        <a:t> </a:t>
                      </a:r>
                      <a:r>
                        <a:rPr lang="en-US" sz="1300" dirty="0" err="1">
                          <a:solidFill>
                            <a:srgbClr val="0070C0"/>
                          </a:solidFill>
                          <a:latin typeface="Times New Roman"/>
                          <a:ea typeface="Times New Roman"/>
                          <a:cs typeface="Times New Roman"/>
                          <a:sym typeface="Times New Roman"/>
                        </a:rPr>
                        <a:t>lên</a:t>
                      </a:r>
                      <a:r>
                        <a:rPr lang="en-US" sz="1300" dirty="0">
                          <a:solidFill>
                            <a:srgbClr val="0070C0"/>
                          </a:solidFill>
                          <a:latin typeface="Times New Roman"/>
                          <a:ea typeface="Times New Roman"/>
                          <a:cs typeface="Times New Roman"/>
                          <a:sym typeface="Times New Roman"/>
                        </a:rPr>
                        <a:t> </a:t>
                      </a:r>
                      <a:r>
                        <a:rPr lang="en-US" sz="1300" dirty="0" err="1">
                          <a:solidFill>
                            <a:srgbClr val="0070C0"/>
                          </a:solidFill>
                          <a:latin typeface="Times New Roman"/>
                          <a:ea typeface="Times New Roman"/>
                          <a:cs typeface="Times New Roman"/>
                          <a:sym typeface="Times New Roman"/>
                        </a:rPr>
                        <a:t>cho</a:t>
                      </a:r>
                      <a:r>
                        <a:rPr lang="en-US" sz="1300" dirty="0">
                          <a:solidFill>
                            <a:srgbClr val="0070C0"/>
                          </a:solidFill>
                          <a:latin typeface="Times New Roman"/>
                          <a:ea typeface="Times New Roman"/>
                          <a:cs typeface="Times New Roman"/>
                          <a:sym typeface="Times New Roman"/>
                        </a:rPr>
                        <a:t> A870 (01) </a:t>
                      </a:r>
                      <a:r>
                        <a:rPr lang="en-US" sz="1300" dirty="0" err="1">
                          <a:solidFill>
                            <a:srgbClr val="0070C0"/>
                          </a:solidFill>
                          <a:latin typeface="Times New Roman"/>
                          <a:ea typeface="Times New Roman"/>
                          <a:cs typeface="Times New Roman"/>
                          <a:sym typeface="Times New Roman"/>
                        </a:rPr>
                        <a:t>và</a:t>
                      </a:r>
                      <a:r>
                        <a:rPr lang="en-US" sz="1300" dirty="0">
                          <a:solidFill>
                            <a:srgbClr val="0070C0"/>
                          </a:solidFill>
                          <a:latin typeface="Times New Roman"/>
                          <a:ea typeface="Times New Roman"/>
                          <a:cs typeface="Times New Roman"/>
                          <a:sym typeface="Times New Roman"/>
                        </a:rPr>
                        <a:t> A868 (02ea) </a:t>
                      </a:r>
                      <a:r>
                        <a:rPr lang="en-US" sz="1300" dirty="0" err="1">
                          <a:solidFill>
                            <a:srgbClr val="0070C0"/>
                          </a:solidFill>
                          <a:latin typeface="Times New Roman"/>
                          <a:ea typeface="Times New Roman"/>
                          <a:cs typeface="Times New Roman"/>
                          <a:sym typeface="Times New Roman"/>
                        </a:rPr>
                        <a:t>đều</a:t>
                      </a:r>
                      <a:r>
                        <a:rPr lang="en-US" sz="1300" dirty="0">
                          <a:solidFill>
                            <a:srgbClr val="0070C0"/>
                          </a:solidFill>
                          <a:latin typeface="Times New Roman"/>
                          <a:ea typeface="Times New Roman"/>
                          <a:cs typeface="Times New Roman"/>
                          <a:sym typeface="Times New Roman"/>
                        </a:rPr>
                        <a:t> </a:t>
                      </a:r>
                      <a:r>
                        <a:rPr lang="en-US" sz="1300" dirty="0" err="1">
                          <a:solidFill>
                            <a:srgbClr val="0070C0"/>
                          </a:solidFill>
                          <a:latin typeface="Times New Roman"/>
                          <a:ea typeface="Times New Roman"/>
                          <a:cs typeface="Times New Roman"/>
                          <a:sym typeface="Times New Roman"/>
                        </a:rPr>
                        <a:t>hỏng</a:t>
                      </a:r>
                      <a:r>
                        <a:rPr lang="en-US" sz="1300" dirty="0">
                          <a:solidFill>
                            <a:srgbClr val="0070C0"/>
                          </a:solidFill>
                          <a:latin typeface="Times New Roman"/>
                          <a:ea typeface="Times New Roman"/>
                          <a:cs typeface="Times New Roman"/>
                          <a:sym typeface="Times New Roman"/>
                        </a:rPr>
                        <a:t> </a:t>
                      </a:r>
                      <a:r>
                        <a:rPr lang="en-US" sz="1300" dirty="0" err="1">
                          <a:solidFill>
                            <a:srgbClr val="0070C0"/>
                          </a:solidFill>
                          <a:latin typeface="Times New Roman"/>
                          <a:ea typeface="Times New Roman"/>
                          <a:cs typeface="Times New Roman"/>
                          <a:sym typeface="Times New Roman"/>
                        </a:rPr>
                        <a:t>ngay</a:t>
                      </a:r>
                      <a:r>
                        <a:rPr lang="en-US" sz="1300" dirty="0">
                          <a:solidFill>
                            <a:srgbClr val="0070C0"/>
                          </a:solidFill>
                          <a:latin typeface="Times New Roman"/>
                          <a:ea typeface="Times New Roman"/>
                          <a:cs typeface="Times New Roman"/>
                          <a:sym typeface="Times New Roman"/>
                        </a:rPr>
                        <a:t> </a:t>
                      </a:r>
                      <a:r>
                        <a:rPr lang="en-US" sz="1300" dirty="0" err="1">
                          <a:solidFill>
                            <a:srgbClr val="0070C0"/>
                          </a:solidFill>
                          <a:latin typeface="Times New Roman"/>
                          <a:ea typeface="Times New Roman"/>
                          <a:cs typeface="Times New Roman"/>
                          <a:sym typeface="Times New Roman"/>
                        </a:rPr>
                        <a:t>sau</a:t>
                      </a:r>
                      <a:r>
                        <a:rPr lang="en-US" sz="1300" dirty="0">
                          <a:solidFill>
                            <a:srgbClr val="0070C0"/>
                          </a:solidFill>
                          <a:latin typeface="Times New Roman"/>
                          <a:ea typeface="Times New Roman"/>
                          <a:cs typeface="Times New Roman"/>
                          <a:sym typeface="Times New Roman"/>
                        </a:rPr>
                        <a:t> </a:t>
                      </a:r>
                      <a:r>
                        <a:rPr lang="en-US" sz="1300" dirty="0" err="1">
                          <a:solidFill>
                            <a:srgbClr val="0070C0"/>
                          </a:solidFill>
                          <a:latin typeface="Times New Roman"/>
                          <a:ea typeface="Times New Roman"/>
                          <a:cs typeface="Times New Roman"/>
                          <a:sym typeface="Times New Roman"/>
                        </a:rPr>
                        <a:t>chuyến</a:t>
                      </a:r>
                      <a:r>
                        <a:rPr lang="en-US" sz="1300" dirty="0">
                          <a:solidFill>
                            <a:srgbClr val="0070C0"/>
                          </a:solidFill>
                          <a:latin typeface="Times New Roman"/>
                          <a:ea typeface="Times New Roman"/>
                          <a:cs typeface="Times New Roman"/>
                          <a:sym typeface="Times New Roman"/>
                        </a:rPr>
                        <a:t> bay </a:t>
                      </a:r>
                      <a:r>
                        <a:rPr lang="en-US" sz="1300" dirty="0" err="1">
                          <a:solidFill>
                            <a:srgbClr val="0070C0"/>
                          </a:solidFill>
                          <a:latin typeface="Times New Roman"/>
                          <a:ea typeface="Times New Roman"/>
                          <a:cs typeface="Times New Roman"/>
                          <a:sym typeface="Times New Roman"/>
                        </a:rPr>
                        <a:t>đầu</a:t>
                      </a:r>
                      <a:r>
                        <a:rPr lang="en-US" sz="1300" dirty="0">
                          <a:solidFill>
                            <a:srgbClr val="0070C0"/>
                          </a:solidFill>
                          <a:latin typeface="Times New Roman"/>
                          <a:ea typeface="Times New Roman"/>
                          <a:cs typeface="Times New Roman"/>
                          <a:sym typeface="Times New Roman"/>
                        </a:rPr>
                        <a:t> </a:t>
                      </a:r>
                      <a:r>
                        <a:rPr lang="en-US" sz="1300" dirty="0" err="1">
                          <a:solidFill>
                            <a:srgbClr val="0070C0"/>
                          </a:solidFill>
                          <a:latin typeface="Times New Roman"/>
                          <a:ea typeface="Times New Roman"/>
                          <a:cs typeface="Times New Roman"/>
                          <a:sym typeface="Times New Roman"/>
                        </a:rPr>
                        <a:t>tiên</a:t>
                      </a:r>
                      <a:r>
                        <a:rPr lang="en-US" sz="1300" dirty="0">
                          <a:solidFill>
                            <a:srgbClr val="0070C0"/>
                          </a:solidFill>
                          <a:latin typeface="Times New Roman"/>
                          <a:ea typeface="Times New Roman"/>
                          <a:cs typeface="Times New Roman"/>
                          <a:sym typeface="Times New Roman"/>
                        </a:rPr>
                        <a:t>.</a:t>
                      </a:r>
                      <a:endParaRPr sz="1300" dirty="0">
                        <a:solidFill>
                          <a:srgbClr val="0070C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Arial"/>
                        <a:buNone/>
                      </a:pPr>
                      <a:r>
                        <a:rPr lang="en-US" sz="1200" dirty="0" smtClean="0">
                          <a:solidFill>
                            <a:srgbClr val="0070C0"/>
                          </a:solidFill>
                          <a:latin typeface="Times New Roman"/>
                          <a:ea typeface="Times New Roman"/>
                          <a:cs typeface="Times New Roman"/>
                          <a:sym typeface="Times New Roman"/>
                        </a:rPr>
                        <a:t>- </a:t>
                      </a:r>
                      <a:r>
                        <a:rPr lang="en-US" sz="1200" dirty="0" err="1" smtClean="0">
                          <a:solidFill>
                            <a:srgbClr val="0070C0"/>
                          </a:solidFill>
                          <a:latin typeface="Times New Roman"/>
                          <a:ea typeface="Times New Roman"/>
                          <a:cs typeface="Times New Roman"/>
                          <a:sym typeface="Times New Roman"/>
                        </a:rPr>
                        <a:t>Hiện</a:t>
                      </a:r>
                      <a:r>
                        <a:rPr lang="en-US" sz="1200" baseline="0" dirty="0" smtClean="0">
                          <a:solidFill>
                            <a:srgbClr val="0070C0"/>
                          </a:solidFill>
                          <a:latin typeface="Times New Roman"/>
                          <a:ea typeface="Times New Roman"/>
                          <a:cs typeface="Times New Roman"/>
                          <a:sym typeface="Times New Roman"/>
                        </a:rPr>
                        <a:t> </a:t>
                      </a:r>
                      <a:r>
                        <a:rPr lang="en-US" sz="1200" baseline="0" dirty="0" err="1" smtClean="0">
                          <a:solidFill>
                            <a:srgbClr val="0070C0"/>
                          </a:solidFill>
                          <a:latin typeface="Times New Roman"/>
                          <a:ea typeface="Times New Roman"/>
                          <a:cs typeface="Times New Roman"/>
                          <a:sym typeface="Times New Roman"/>
                        </a:rPr>
                        <a:t>cần</a:t>
                      </a:r>
                      <a:r>
                        <a:rPr lang="en-US" sz="1200" baseline="0" dirty="0" smtClean="0">
                          <a:solidFill>
                            <a:srgbClr val="0070C0"/>
                          </a:solidFill>
                          <a:latin typeface="Times New Roman"/>
                          <a:ea typeface="Times New Roman"/>
                          <a:cs typeface="Times New Roman"/>
                          <a:sym typeface="Times New Roman"/>
                        </a:rPr>
                        <a:t> 03ea VFSG </a:t>
                      </a:r>
                      <a:r>
                        <a:rPr lang="en-US" sz="1200" baseline="0" dirty="0" err="1" smtClean="0">
                          <a:solidFill>
                            <a:srgbClr val="0070C0"/>
                          </a:solidFill>
                          <a:latin typeface="Times New Roman"/>
                          <a:ea typeface="Times New Roman"/>
                          <a:cs typeface="Times New Roman"/>
                          <a:sym typeface="Times New Roman"/>
                        </a:rPr>
                        <a:t>cho</a:t>
                      </a:r>
                      <a:r>
                        <a:rPr lang="en-US" sz="1200" baseline="0" dirty="0" smtClean="0">
                          <a:solidFill>
                            <a:srgbClr val="0070C0"/>
                          </a:solidFill>
                          <a:latin typeface="Times New Roman"/>
                          <a:ea typeface="Times New Roman"/>
                          <a:cs typeface="Times New Roman"/>
                          <a:sym typeface="Times New Roman"/>
                        </a:rPr>
                        <a:t> A873:</a:t>
                      </a:r>
                    </a:p>
                    <a:p>
                      <a:pPr marL="0" marR="0" lvl="0" indent="0" algn="l" rtl="0">
                        <a:spcBef>
                          <a:spcPts val="0"/>
                        </a:spcBef>
                        <a:spcAft>
                          <a:spcPts val="0"/>
                        </a:spcAft>
                        <a:buClr>
                          <a:schemeClr val="dk1"/>
                        </a:buClr>
                        <a:buSzPts val="1300"/>
                        <a:buFont typeface="Arial"/>
                        <a:buNone/>
                      </a:pPr>
                      <a:r>
                        <a:rPr lang="en-US" sz="1200" baseline="0" dirty="0" smtClean="0">
                          <a:solidFill>
                            <a:srgbClr val="0070C0"/>
                          </a:solidFill>
                          <a:latin typeface="Times New Roman"/>
                          <a:ea typeface="Times New Roman"/>
                          <a:cs typeface="Times New Roman"/>
                          <a:sym typeface="Times New Roman"/>
                        </a:rPr>
                        <a:t>+ 02ea rob </a:t>
                      </a:r>
                      <a:r>
                        <a:rPr lang="en-US" sz="1200" baseline="0" dirty="0" err="1" smtClean="0">
                          <a:solidFill>
                            <a:srgbClr val="0070C0"/>
                          </a:solidFill>
                          <a:latin typeface="Times New Roman"/>
                          <a:ea typeface="Times New Roman"/>
                          <a:cs typeface="Times New Roman"/>
                          <a:sym typeface="Times New Roman"/>
                        </a:rPr>
                        <a:t>cho</a:t>
                      </a:r>
                      <a:r>
                        <a:rPr lang="en-US" sz="1200" baseline="0" dirty="0" smtClean="0">
                          <a:solidFill>
                            <a:srgbClr val="0070C0"/>
                          </a:solidFill>
                          <a:latin typeface="Times New Roman"/>
                          <a:ea typeface="Times New Roman"/>
                          <a:cs typeface="Times New Roman"/>
                          <a:sym typeface="Times New Roman"/>
                        </a:rPr>
                        <a:t> A862 </a:t>
                      </a:r>
                      <a:r>
                        <a:rPr lang="en-US" sz="1200" baseline="0" dirty="0" err="1" smtClean="0">
                          <a:solidFill>
                            <a:srgbClr val="0070C0"/>
                          </a:solidFill>
                          <a:latin typeface="Times New Roman"/>
                          <a:ea typeface="Times New Roman"/>
                          <a:cs typeface="Times New Roman"/>
                          <a:sym typeface="Times New Roman"/>
                        </a:rPr>
                        <a:t>ra</a:t>
                      </a:r>
                      <a:r>
                        <a:rPr lang="en-US" sz="1200" baseline="0" dirty="0" smtClean="0">
                          <a:solidFill>
                            <a:srgbClr val="0070C0"/>
                          </a:solidFill>
                          <a:latin typeface="Times New Roman"/>
                          <a:ea typeface="Times New Roman"/>
                          <a:cs typeface="Times New Roman"/>
                          <a:sym typeface="Times New Roman"/>
                        </a:rPr>
                        <a:t> check.</a:t>
                      </a:r>
                    </a:p>
                    <a:p>
                      <a:pPr marL="0" marR="0" lvl="0" indent="0" algn="l" rtl="0">
                        <a:spcBef>
                          <a:spcPts val="0"/>
                        </a:spcBef>
                        <a:spcAft>
                          <a:spcPts val="0"/>
                        </a:spcAft>
                        <a:buClr>
                          <a:schemeClr val="dk1"/>
                        </a:buClr>
                        <a:buSzPts val="1300"/>
                        <a:buFont typeface="Arial"/>
                        <a:buNone/>
                      </a:pPr>
                      <a:r>
                        <a:rPr lang="en-US" sz="1200" baseline="0" dirty="0" smtClean="0">
                          <a:solidFill>
                            <a:srgbClr val="0070C0"/>
                          </a:solidFill>
                          <a:latin typeface="Times New Roman"/>
                          <a:ea typeface="Times New Roman"/>
                          <a:cs typeface="Times New Roman"/>
                          <a:sym typeface="Times New Roman"/>
                        </a:rPr>
                        <a:t>+ 01ea </a:t>
                      </a:r>
                      <a:r>
                        <a:rPr lang="en-US" sz="1200" baseline="0" dirty="0" err="1" smtClean="0">
                          <a:solidFill>
                            <a:srgbClr val="0070C0"/>
                          </a:solidFill>
                          <a:latin typeface="Times New Roman"/>
                          <a:ea typeface="Times New Roman"/>
                          <a:cs typeface="Times New Roman"/>
                          <a:sym typeface="Times New Roman"/>
                        </a:rPr>
                        <a:t>phát</a:t>
                      </a:r>
                      <a:r>
                        <a:rPr lang="en-US" sz="1200" baseline="0" dirty="0" smtClean="0">
                          <a:solidFill>
                            <a:srgbClr val="0070C0"/>
                          </a:solidFill>
                          <a:latin typeface="Times New Roman"/>
                          <a:ea typeface="Times New Roman"/>
                          <a:cs typeface="Times New Roman"/>
                          <a:sym typeface="Times New Roman"/>
                        </a:rPr>
                        <a:t> sinh </a:t>
                      </a:r>
                      <a:r>
                        <a:rPr lang="en-US" sz="1200" baseline="0" dirty="0" err="1" smtClean="0">
                          <a:solidFill>
                            <a:srgbClr val="0070C0"/>
                          </a:solidFill>
                          <a:latin typeface="Times New Roman"/>
                          <a:ea typeface="Times New Roman"/>
                          <a:cs typeface="Times New Roman"/>
                          <a:sym typeface="Times New Roman"/>
                        </a:rPr>
                        <a:t>hỏng</a:t>
                      </a:r>
                      <a:r>
                        <a:rPr lang="en-US" sz="1200" baseline="0" dirty="0" smtClean="0">
                          <a:solidFill>
                            <a:srgbClr val="0070C0"/>
                          </a:solidFill>
                          <a:latin typeface="Times New Roman"/>
                          <a:ea typeface="Times New Roman"/>
                          <a:cs typeface="Times New Roman"/>
                          <a:sym typeface="Times New Roman"/>
                        </a:rPr>
                        <a:t> </a:t>
                      </a:r>
                      <a:r>
                        <a:rPr lang="en-US" sz="1200" baseline="0" dirty="0" err="1" smtClean="0">
                          <a:solidFill>
                            <a:srgbClr val="0070C0"/>
                          </a:solidFill>
                          <a:latin typeface="Times New Roman"/>
                          <a:ea typeface="Times New Roman"/>
                          <a:cs typeface="Times New Roman"/>
                          <a:sym typeface="Times New Roman"/>
                        </a:rPr>
                        <a:t>hóc</a:t>
                      </a:r>
                      <a:r>
                        <a:rPr lang="en-US" sz="1200" baseline="0" dirty="0" smtClean="0">
                          <a:solidFill>
                            <a:srgbClr val="0070C0"/>
                          </a:solidFill>
                          <a:latin typeface="Times New Roman"/>
                          <a:ea typeface="Times New Roman"/>
                          <a:cs typeface="Times New Roman"/>
                          <a:sym typeface="Times New Roman"/>
                        </a:rPr>
                        <a:t> </a:t>
                      </a:r>
                      <a:r>
                        <a:rPr lang="en-US" sz="1200" baseline="0" dirty="0" err="1" smtClean="0">
                          <a:solidFill>
                            <a:srgbClr val="0070C0"/>
                          </a:solidFill>
                          <a:latin typeface="Times New Roman"/>
                          <a:ea typeface="Times New Roman"/>
                          <a:cs typeface="Times New Roman"/>
                          <a:sym typeface="Times New Roman"/>
                        </a:rPr>
                        <a:t>yêu</a:t>
                      </a:r>
                      <a:r>
                        <a:rPr lang="en-US" sz="1200" baseline="0" dirty="0" smtClean="0">
                          <a:solidFill>
                            <a:srgbClr val="0070C0"/>
                          </a:solidFill>
                          <a:latin typeface="Times New Roman"/>
                          <a:ea typeface="Times New Roman"/>
                          <a:cs typeface="Times New Roman"/>
                          <a:sym typeface="Times New Roman"/>
                        </a:rPr>
                        <a:t> </a:t>
                      </a:r>
                      <a:r>
                        <a:rPr lang="en-US" sz="1200" baseline="0" dirty="0" err="1" smtClean="0">
                          <a:solidFill>
                            <a:srgbClr val="0070C0"/>
                          </a:solidFill>
                          <a:latin typeface="Times New Roman"/>
                          <a:ea typeface="Times New Roman"/>
                          <a:cs typeface="Times New Roman"/>
                          <a:sym typeface="Times New Roman"/>
                        </a:rPr>
                        <a:t>cầu</a:t>
                      </a:r>
                      <a:r>
                        <a:rPr lang="en-US" sz="1200" baseline="0" dirty="0" smtClean="0">
                          <a:solidFill>
                            <a:srgbClr val="0070C0"/>
                          </a:solidFill>
                          <a:latin typeface="Times New Roman"/>
                          <a:ea typeface="Times New Roman"/>
                          <a:cs typeface="Times New Roman"/>
                          <a:sym typeface="Times New Roman"/>
                        </a:rPr>
                        <a:t> </a:t>
                      </a:r>
                      <a:r>
                        <a:rPr lang="en-US" sz="1200" baseline="0" dirty="0" err="1" smtClean="0">
                          <a:solidFill>
                            <a:srgbClr val="0070C0"/>
                          </a:solidFill>
                          <a:latin typeface="Times New Roman"/>
                          <a:ea typeface="Times New Roman"/>
                          <a:cs typeface="Times New Roman"/>
                          <a:sym typeface="Times New Roman"/>
                        </a:rPr>
                        <a:t>đặt</a:t>
                      </a:r>
                      <a:r>
                        <a:rPr lang="en-US" sz="1200" baseline="0" dirty="0" smtClean="0">
                          <a:solidFill>
                            <a:srgbClr val="0070C0"/>
                          </a:solidFill>
                          <a:latin typeface="Times New Roman"/>
                          <a:ea typeface="Times New Roman"/>
                          <a:cs typeface="Times New Roman"/>
                          <a:sym typeface="Times New Roman"/>
                        </a:rPr>
                        <a:t> </a:t>
                      </a:r>
                      <a:r>
                        <a:rPr lang="en-US" sz="1200" baseline="0" dirty="0" err="1" smtClean="0">
                          <a:solidFill>
                            <a:srgbClr val="0070C0"/>
                          </a:solidFill>
                          <a:latin typeface="Times New Roman"/>
                          <a:ea typeface="Times New Roman"/>
                          <a:cs typeface="Times New Roman"/>
                          <a:sym typeface="Times New Roman"/>
                        </a:rPr>
                        <a:t>hàng</a:t>
                      </a:r>
                      <a:r>
                        <a:rPr lang="en-US" sz="1200" baseline="0" dirty="0" smtClean="0">
                          <a:solidFill>
                            <a:srgbClr val="0070C0"/>
                          </a:solidFill>
                          <a:latin typeface="Times New Roman"/>
                          <a:ea typeface="Times New Roman"/>
                          <a:cs typeface="Times New Roman"/>
                          <a:sym typeface="Times New Roman"/>
                        </a:rPr>
                        <a:t> </a:t>
                      </a:r>
                      <a:r>
                        <a:rPr lang="en-US" sz="1200" baseline="0" dirty="0" err="1" smtClean="0">
                          <a:solidFill>
                            <a:srgbClr val="0070C0"/>
                          </a:solidFill>
                          <a:latin typeface="Times New Roman"/>
                          <a:ea typeface="Times New Roman"/>
                          <a:cs typeface="Times New Roman"/>
                          <a:sym typeface="Times New Roman"/>
                        </a:rPr>
                        <a:t>ngày</a:t>
                      </a:r>
                      <a:r>
                        <a:rPr lang="en-US" sz="1200" baseline="0" dirty="0" smtClean="0">
                          <a:solidFill>
                            <a:srgbClr val="0070C0"/>
                          </a:solidFill>
                          <a:latin typeface="Times New Roman"/>
                          <a:ea typeface="Times New Roman"/>
                          <a:cs typeface="Times New Roman"/>
                          <a:sym typeface="Times New Roman"/>
                        </a:rPr>
                        <a:t> 05/01.</a:t>
                      </a:r>
                      <a:endParaRPr sz="1200" dirty="0">
                        <a:solidFill>
                          <a:srgbClr val="0070C0"/>
                        </a:solidFill>
                        <a:latin typeface="Times New Roman"/>
                        <a:ea typeface="Times New Roman"/>
                        <a:cs typeface="Times New Roman"/>
                        <a:sym typeface="Times New Roman"/>
                      </a:endParaRPr>
                    </a:p>
                    <a:p>
                      <a:pPr marL="171450" marR="0" lvl="0" indent="-171450" algn="l" rtl="0">
                        <a:spcBef>
                          <a:spcPts val="0"/>
                        </a:spcBef>
                        <a:spcAft>
                          <a:spcPts val="0"/>
                        </a:spcAft>
                        <a:buClr>
                          <a:schemeClr val="dk1"/>
                        </a:buClr>
                        <a:buSzPts val="1300"/>
                        <a:buFontTx/>
                        <a:buChar char="-"/>
                      </a:pPr>
                      <a:r>
                        <a:rPr lang="en-US" sz="1200" dirty="0" err="1" smtClean="0">
                          <a:solidFill>
                            <a:srgbClr val="0070C0"/>
                          </a:solidFill>
                          <a:latin typeface="Times New Roman"/>
                          <a:ea typeface="Times New Roman"/>
                          <a:cs typeface="Times New Roman"/>
                          <a:sym typeface="Times New Roman"/>
                        </a:rPr>
                        <a:t>Về</a:t>
                      </a:r>
                      <a:r>
                        <a:rPr lang="en-US" sz="1200" dirty="0" smtClean="0">
                          <a:solidFill>
                            <a:srgbClr val="0070C0"/>
                          </a:solidFill>
                          <a:latin typeface="Times New Roman"/>
                          <a:ea typeface="Times New Roman"/>
                          <a:cs typeface="Times New Roman"/>
                          <a:sym typeface="Times New Roman"/>
                        </a:rPr>
                        <a:t> </a:t>
                      </a:r>
                      <a:r>
                        <a:rPr lang="en-US" sz="1200" dirty="0" err="1">
                          <a:solidFill>
                            <a:srgbClr val="0070C0"/>
                          </a:solidFill>
                          <a:latin typeface="Times New Roman"/>
                          <a:ea typeface="Times New Roman"/>
                          <a:cs typeface="Times New Roman"/>
                          <a:sym typeface="Times New Roman"/>
                        </a:rPr>
                        <a:t>thông</a:t>
                      </a:r>
                      <a:r>
                        <a:rPr lang="en-US" sz="1200" dirty="0">
                          <a:solidFill>
                            <a:srgbClr val="0070C0"/>
                          </a:solidFill>
                          <a:latin typeface="Times New Roman"/>
                          <a:ea typeface="Times New Roman"/>
                          <a:cs typeface="Times New Roman"/>
                          <a:sym typeface="Times New Roman"/>
                        </a:rPr>
                        <a:t> tin </a:t>
                      </a:r>
                      <a:r>
                        <a:rPr lang="en-US" sz="1200" dirty="0" err="1">
                          <a:solidFill>
                            <a:srgbClr val="0070C0"/>
                          </a:solidFill>
                          <a:latin typeface="Times New Roman"/>
                          <a:ea typeface="Times New Roman"/>
                          <a:cs typeface="Times New Roman"/>
                          <a:sym typeface="Times New Roman"/>
                        </a:rPr>
                        <a:t>khí</a:t>
                      </a:r>
                      <a:r>
                        <a:rPr lang="en-US" sz="1200" dirty="0">
                          <a:solidFill>
                            <a:srgbClr val="0070C0"/>
                          </a:solidFill>
                          <a:latin typeface="Times New Roman"/>
                          <a:ea typeface="Times New Roman"/>
                          <a:cs typeface="Times New Roman"/>
                          <a:sym typeface="Times New Roman"/>
                        </a:rPr>
                        <a:t> </a:t>
                      </a:r>
                      <a:r>
                        <a:rPr lang="en-US" sz="1200" dirty="0" err="1">
                          <a:solidFill>
                            <a:srgbClr val="0070C0"/>
                          </a:solidFill>
                          <a:latin typeface="Times New Roman"/>
                          <a:ea typeface="Times New Roman"/>
                          <a:cs typeface="Times New Roman"/>
                          <a:sym typeface="Times New Roman"/>
                        </a:rPr>
                        <a:t>tài</a:t>
                      </a:r>
                      <a:r>
                        <a:rPr lang="en-US" sz="1200" dirty="0">
                          <a:solidFill>
                            <a:srgbClr val="0070C0"/>
                          </a:solidFill>
                          <a:latin typeface="Times New Roman"/>
                          <a:ea typeface="Times New Roman"/>
                          <a:cs typeface="Times New Roman"/>
                          <a:sym typeface="Times New Roman"/>
                        </a:rPr>
                        <a:t>: </a:t>
                      </a:r>
                      <a:endParaRPr lang="en-US" sz="1200" dirty="0" smtClean="0">
                        <a:solidFill>
                          <a:srgbClr val="0070C0"/>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Tx/>
                        <a:buNone/>
                      </a:pPr>
                      <a:r>
                        <a:rPr lang="en-US" sz="1200" dirty="0" smtClean="0">
                          <a:solidFill>
                            <a:srgbClr val="0070C0"/>
                          </a:solidFill>
                          <a:latin typeface="Times New Roman"/>
                          <a:ea typeface="Times New Roman"/>
                          <a:cs typeface="Times New Roman"/>
                          <a:sym typeface="Times New Roman"/>
                        </a:rPr>
                        <a:t>+</a:t>
                      </a:r>
                      <a:r>
                        <a:rPr lang="en-US" sz="1200" baseline="0" dirty="0" smtClean="0">
                          <a:solidFill>
                            <a:srgbClr val="0070C0"/>
                          </a:solidFill>
                          <a:latin typeface="Times New Roman"/>
                          <a:ea typeface="Times New Roman"/>
                          <a:cs typeface="Times New Roman"/>
                          <a:sym typeface="Times New Roman"/>
                        </a:rPr>
                        <a:t> 01ea </a:t>
                      </a:r>
                      <a:r>
                        <a:rPr lang="en-US" sz="1200" baseline="0" dirty="0" err="1" smtClean="0">
                          <a:solidFill>
                            <a:srgbClr val="0070C0"/>
                          </a:solidFill>
                          <a:latin typeface="Times New Roman"/>
                          <a:ea typeface="Times New Roman"/>
                          <a:cs typeface="Times New Roman"/>
                          <a:sym typeface="Times New Roman"/>
                        </a:rPr>
                        <a:t>dự</a:t>
                      </a:r>
                      <a:r>
                        <a:rPr lang="en-US" sz="1200" baseline="0" dirty="0" smtClean="0">
                          <a:solidFill>
                            <a:srgbClr val="0070C0"/>
                          </a:solidFill>
                          <a:latin typeface="Times New Roman"/>
                          <a:ea typeface="Times New Roman"/>
                          <a:cs typeface="Times New Roman"/>
                          <a:sym typeface="Times New Roman"/>
                        </a:rPr>
                        <a:t> </a:t>
                      </a:r>
                      <a:r>
                        <a:rPr lang="en-US" sz="1200" baseline="0" smtClean="0">
                          <a:solidFill>
                            <a:srgbClr val="0070C0"/>
                          </a:solidFill>
                          <a:latin typeface="Times New Roman"/>
                          <a:ea typeface="Times New Roman"/>
                          <a:cs typeface="Times New Roman"/>
                          <a:sym typeface="Times New Roman"/>
                        </a:rPr>
                        <a:t>kiến</a:t>
                      </a:r>
                      <a:r>
                        <a:rPr lang="en-US" sz="1200" baseline="0" dirty="0" smtClean="0">
                          <a:solidFill>
                            <a:srgbClr val="0070C0"/>
                          </a:solidFill>
                          <a:latin typeface="Times New Roman"/>
                          <a:ea typeface="Times New Roman"/>
                          <a:cs typeface="Times New Roman"/>
                          <a:sym typeface="Times New Roman"/>
                        </a:rPr>
                        <a:t> </a:t>
                      </a:r>
                      <a:r>
                        <a:rPr lang="en-US" sz="1200" baseline="0" dirty="0" err="1" smtClean="0">
                          <a:solidFill>
                            <a:srgbClr val="0070C0"/>
                          </a:solidFill>
                          <a:latin typeface="Times New Roman"/>
                          <a:ea typeface="Times New Roman"/>
                          <a:cs typeface="Times New Roman"/>
                          <a:sym typeface="Times New Roman"/>
                        </a:rPr>
                        <a:t>hạ</a:t>
                      </a:r>
                      <a:r>
                        <a:rPr lang="en-US" sz="1200" baseline="0" dirty="0" smtClean="0">
                          <a:solidFill>
                            <a:srgbClr val="0070C0"/>
                          </a:solidFill>
                          <a:latin typeface="Times New Roman"/>
                          <a:ea typeface="Times New Roman"/>
                          <a:cs typeface="Times New Roman"/>
                          <a:sym typeface="Times New Roman"/>
                        </a:rPr>
                        <a:t> </a:t>
                      </a:r>
                      <a:r>
                        <a:rPr lang="en-US" sz="1200" baseline="0" dirty="0" err="1" smtClean="0">
                          <a:solidFill>
                            <a:srgbClr val="0070C0"/>
                          </a:solidFill>
                          <a:latin typeface="Times New Roman"/>
                          <a:ea typeface="Times New Roman"/>
                          <a:cs typeface="Times New Roman"/>
                          <a:sym typeface="Times New Roman"/>
                        </a:rPr>
                        <a:t>cánh</a:t>
                      </a:r>
                      <a:r>
                        <a:rPr lang="en-US" sz="1200" baseline="0" dirty="0" smtClean="0">
                          <a:solidFill>
                            <a:srgbClr val="0070C0"/>
                          </a:solidFill>
                          <a:latin typeface="Times New Roman"/>
                          <a:ea typeface="Times New Roman"/>
                          <a:cs typeface="Times New Roman"/>
                          <a:sym typeface="Times New Roman"/>
                        </a:rPr>
                        <a:t> SGN </a:t>
                      </a:r>
                      <a:r>
                        <a:rPr lang="en-US" sz="1200" baseline="0" dirty="0" err="1" smtClean="0">
                          <a:solidFill>
                            <a:srgbClr val="0070C0"/>
                          </a:solidFill>
                          <a:latin typeface="Times New Roman"/>
                          <a:ea typeface="Times New Roman"/>
                          <a:cs typeface="Times New Roman"/>
                          <a:sym typeface="Times New Roman"/>
                        </a:rPr>
                        <a:t>đêm</a:t>
                      </a:r>
                      <a:r>
                        <a:rPr lang="en-US" sz="1200" baseline="0" dirty="0" smtClean="0">
                          <a:solidFill>
                            <a:srgbClr val="0070C0"/>
                          </a:solidFill>
                          <a:latin typeface="Times New Roman"/>
                          <a:ea typeface="Times New Roman"/>
                          <a:cs typeface="Times New Roman"/>
                          <a:sym typeface="Times New Roman"/>
                        </a:rPr>
                        <a:t> 07/01.</a:t>
                      </a:r>
                    </a:p>
                    <a:p>
                      <a:pPr marL="0" marR="0" lvl="0" indent="0" algn="l" rtl="0">
                        <a:spcBef>
                          <a:spcPts val="0"/>
                        </a:spcBef>
                        <a:spcAft>
                          <a:spcPts val="0"/>
                        </a:spcAft>
                        <a:buClr>
                          <a:schemeClr val="dk1"/>
                        </a:buClr>
                        <a:buSzPts val="1300"/>
                        <a:buFontTx/>
                        <a:buNone/>
                      </a:pPr>
                      <a:r>
                        <a:rPr lang="en-US" sz="1200" baseline="0" dirty="0" smtClean="0">
                          <a:solidFill>
                            <a:srgbClr val="0070C0"/>
                          </a:solidFill>
                          <a:latin typeface="Times New Roman"/>
                          <a:ea typeface="Times New Roman"/>
                          <a:cs typeface="Times New Roman"/>
                          <a:sym typeface="Times New Roman"/>
                        </a:rPr>
                        <a:t>+ 02ea: </a:t>
                      </a:r>
                      <a:r>
                        <a:rPr lang="en-US" sz="1200" baseline="0" dirty="0" err="1" smtClean="0">
                          <a:solidFill>
                            <a:srgbClr val="0070C0"/>
                          </a:solidFill>
                          <a:latin typeface="Times New Roman"/>
                          <a:ea typeface="Times New Roman"/>
                          <a:cs typeface="Times New Roman"/>
                          <a:sym typeface="Times New Roman"/>
                        </a:rPr>
                        <a:t>đang</a:t>
                      </a:r>
                      <a:r>
                        <a:rPr lang="en-US" sz="1200" baseline="0" dirty="0" smtClean="0">
                          <a:solidFill>
                            <a:srgbClr val="0070C0"/>
                          </a:solidFill>
                          <a:latin typeface="Times New Roman"/>
                          <a:ea typeface="Times New Roman"/>
                          <a:cs typeface="Times New Roman"/>
                          <a:sym typeface="Times New Roman"/>
                        </a:rPr>
                        <a:t> </a:t>
                      </a:r>
                      <a:r>
                        <a:rPr lang="en-US" sz="1200" baseline="0" dirty="0" err="1" smtClean="0">
                          <a:solidFill>
                            <a:srgbClr val="0070C0"/>
                          </a:solidFill>
                          <a:latin typeface="Times New Roman"/>
                          <a:ea typeface="Times New Roman"/>
                          <a:cs typeface="Times New Roman"/>
                          <a:sym typeface="Times New Roman"/>
                        </a:rPr>
                        <a:t>giục</a:t>
                      </a:r>
                      <a:r>
                        <a:rPr lang="en-US" sz="1200" baseline="0" dirty="0" smtClean="0">
                          <a:solidFill>
                            <a:srgbClr val="0070C0"/>
                          </a:solidFill>
                          <a:latin typeface="Times New Roman"/>
                          <a:ea typeface="Times New Roman"/>
                          <a:cs typeface="Times New Roman"/>
                          <a:sym typeface="Times New Roman"/>
                        </a:rPr>
                        <a:t> KLM, </a:t>
                      </a:r>
                      <a:r>
                        <a:rPr lang="en-US" sz="1200" baseline="0" dirty="0" err="1" smtClean="0">
                          <a:solidFill>
                            <a:srgbClr val="0070C0"/>
                          </a:solidFill>
                          <a:latin typeface="Times New Roman"/>
                          <a:ea typeface="Times New Roman"/>
                          <a:cs typeface="Times New Roman"/>
                          <a:sym typeface="Times New Roman"/>
                        </a:rPr>
                        <a:t>giục</a:t>
                      </a:r>
                      <a:r>
                        <a:rPr lang="en-US" sz="1200" baseline="0" dirty="0" smtClean="0">
                          <a:solidFill>
                            <a:srgbClr val="0070C0"/>
                          </a:solidFill>
                          <a:latin typeface="Times New Roman"/>
                          <a:ea typeface="Times New Roman"/>
                          <a:cs typeface="Times New Roman"/>
                          <a:sym typeface="Times New Roman"/>
                        </a:rPr>
                        <a:t> </a:t>
                      </a:r>
                      <a:r>
                        <a:rPr lang="en-US" sz="1200" baseline="0" dirty="0" err="1" smtClean="0">
                          <a:solidFill>
                            <a:srgbClr val="0070C0"/>
                          </a:solidFill>
                          <a:latin typeface="Times New Roman"/>
                          <a:ea typeface="Times New Roman"/>
                          <a:cs typeface="Times New Roman"/>
                          <a:sym typeface="Times New Roman"/>
                        </a:rPr>
                        <a:t>thêm</a:t>
                      </a:r>
                      <a:r>
                        <a:rPr lang="en-US" sz="1200" baseline="0" dirty="0" smtClean="0">
                          <a:solidFill>
                            <a:srgbClr val="0070C0"/>
                          </a:solidFill>
                          <a:latin typeface="Times New Roman"/>
                          <a:ea typeface="Times New Roman"/>
                          <a:cs typeface="Times New Roman"/>
                          <a:sym typeface="Times New Roman"/>
                        </a:rPr>
                        <a:t> 01 PO </a:t>
                      </a:r>
                      <a:r>
                        <a:rPr lang="en-US" sz="1200" baseline="0" dirty="0" err="1" smtClean="0">
                          <a:solidFill>
                            <a:srgbClr val="0070C0"/>
                          </a:solidFill>
                          <a:latin typeface="Times New Roman"/>
                          <a:ea typeface="Times New Roman"/>
                          <a:cs typeface="Times New Roman"/>
                          <a:sym typeface="Times New Roman"/>
                        </a:rPr>
                        <a:t>mua</a:t>
                      </a:r>
                      <a:r>
                        <a:rPr lang="en-US" sz="1200" baseline="0" dirty="0" smtClean="0">
                          <a:solidFill>
                            <a:srgbClr val="0070C0"/>
                          </a:solidFill>
                          <a:latin typeface="Times New Roman"/>
                          <a:ea typeface="Times New Roman"/>
                          <a:cs typeface="Times New Roman"/>
                          <a:sym typeface="Times New Roman"/>
                        </a:rPr>
                        <a:t> </a:t>
                      </a:r>
                      <a:r>
                        <a:rPr lang="en-US" sz="1200" baseline="0" dirty="0" err="1" smtClean="0">
                          <a:solidFill>
                            <a:srgbClr val="0070C0"/>
                          </a:solidFill>
                          <a:latin typeface="Times New Roman"/>
                          <a:ea typeface="Times New Roman"/>
                          <a:cs typeface="Times New Roman"/>
                          <a:sym typeface="Times New Roman"/>
                        </a:rPr>
                        <a:t>mới</a:t>
                      </a:r>
                      <a:r>
                        <a:rPr lang="en-US" sz="1200" baseline="0" dirty="0" smtClean="0">
                          <a:solidFill>
                            <a:srgbClr val="0070C0"/>
                          </a:solidFill>
                          <a:latin typeface="Times New Roman"/>
                          <a:ea typeface="Times New Roman"/>
                          <a:cs typeface="Times New Roman"/>
                          <a:sym typeface="Times New Roman"/>
                        </a:rPr>
                        <a:t> </a:t>
                      </a:r>
                      <a:r>
                        <a:rPr lang="en-US" sz="1200" baseline="0" dirty="0" err="1" smtClean="0">
                          <a:solidFill>
                            <a:srgbClr val="0070C0"/>
                          </a:solidFill>
                          <a:latin typeface="Times New Roman"/>
                          <a:ea typeface="Times New Roman"/>
                          <a:cs typeface="Times New Roman"/>
                          <a:sym typeface="Times New Roman"/>
                        </a:rPr>
                        <a:t>của</a:t>
                      </a:r>
                      <a:r>
                        <a:rPr lang="en-US" sz="1200" baseline="0" dirty="0" smtClean="0">
                          <a:solidFill>
                            <a:srgbClr val="0070C0"/>
                          </a:solidFill>
                          <a:latin typeface="Times New Roman"/>
                          <a:ea typeface="Times New Roman"/>
                          <a:cs typeface="Times New Roman"/>
                          <a:sym typeface="Times New Roman"/>
                        </a:rPr>
                        <a:t> Collins (Collins NIL </a:t>
                      </a:r>
                      <a:r>
                        <a:rPr lang="en-US" sz="1200" baseline="0" dirty="0" err="1" smtClean="0">
                          <a:solidFill>
                            <a:srgbClr val="0070C0"/>
                          </a:solidFill>
                          <a:latin typeface="Times New Roman"/>
                          <a:ea typeface="Times New Roman"/>
                          <a:cs typeface="Times New Roman"/>
                          <a:sym typeface="Times New Roman"/>
                        </a:rPr>
                        <a:t>stk</a:t>
                      </a:r>
                      <a:r>
                        <a:rPr lang="en-US" sz="1200" baseline="0" dirty="0" smtClean="0">
                          <a:solidFill>
                            <a:srgbClr val="0070C0"/>
                          </a:solidFill>
                          <a:latin typeface="Times New Roman"/>
                          <a:ea typeface="Times New Roman"/>
                          <a:cs typeface="Times New Roman"/>
                          <a:sym typeface="Times New Roman"/>
                        </a:rPr>
                        <a:t>) </a:t>
                      </a:r>
                      <a:r>
                        <a:rPr lang="en-US" sz="1200" baseline="0" dirty="0" err="1" smtClean="0">
                          <a:solidFill>
                            <a:srgbClr val="0070C0"/>
                          </a:solidFill>
                          <a:latin typeface="Times New Roman"/>
                          <a:ea typeface="Times New Roman"/>
                          <a:cs typeface="Times New Roman"/>
                          <a:sym typeface="Times New Roman"/>
                        </a:rPr>
                        <a:t>và</a:t>
                      </a:r>
                      <a:r>
                        <a:rPr lang="en-US" sz="1200" baseline="0" dirty="0" smtClean="0">
                          <a:solidFill>
                            <a:srgbClr val="0070C0"/>
                          </a:solidFill>
                          <a:latin typeface="Times New Roman"/>
                          <a:ea typeface="Times New Roman"/>
                          <a:cs typeface="Times New Roman"/>
                          <a:sym typeface="Times New Roman"/>
                        </a:rPr>
                        <a:t> </a:t>
                      </a:r>
                      <a:r>
                        <a:rPr lang="en-US" sz="1200" baseline="0" dirty="0" err="1" smtClean="0">
                          <a:solidFill>
                            <a:srgbClr val="0070C0"/>
                          </a:solidFill>
                          <a:latin typeface="Times New Roman"/>
                          <a:ea typeface="Times New Roman"/>
                          <a:cs typeface="Times New Roman"/>
                          <a:sym typeface="Times New Roman"/>
                        </a:rPr>
                        <a:t>tìm</a:t>
                      </a:r>
                      <a:r>
                        <a:rPr lang="en-US" sz="1200" baseline="0" dirty="0" smtClean="0">
                          <a:solidFill>
                            <a:srgbClr val="0070C0"/>
                          </a:solidFill>
                          <a:latin typeface="Times New Roman"/>
                          <a:ea typeface="Times New Roman"/>
                          <a:cs typeface="Times New Roman"/>
                          <a:sym typeface="Times New Roman"/>
                        </a:rPr>
                        <a:t> </a:t>
                      </a:r>
                      <a:r>
                        <a:rPr lang="en-US" sz="1200" baseline="0" dirty="0" err="1" smtClean="0">
                          <a:solidFill>
                            <a:srgbClr val="0070C0"/>
                          </a:solidFill>
                          <a:latin typeface="Times New Roman"/>
                          <a:ea typeface="Times New Roman"/>
                          <a:cs typeface="Times New Roman"/>
                          <a:sym typeface="Times New Roman"/>
                        </a:rPr>
                        <a:t>nguồn</a:t>
                      </a:r>
                      <a:r>
                        <a:rPr lang="en-US" sz="1200" baseline="0" dirty="0" smtClean="0">
                          <a:solidFill>
                            <a:srgbClr val="0070C0"/>
                          </a:solidFill>
                          <a:latin typeface="Times New Roman"/>
                          <a:ea typeface="Times New Roman"/>
                          <a:cs typeface="Times New Roman"/>
                          <a:sym typeface="Times New Roman"/>
                        </a:rPr>
                        <a:t> </a:t>
                      </a:r>
                      <a:r>
                        <a:rPr lang="en-US" sz="1200" baseline="0" dirty="0" err="1" smtClean="0">
                          <a:solidFill>
                            <a:srgbClr val="0070C0"/>
                          </a:solidFill>
                          <a:latin typeface="Times New Roman"/>
                          <a:ea typeface="Times New Roman"/>
                          <a:cs typeface="Times New Roman"/>
                          <a:sym typeface="Times New Roman"/>
                        </a:rPr>
                        <a:t>ngoài</a:t>
                      </a:r>
                      <a:r>
                        <a:rPr lang="en-US" sz="1200" baseline="0" dirty="0" smtClean="0">
                          <a:solidFill>
                            <a:srgbClr val="0070C0"/>
                          </a:solidFill>
                          <a:latin typeface="Times New Roman"/>
                          <a:ea typeface="Times New Roman"/>
                          <a:cs typeface="Times New Roman"/>
                          <a:sym typeface="Times New Roman"/>
                        </a:rPr>
                        <a:t> </a:t>
                      </a:r>
                      <a:r>
                        <a:rPr lang="en-US" sz="1200" baseline="0" dirty="0" err="1" smtClean="0">
                          <a:solidFill>
                            <a:srgbClr val="0070C0"/>
                          </a:solidFill>
                          <a:latin typeface="Times New Roman"/>
                          <a:ea typeface="Times New Roman"/>
                          <a:cs typeface="Times New Roman"/>
                          <a:sym typeface="Times New Roman"/>
                        </a:rPr>
                        <a:t>để</a:t>
                      </a:r>
                      <a:r>
                        <a:rPr lang="en-US" sz="1200" baseline="0" dirty="0" smtClean="0">
                          <a:solidFill>
                            <a:srgbClr val="0070C0"/>
                          </a:solidFill>
                          <a:latin typeface="Times New Roman"/>
                          <a:ea typeface="Times New Roman"/>
                          <a:cs typeface="Times New Roman"/>
                          <a:sym typeface="Times New Roman"/>
                        </a:rPr>
                        <a:t> </a:t>
                      </a:r>
                      <a:r>
                        <a:rPr lang="en-US" sz="1200" baseline="0" dirty="0" err="1" smtClean="0">
                          <a:solidFill>
                            <a:srgbClr val="0070C0"/>
                          </a:solidFill>
                          <a:latin typeface="Times New Roman"/>
                          <a:ea typeface="Times New Roman"/>
                          <a:cs typeface="Times New Roman"/>
                          <a:sym typeface="Times New Roman"/>
                        </a:rPr>
                        <a:t>thuê</a:t>
                      </a:r>
                      <a:r>
                        <a:rPr lang="en-US" sz="1200" baseline="0" dirty="0" smtClean="0">
                          <a:solidFill>
                            <a:srgbClr val="0070C0"/>
                          </a:solidFill>
                          <a:latin typeface="Times New Roman"/>
                          <a:ea typeface="Times New Roman"/>
                          <a:cs typeface="Times New Roman"/>
                          <a:sym typeface="Times New Roman"/>
                        </a:rPr>
                        <a:t> </a:t>
                      </a:r>
                      <a:r>
                        <a:rPr lang="en-US" sz="1200" baseline="0" dirty="0" err="1" smtClean="0">
                          <a:solidFill>
                            <a:srgbClr val="0070C0"/>
                          </a:solidFill>
                          <a:latin typeface="Times New Roman"/>
                          <a:ea typeface="Times New Roman"/>
                          <a:cs typeface="Times New Roman"/>
                          <a:sym typeface="Times New Roman"/>
                        </a:rPr>
                        <a:t>đổi</a:t>
                      </a:r>
                      <a:r>
                        <a:rPr lang="en-US" sz="1200" baseline="0" dirty="0" smtClean="0">
                          <a:solidFill>
                            <a:srgbClr val="0070C0"/>
                          </a:solidFill>
                          <a:latin typeface="Times New Roman"/>
                          <a:ea typeface="Times New Roman"/>
                          <a:cs typeface="Times New Roman"/>
                          <a:sym typeface="Times New Roman"/>
                        </a:rPr>
                        <a:t> </a:t>
                      </a:r>
                      <a:r>
                        <a:rPr lang="en-US" sz="1200" baseline="0" dirty="0" err="1" smtClean="0">
                          <a:solidFill>
                            <a:srgbClr val="0070C0"/>
                          </a:solidFill>
                          <a:latin typeface="Times New Roman"/>
                          <a:ea typeface="Times New Roman"/>
                          <a:cs typeface="Times New Roman"/>
                          <a:sym typeface="Times New Roman"/>
                        </a:rPr>
                        <a:t>trực</a:t>
                      </a:r>
                      <a:r>
                        <a:rPr lang="en-US" sz="1200" baseline="0" dirty="0" smtClean="0">
                          <a:solidFill>
                            <a:srgbClr val="0070C0"/>
                          </a:solidFill>
                          <a:latin typeface="Times New Roman"/>
                          <a:ea typeface="Times New Roman"/>
                          <a:cs typeface="Times New Roman"/>
                          <a:sym typeface="Times New Roman"/>
                        </a:rPr>
                        <a:t> </a:t>
                      </a:r>
                      <a:r>
                        <a:rPr lang="en-US" sz="1200" baseline="0" dirty="0" err="1" smtClean="0">
                          <a:solidFill>
                            <a:srgbClr val="0070C0"/>
                          </a:solidFill>
                          <a:latin typeface="Times New Roman"/>
                          <a:ea typeface="Times New Roman"/>
                          <a:cs typeface="Times New Roman"/>
                          <a:sym typeface="Times New Roman"/>
                        </a:rPr>
                        <a:t>tiếp</a:t>
                      </a:r>
                      <a:r>
                        <a:rPr lang="en-US" sz="1200" baseline="0" dirty="0" smtClean="0">
                          <a:solidFill>
                            <a:srgbClr val="0070C0"/>
                          </a:solidFill>
                          <a:latin typeface="Times New Roman"/>
                          <a:ea typeface="Times New Roman"/>
                          <a:cs typeface="Times New Roman"/>
                          <a:sym typeface="Times New Roman"/>
                        </a:rPr>
                        <a:t>.</a:t>
                      </a:r>
                      <a:endParaRPr sz="1200" dirty="0">
                        <a:solidFill>
                          <a:srgbClr val="0070C0"/>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Tailcone light</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Card Led</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30-2968-3</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32-4188-3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Nguồn cung hàng chậm, delay shop Honeywell.</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Hiện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không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có</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a:t>
                      </a:r>
                      <a:endParaRPr sz="1300" u="none" strike="noStrike" cap="none" dirty="0">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dirty="0" smtClean="0">
                          <a:latin typeface="Times New Roman"/>
                          <a:ea typeface="Times New Roman"/>
                          <a:cs typeface="Times New Roman"/>
                          <a:sym typeface="Times New Roman"/>
                        </a:rPr>
                        <a:t>+ </a:t>
                      </a:r>
                      <a:r>
                        <a:rPr lang="en-US" sz="1300" dirty="0" smtClean="0">
                          <a:solidFill>
                            <a:schemeClr val="dk1"/>
                          </a:solidFill>
                          <a:latin typeface="Times New Roman"/>
                          <a:ea typeface="Times New Roman"/>
                          <a:cs typeface="Times New Roman"/>
                          <a:sym typeface="Times New Roman"/>
                        </a:rPr>
                        <a:t>03ea </a:t>
                      </a:r>
                      <a:r>
                        <a:rPr lang="en-US" sz="1300" dirty="0">
                          <a:solidFill>
                            <a:schemeClr val="dk1"/>
                          </a:solidFill>
                          <a:latin typeface="Times New Roman"/>
                          <a:ea typeface="Times New Roman"/>
                          <a:cs typeface="Times New Roman"/>
                          <a:sym typeface="Times New Roman"/>
                        </a:rPr>
                        <a:t>PO  EDD 10/2025.</a:t>
                      </a:r>
                      <a:endParaRPr sz="1300" dirty="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7962584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g31ccdae391d_0_31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33" name="Google Shape;233;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59</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34" name="Google Shape;234;g31ccdae391d_0_315"/>
          <p:cNvSpPr/>
          <p:nvPr/>
        </p:nvSpPr>
        <p:spPr>
          <a:xfrm>
            <a:off x="500990"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Một</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số</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PTVT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cần</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lưu</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ý</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00000"/>
              </a:lnSpc>
              <a:spcBef>
                <a:spcPts val="0"/>
              </a:spcBef>
              <a:spcAft>
                <a:spcPts val="0"/>
              </a:spcAft>
              <a:buClr>
                <a:srgbClr val="000000"/>
              </a:buClr>
              <a:buSzPts val="1600"/>
              <a:buFont typeface="Times New Roman"/>
              <a:buChar char="+"/>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PTVT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thay</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nhiều</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VFSG, GPM, NSG, CAC, Pump Pack, FMU, GWIV,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Tailcone</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light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hỏng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hóc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rất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nhiều</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sub card led). </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Hỏng</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hóc</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ảnh</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hưởng</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cần</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lưu</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ý:</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A864 - FT CARGO HANDLING SYS NO POWER: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đặt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hàng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MCDU,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SGN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05/01</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a:t>
            </a: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A867 – APU INOO: </a:t>
            </a:r>
            <a:r>
              <a:rPr kumimoji="0" lang="en-US" sz="16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đặt</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hàng</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FMU, </a:t>
            </a:r>
            <a:r>
              <a:rPr kumimoji="0" lang="en-US" sz="16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chưa</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có</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EDD</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A873 - ELEC GEN SYS R1: </a:t>
            </a:r>
            <a:r>
              <a:rPr kumimoji="0" lang="vi-VN"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yêu cầu đặt hàng VFSG sáng 05/01, chưa có EDD</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A879 - FWD CARGO HANDLING SYSTEM INOP (ELECTRI-CAL POWER NOT AVAI: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đặt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hàng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CONTROL ASSY JOINT STICK, </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EST SGN 09/01</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p:txBody>
      </p:sp>
      <p:pic>
        <p:nvPicPr>
          <p:cNvPr id="235" name="Google Shape;235;g31ccdae391d_0_315"/>
          <p:cNvPicPr preferRelativeResize="0"/>
          <p:nvPr/>
        </p:nvPicPr>
        <p:blipFill>
          <a:blip r:embed="rId3">
            <a:alphaModFix/>
          </a:blip>
          <a:stretch>
            <a:fillRect/>
          </a:stretch>
        </p:blipFill>
        <p:spPr>
          <a:xfrm>
            <a:off x="1801800" y="3248025"/>
            <a:ext cx="8894775" cy="2395550"/>
          </a:xfrm>
          <a:prstGeom prst="rect">
            <a:avLst/>
          </a:prstGeom>
          <a:noFill/>
          <a:ln>
            <a:noFill/>
          </a:ln>
        </p:spPr>
      </p:pic>
    </p:spTree>
    <p:extLst>
      <p:ext uri="{BB962C8B-B14F-4D97-AF65-F5344CB8AC3E}">
        <p14:creationId xmlns:p14="http://schemas.microsoft.com/office/powerpoint/2010/main" val="298898860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g31ccdae391d_0_32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42" name="Google Shape;242;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60</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43" name="Google Shape;243;g31ccdae391d_0_32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Tình trạng đơn hàng Pooling: 41 đơn hàng quá hạn trong tổng số 58 đơn hàng đang open</a:t>
            </a:r>
            <a:endParaRPr kumimoji="0" sz="2000" b="1" i="0" u="none" strike="noStrike" kern="0" cap="none" spc="0" normalizeH="0" baseline="0" noProof="0">
              <a:ln>
                <a:noFill/>
              </a:ln>
              <a:solidFill>
                <a:srgbClr val="FF0000"/>
              </a:solidFill>
              <a:effectLst/>
              <a:uLnTx/>
              <a:uFillTx/>
              <a:latin typeface="Arial"/>
              <a:ea typeface="Arial"/>
              <a:cs typeface="Arial"/>
              <a:sym typeface="Arial"/>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lấp đầy kho OSS: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10 overdue LO / total 13 LO</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khác (Defect, Hardtime):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31 overdue EO / total  45 EO </a:t>
            </a:r>
            <a:endParaRPr kumimoji="0" sz="1500" b="0" i="0" u="none" strike="noStrike" kern="0" cap="none" spc="0" normalizeH="0" baseline="0" noProof="0">
              <a:ln>
                <a:noFill/>
              </a:ln>
              <a:solidFill>
                <a:srgbClr val="1F497D"/>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0000"/>
              </a:lnSpc>
              <a:spcBef>
                <a:spcPts val="60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Tình trạng đơn hàng pool trong 4 tuần gần nhất:</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44" name="Google Shape;244;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245" name="Google Shape;245;g31ccdae391d_0_323"/>
          <p:cNvPicPr preferRelativeResize="0"/>
          <p:nvPr/>
        </p:nvPicPr>
        <p:blipFill>
          <a:blip r:embed="rId3">
            <a:alphaModFix/>
          </a:blip>
          <a:stretch>
            <a:fillRect/>
          </a:stretch>
        </p:blipFill>
        <p:spPr>
          <a:xfrm>
            <a:off x="2586050" y="2154850"/>
            <a:ext cx="6451975" cy="4422150"/>
          </a:xfrm>
          <a:prstGeom prst="rect">
            <a:avLst/>
          </a:prstGeom>
          <a:noFill/>
          <a:ln>
            <a:noFill/>
          </a:ln>
        </p:spPr>
      </p:pic>
    </p:spTree>
    <p:extLst>
      <p:ext uri="{BB962C8B-B14F-4D97-AF65-F5344CB8AC3E}">
        <p14:creationId xmlns:p14="http://schemas.microsoft.com/office/powerpoint/2010/main" val="53972683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52" name="Google Shape;252;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61</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53" name="Google Shape;253;g31ccdae391d_0_332"/>
          <p:cNvGraphicFramePr/>
          <p:nvPr>
            <p:extLst/>
          </p:nvPr>
        </p:nvGraphicFramePr>
        <p:xfrm>
          <a:off x="474783" y="301869"/>
          <a:ext cx="11561850" cy="5404125"/>
        </p:xfrm>
        <a:graphic>
          <a:graphicData uri="http://schemas.openxmlformats.org/drawingml/2006/table">
            <a:tbl>
              <a:tblPr>
                <a:noFill/>
              </a:tblPr>
              <a:tblGrid>
                <a:gridCol w="778900">
                  <a:extLst>
                    <a:ext uri="{9D8B030D-6E8A-4147-A177-3AD203B41FA5}">
                      <a16:colId xmlns:a16="http://schemas.microsoft.com/office/drawing/2014/main" val="20000"/>
                    </a:ext>
                  </a:extLst>
                </a:gridCol>
                <a:gridCol w="1783525">
                  <a:extLst>
                    <a:ext uri="{9D8B030D-6E8A-4147-A177-3AD203B41FA5}">
                      <a16:colId xmlns:a16="http://schemas.microsoft.com/office/drawing/2014/main" val="20001"/>
                    </a:ext>
                  </a:extLst>
                </a:gridCol>
                <a:gridCol w="1599825">
                  <a:extLst>
                    <a:ext uri="{9D8B030D-6E8A-4147-A177-3AD203B41FA5}">
                      <a16:colId xmlns:a16="http://schemas.microsoft.com/office/drawing/2014/main" val="20002"/>
                    </a:ext>
                  </a:extLst>
                </a:gridCol>
                <a:gridCol w="3699800">
                  <a:extLst>
                    <a:ext uri="{9D8B030D-6E8A-4147-A177-3AD203B41FA5}">
                      <a16:colId xmlns:a16="http://schemas.microsoft.com/office/drawing/2014/main" val="20003"/>
                    </a:ext>
                  </a:extLst>
                </a:gridCol>
                <a:gridCol w="3699800">
                  <a:extLst>
                    <a:ext uri="{9D8B030D-6E8A-4147-A177-3AD203B41FA5}">
                      <a16:colId xmlns:a16="http://schemas.microsoft.com/office/drawing/2014/main" val="20004"/>
                    </a:ext>
                  </a:extLst>
                </a:gridCol>
              </a:tblGrid>
              <a:tr h="338375">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3837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1385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Spoiler Servo control</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FCRM</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CA67003-018/020/025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CA71323-016 / -015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nhiều</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trên</a:t>
                      </a:r>
                      <a:r>
                        <a:rPr lang="en-US" sz="1300" u="none" strike="noStrike" cap="none" dirty="0">
                          <a:latin typeface="Times New Roman"/>
                          <a:ea typeface="Times New Roman"/>
                          <a:cs typeface="Times New Roman"/>
                          <a:sym typeface="Times New Roman"/>
                        </a:rPr>
                        <a:t> fleet A350. </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 Spoiler Servo: 01ea </a:t>
                      </a:r>
                      <a:r>
                        <a:rPr lang="en-US" sz="1300" u="none" strike="noStrike" cap="none" dirty="0" err="1">
                          <a:latin typeface="Times New Roman"/>
                          <a:ea typeface="Times New Roman"/>
                          <a:cs typeface="Times New Roman"/>
                          <a:sym typeface="Times New Roman"/>
                        </a:rPr>
                        <a:t>dự</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phòng</a:t>
                      </a:r>
                      <a:r>
                        <a:rPr lang="en-US" sz="1300" u="none" strike="noStrike" cap="none" dirty="0">
                          <a:latin typeface="Times New Roman"/>
                          <a:ea typeface="Times New Roman"/>
                          <a:cs typeface="Times New Roman"/>
                          <a:sym typeface="Times New Roman"/>
                        </a:rPr>
                        <a:t> in stock</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có</a:t>
                      </a:r>
                      <a:r>
                        <a:rPr lang="en-US" sz="1300" dirty="0">
                          <a:latin typeface="Times New Roman"/>
                          <a:ea typeface="Times New Roman"/>
                          <a:cs typeface="Times New Roman"/>
                          <a:sym typeface="Times New Roman"/>
                        </a:rPr>
                        <a:t> 01 </a:t>
                      </a:r>
                      <a:r>
                        <a:rPr lang="en-US" sz="1300" dirty="0" err="1">
                          <a:latin typeface="Times New Roman"/>
                          <a:ea typeface="Times New Roman"/>
                          <a:cs typeface="Times New Roman"/>
                          <a:sym typeface="Times New Roman"/>
                        </a:rPr>
                        <a:t>yêu</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cầu</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của</a:t>
                      </a:r>
                      <a:r>
                        <a:rPr lang="en-US" sz="1300" dirty="0">
                          <a:latin typeface="Times New Roman"/>
                          <a:ea typeface="Times New Roman"/>
                          <a:cs typeface="Times New Roman"/>
                          <a:sym typeface="Times New Roman"/>
                        </a:rPr>
                        <a:t> A893</a:t>
                      </a:r>
                      <a:r>
                        <a:rPr lang="en-US" sz="1300" u="none" strike="noStrike" cap="none" dirty="0">
                          <a:latin typeface="Times New Roman"/>
                          <a:ea typeface="Times New Roman"/>
                          <a:cs typeface="Times New Roman"/>
                          <a:sym typeface="Times New Roman"/>
                        </a:rPr>
                        <a:t>. </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 FCRM: </a:t>
                      </a:r>
                      <a:r>
                        <a:rPr lang="en-US" sz="1300" u="none" strike="noStrike" cap="none" dirty="0">
                          <a:solidFill>
                            <a:schemeClr val="dk1"/>
                          </a:solidFill>
                          <a:latin typeface="Times New Roman"/>
                          <a:ea typeface="Times New Roman"/>
                          <a:cs typeface="Times New Roman"/>
                          <a:sym typeface="Times New Roman"/>
                        </a:rPr>
                        <a:t>0</a:t>
                      </a:r>
                      <a:r>
                        <a:rPr lang="en-US" sz="1300" dirty="0">
                          <a:solidFill>
                            <a:schemeClr val="dk1"/>
                          </a:solidFill>
                          <a:latin typeface="Times New Roman"/>
                          <a:ea typeface="Times New Roman"/>
                          <a:cs typeface="Times New Roman"/>
                          <a:sym typeface="Times New Roman"/>
                        </a:rPr>
                        <a:t>4</a:t>
                      </a:r>
                      <a:r>
                        <a:rPr lang="en-US" sz="1300" u="none" strike="noStrike" cap="none" dirty="0">
                          <a:solidFill>
                            <a:schemeClr val="dk1"/>
                          </a:solidFill>
                          <a:latin typeface="Times New Roman"/>
                          <a:ea typeface="Times New Roman"/>
                          <a:cs typeface="Times New Roman"/>
                          <a:sym typeface="Times New Roman"/>
                        </a:rPr>
                        <a:t>ea in stock </a:t>
                      </a:r>
                      <a:r>
                        <a:rPr lang="en-US" sz="1300" dirty="0">
                          <a:solidFill>
                            <a:schemeClr val="dk1"/>
                          </a:solidFill>
                          <a:latin typeface="Times New Roman"/>
                          <a:ea typeface="Times New Roman"/>
                          <a:cs typeface="Times New Roman"/>
                          <a:sym typeface="Times New Roman"/>
                        </a:rPr>
                        <a:t>(03ea </a:t>
                      </a:r>
                      <a:r>
                        <a:rPr lang="en-US" sz="1300" u="none" strike="noStrike" cap="none" dirty="0" err="1">
                          <a:solidFill>
                            <a:schemeClr val="dk1"/>
                          </a:solidFill>
                          <a:latin typeface="Times New Roman"/>
                          <a:ea typeface="Times New Roman"/>
                          <a:cs typeface="Times New Roman"/>
                          <a:sym typeface="Times New Roman"/>
                        </a:rPr>
                        <a:t>của</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BQ)</a:t>
                      </a:r>
                      <a:r>
                        <a:rPr lang="en-US" sz="1300" dirty="0">
                          <a:solidFill>
                            <a:schemeClr val="dk1"/>
                          </a:solidFill>
                          <a:latin typeface="Times New Roman"/>
                          <a:ea typeface="Times New Roman"/>
                          <a:cs typeface="Times New Roman"/>
                          <a:sym typeface="Times New Roman"/>
                        </a:rPr>
                        <a:t>.</a:t>
                      </a:r>
                      <a:r>
                        <a:rPr lang="en-US" sz="1300" dirty="0">
                          <a:latin typeface="Times New Roman"/>
                          <a:ea typeface="Times New Roman"/>
                          <a:cs typeface="Times New Roman"/>
                          <a:sym typeface="Times New Roman"/>
                        </a:rPr>
                        <a:t> 01 </a:t>
                      </a:r>
                      <a:r>
                        <a:rPr lang="en-US" sz="1300" dirty="0" err="1">
                          <a:latin typeface="Times New Roman"/>
                          <a:ea typeface="Times New Roman"/>
                          <a:cs typeface="Times New Roman"/>
                          <a:sym typeface="Times New Roman"/>
                        </a:rPr>
                        <a:t>lấp</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đầy</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dự</a:t>
                      </a:r>
                      <a:r>
                        <a:rPr lang="en-US" sz="1300" dirty="0">
                          <a:latin typeface="Times New Roman"/>
                          <a:ea typeface="Times New Roman"/>
                          <a:cs typeface="Times New Roman"/>
                          <a:sym typeface="Times New Roman"/>
                        </a:rPr>
                        <a:t> kiến release trong </a:t>
                      </a:r>
                      <a:r>
                        <a:rPr lang="en-US" sz="1300" dirty="0" err="1">
                          <a:latin typeface="Times New Roman"/>
                          <a:ea typeface="Times New Roman"/>
                          <a:cs typeface="Times New Roman"/>
                          <a:sym typeface="Times New Roman"/>
                        </a:rPr>
                        <a:t>tuần</a:t>
                      </a:r>
                      <a:r>
                        <a:rPr lang="en-US" sz="1300" dirty="0">
                          <a:latin typeface="Times New Roman"/>
                          <a:ea typeface="Times New Roman"/>
                          <a:cs typeface="Times New Roman"/>
                          <a:sym typeface="Times New Roman"/>
                        </a:rPr>
                        <a:t> 02/2025</a:t>
                      </a:r>
                      <a:endParaRPr sz="1300" u="none" strike="noStrike" cap="none" dirty="0">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2"/>
                  </a:ext>
                </a:extLst>
              </a:tr>
              <a:tr h="13118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688-6/688-6-00-100</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err="1">
                          <a:latin typeface="Times New Roman"/>
                          <a:ea typeface="Times New Roman"/>
                          <a:cs typeface="Times New Roman"/>
                          <a:sym typeface="Times New Roman"/>
                        </a:rPr>
                        <a:t>Hiện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cần</a:t>
                      </a:r>
                      <a:r>
                        <a:rPr lang="en-US" sz="1300" u="none" strike="noStrike" cap="none" dirty="0">
                          <a:latin typeface="Times New Roman"/>
                          <a:ea typeface="Times New Roman"/>
                          <a:cs typeface="Times New Roman"/>
                          <a:sym typeface="Times New Roman"/>
                        </a:rPr>
                        <a:t> </a:t>
                      </a:r>
                      <a:r>
                        <a:rPr lang="en-US" sz="1300" u="none" strike="noStrike" cap="none" dirty="0" smtClean="0">
                          <a:latin typeface="Times New Roman"/>
                          <a:ea typeface="Times New Roman"/>
                          <a:cs typeface="Times New Roman"/>
                          <a:sym typeface="Times New Roman"/>
                        </a:rPr>
                        <a:t>1</a:t>
                      </a:r>
                      <a:r>
                        <a:rPr lang="en-US" sz="1300" u="none" strike="noStrike" cap="none" dirty="0">
                          <a:latin typeface="Times New Roman"/>
                          <a:ea typeface="Times New Roman"/>
                          <a:cs typeface="Times New Roman"/>
                          <a:sym typeface="Times New Roman"/>
                        </a:rPr>
                        <a:t>4</a:t>
                      </a:r>
                      <a:r>
                        <a:rPr lang="en-US" sz="1300" u="none" strike="noStrike" cap="none" dirty="0" smtClean="0">
                          <a:latin typeface="Times New Roman"/>
                          <a:ea typeface="Times New Roman"/>
                          <a:cs typeface="Times New Roman"/>
                          <a:sym typeface="Times New Roman"/>
                        </a:rPr>
                        <a:t>ea </a:t>
                      </a:r>
                      <a:r>
                        <a:rPr lang="en-US" sz="1300" u="none" strike="noStrike" cap="none" dirty="0">
                          <a:latin typeface="Times New Roman"/>
                          <a:ea typeface="Times New Roman"/>
                          <a:cs typeface="Times New Roman"/>
                          <a:sym typeface="Times New Roman"/>
                        </a:rPr>
                        <a:t>(</a:t>
                      </a:r>
                      <a:r>
                        <a:rPr lang="en-US" sz="1300" dirty="0" smtClean="0">
                          <a:latin typeface="Times New Roman"/>
                          <a:ea typeface="Times New Roman"/>
                          <a:cs typeface="Times New Roman"/>
                          <a:sym typeface="Times New Roman"/>
                        </a:rPr>
                        <a:t>06</a:t>
                      </a:r>
                      <a:r>
                        <a:rPr lang="en-US" sz="1300" u="none" strike="noStrike" cap="none" dirty="0" smtClean="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+ 08 </a:t>
                      </a:r>
                      <a:r>
                        <a:rPr lang="en-US" sz="1300" u="none" strike="noStrike" cap="none" dirty="0" err="1">
                          <a:latin typeface="Times New Roman"/>
                          <a:ea typeface="Times New Roman"/>
                          <a:cs typeface="Times New Roman"/>
                          <a:sym typeface="Times New Roman"/>
                        </a:rPr>
                        <a:t>cho</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tàu</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bảo</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quản</a:t>
                      </a:r>
                      <a:r>
                        <a:rPr lang="en-US" sz="1300" u="none" strike="noStrike" cap="none" dirty="0">
                          <a:latin typeface="Times New Roman"/>
                          <a:ea typeface="Times New Roman"/>
                          <a:cs typeface="Times New Roman"/>
                          <a:sym typeface="Times New Roman"/>
                        </a:rPr>
                        <a:t>).</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smtClean="0">
                          <a:solidFill>
                            <a:schemeClr val="dk1"/>
                          </a:solidFill>
                          <a:latin typeface="Times New Roman"/>
                          <a:ea typeface="Times New Roman"/>
                          <a:cs typeface="Times New Roman"/>
                          <a:sym typeface="Times New Roman"/>
                        </a:rPr>
                        <a:t>1</a:t>
                      </a:r>
                      <a:r>
                        <a:rPr lang="en-US" sz="1300" u="none" strike="noStrike" cap="none" dirty="0">
                          <a:solidFill>
                            <a:schemeClr val="dk1"/>
                          </a:solidFill>
                          <a:latin typeface="Times New Roman"/>
                          <a:ea typeface="Times New Roman"/>
                          <a:cs typeface="Times New Roman"/>
                          <a:sym typeface="Times New Roman"/>
                        </a:rPr>
                        <a:t>5</a:t>
                      </a:r>
                      <a:r>
                        <a:rPr lang="en-US" sz="1300" u="none" strike="noStrike" cap="none" dirty="0" smtClean="0">
                          <a:solidFill>
                            <a:schemeClr val="dk1"/>
                          </a:solidFill>
                          <a:latin typeface="Times New Roman"/>
                          <a:ea typeface="Times New Roman"/>
                          <a:cs typeface="Times New Roman"/>
                          <a:sym typeface="Times New Roman"/>
                        </a:rPr>
                        <a:t>RO</a:t>
                      </a:r>
                      <a:r>
                        <a:rPr lang="en-US" sz="1300" u="none" strike="noStrike" cap="none" dirty="0">
                          <a:solidFill>
                            <a:schemeClr val="dk1"/>
                          </a:solidFill>
                          <a:latin typeface="Times New Roman"/>
                          <a:ea typeface="Times New Roman"/>
                          <a:cs typeface="Times New Roman"/>
                          <a:sym typeface="Times New Roman"/>
                        </a:rPr>
                        <a:t>, trong </a:t>
                      </a:r>
                      <a:r>
                        <a:rPr lang="en-US" sz="1300" u="none" strike="noStrike" cap="none" dirty="0" err="1">
                          <a:solidFill>
                            <a:schemeClr val="dk1"/>
                          </a:solidFill>
                          <a:latin typeface="Times New Roman"/>
                          <a:ea typeface="Times New Roman"/>
                          <a:cs typeface="Times New Roman"/>
                          <a:sym typeface="Times New Roman"/>
                        </a:rPr>
                        <a:t>đó</a:t>
                      </a:r>
                      <a:r>
                        <a:rPr lang="en-US" sz="1300" u="none" strike="noStrike" cap="none" dirty="0">
                          <a:solidFill>
                            <a:schemeClr val="dk1"/>
                          </a:solidFill>
                          <a:latin typeface="Times New Roman"/>
                          <a:ea typeface="Times New Roman"/>
                          <a:cs typeface="Times New Roman"/>
                          <a:sym typeface="Times New Roman"/>
                        </a:rPr>
                        <a:t>: </a:t>
                      </a:r>
                      <a:endParaRPr sz="130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solidFill>
                            <a:schemeClr val="dk1"/>
                          </a:solidFill>
                          <a:latin typeface="Times New Roman"/>
                          <a:ea typeface="Times New Roman"/>
                          <a:cs typeface="Times New Roman"/>
                          <a:sym typeface="Times New Roman"/>
                        </a:rPr>
                        <a:t>+ </a:t>
                      </a:r>
                      <a:r>
                        <a:rPr lang="en-US" sz="1300" dirty="0">
                          <a:solidFill>
                            <a:schemeClr val="dk1"/>
                          </a:solidFill>
                          <a:latin typeface="Times New Roman"/>
                          <a:ea typeface="Times New Roman"/>
                          <a:cs typeface="Times New Roman"/>
                          <a:sym typeface="Times New Roman"/>
                        </a:rPr>
                        <a:t>07ea </a:t>
                      </a:r>
                      <a:r>
                        <a:rPr lang="en-US" sz="1300" dirty="0" err="1">
                          <a:solidFill>
                            <a:schemeClr val="dk1"/>
                          </a:solidFill>
                          <a:latin typeface="Times New Roman"/>
                          <a:ea typeface="Times New Roman"/>
                          <a:cs typeface="Times New Roman"/>
                          <a:sym typeface="Times New Roman"/>
                        </a:rPr>
                        <a:t>dự</a:t>
                      </a:r>
                      <a:r>
                        <a:rPr lang="en-US" sz="1300" dirty="0">
                          <a:solidFill>
                            <a:schemeClr val="dk1"/>
                          </a:solidFill>
                          <a:latin typeface="Times New Roman"/>
                          <a:ea typeface="Times New Roman"/>
                          <a:cs typeface="Times New Roman"/>
                          <a:sym typeface="Times New Roman"/>
                        </a:rPr>
                        <a:t> kiến release trong </a:t>
                      </a:r>
                      <a:r>
                        <a:rPr lang="en-US" sz="1300" dirty="0" err="1">
                          <a:solidFill>
                            <a:schemeClr val="dk1"/>
                          </a:solidFill>
                          <a:latin typeface="Times New Roman"/>
                          <a:ea typeface="Times New Roman"/>
                          <a:cs typeface="Times New Roman"/>
                          <a:sym typeface="Times New Roman"/>
                        </a:rPr>
                        <a:t>tháng</a:t>
                      </a:r>
                      <a:r>
                        <a:rPr lang="en-US" sz="1300" dirty="0">
                          <a:solidFill>
                            <a:schemeClr val="dk1"/>
                          </a:solidFill>
                          <a:latin typeface="Times New Roman"/>
                          <a:ea typeface="Times New Roman"/>
                          <a:cs typeface="Times New Roman"/>
                          <a:sym typeface="Times New Roman"/>
                        </a:rPr>
                        <a:t> 1 (</a:t>
                      </a:r>
                      <a:r>
                        <a:rPr lang="en-US" sz="1300" dirty="0" err="1">
                          <a:solidFill>
                            <a:schemeClr val="dk1"/>
                          </a:solidFill>
                          <a:latin typeface="Times New Roman"/>
                          <a:ea typeface="Times New Roman"/>
                          <a:cs typeface="Times New Roman"/>
                          <a:sym typeface="Times New Roman"/>
                        </a:rPr>
                        <a:t>từ</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giữa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tháng</a:t>
                      </a:r>
                      <a:r>
                        <a:rPr lang="en-US" sz="1300" dirty="0">
                          <a:solidFill>
                            <a:schemeClr val="dk1"/>
                          </a:solidFill>
                          <a:latin typeface="Times New Roman"/>
                          <a:ea typeface="Times New Roman"/>
                          <a:cs typeface="Times New Roman"/>
                          <a:sym typeface="Times New Roman"/>
                        </a:rPr>
                        <a:t> 1)</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dirty="0">
                          <a:solidFill>
                            <a:schemeClr val="dk1"/>
                          </a:solidFill>
                          <a:latin typeface="Times New Roman"/>
                          <a:ea typeface="Times New Roman"/>
                          <a:cs typeface="Times New Roman"/>
                          <a:sym typeface="Times New Roman"/>
                        </a:rPr>
                        <a:t>+ 07ea </a:t>
                      </a:r>
                      <a:r>
                        <a:rPr lang="en-US" sz="1300" dirty="0" err="1">
                          <a:solidFill>
                            <a:schemeClr val="dk1"/>
                          </a:solidFill>
                          <a:latin typeface="Times New Roman"/>
                          <a:ea typeface="Times New Roman"/>
                          <a:cs typeface="Times New Roman"/>
                          <a:sym typeface="Times New Roman"/>
                        </a:rPr>
                        <a:t>chưa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EDD (02ea </a:t>
                      </a:r>
                      <a:r>
                        <a:rPr lang="en-US" sz="1300" dirty="0" err="1">
                          <a:solidFill>
                            <a:schemeClr val="dk1"/>
                          </a:solidFill>
                          <a:latin typeface="Times New Roman"/>
                          <a:ea typeface="Times New Roman"/>
                          <a:cs typeface="Times New Roman"/>
                          <a:sym typeface="Times New Roman"/>
                        </a:rPr>
                        <a:t>mới</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vào</a:t>
                      </a:r>
                      <a:r>
                        <a:rPr lang="en-US" sz="1300" dirty="0">
                          <a:solidFill>
                            <a:schemeClr val="dk1"/>
                          </a:solidFill>
                          <a:latin typeface="Times New Roman"/>
                          <a:ea typeface="Times New Roman"/>
                          <a:cs typeface="Times New Roman"/>
                          <a:sym typeface="Times New Roman"/>
                        </a:rPr>
                        <a:t> shop)</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dirty="0">
                          <a:solidFill>
                            <a:schemeClr val="dk1"/>
                          </a:solidFill>
                          <a:latin typeface="Times New Roman"/>
                          <a:ea typeface="Times New Roman"/>
                          <a:cs typeface="Times New Roman"/>
                          <a:sym typeface="Times New Roman"/>
                        </a:rPr>
                        <a:t>+ 01ea </a:t>
                      </a:r>
                      <a:r>
                        <a:rPr lang="en-US" sz="1300" dirty="0" err="1">
                          <a:solidFill>
                            <a:schemeClr val="dk1"/>
                          </a:solidFill>
                          <a:latin typeface="Times New Roman"/>
                          <a:ea typeface="Times New Roman"/>
                          <a:cs typeface="Times New Roman"/>
                          <a:sym typeface="Times New Roman"/>
                        </a:rPr>
                        <a:t>vào</a:t>
                      </a:r>
                      <a:r>
                        <a:rPr lang="en-US" sz="1300" dirty="0">
                          <a:solidFill>
                            <a:schemeClr val="dk1"/>
                          </a:solidFill>
                          <a:latin typeface="Times New Roman"/>
                          <a:ea typeface="Times New Roman"/>
                          <a:cs typeface="Times New Roman"/>
                          <a:sym typeface="Times New Roman"/>
                        </a:rPr>
                        <a:t> shop </a:t>
                      </a:r>
                      <a:r>
                        <a:rPr lang="en-US" sz="1300" dirty="0" err="1">
                          <a:solidFill>
                            <a:schemeClr val="dk1"/>
                          </a:solidFill>
                          <a:latin typeface="Times New Roman"/>
                          <a:ea typeface="Times New Roman"/>
                          <a:cs typeface="Times New Roman"/>
                          <a:sym typeface="Times New Roman"/>
                        </a:rPr>
                        <a:t>tuần</a:t>
                      </a:r>
                      <a:r>
                        <a:rPr lang="en-US" sz="1300" dirty="0">
                          <a:solidFill>
                            <a:schemeClr val="dk1"/>
                          </a:solidFill>
                          <a:latin typeface="Times New Roman"/>
                          <a:ea typeface="Times New Roman"/>
                          <a:cs typeface="Times New Roman"/>
                          <a:sym typeface="Times New Roman"/>
                        </a:rPr>
                        <a:t> 2/2025.</a:t>
                      </a:r>
                      <a:endParaRPr sz="130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3"/>
                  </a:ext>
                </a:extLst>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phát sinh sẽ phải cắt tải, tiềm ẩn AOG.</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Vẫn hỏng hóc nhiều trên fleet A350. </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+ 0</a:t>
                      </a:r>
                      <a:r>
                        <a:rPr lang="en-US" sz="1300">
                          <a:solidFill>
                            <a:schemeClr val="dk1"/>
                          </a:solidFill>
                          <a:latin typeface="Times New Roman"/>
                          <a:ea typeface="Times New Roman"/>
                          <a:cs typeface="Times New Roman"/>
                          <a:sym typeface="Times New Roman"/>
                        </a:rPr>
                        <a:t>5</a:t>
                      </a:r>
                      <a:r>
                        <a:rPr lang="en-US" sz="1300" u="none" strike="noStrike" cap="none">
                          <a:solidFill>
                            <a:schemeClr val="dk1"/>
                          </a:solidFill>
                          <a:latin typeface="Times New Roman"/>
                          <a:ea typeface="Times New Roman"/>
                          <a:cs typeface="Times New Roman"/>
                          <a:sym typeface="Times New Roman"/>
                        </a:rPr>
                        <a:t>ea in stock (của tàu BQ)</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+ 0</a:t>
                      </a:r>
                      <a:r>
                        <a:rPr lang="en-US" sz="1300">
                          <a:solidFill>
                            <a:schemeClr val="dk1"/>
                          </a:solidFill>
                          <a:latin typeface="Times New Roman"/>
                          <a:ea typeface="Times New Roman"/>
                          <a:cs typeface="Times New Roman"/>
                          <a:sym typeface="Times New Roman"/>
                        </a:rPr>
                        <a:t>2</a:t>
                      </a:r>
                      <a:r>
                        <a:rPr lang="en-US" sz="1300" u="none" strike="noStrike" cap="none">
                          <a:solidFill>
                            <a:schemeClr val="dk1"/>
                          </a:solidFill>
                          <a:latin typeface="Times New Roman"/>
                          <a:ea typeface="Times New Roman"/>
                          <a:cs typeface="Times New Roman"/>
                          <a:sym typeface="Times New Roman"/>
                        </a:rPr>
                        <a:t>ea chưa có EDD.</a:t>
                      </a: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4"/>
                  </a:ext>
                </a:extLst>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ảnh hưởng đến hệ thống chiller của tàu bay.</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TAT sửa chữa tại shop Honeywell rất dài (vẫn chưa được cải thiện) dẫn đến việc cung ứng hàng của Airbus rất chậm.</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solidFill>
                            <a:schemeClr val="dk1"/>
                          </a:solidFill>
                          <a:latin typeface="Times New Roman"/>
                          <a:ea typeface="Times New Roman"/>
                          <a:cs typeface="Times New Roman"/>
                          <a:sym typeface="Times New Roman"/>
                        </a:rPr>
                        <a:t>Nhiều</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A350 </a:t>
                      </a:r>
                      <a:r>
                        <a:rPr lang="en-US" sz="1300" u="none" strike="noStrike" cap="none" dirty="0" err="1">
                          <a:solidFill>
                            <a:schemeClr val="dk1"/>
                          </a:solidFill>
                          <a:latin typeface="Times New Roman"/>
                          <a:ea typeface="Times New Roman"/>
                          <a:cs typeface="Times New Roman"/>
                          <a:sym typeface="Times New Roman"/>
                        </a:rPr>
                        <a:t>có</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mssg</a:t>
                      </a:r>
                      <a:r>
                        <a:rPr lang="en-US" sz="1300" u="none" strike="noStrike" cap="none" dirty="0">
                          <a:solidFill>
                            <a:schemeClr val="dk1"/>
                          </a:solidFill>
                          <a:latin typeface="Times New Roman"/>
                          <a:ea typeface="Times New Roman"/>
                          <a:cs typeface="Times New Roman"/>
                          <a:sym typeface="Times New Roman"/>
                        </a:rPr>
                        <a:t> VCRU </a:t>
                      </a:r>
                      <a:r>
                        <a:rPr lang="en-US" sz="1300" u="none" strike="noStrike" cap="none" dirty="0" err="1">
                          <a:solidFill>
                            <a:schemeClr val="dk1"/>
                          </a:solidFill>
                          <a:latin typeface="Times New Roman"/>
                          <a:ea typeface="Times New Roman"/>
                          <a:cs typeface="Times New Roman"/>
                          <a:sym typeface="Times New Roman"/>
                        </a:rPr>
                        <a:t>và</a:t>
                      </a:r>
                      <a:r>
                        <a:rPr lang="en-US" sz="1300" u="none" strike="noStrike" cap="none" dirty="0">
                          <a:solidFill>
                            <a:schemeClr val="dk1"/>
                          </a:solidFill>
                          <a:latin typeface="Times New Roman"/>
                          <a:ea typeface="Times New Roman"/>
                          <a:cs typeface="Times New Roman"/>
                          <a:sym typeface="Times New Roman"/>
                        </a:rPr>
                        <a:t> controller.</a:t>
                      </a:r>
                      <a:endParaRPr sz="130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01ea VCRU in stock.</a:t>
                      </a:r>
                      <a:endParaRPr sz="1300" u="none" strike="noStrike" cap="none"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07211102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g31ccdae391d_0_33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60" name="Google Shape;260;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62</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61" name="Google Shape;261;g31ccdae391d_0_339"/>
          <p:cNvSpPr/>
          <p:nvPr/>
        </p:nvSpPr>
        <p:spPr>
          <a:xfrm>
            <a:off x="500990" y="742682"/>
            <a:ext cx="11164800" cy="5718900"/>
          </a:xfrm>
          <a:prstGeom prst="rect">
            <a:avLst/>
          </a:prstGeom>
          <a:noFill/>
          <a:ln>
            <a:noFill/>
          </a:ln>
        </p:spPr>
        <p:txBody>
          <a:bodyPr spcFirstLastPara="1" wrap="square" lIns="91425" tIns="45700" rIns="91425" bIns="45700" anchor="t" anchorCtr="0">
            <a:noAutofit/>
          </a:bodyPr>
          <a:lstStyle/>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Một</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số</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PTVT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cần</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lưu</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ý:</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Một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thiết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bị</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pooling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của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OEM Honeywell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liên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quan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hệ</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thống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Chiller (VCRU, Motor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Controler</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vẫn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rất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dài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914400" marR="0" lvl="0" indent="-330200" algn="just" defTabSz="914400" rtl="0" eaLnBrk="1" fontAlgn="auto" latinLnBrk="0" hangingPunct="1">
              <a:lnSpc>
                <a:spcPct val="100000"/>
              </a:lnSpc>
              <a:spcBef>
                <a:spcPts val="0"/>
              </a:spcBef>
              <a:spcAft>
                <a:spcPts val="0"/>
              </a:spcAft>
              <a:buClr>
                <a:srgbClr val="000000"/>
              </a:buClr>
              <a:buSzPts val="1600"/>
              <a:buFont typeface="Times New Roman"/>
              <a:buChar char="+"/>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EDP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vẫn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hỏng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hóc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nhiều</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Hỏng</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hóc</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ảnh</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hưởng</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cần</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lưu</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ý:</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A888 - AIR PACK 1 RAM AIR DOOR OULET OPEN: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Actuator.</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pic>
        <p:nvPicPr>
          <p:cNvPr id="262" name="Google Shape;262;g31ccdae391d_0_339"/>
          <p:cNvPicPr preferRelativeResize="0"/>
          <p:nvPr/>
        </p:nvPicPr>
        <p:blipFill>
          <a:blip r:embed="rId3">
            <a:alphaModFix/>
          </a:blip>
          <a:stretch>
            <a:fillRect/>
          </a:stretch>
        </p:blipFill>
        <p:spPr>
          <a:xfrm>
            <a:off x="1770477" y="2943227"/>
            <a:ext cx="8784425" cy="2269400"/>
          </a:xfrm>
          <a:prstGeom prst="rect">
            <a:avLst/>
          </a:prstGeom>
          <a:noFill/>
          <a:ln>
            <a:noFill/>
          </a:ln>
        </p:spPr>
      </p:pic>
    </p:spTree>
    <p:extLst>
      <p:ext uri="{BB962C8B-B14F-4D97-AF65-F5344CB8AC3E}">
        <p14:creationId xmlns:p14="http://schemas.microsoft.com/office/powerpoint/2010/main" val="351044874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g31ccdae391d_0_347"/>
          <p:cNvSpPr txBox="1">
            <a:spLocks noGrp="1"/>
          </p:cNvSpPr>
          <p:nvPr>
            <p:ph type="title"/>
          </p:nvPr>
        </p:nvSpPr>
        <p:spPr>
          <a:xfrm>
            <a:off x="276335" y="-18089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69" name="Google Shape;269;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63</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70" name="Google Shape;270;g31ccdae391d_0_347"/>
          <p:cNvGraphicFramePr/>
          <p:nvPr>
            <p:extLst/>
          </p:nvPr>
        </p:nvGraphicFramePr>
        <p:xfrm>
          <a:off x="439614" y="221847"/>
          <a:ext cx="11611325" cy="6311045"/>
        </p:xfrm>
        <a:graphic>
          <a:graphicData uri="http://schemas.openxmlformats.org/drawingml/2006/table">
            <a:tbl>
              <a:tblPr>
                <a:noFill/>
              </a:tblPr>
              <a:tblGrid>
                <a:gridCol w="548675">
                  <a:extLst>
                    <a:ext uri="{9D8B030D-6E8A-4147-A177-3AD203B41FA5}">
                      <a16:colId xmlns:a16="http://schemas.microsoft.com/office/drawing/2014/main" val="20000"/>
                    </a:ext>
                  </a:extLst>
                </a:gridCol>
                <a:gridCol w="1629650">
                  <a:extLst>
                    <a:ext uri="{9D8B030D-6E8A-4147-A177-3AD203B41FA5}">
                      <a16:colId xmlns:a16="http://schemas.microsoft.com/office/drawing/2014/main" val="20001"/>
                    </a:ext>
                  </a:extLst>
                </a:gridCol>
                <a:gridCol w="1696200">
                  <a:extLst>
                    <a:ext uri="{9D8B030D-6E8A-4147-A177-3AD203B41FA5}">
                      <a16:colId xmlns:a16="http://schemas.microsoft.com/office/drawing/2014/main" val="20002"/>
                    </a:ext>
                  </a:extLst>
                </a:gridCol>
                <a:gridCol w="2501400">
                  <a:extLst>
                    <a:ext uri="{9D8B030D-6E8A-4147-A177-3AD203B41FA5}">
                      <a16:colId xmlns:a16="http://schemas.microsoft.com/office/drawing/2014/main" val="20003"/>
                    </a:ext>
                  </a:extLst>
                </a:gridCol>
                <a:gridCol w="5235400">
                  <a:extLst>
                    <a:ext uri="{9D8B030D-6E8A-4147-A177-3AD203B41FA5}">
                      <a16:colId xmlns:a16="http://schemas.microsoft.com/office/drawing/2014/main" val="20004"/>
                    </a:ext>
                  </a:extLst>
                </a:gridCol>
              </a:tblGrid>
              <a:tr h="2184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84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Blade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R815505-6</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a:solidFill>
                            <a:schemeClr val="dk1"/>
                          </a:solidFill>
                          <a:latin typeface="Times New Roman"/>
                          <a:ea typeface="Times New Roman"/>
                          <a:cs typeface="Times New Roman"/>
                          <a:sym typeface="Times New Roman"/>
                        </a:rPr>
                        <a:t>05</a:t>
                      </a:r>
                      <a:r>
                        <a:rPr lang="en-US" sz="1400" u="none" strike="noStrike" cap="none">
                          <a:solidFill>
                            <a:schemeClr val="dk1"/>
                          </a:solidFill>
                          <a:latin typeface="Times New Roman"/>
                          <a:ea typeface="Times New Roman"/>
                          <a:cs typeface="Times New Roman"/>
                          <a:sym typeface="Times New Roman"/>
                        </a:rPr>
                        <a:t>EA: STK SGN</a:t>
                      </a:r>
                      <a:endParaRPr sz="14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0</a:t>
                      </a:r>
                      <a:r>
                        <a:rPr lang="en-US">
                          <a:latin typeface="Times New Roman"/>
                          <a:ea typeface="Times New Roman"/>
                          <a:cs typeface="Times New Roman"/>
                          <a:sym typeface="Times New Roman"/>
                        </a:rPr>
                        <a:t>1</a:t>
                      </a:r>
                      <a:r>
                        <a:rPr lang="en-US" sz="1400" u="none" strike="noStrike" cap="none">
                          <a:latin typeface="Times New Roman"/>
                          <a:ea typeface="Times New Roman"/>
                          <a:cs typeface="Times New Roman"/>
                          <a:sym typeface="Times New Roman"/>
                        </a:rPr>
                        <a:t>EA</a:t>
                      </a:r>
                      <a:r>
                        <a:rPr lang="en-US">
                          <a:latin typeface="Times New Roman"/>
                          <a:ea typeface="Times New Roman"/>
                          <a:cs typeface="Times New Roman"/>
                          <a:sym typeface="Times New Roman"/>
                        </a:rPr>
                        <a:t> PO</a:t>
                      </a:r>
                      <a:r>
                        <a:rPr lang="en-US" sz="1400" u="none" strike="noStrike" cap="none">
                          <a:latin typeface="Times New Roman"/>
                          <a:ea typeface="Times New Roman"/>
                          <a:cs typeface="Times New Roman"/>
                          <a:sym typeface="Times New Roman"/>
                        </a:rPr>
                        <a:t> chưa có thông tin</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(Tổng blade trên của B225 có 12EA)</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Hub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815585-7</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dirty="0" smtClean="0">
                          <a:latin typeface="Times New Roman"/>
                          <a:ea typeface="Times New Roman"/>
                          <a:cs typeface="Times New Roman"/>
                          <a:sym typeface="Times New Roman"/>
                        </a:rPr>
                        <a:t>02EA</a:t>
                      </a:r>
                      <a:r>
                        <a:rPr lang="en-US" dirty="0">
                          <a:latin typeface="Times New Roman"/>
                          <a:ea typeface="Times New Roman"/>
                          <a:cs typeface="Times New Roman"/>
                          <a:sym typeface="Times New Roman"/>
                        </a:rPr>
                        <a:t>: </a:t>
                      </a:r>
                      <a:r>
                        <a:rPr lang="en-US" dirty="0" smtClean="0">
                          <a:latin typeface="Times New Roman"/>
                          <a:ea typeface="Times New Roman"/>
                          <a:cs typeface="Times New Roman"/>
                          <a:sym typeface="Times New Roman"/>
                        </a:rPr>
                        <a:t>STK</a:t>
                      </a:r>
                      <a:endParaRPr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01EA: STK SGN P/N S5741212100810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1098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816332-5-401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 CODE: 81. SGL CHANEL FAULT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01EA: STK SGN </a:t>
                      </a:r>
                      <a:endParaRPr>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01RO: ở shop từ 11/2023. No EDD do thiếu PTVT thay thế</a:t>
                      </a:r>
                      <a:br>
                        <a:rPr lang="en-US" sz="1400" u="none" strike="noStrike" cap="none">
                          <a:latin typeface="Times New Roman"/>
                          <a:ea typeface="Times New Roman"/>
                          <a:cs typeface="Times New Roman"/>
                          <a:sym typeface="Times New Roman"/>
                        </a:rPr>
                      </a:b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94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D23188000-5</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dirty="0" smtClean="0">
                          <a:solidFill>
                            <a:schemeClr val="dk1"/>
                          </a:solidFill>
                          <a:latin typeface="Times New Roman"/>
                          <a:ea typeface="Times New Roman"/>
                          <a:cs typeface="Times New Roman"/>
                          <a:sym typeface="Times New Roman"/>
                        </a:rPr>
                        <a:t>01EA</a:t>
                      </a:r>
                      <a:r>
                        <a:rPr lang="en-US" sz="1400" u="none" strike="noStrike" cap="none" baseline="0" dirty="0" smtClean="0">
                          <a:solidFill>
                            <a:schemeClr val="dk1"/>
                          </a:solidFill>
                          <a:latin typeface="Times New Roman"/>
                          <a:ea typeface="Times New Roman"/>
                          <a:cs typeface="Times New Roman"/>
                          <a:sym typeface="Times New Roman"/>
                        </a:rPr>
                        <a:t> issued 30Dec24</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7428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AFCS Computer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7003974-606</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DASH ON ADU; CONNECTOR FOUND LOOSEN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dirty="0" smtClean="0">
                          <a:solidFill>
                            <a:schemeClr val="dk1"/>
                          </a:solidFill>
                          <a:latin typeface="Times New Roman"/>
                          <a:ea typeface="Times New Roman"/>
                          <a:cs typeface="Times New Roman"/>
                          <a:sym typeface="Times New Roman"/>
                        </a:rPr>
                        <a:t>01EA</a:t>
                      </a:r>
                      <a:r>
                        <a:rPr lang="en-US" sz="1400" u="none" strike="noStrike" cap="none" baseline="0" dirty="0" smtClean="0">
                          <a:solidFill>
                            <a:schemeClr val="dk1"/>
                          </a:solidFill>
                          <a:latin typeface="Times New Roman"/>
                          <a:ea typeface="Times New Roman"/>
                          <a:cs typeface="Times New Roman"/>
                          <a:sym typeface="Times New Roman"/>
                        </a:rPr>
                        <a:t> issued 04Jan25</a:t>
                      </a:r>
                      <a:endParaRPr lang="en-US"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85286879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g31ccdae391d_0_354"/>
          <p:cNvSpPr txBox="1">
            <a:spLocks noGrp="1"/>
          </p:cNvSpPr>
          <p:nvPr>
            <p:ph type="title"/>
          </p:nvPr>
        </p:nvSpPr>
        <p:spPr>
          <a:xfrm>
            <a:off x="276335" y="12391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77" name="Google Shape;277;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64</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78" name="Google Shape;278;g31ccdae391d_0_354"/>
          <p:cNvGraphicFramePr/>
          <p:nvPr>
            <p:extLst/>
          </p:nvPr>
        </p:nvGraphicFramePr>
        <p:xfrm>
          <a:off x="392714" y="718223"/>
          <a:ext cx="11570675" cy="5310995"/>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235450">
                  <a:extLst>
                    <a:ext uri="{9D8B030D-6E8A-4147-A177-3AD203B41FA5}">
                      <a16:colId xmlns:a16="http://schemas.microsoft.com/office/drawing/2014/main" val="20001"/>
                    </a:ext>
                  </a:extLst>
                </a:gridCol>
                <a:gridCol w="1470950">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dirty="0" err="1">
                          <a:solidFill>
                            <a:srgbClr val="000000"/>
                          </a:solidFill>
                          <a:latin typeface="Times New Roman"/>
                          <a:ea typeface="Times New Roman"/>
                          <a:cs typeface="Times New Roman"/>
                          <a:sym typeface="Times New Roman"/>
                        </a:rPr>
                        <a:t>Giải</a:t>
                      </a:r>
                      <a:r>
                        <a:rPr lang="en-US" sz="1400" b="1" i="0" u="none" strike="noStrike" cap="none" dirty="0">
                          <a:solidFill>
                            <a:srgbClr val="000000"/>
                          </a:solidFill>
                          <a:latin typeface="Times New Roman"/>
                          <a:ea typeface="Times New Roman"/>
                          <a:cs typeface="Times New Roman"/>
                          <a:sym typeface="Times New Roman"/>
                        </a:rPr>
                        <a:t> </a:t>
                      </a:r>
                      <a:r>
                        <a:rPr lang="en-US" sz="1400" b="1" i="0" u="none" strike="noStrike" cap="none" dirty="0" err="1">
                          <a:solidFill>
                            <a:srgbClr val="000000"/>
                          </a:solidFill>
                          <a:latin typeface="Times New Roman"/>
                          <a:ea typeface="Times New Roman"/>
                          <a:cs typeface="Times New Roman"/>
                          <a:sym typeface="Times New Roman"/>
                        </a:rPr>
                        <a:t>pháp</a:t>
                      </a:r>
                      <a:r>
                        <a:rPr lang="en-US" sz="1400" b="1" i="0" u="none" strike="noStrike" cap="none" dirty="0">
                          <a:solidFill>
                            <a:srgbClr val="000000"/>
                          </a:solidFill>
                          <a:latin typeface="Times New Roman"/>
                          <a:ea typeface="Times New Roman"/>
                          <a:cs typeface="Times New Roman"/>
                          <a:sym typeface="Times New Roman"/>
                        </a:rPr>
                        <a:t> </a:t>
                      </a:r>
                      <a:r>
                        <a:rPr lang="en-US" sz="1400" b="1" i="0" u="none" strike="noStrike" cap="none" dirty="0" err="1">
                          <a:solidFill>
                            <a:srgbClr val="000000"/>
                          </a:solidFill>
                          <a:latin typeface="Times New Roman"/>
                          <a:ea typeface="Times New Roman"/>
                          <a:cs typeface="Times New Roman"/>
                          <a:sym typeface="Times New Roman"/>
                        </a:rPr>
                        <a:t>và</a:t>
                      </a:r>
                      <a:r>
                        <a:rPr lang="en-US" sz="1400" b="1" i="0" u="none" strike="noStrike" cap="none" dirty="0">
                          <a:solidFill>
                            <a:srgbClr val="000000"/>
                          </a:solidFill>
                          <a:latin typeface="Times New Roman"/>
                          <a:ea typeface="Times New Roman"/>
                          <a:cs typeface="Times New Roman"/>
                          <a:sym typeface="Times New Roman"/>
                        </a:rPr>
                        <a:t> kiến </a:t>
                      </a:r>
                      <a:r>
                        <a:rPr lang="en-US" sz="1400" b="1" i="0" u="none" strike="noStrike" cap="none" dirty="0" err="1">
                          <a:solidFill>
                            <a:srgbClr val="000000"/>
                          </a:solidFill>
                          <a:latin typeface="Times New Roman"/>
                          <a:ea typeface="Times New Roman"/>
                          <a:cs typeface="Times New Roman"/>
                          <a:sym typeface="Times New Roman"/>
                        </a:rPr>
                        <a:t>nghị</a:t>
                      </a:r>
                      <a:endParaRPr sz="1400" b="1" i="0" u="none" strike="noStrike" cap="none" dirty="0">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Lốp các loại đủ dự phòng cho khai thác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đang thúc đẩy lốp về cho cao điểm tết </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C20648000</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3970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Kho </a:t>
                      </a:r>
                      <a:r>
                        <a:rPr lang="en-US" sz="1400" u="none" strike="noStrike" cap="none" dirty="0" err="1">
                          <a:latin typeface="Times New Roman"/>
                          <a:ea typeface="Times New Roman"/>
                          <a:cs typeface="Times New Roman"/>
                          <a:sym typeface="Times New Roman"/>
                        </a:rPr>
                        <a:t>có</a:t>
                      </a:r>
                      <a:r>
                        <a:rPr lang="en-US" sz="1400" u="none" strike="noStrike" cap="none" dirty="0">
                          <a:latin typeface="Times New Roman"/>
                          <a:ea typeface="Times New Roman"/>
                          <a:cs typeface="Times New Roman"/>
                          <a:sym typeface="Times New Roman"/>
                        </a:rPr>
                        <a:t> </a:t>
                      </a:r>
                      <a:r>
                        <a:rPr lang="en-US" dirty="0" smtClean="0">
                          <a:latin typeface="Times New Roman"/>
                          <a:ea typeface="Times New Roman"/>
                          <a:cs typeface="Times New Roman"/>
                          <a:sym typeface="Times New Roman"/>
                        </a:rPr>
                        <a:t>07e</a:t>
                      </a:r>
                      <a:r>
                        <a:rPr lang="en-US" sz="1400" u="none" strike="noStrike" cap="none" dirty="0" smtClean="0">
                          <a:latin typeface="Times New Roman"/>
                          <a:ea typeface="Times New Roman"/>
                          <a:cs typeface="Times New Roman"/>
                          <a:sym typeface="Times New Roman"/>
                        </a:rPr>
                        <a:t>a </a:t>
                      </a:r>
                      <a:r>
                        <a:rPr lang="en-US" sz="1400" u="none" strike="noStrike" cap="none" dirty="0" err="1">
                          <a:latin typeface="Times New Roman"/>
                          <a:ea typeface="Times New Roman"/>
                          <a:cs typeface="Times New Roman"/>
                          <a:sym typeface="Times New Roman"/>
                        </a:rPr>
                        <a:t>dự</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phòng</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Times New Roman"/>
                          <a:ea typeface="Times New Roman"/>
                          <a:cs typeface="Times New Roman"/>
                          <a:sym typeface="Times New Roman"/>
                        </a:rPr>
                        <a:t>- Ban QLVT </a:t>
                      </a:r>
                      <a:r>
                        <a:rPr lang="en-US" sz="1400" b="0" i="0" u="none" strike="noStrike" cap="none" dirty="0" err="1">
                          <a:solidFill>
                            <a:srgbClr val="000000"/>
                          </a:solidFill>
                          <a:latin typeface="Times New Roman"/>
                          <a:ea typeface="Times New Roman"/>
                          <a:cs typeface="Times New Roman"/>
                          <a:sym typeface="Times New Roman"/>
                        </a:rPr>
                        <a:t>đang</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làm</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việc</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với</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Safran</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thúc</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đẩy</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các</a:t>
                      </a:r>
                      <a:r>
                        <a:rPr lang="en-US" sz="1400" u="none" strike="noStrike" cap="none" dirty="0">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cụm</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phanh</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đang</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sửa</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chữa</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về</a:t>
                      </a:r>
                      <a:r>
                        <a:rPr lang="en-US" sz="1400" u="none" strike="noStrike" cap="none" dirty="0">
                          <a:latin typeface="Times New Roman"/>
                          <a:ea typeface="Times New Roman"/>
                          <a:cs typeface="Times New Roman"/>
                          <a:sym typeface="Times New Roman"/>
                        </a:rPr>
                        <a:t>.</a:t>
                      </a:r>
                      <a:endParaRPr sz="14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Tần</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suất</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thay</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phanh</a:t>
                      </a:r>
                      <a:r>
                        <a:rPr lang="en-US" sz="1400" u="none" strike="noStrike" cap="none" dirty="0">
                          <a:latin typeface="Times New Roman"/>
                          <a:ea typeface="Times New Roman"/>
                          <a:cs typeface="Times New Roman"/>
                          <a:sym typeface="Times New Roman"/>
                        </a:rPr>
                        <a:t> B787 </a:t>
                      </a:r>
                      <a:r>
                        <a:rPr lang="en-US" sz="1400" u="none" strike="noStrike" cap="none" dirty="0" err="1">
                          <a:latin typeface="Times New Roman"/>
                          <a:ea typeface="Times New Roman"/>
                          <a:cs typeface="Times New Roman"/>
                          <a:sym typeface="Times New Roman"/>
                        </a:rPr>
                        <a:t>đang</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gia</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tăng</a:t>
                      </a:r>
                      <a:r>
                        <a:rPr lang="en-US" sz="1400" u="none" strike="noStrike" cap="none" dirty="0">
                          <a:latin typeface="Times New Roman"/>
                          <a:ea typeface="Times New Roman"/>
                          <a:cs typeface="Times New Roman"/>
                          <a:sym typeface="Times New Roman"/>
                        </a:rPr>
                        <a:t>, Ban QLVT </a:t>
                      </a:r>
                      <a:r>
                        <a:rPr lang="en-US" sz="1400" u="none" strike="noStrike" cap="none" dirty="0" err="1">
                          <a:latin typeface="Times New Roman"/>
                          <a:ea typeface="Times New Roman"/>
                          <a:cs typeface="Times New Roman"/>
                          <a:sym typeface="Times New Roman"/>
                        </a:rPr>
                        <a:t>đã</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đề</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nghị</a:t>
                      </a:r>
                      <a:r>
                        <a:rPr lang="en-US" sz="1400" u="none" strike="noStrike" cap="none" dirty="0">
                          <a:latin typeface="Times New Roman"/>
                          <a:ea typeface="Times New Roman"/>
                          <a:cs typeface="Times New Roman"/>
                          <a:sym typeface="Times New Roman"/>
                        </a:rPr>
                        <a:t> Ban KT </a:t>
                      </a:r>
                      <a:r>
                        <a:rPr lang="en-US" sz="1400" u="none" strike="noStrike" cap="none" dirty="0" err="1">
                          <a:latin typeface="Times New Roman"/>
                          <a:ea typeface="Times New Roman"/>
                          <a:cs typeface="Times New Roman"/>
                          <a:sym typeface="Times New Roman"/>
                        </a:rPr>
                        <a:t>và</a:t>
                      </a:r>
                      <a:r>
                        <a:rPr lang="en-US" sz="1400" u="none" strike="noStrike" cap="none" dirty="0">
                          <a:latin typeface="Times New Roman"/>
                          <a:ea typeface="Times New Roman"/>
                          <a:cs typeface="Times New Roman"/>
                          <a:sym typeface="Times New Roman"/>
                        </a:rPr>
                        <a:t> VAECO </a:t>
                      </a:r>
                      <a:r>
                        <a:rPr lang="en-US" sz="1400" u="none" strike="noStrike" cap="none" dirty="0" err="1">
                          <a:latin typeface="Times New Roman"/>
                          <a:ea typeface="Times New Roman"/>
                          <a:cs typeface="Times New Roman"/>
                          <a:sym typeface="Times New Roman"/>
                        </a:rPr>
                        <a:t>cập</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nhật</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kế</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hoạch</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thay</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phanh</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cho</a:t>
                      </a:r>
                      <a:r>
                        <a:rPr lang="en-US" sz="1400" u="none" strike="noStrike" cap="none" dirty="0">
                          <a:latin typeface="Times New Roman"/>
                          <a:ea typeface="Times New Roman"/>
                          <a:cs typeface="Times New Roman"/>
                          <a:sym typeface="Times New Roman"/>
                        </a:rPr>
                        <a:t> 3 </a:t>
                      </a:r>
                      <a:r>
                        <a:rPr lang="en-US" sz="1400" u="none" strike="noStrike" cap="none" dirty="0" err="1">
                          <a:latin typeface="Times New Roman"/>
                          <a:ea typeface="Times New Roman"/>
                          <a:cs typeface="Times New Roman"/>
                          <a:sym typeface="Times New Roman"/>
                        </a:rPr>
                        <a:t>tháng</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tới</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và</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rà</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soát</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làm</a:t>
                      </a:r>
                      <a:r>
                        <a:rPr lang="en-US" sz="1400" u="none" strike="noStrike" cap="none" dirty="0">
                          <a:latin typeface="Times New Roman"/>
                          <a:ea typeface="Times New Roman"/>
                          <a:cs typeface="Times New Roman"/>
                          <a:sym typeface="Times New Roman"/>
                        </a:rPr>
                        <a:t> stagger </a:t>
                      </a:r>
                      <a:r>
                        <a:rPr lang="en-US" sz="1400" u="none" strike="noStrike" cap="none" dirty="0" err="1">
                          <a:solidFill>
                            <a:schemeClr val="dk1"/>
                          </a:solidFill>
                          <a:latin typeface="Times New Roman"/>
                          <a:ea typeface="Times New Roman"/>
                          <a:cs typeface="Times New Roman"/>
                          <a:sym typeface="Times New Roman"/>
                        </a:rPr>
                        <a:t>để</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tránh</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tình</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trạng</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thay</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phanh</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hàng</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loạt</a:t>
                      </a:r>
                      <a:r>
                        <a:rPr lang="en-US" sz="1400" u="none" strike="noStrike" cap="none" dirty="0">
                          <a:solidFill>
                            <a:schemeClr val="dk1"/>
                          </a:solidFill>
                          <a:latin typeface="Times New Roman"/>
                          <a:ea typeface="Times New Roman"/>
                          <a:cs typeface="Times New Roman"/>
                          <a:sym typeface="Times New Roman"/>
                        </a:rPr>
                        <a:t>.</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2-1756-1</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39700" marR="0" lvl="0" indent="0" algn="l" rtl="0">
                        <a:lnSpc>
                          <a:spcPct val="100000"/>
                        </a:lnSpc>
                        <a:spcBef>
                          <a:spcPts val="0"/>
                        </a:spcBef>
                        <a:spcAft>
                          <a:spcPts val="0"/>
                        </a:spcAft>
                        <a:buClr>
                          <a:srgbClr val="000000"/>
                        </a:buClr>
                        <a:buSzPts val="1400"/>
                        <a:buFont typeface="Arial"/>
                        <a:buNone/>
                      </a:pPr>
                      <a:r>
                        <a:rPr lang="en-US" dirty="0">
                          <a:solidFill>
                            <a:schemeClr val="dk1"/>
                          </a:solidFill>
                          <a:latin typeface="Times New Roman"/>
                          <a:ea typeface="Times New Roman"/>
                          <a:cs typeface="Times New Roman"/>
                          <a:sym typeface="Times New Roman"/>
                        </a:rPr>
                        <a:t>Kho </a:t>
                      </a:r>
                      <a:r>
                        <a:rPr lang="en-US" dirty="0" err="1">
                          <a:solidFill>
                            <a:schemeClr val="dk1"/>
                          </a:solidFill>
                          <a:latin typeface="Times New Roman"/>
                          <a:ea typeface="Times New Roman"/>
                          <a:cs typeface="Times New Roman"/>
                          <a:sym typeface="Times New Roman"/>
                        </a:rPr>
                        <a:t>có</a:t>
                      </a:r>
                      <a:r>
                        <a:rPr lang="en-US" dirty="0">
                          <a:solidFill>
                            <a:schemeClr val="dk1"/>
                          </a:solidFill>
                          <a:latin typeface="Times New Roman"/>
                          <a:ea typeface="Times New Roman"/>
                          <a:cs typeface="Times New Roman"/>
                          <a:sym typeface="Times New Roman"/>
                        </a:rPr>
                        <a:t> </a:t>
                      </a:r>
                      <a:r>
                        <a:rPr lang="en-US" dirty="0" smtClean="0">
                          <a:solidFill>
                            <a:schemeClr val="dk1"/>
                          </a:solidFill>
                          <a:latin typeface="Times New Roman"/>
                          <a:ea typeface="Times New Roman"/>
                          <a:cs typeface="Times New Roman"/>
                          <a:sym typeface="Times New Roman"/>
                        </a:rPr>
                        <a:t>02ea </a:t>
                      </a:r>
                      <a:r>
                        <a:rPr lang="en-US" dirty="0" err="1">
                          <a:solidFill>
                            <a:schemeClr val="dk1"/>
                          </a:solidFill>
                          <a:latin typeface="Times New Roman"/>
                          <a:ea typeface="Times New Roman"/>
                          <a:cs typeface="Times New Roman"/>
                          <a:sym typeface="Times New Roman"/>
                        </a:rPr>
                        <a:t>dự</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phòng</a:t>
                      </a:r>
                      <a:r>
                        <a:rPr lang="en-US" dirty="0" smtClean="0">
                          <a:solidFill>
                            <a:schemeClr val="dk1"/>
                          </a:solidFill>
                          <a:latin typeface="Times New Roman"/>
                          <a:ea typeface="Times New Roman"/>
                          <a:cs typeface="Times New Roman"/>
                          <a:sym typeface="Times New Roman"/>
                        </a:rPr>
                        <a:t>.</a:t>
                      </a:r>
                      <a:endParaRPr sz="1400" u="none" strike="noStrike" cap="none" dirty="0">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latin typeface="Times New Roman"/>
                          <a:ea typeface="Times New Roman"/>
                          <a:cs typeface="Times New Roman"/>
                          <a:sym typeface="Times New Roman"/>
                        </a:rPr>
                        <a:t> - </a:t>
                      </a:r>
                      <a:r>
                        <a:rPr lang="en-US" sz="1400" u="none" strike="noStrike" cap="none" dirty="0" err="1">
                          <a:solidFill>
                            <a:schemeClr val="dk1"/>
                          </a:solidFill>
                          <a:latin typeface="Times New Roman"/>
                          <a:ea typeface="Times New Roman"/>
                          <a:cs typeface="Times New Roman"/>
                          <a:sym typeface="Times New Roman"/>
                        </a:rPr>
                        <a:t>Tần</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suất</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thay</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phanh</a:t>
                      </a:r>
                      <a:r>
                        <a:rPr lang="en-US" sz="1400" u="none" strike="noStrike" cap="none" dirty="0">
                          <a:solidFill>
                            <a:schemeClr val="dk1"/>
                          </a:solidFill>
                          <a:latin typeface="Times New Roman"/>
                          <a:ea typeface="Times New Roman"/>
                          <a:cs typeface="Times New Roman"/>
                          <a:sym typeface="Times New Roman"/>
                        </a:rPr>
                        <a:t> A350 </a:t>
                      </a:r>
                      <a:r>
                        <a:rPr lang="en-US" sz="1400" u="none" strike="noStrike" cap="none" dirty="0" err="1">
                          <a:solidFill>
                            <a:schemeClr val="dk1"/>
                          </a:solidFill>
                          <a:latin typeface="Times New Roman"/>
                          <a:ea typeface="Times New Roman"/>
                          <a:cs typeface="Times New Roman"/>
                          <a:sym typeface="Times New Roman"/>
                        </a:rPr>
                        <a:t>đang</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gia</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tăng</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rất</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nhanh</a:t>
                      </a:r>
                      <a:r>
                        <a:rPr lang="en-US" sz="1400" u="none" strike="noStrike" cap="none" dirty="0">
                          <a:solidFill>
                            <a:schemeClr val="dk1"/>
                          </a:solidFill>
                          <a:latin typeface="Times New Roman"/>
                          <a:ea typeface="Times New Roman"/>
                          <a:cs typeface="Times New Roman"/>
                          <a:sym typeface="Times New Roman"/>
                        </a:rPr>
                        <a:t>, Ban QLVT </a:t>
                      </a:r>
                      <a:r>
                        <a:rPr lang="en-US" sz="1400" u="none" strike="noStrike" cap="none" dirty="0" err="1">
                          <a:solidFill>
                            <a:schemeClr val="dk1"/>
                          </a:solidFill>
                          <a:latin typeface="Times New Roman"/>
                          <a:ea typeface="Times New Roman"/>
                          <a:cs typeface="Times New Roman"/>
                          <a:sym typeface="Times New Roman"/>
                        </a:rPr>
                        <a:t>đã</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đề</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nghị</a:t>
                      </a:r>
                      <a:r>
                        <a:rPr lang="en-US" sz="1400" u="none" strike="noStrike" cap="none" dirty="0">
                          <a:solidFill>
                            <a:schemeClr val="dk1"/>
                          </a:solidFill>
                          <a:latin typeface="Times New Roman"/>
                          <a:ea typeface="Times New Roman"/>
                          <a:cs typeface="Times New Roman"/>
                          <a:sym typeface="Times New Roman"/>
                        </a:rPr>
                        <a:t> Ban KT </a:t>
                      </a:r>
                      <a:r>
                        <a:rPr lang="en-US" sz="1400" u="none" strike="noStrike" cap="none" dirty="0" err="1">
                          <a:solidFill>
                            <a:schemeClr val="dk1"/>
                          </a:solidFill>
                          <a:latin typeface="Times New Roman"/>
                          <a:ea typeface="Times New Roman"/>
                          <a:cs typeface="Times New Roman"/>
                          <a:sym typeface="Times New Roman"/>
                        </a:rPr>
                        <a:t>và</a:t>
                      </a:r>
                      <a:r>
                        <a:rPr lang="en-US" sz="1400" u="none" strike="noStrike" cap="none" dirty="0">
                          <a:solidFill>
                            <a:schemeClr val="dk1"/>
                          </a:solidFill>
                          <a:latin typeface="Times New Roman"/>
                          <a:ea typeface="Times New Roman"/>
                          <a:cs typeface="Times New Roman"/>
                          <a:sym typeface="Times New Roman"/>
                        </a:rPr>
                        <a:t> VAECO </a:t>
                      </a:r>
                      <a:r>
                        <a:rPr lang="en-US" sz="1400" u="none" strike="noStrike" cap="none" dirty="0" err="1">
                          <a:solidFill>
                            <a:schemeClr val="dk1"/>
                          </a:solidFill>
                          <a:latin typeface="Times New Roman"/>
                          <a:ea typeface="Times New Roman"/>
                          <a:cs typeface="Times New Roman"/>
                          <a:sym typeface="Times New Roman"/>
                        </a:rPr>
                        <a:t>cập</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nhật</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kế</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hoạch</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thay</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phanh</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cho</a:t>
                      </a:r>
                      <a:r>
                        <a:rPr lang="en-US" sz="1400" u="none" strike="noStrike" cap="none" dirty="0">
                          <a:solidFill>
                            <a:schemeClr val="dk1"/>
                          </a:solidFill>
                          <a:latin typeface="Times New Roman"/>
                          <a:ea typeface="Times New Roman"/>
                          <a:cs typeface="Times New Roman"/>
                          <a:sym typeface="Times New Roman"/>
                        </a:rPr>
                        <a:t> 3 </a:t>
                      </a:r>
                      <a:r>
                        <a:rPr lang="en-US" sz="1400" u="none" strike="noStrike" cap="none" dirty="0" err="1">
                          <a:solidFill>
                            <a:schemeClr val="dk1"/>
                          </a:solidFill>
                          <a:latin typeface="Times New Roman"/>
                          <a:ea typeface="Times New Roman"/>
                          <a:cs typeface="Times New Roman"/>
                          <a:sym typeface="Times New Roman"/>
                        </a:rPr>
                        <a:t>tháng</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tới</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và</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rà</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soát</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làm</a:t>
                      </a:r>
                      <a:r>
                        <a:rPr lang="en-US" sz="1400" u="none" strike="noStrike" cap="none" dirty="0">
                          <a:solidFill>
                            <a:schemeClr val="dk1"/>
                          </a:solidFill>
                          <a:latin typeface="Times New Roman"/>
                          <a:ea typeface="Times New Roman"/>
                          <a:cs typeface="Times New Roman"/>
                          <a:sym typeface="Times New Roman"/>
                        </a:rPr>
                        <a:t> stagger </a:t>
                      </a:r>
                      <a:r>
                        <a:rPr lang="en-US" sz="1400" u="none" strike="noStrike" cap="none" dirty="0" err="1">
                          <a:solidFill>
                            <a:schemeClr val="dk1"/>
                          </a:solidFill>
                          <a:latin typeface="Times New Roman"/>
                          <a:ea typeface="Times New Roman"/>
                          <a:cs typeface="Times New Roman"/>
                          <a:sym typeface="Times New Roman"/>
                        </a:rPr>
                        <a:t>để</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tránh</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tình</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trạng</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thay</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phanh</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hàng</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loạt</a:t>
                      </a:r>
                      <a:r>
                        <a:rPr lang="en-US" sz="1400" u="none" strike="noStrike" cap="none" dirty="0">
                          <a:solidFill>
                            <a:schemeClr val="dk1"/>
                          </a:solidFill>
                          <a:latin typeface="Times New Roman"/>
                          <a:ea typeface="Times New Roman"/>
                          <a:cs typeface="Times New Roman"/>
                          <a:sym typeface="Times New Roman"/>
                        </a:rPr>
                        <a:t>.</a:t>
                      </a:r>
                      <a:r>
                        <a:rPr lang="en-US" sz="1400" u="none" strike="noStrike" cap="none" dirty="0">
                          <a:latin typeface="Times New Roman"/>
                          <a:ea typeface="Times New Roman"/>
                          <a:cs typeface="Times New Roman"/>
                          <a:sym typeface="Times New Roman"/>
                        </a:rPr>
                        <a:t/>
                      </a:r>
                      <a:br>
                        <a:rPr lang="en-US" sz="1400" u="none" strike="noStrike" cap="none" dirty="0">
                          <a:latin typeface="Times New Roman"/>
                          <a:ea typeface="Times New Roman"/>
                          <a:cs typeface="Times New Roman"/>
                          <a:sym typeface="Times New Roman"/>
                        </a:rPr>
                      </a:b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C20534100</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3970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Kho </a:t>
                      </a:r>
                      <a:r>
                        <a:rPr lang="en-US" sz="1400" u="none" strike="noStrike" cap="none" dirty="0" err="1">
                          <a:latin typeface="Times New Roman"/>
                          <a:ea typeface="Times New Roman"/>
                          <a:cs typeface="Times New Roman"/>
                          <a:sym typeface="Times New Roman"/>
                        </a:rPr>
                        <a:t>có</a:t>
                      </a:r>
                      <a:r>
                        <a:rPr lang="en-US" sz="1400" u="none" strike="noStrike" cap="none" dirty="0">
                          <a:latin typeface="Times New Roman"/>
                          <a:ea typeface="Times New Roman"/>
                          <a:cs typeface="Times New Roman"/>
                          <a:sym typeface="Times New Roman"/>
                        </a:rPr>
                        <a:t> </a:t>
                      </a:r>
                      <a:r>
                        <a:rPr lang="en-US" dirty="0" smtClean="0">
                          <a:latin typeface="Times New Roman"/>
                          <a:ea typeface="Times New Roman"/>
                          <a:cs typeface="Times New Roman"/>
                          <a:sym typeface="Times New Roman"/>
                        </a:rPr>
                        <a:t>12</a:t>
                      </a:r>
                      <a:r>
                        <a:rPr lang="en-US" sz="1400" u="none" strike="noStrike" cap="none" dirty="0" smtClean="0">
                          <a:latin typeface="Times New Roman"/>
                          <a:ea typeface="Times New Roman"/>
                          <a:cs typeface="Times New Roman"/>
                          <a:sym typeface="Times New Roman"/>
                        </a:rPr>
                        <a:t>ea</a:t>
                      </a:r>
                      <a:r>
                        <a:rPr lang="en-US" sz="1400" u="none" strike="noStrike" cap="none" dirty="0" smtClean="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dự</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phòng</a:t>
                      </a:r>
                      <a:r>
                        <a:rPr lang="en-US" sz="1400" u="none" strike="noStrike" cap="none" dirty="0">
                          <a:solidFill>
                            <a:schemeClr val="dk1"/>
                          </a:solidFill>
                          <a:latin typeface="Times New Roman"/>
                          <a:ea typeface="Times New Roman"/>
                          <a:cs typeface="Times New Roman"/>
                          <a:sym typeface="Times New Roman"/>
                        </a:rPr>
                        <a:t>.</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Times New Roman"/>
                          <a:ea typeface="Times New Roman"/>
                          <a:cs typeface="Times New Roman"/>
                          <a:sym typeface="Times New Roman"/>
                        </a:rPr>
                        <a:t>- </a:t>
                      </a:r>
                      <a:r>
                        <a:rPr lang="en-US" sz="1400" u="none" strike="noStrike" cap="none" dirty="0">
                          <a:latin typeface="Times New Roman"/>
                          <a:ea typeface="Times New Roman"/>
                          <a:cs typeface="Times New Roman"/>
                          <a:sym typeface="Times New Roman"/>
                        </a:rPr>
                        <a:t>Ban QLVT </a:t>
                      </a:r>
                      <a:r>
                        <a:rPr lang="en-US" sz="1400" u="none" strike="noStrike" cap="none" dirty="0" err="1">
                          <a:latin typeface="Times New Roman"/>
                          <a:ea typeface="Times New Roman"/>
                          <a:cs typeface="Times New Roman"/>
                          <a:sym typeface="Times New Roman"/>
                        </a:rPr>
                        <a:t>đang</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tiếp</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tục</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thúc</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đẩy</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các</a:t>
                      </a:r>
                      <a:r>
                        <a:rPr lang="en-US" sz="1400" u="none" strike="noStrike" cap="none" dirty="0">
                          <a:latin typeface="Times New Roman"/>
                          <a:ea typeface="Times New Roman"/>
                          <a:cs typeface="Times New Roman"/>
                          <a:sym typeface="Times New Roman"/>
                        </a:rPr>
                        <a:t> heat sink A321 </a:t>
                      </a:r>
                      <a:r>
                        <a:rPr lang="en-US" sz="1400" u="none" strike="noStrike" cap="none" dirty="0" err="1">
                          <a:latin typeface="Times New Roman"/>
                          <a:ea typeface="Times New Roman"/>
                          <a:cs typeface="Times New Roman"/>
                          <a:sym typeface="Times New Roman"/>
                        </a:rPr>
                        <a:t>về</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để</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phục</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vụ</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bảo</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dưỡng</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phanh</a:t>
                      </a:r>
                      <a:r>
                        <a:rPr lang="en-US" sz="1400" u="none" strike="noStrike" cap="none" dirty="0">
                          <a:latin typeface="Times New Roman"/>
                          <a:ea typeface="Times New Roman"/>
                          <a:cs typeface="Times New Roman"/>
                          <a:sym typeface="Times New Roman"/>
                        </a:rPr>
                        <a:t> A321.</a:t>
                      </a:r>
                      <a:endParaRPr sz="14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 </a:t>
                      </a:r>
                      <a:r>
                        <a:rPr lang="en-US" sz="1400" u="none" strike="noStrike" cap="none" dirty="0">
                          <a:solidFill>
                            <a:schemeClr val="dk1"/>
                          </a:solidFill>
                          <a:latin typeface="Times New Roman"/>
                          <a:ea typeface="Times New Roman"/>
                          <a:cs typeface="Times New Roman"/>
                          <a:sym typeface="Times New Roman"/>
                        </a:rPr>
                        <a:t>Ban QLVT </a:t>
                      </a:r>
                      <a:r>
                        <a:rPr lang="en-US" sz="1400" u="none" strike="noStrike" cap="none" dirty="0" err="1">
                          <a:solidFill>
                            <a:schemeClr val="dk1"/>
                          </a:solidFill>
                          <a:latin typeface="Times New Roman"/>
                          <a:ea typeface="Times New Roman"/>
                          <a:cs typeface="Times New Roman"/>
                          <a:sym typeface="Times New Roman"/>
                        </a:rPr>
                        <a:t>đã</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đề</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nghị</a:t>
                      </a:r>
                      <a:r>
                        <a:rPr lang="en-US" sz="1400" u="none" strike="noStrike" cap="none" dirty="0">
                          <a:solidFill>
                            <a:schemeClr val="dk1"/>
                          </a:solidFill>
                          <a:latin typeface="Times New Roman"/>
                          <a:ea typeface="Times New Roman"/>
                          <a:cs typeface="Times New Roman"/>
                          <a:sym typeface="Times New Roman"/>
                        </a:rPr>
                        <a:t> Ban KT </a:t>
                      </a:r>
                      <a:r>
                        <a:rPr lang="en-US" sz="1400" u="none" strike="noStrike" cap="none" dirty="0" err="1">
                          <a:solidFill>
                            <a:schemeClr val="dk1"/>
                          </a:solidFill>
                          <a:latin typeface="Times New Roman"/>
                          <a:ea typeface="Times New Roman"/>
                          <a:cs typeface="Times New Roman"/>
                          <a:sym typeface="Times New Roman"/>
                        </a:rPr>
                        <a:t>và</a:t>
                      </a:r>
                      <a:r>
                        <a:rPr lang="en-US" sz="1400" u="none" strike="noStrike" cap="none" dirty="0">
                          <a:solidFill>
                            <a:schemeClr val="dk1"/>
                          </a:solidFill>
                          <a:latin typeface="Times New Roman"/>
                          <a:ea typeface="Times New Roman"/>
                          <a:cs typeface="Times New Roman"/>
                          <a:sym typeface="Times New Roman"/>
                        </a:rPr>
                        <a:t> VAECO </a:t>
                      </a:r>
                      <a:r>
                        <a:rPr lang="en-US" sz="1400" u="none" strike="noStrike" cap="none" dirty="0" err="1">
                          <a:solidFill>
                            <a:schemeClr val="dk1"/>
                          </a:solidFill>
                          <a:latin typeface="Times New Roman"/>
                          <a:ea typeface="Times New Roman"/>
                          <a:cs typeface="Times New Roman"/>
                          <a:sym typeface="Times New Roman"/>
                        </a:rPr>
                        <a:t>cập</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nhật</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kế</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hoạch</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làm</a:t>
                      </a:r>
                      <a:r>
                        <a:rPr lang="en-US" sz="1400" u="none" strike="noStrike" cap="none" dirty="0">
                          <a:solidFill>
                            <a:schemeClr val="dk1"/>
                          </a:solidFill>
                          <a:latin typeface="Times New Roman"/>
                          <a:ea typeface="Times New Roman"/>
                          <a:cs typeface="Times New Roman"/>
                          <a:sym typeface="Times New Roman"/>
                        </a:rPr>
                        <a:t> stagger </a:t>
                      </a:r>
                      <a:r>
                        <a:rPr lang="en-US" sz="1400" u="none" strike="noStrike" cap="none" dirty="0" err="1">
                          <a:solidFill>
                            <a:schemeClr val="dk1"/>
                          </a:solidFill>
                          <a:latin typeface="Times New Roman"/>
                          <a:ea typeface="Times New Roman"/>
                          <a:cs typeface="Times New Roman"/>
                          <a:sym typeface="Times New Roman"/>
                        </a:rPr>
                        <a:t>phanh</a:t>
                      </a:r>
                      <a:r>
                        <a:rPr lang="en-US" sz="1400" u="none" strike="noStrike" cap="none" dirty="0">
                          <a:solidFill>
                            <a:schemeClr val="dk1"/>
                          </a:solidFill>
                          <a:latin typeface="Times New Roman"/>
                          <a:ea typeface="Times New Roman"/>
                          <a:cs typeface="Times New Roman"/>
                          <a:sym typeface="Times New Roman"/>
                        </a:rPr>
                        <a:t> A321 </a:t>
                      </a:r>
                      <a:r>
                        <a:rPr lang="en-US" sz="1400" u="none" strike="noStrike" cap="none" dirty="0" err="1">
                          <a:solidFill>
                            <a:schemeClr val="dk1"/>
                          </a:solidFill>
                          <a:latin typeface="Times New Roman"/>
                          <a:ea typeface="Times New Roman"/>
                          <a:cs typeface="Times New Roman"/>
                          <a:sym typeface="Times New Roman"/>
                        </a:rPr>
                        <a:t>tránh</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việc</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thay</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phanh</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hàng</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loạt</a:t>
                      </a:r>
                      <a:r>
                        <a:rPr lang="en-US" sz="1400" u="none" strike="noStrike" cap="none" dirty="0">
                          <a:solidFill>
                            <a:schemeClr val="dk1"/>
                          </a:solidFill>
                          <a:latin typeface="Times New Roman"/>
                          <a:ea typeface="Times New Roman"/>
                          <a:cs typeface="Times New Roman"/>
                          <a:sym typeface="Times New Roman"/>
                        </a:rPr>
                        <a:t>.</a:t>
                      </a:r>
                      <a:endParaRPr sz="14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7792370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85" name="Google Shape;285;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65</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86" name="Google Shape;286;g31ccdae391d_0_361"/>
          <p:cNvSpPr/>
          <p:nvPr/>
        </p:nvSpPr>
        <p:spPr>
          <a:xfrm>
            <a:off x="609900" y="801438"/>
            <a:ext cx="10972200" cy="66267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1" i="0" u="none" strike="noStrike" kern="0" cap="none" spc="0" normalizeH="0" baseline="0" noProof="0" dirty="0">
                <a:ln>
                  <a:noFill/>
                </a:ln>
                <a:solidFill>
                  <a:srgbClr val="FF0000"/>
                </a:solidFill>
                <a:effectLst/>
                <a:highlight>
                  <a:srgbClr val="FFFFFF"/>
                </a:highlight>
                <a:uLnTx/>
                <a:uFillTx/>
                <a:latin typeface="Times New Roman"/>
                <a:ea typeface="Times New Roman"/>
                <a:cs typeface="Times New Roman"/>
                <a:sym typeface="Times New Roman"/>
              </a:rPr>
              <a:t>Đội bay A350:</a:t>
            </a:r>
            <a:endParaRPr kumimoji="0" sz="1500" b="1" i="0" u="none" strike="noStrike" kern="0" cap="none" spc="0" normalizeH="0" baseline="0" noProof="0" dirty="0">
              <a:ln>
                <a:noFill/>
              </a:ln>
              <a:solidFill>
                <a:srgbClr val="FF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phòng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03ea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dài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&amp; 03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ngắn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trình</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thêm</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new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kiến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giao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10/Jan/2025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UK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kiến 20/01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về</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smtClean="0">
                <a:ln>
                  <a:noFill/>
                </a:ln>
                <a:solidFill>
                  <a:srgbClr val="000000"/>
                </a:solidFill>
                <a:effectLst/>
                <a:highlight>
                  <a:srgbClr val="FFFFFF"/>
                </a:highlight>
                <a:uLnTx/>
                <a:uFillTx/>
                <a:latin typeface="Times New Roman"/>
                <a:ea typeface="Times New Roman"/>
                <a:cs typeface="Times New Roman"/>
                <a:sym typeface="Times New Roman"/>
              </a:rPr>
              <a:t>HAN).</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trong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kho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shop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chữa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06ea (03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21047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21043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21317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N3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21422 &amp; 21316 &amp; 21201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HAESL). </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Tháng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kiến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thêm</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induction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HAESL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SEASL).</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Đã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xếp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chuyển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01 core engine stand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từ</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N3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về</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để</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swap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tháo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tiếp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gửi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shop.</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1" i="0" u="none" strike="noStrike" kern="0" cap="none" spc="0" normalizeH="0" baseline="0" noProof="0" dirty="0">
                <a:ln>
                  <a:noFill/>
                </a:ln>
                <a:solidFill>
                  <a:srgbClr val="FF0000"/>
                </a:solidFill>
                <a:effectLst/>
                <a:highlight>
                  <a:srgbClr val="FFFFFF"/>
                </a:highlight>
                <a:uLnTx/>
                <a:uFillTx/>
                <a:latin typeface="Times New Roman"/>
                <a:ea typeface="Times New Roman"/>
                <a:cs typeface="Times New Roman"/>
                <a:sym typeface="Times New Roman"/>
              </a:rPr>
              <a:t>- Đội bay B787:</a:t>
            </a:r>
            <a:endParaRPr kumimoji="0" sz="1500" b="1" i="0" u="none" strike="noStrike" kern="0" cap="none" spc="0" normalizeH="0" baseline="0" noProof="0" dirty="0">
              <a:ln>
                <a:noFill/>
              </a:ln>
              <a:solidFill>
                <a:srgbClr val="FF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phòng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07ea (2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sở</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hữu</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dài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ngắn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ký</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thêm</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đc</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với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Aercap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giao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22/09/2024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lắp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trên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A874)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giao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HAN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ngày</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15/12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lắp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cho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A871.</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trong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kho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NIL</a:t>
            </a:r>
            <a:endParaRPr kumimoji="0" sz="1500" b="1"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shop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chữa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+05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ở KLM shop : 956556, 956569, 956533, 956599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956947.</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+03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ở GE shop :958398 (delay in GEEVES), 956541, 958537.</a:t>
            </a:r>
            <a:endParaRPr kumimoji="0" sz="1500" b="0" i="0" u="none" strike="noStrike" kern="0" cap="none" spc="0" normalizeH="0" baseline="0" noProof="0" dirty="0">
              <a:ln>
                <a:noFill/>
              </a:ln>
              <a:solidFill>
                <a:srgbClr val="000000"/>
              </a:solidFill>
              <a:effectLst/>
              <a:highlight>
                <a:srgbClr val="FFFF00"/>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đáp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ứng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KH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2024-2025: </a:t>
            </a:r>
            <a:r>
              <a:rPr kumimoji="0" lang="en-US" sz="1500" b="0" i="0" u="none" strike="noStrike" kern="0" cap="none" spc="0" normalizeH="0" baseline="0" noProof="0" dirty="0" smtClean="0">
                <a:ln>
                  <a:noFill/>
                </a:ln>
                <a:solidFill>
                  <a:srgbClr val="000000"/>
                </a:solidFill>
                <a:effectLst/>
                <a:highlight>
                  <a:srgbClr val="FFFFFF"/>
                </a:highlight>
                <a:uLnTx/>
                <a:uFillTx/>
                <a:latin typeface="Times New Roman"/>
                <a:ea typeface="Times New Roman"/>
                <a:cs typeface="Times New Roman"/>
                <a:sym typeface="Times New Roman"/>
              </a:rPr>
              <a:t>B787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04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phòng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05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của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Aercap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(956933; 958266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958934 958966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956626)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kiến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cần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nữa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Q1 trong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năm</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2025.  </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323265536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g31ccdae391d_0_368"/>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93" name="Google Shape;293;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66</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94" name="Google Shape;294;g31ccdae391d_0_368"/>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Đội bay A321 </a:t>
            </a:r>
            <a:r>
              <a:rPr kumimoji="0" lang="en-US" sz="16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Ceo</a:t>
            </a:r>
            <a:r>
              <a:rPr kumimoji="0" lang="en-US"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a:t>
            </a: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lượng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phòng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13 (3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sở</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hữu</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10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ngắn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hạn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lượng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01ea V17874</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lượng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US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chờ</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chuyển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04ea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gồm</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V12505, V16558, V16517, V16799 - HAN</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lượng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shop: 08ea</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hoàn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tất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thủ</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tục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hoàn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trả</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đối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tác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V12175 (WILLIS) -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WILLIS 18/11/2024,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hoàn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thiện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thủ</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tục</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chuẩn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bị</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trả</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đối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tác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V18951 (Willis-</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vận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chuyển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kiến 7/1/2025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WILLIS)</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a:t>
            </a: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Vướng</a:t>
            </a:r>
            <a:r>
              <a:rPr kumimoji="0" lang="en-US"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16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mắc</a:t>
            </a:r>
            <a:r>
              <a:rPr kumimoji="0" lang="en-US"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a:t>
            </a: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Danh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mục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missing part list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của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a:t>
            </a: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Giải</a:t>
            </a:r>
            <a:r>
              <a:rPr kumimoji="0" lang="en-US"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16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pháp</a:t>
            </a:r>
            <a:r>
              <a:rPr kumimoji="0" lang="en-US"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a:t>
            </a: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Thúc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đẩy</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việc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shop</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Làm</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việc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với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Ban KT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KH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trả</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402136409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g31ccdae391d_0_375"/>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301" name="Google Shape;301;g31ccdae391d_0_37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67</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02" name="Google Shape;302;g31ccdae391d_0_375"/>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 Tình trạng trả động cơ thuê 2024</a:t>
            </a: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303" name="Google Shape;303;g31ccdae391d_0_375"/>
          <p:cNvPicPr preferRelativeResize="0"/>
          <p:nvPr/>
        </p:nvPicPr>
        <p:blipFill>
          <a:blip r:embed="rId3">
            <a:alphaModFix/>
          </a:blip>
          <a:stretch>
            <a:fillRect/>
          </a:stretch>
        </p:blipFill>
        <p:spPr>
          <a:xfrm>
            <a:off x="967950" y="1091775"/>
            <a:ext cx="10697699" cy="4046200"/>
          </a:xfrm>
          <a:prstGeom prst="rect">
            <a:avLst/>
          </a:prstGeom>
          <a:noFill/>
          <a:ln>
            <a:noFill/>
          </a:ln>
        </p:spPr>
      </p:pic>
    </p:spTree>
    <p:extLst>
      <p:ext uri="{BB962C8B-B14F-4D97-AF65-F5344CB8AC3E}">
        <p14:creationId xmlns:p14="http://schemas.microsoft.com/office/powerpoint/2010/main" val="104890506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68</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10" name="Google Shape;310;g31ccdae391d_0_383"/>
          <p:cNvSpPr/>
          <p:nvPr/>
        </p:nvSpPr>
        <p:spPr>
          <a:xfrm>
            <a:off x="576275" y="228600"/>
            <a:ext cx="11051100" cy="6059400"/>
          </a:xfrm>
          <a:prstGeom prst="rect">
            <a:avLst/>
          </a:prstGeom>
          <a:noFill/>
          <a:ln>
            <a:noFill/>
          </a:ln>
        </p:spPr>
        <p:txBody>
          <a:bodyPr spcFirstLastPara="1" wrap="square" lIns="91425" tIns="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Đội bay A321 Neo:</a:t>
            </a:r>
            <a:endParaRPr kumimoji="0" sz="15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phòng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05ea (2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sở</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hữu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SLB), 2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dài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ngắn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của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PW).</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NIL.</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10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(09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ESA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IHI)</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Trong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đó</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r>
            <a:b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br>
            <a:r>
              <a:rPr kumimoji="0" lang="en-US" sz="13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P771056 </a:t>
            </a:r>
            <a:r>
              <a:rPr kumimoji="0" lang="en-US" sz="13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3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kiến </a:t>
            </a:r>
            <a:r>
              <a:rPr kumimoji="0" lang="en-US" sz="13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về</a:t>
            </a:r>
            <a:r>
              <a:rPr kumimoji="0" lang="en-US" sz="13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Vaeco Han 09/01/2025</a:t>
            </a:r>
            <a:br>
              <a:rPr kumimoji="0" lang="en-US" sz="13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br>
            <a:r>
              <a:rPr kumimoji="0" lang="en-US" sz="13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P771075: delay 14 </a:t>
            </a:r>
            <a:r>
              <a:rPr kumimoji="0" lang="en-US" sz="13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ngày</a:t>
            </a:r>
            <a:endParaRPr kumimoji="0" sz="13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US" sz="13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P771130: delay 15 </a:t>
            </a:r>
            <a:r>
              <a:rPr kumimoji="0" lang="en-US" sz="13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ngày</a:t>
            </a:r>
            <a:endParaRPr kumimoji="0" sz="13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US" sz="13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P771414: delay 29 </a:t>
            </a:r>
            <a:r>
              <a:rPr kumimoji="0" lang="en-US" sz="13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ngày</a:t>
            </a:r>
            <a:endParaRPr kumimoji="0" sz="13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3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P770904: delay 13 </a:t>
            </a:r>
            <a:r>
              <a:rPr kumimoji="0" lang="en-US" sz="13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ngày</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1200"/>
              </a:spcBef>
              <a:spcAft>
                <a:spcPts val="0"/>
              </a:spcAft>
              <a:buClr>
                <a:srgbClr val="000000"/>
              </a:buClr>
              <a:buSzPts val="1500"/>
              <a:buFont typeface="Arial"/>
              <a:buNone/>
              <a:tabLst/>
              <a:defRPr/>
            </a:pPr>
            <a:r>
              <a:rPr kumimoji="0" lang="en-US" sz="1500" b="0"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Vướng</a:t>
            </a: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mắc</a:t>
            </a: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shop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kéo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dài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hiện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do shop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quá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tải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các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cung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phải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đợi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slot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lên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đến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200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Các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A321 NEO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trước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đây</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không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lắp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lên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trả</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thiếu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nhiều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LRUs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cùng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b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b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Khoảng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thời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cao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điểm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nghỉ</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lễ</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thiếu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hụt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phụ</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tùng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vật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liệu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sự</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tăng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các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lỗi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Rejection trong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kiểm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sau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thử</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nghiệm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Giải</a:t>
            </a: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pháp</a:t>
            </a: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Thúc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đẩy</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shop.</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QLVT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yêu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cầu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P&amp;W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xếp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02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trước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08/01/2025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để</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đảm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bảo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tầu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khai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cao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điểm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tết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Tổ</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chức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họp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tìm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giải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pháp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với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Ban KT, VAECO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với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danh</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mục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MPL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gửi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10544400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69</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17" name="Google Shape;317;g31ccdae391d_0_389"/>
          <p:cNvSpPr/>
          <p:nvPr/>
        </p:nvSpPr>
        <p:spPr>
          <a:xfrm>
            <a:off x="652475" y="-304800"/>
            <a:ext cx="11051100" cy="73638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500" b="1" i="0" u="sng"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1" i="0" u="sng"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Đội bay ATR:</a:t>
            </a:r>
            <a:endParaRPr kumimoji="0"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dự phòng: 06:  03 ENG sở hữu, 03 ENG thuê ngắn hạn: (ED0321) (ED0036) (ED0715). </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ED0181, ED0238 đang sửa tại shop PWC tại SING.</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ED0192, ED0239 đang sửa tại SA.</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Vướng mắc/ Khó khăn:</a:t>
            </a:r>
            <a:endParaRPr kumimoji="0"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Cần ưu tiên push shop PWC và SA để 2 ENG ED0181 hoặc ED0192 tàu B225 vào khai thác.</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&gt;ED0181: dk 10/01/2025 sửa xong, dk nhận động cơ ngày 16/01/2025.</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&gt;ED0192: dk 16/01/2025 sửa xong, dk nhận động cơ ngày 23/01/2025.</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Giải pháp:</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Tiếp tục theo sát và giục sửa chữa ENG tại PWC để động cơ về kịp kế hoạch.</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1" i="0" u="sng"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1" i="0" u="sng"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318" name="Google Shape;318;g31ccdae391d_0_389"/>
          <p:cNvPicPr preferRelativeResize="0"/>
          <p:nvPr/>
        </p:nvPicPr>
        <p:blipFill>
          <a:blip r:embed="rId3">
            <a:alphaModFix/>
          </a:blip>
          <a:stretch>
            <a:fillRect/>
          </a:stretch>
        </p:blipFill>
        <p:spPr>
          <a:xfrm>
            <a:off x="510450" y="2940826"/>
            <a:ext cx="10322800" cy="2932126"/>
          </a:xfrm>
          <a:prstGeom prst="rect">
            <a:avLst/>
          </a:prstGeom>
          <a:noFill/>
          <a:ln>
            <a:noFill/>
          </a:ln>
        </p:spPr>
      </p:pic>
    </p:spTree>
    <p:extLst>
      <p:ext uri="{BB962C8B-B14F-4D97-AF65-F5344CB8AC3E}">
        <p14:creationId xmlns:p14="http://schemas.microsoft.com/office/powerpoint/2010/main" val="267571663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g31ccdae391d_0_396"/>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325" name="Google Shape;325;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70</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26" name="Google Shape;326;g31ccdae391d_0_396"/>
          <p:cNvSpPr/>
          <p:nvPr/>
        </p:nvSpPr>
        <p:spPr>
          <a:xfrm>
            <a:off x="609900" y="268038"/>
            <a:ext cx="10972200" cy="66267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A350: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NIL stock.</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+ 01 </a:t>
            </a:r>
            <a:r>
              <a:rPr kumimoji="0" lang="en-US" sz="16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thuê</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mới</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kiến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kiến 20/01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HAN.</a:t>
            </a:r>
          </a:p>
          <a:p>
            <a:pPr marL="45720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B787:</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NIL stock.</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958541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GE_CAl</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kiến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SGN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12/Jan/2025.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956537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GE_CAL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kiến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xong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16/Feb/2025.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956556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KLM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kiến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xong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cuối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3/2025.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A321 CEO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1/2025</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V17951 (10/1/2025), V16001  (13/1/2025</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a:t>
            </a:r>
          </a:p>
          <a:p>
            <a:pPr marL="45720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A321 NEO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NIL</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P771056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kiến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Vaeco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Han </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09/01/2025.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91440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ATR:</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+ED0181 (shop PWC):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kiến release 10/01/2025,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dk</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nhận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16/01/2025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+ED0192 (shop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StandardAero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kiến release 16/01/2025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dk</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nhận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ngày</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23/01/2025.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337541608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g31ccdae391d_0_403"/>
          <p:cNvSpPr txBox="1">
            <a:spLocks noGrp="1"/>
          </p:cNvSpPr>
          <p:nvPr>
            <p:ph type="title"/>
          </p:nvPr>
        </p:nvSpPr>
        <p:spPr>
          <a:xfrm>
            <a:off x="372775" y="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33" name="Google Shape;333;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71</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34" name="Google Shape;334;g31ccdae391d_0_403"/>
          <p:cNvSpPr txBox="1"/>
          <p:nvPr/>
        </p:nvSpPr>
        <p:spPr>
          <a:xfrm>
            <a:off x="7054175" y="537800"/>
            <a:ext cx="4085700" cy="4949400"/>
          </a:xfrm>
          <a:prstGeom prst="rect">
            <a:avLst/>
          </a:prstGeom>
          <a:noFill/>
          <a:ln>
            <a:noFill/>
          </a:ln>
        </p:spPr>
        <p:txBody>
          <a:bodyPr spcFirstLastPara="1" wrap="square" lIns="91425" tIns="91425" rIns="91425" bIns="91425" anchor="t" anchorCtr="0">
            <a:spAutoFit/>
          </a:bodyPr>
          <a:lstStyle/>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APU A321 </a:t>
            </a:r>
            <a:endParaRPr kumimoji="0"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700"/>
              <a:buFont typeface="Arial"/>
              <a:buNone/>
              <a:tabLst/>
              <a:defRPr/>
            </a:pPr>
            <a:r>
              <a:rPr kumimoji="0" lang="en-US"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STK:  03 APU tại HAN. </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7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700"/>
              <a:buFont typeface="Arial"/>
              <a:buNone/>
              <a:tabLst/>
              <a:defRPr/>
            </a:pP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700"/>
              <a:buFont typeface="Arial"/>
              <a:buNone/>
              <a:tabLst/>
              <a:defRPr/>
            </a:pP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Tháng 1/2025  dk về 03 APU.</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APU A350</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STK: NIL.</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+ 02 APU đang sửa chữa tai shop Lufth.</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+Tháng 01/2025 về 1 APU.</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APU B787 </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STK: 0 APU</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+ 01 APU đang sửa tại shop PW Poland; 01 APU  đang vận chuyển đến shop PWC.</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+Tháng 02/2025 về 1 APU.</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335" name="Google Shape;335;g31ccdae391d_0_403"/>
          <p:cNvPicPr preferRelativeResize="0"/>
          <p:nvPr/>
        </p:nvPicPr>
        <p:blipFill>
          <a:blip r:embed="rId3">
            <a:alphaModFix/>
          </a:blip>
          <a:stretch>
            <a:fillRect/>
          </a:stretch>
        </p:blipFill>
        <p:spPr>
          <a:xfrm>
            <a:off x="372775" y="495300"/>
            <a:ext cx="6532775" cy="5573824"/>
          </a:xfrm>
          <a:prstGeom prst="rect">
            <a:avLst/>
          </a:prstGeom>
          <a:noFill/>
          <a:ln>
            <a:noFill/>
          </a:ln>
        </p:spPr>
      </p:pic>
      <p:pic>
        <p:nvPicPr>
          <p:cNvPr id="336" name="Google Shape;336;g31ccdae391d_0_403"/>
          <p:cNvPicPr preferRelativeResize="0"/>
          <p:nvPr/>
        </p:nvPicPr>
        <p:blipFill>
          <a:blip r:embed="rId4">
            <a:alphaModFix/>
          </a:blip>
          <a:stretch>
            <a:fillRect/>
          </a:stretch>
        </p:blipFill>
        <p:spPr>
          <a:xfrm>
            <a:off x="7143575" y="1246875"/>
            <a:ext cx="3996300" cy="820560"/>
          </a:xfrm>
          <a:prstGeom prst="rect">
            <a:avLst/>
          </a:prstGeom>
          <a:noFill/>
          <a:ln>
            <a:noFill/>
          </a:ln>
        </p:spPr>
      </p:pic>
    </p:spTree>
    <p:extLst>
      <p:ext uri="{BB962C8B-B14F-4D97-AF65-F5344CB8AC3E}">
        <p14:creationId xmlns:p14="http://schemas.microsoft.com/office/powerpoint/2010/main" val="337460225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2800726"/>
          </a:xfrm>
          <a:prstGeom prst="rect">
            <a:avLst/>
          </a:prstGeom>
          <a:noFill/>
          <a:ln>
            <a:noFill/>
          </a:ln>
        </p:spPr>
        <p:txBody>
          <a:bodyPr spcFirstLastPara="1" wrap="square" lIns="91433" tIns="45700" rIns="91433" bIns="45700" anchor="t" anchorCtr="0">
            <a:spAutoFit/>
          </a:bodyPr>
          <a:lstStyle/>
          <a:p>
            <a:r>
              <a:rPr lang="vi" sz="8800" b="1" i="1">
                <a:solidFill>
                  <a:schemeClr val="lt1"/>
                </a:solidFill>
                <a:latin typeface="Montserrat SemiBold"/>
                <a:ea typeface="Montserrat SemiBold"/>
                <a:cs typeface="Montserrat SemiBold"/>
                <a:sym typeface="Montserrat SemiBold"/>
              </a:rPr>
              <a:t>THANK YOU</a:t>
            </a:r>
            <a:endParaRPr sz="8800" b="1" i="1">
              <a:solidFill>
                <a:schemeClr val="lt1"/>
              </a:solidFill>
              <a:latin typeface="Montserrat SemiBold"/>
              <a:ea typeface="Montserrat SemiBold"/>
              <a:cs typeface="Montserrat SemiBold"/>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72</a:t>
            </a:fld>
            <a:endParaRPr/>
          </a:p>
        </p:txBody>
      </p:sp>
    </p:spTree>
    <p:extLst>
      <p:ext uri="{BB962C8B-B14F-4D97-AF65-F5344CB8AC3E}">
        <p14:creationId xmlns:p14="http://schemas.microsoft.com/office/powerpoint/2010/main" val="25014721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4981C"/>
      </a:accent1>
      <a:accent2>
        <a:srgbClr val="212121"/>
      </a:accent2>
      <a:accent3>
        <a:srgbClr val="9CD6DF"/>
      </a:accent3>
      <a:accent4>
        <a:srgbClr val="FFBD0E"/>
      </a:accent4>
      <a:accent5>
        <a:srgbClr val="0097A7"/>
      </a:accent5>
      <a:accent6>
        <a:srgbClr val="DEA610"/>
      </a:accent6>
      <a:hlink>
        <a:srgbClr val="00688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B911D9C-B9DB-42A8-B756-3CC928D5245C}">
  <ds:schemaRefs>
    <ds:schemaRef ds:uri="http://schemas.microsoft.com/sharepoint/v3/contenttype/forms"/>
  </ds:schemaRefs>
</ds:datastoreItem>
</file>

<file path=customXml/itemProps2.xml><?xml version="1.0" encoding="utf-8"?>
<ds:datastoreItem xmlns:ds="http://schemas.openxmlformats.org/officeDocument/2006/customXml" ds:itemID="{7CE18D4A-261A-4850-B6EF-E8D1177C057C}">
  <ds:schemaRefs>
    <ds:schemaRef ds:uri="http://purl.org/dc/terms/"/>
    <ds:schemaRef ds:uri="http://schemas.openxmlformats.org/package/2006/metadata/core-properties"/>
    <ds:schemaRef ds:uri="e189f61e-1295-4779-a752-040c7fad5177"/>
    <ds:schemaRef ds:uri="http://schemas.microsoft.com/office/2006/documentManagement/types"/>
    <ds:schemaRef ds:uri="http://schemas.microsoft.com/office/infopath/2007/PartnerControls"/>
    <ds:schemaRef ds:uri="b6015720-aa74-4be3-ba0d-eab08776cb9b"/>
    <ds:schemaRef ds:uri="http://purl.org/dc/elements/1.1/"/>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72031</TotalTime>
  <Words>15347</Words>
  <Application>Microsoft Office PowerPoint</Application>
  <PresentationFormat>Widescreen</PresentationFormat>
  <Paragraphs>2924</Paragraphs>
  <Slides>73</Slides>
  <Notes>62</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73</vt:i4>
      </vt:variant>
    </vt:vector>
  </HeadingPairs>
  <TitlesOfParts>
    <vt:vector size="89" baseType="lpstr">
      <vt:lpstr>MS PGothic</vt:lpstr>
      <vt:lpstr>Arial</vt:lpstr>
      <vt:lpstr>Arial Narrow</vt:lpstr>
      <vt:lpstr>Calibri</vt:lpstr>
      <vt:lpstr>Cambria</vt:lpstr>
      <vt:lpstr>Exo</vt:lpstr>
      <vt:lpstr>Montserrat</vt:lpstr>
      <vt:lpstr>Montserrat SemiBold</vt:lpstr>
      <vt:lpstr>Tahoma</vt:lpstr>
      <vt:lpstr>Times New Roman</vt:lpstr>
      <vt:lpstr>Verdana</vt:lpstr>
      <vt:lpstr>Wingdings</vt:lpstr>
      <vt:lpstr>16-9 MASTER TEMPLATE</vt:lpstr>
      <vt:lpstr>Simple Light</vt:lpstr>
      <vt:lpstr>1_16-9 MASTER TEMPLATE</vt:lpstr>
      <vt:lpstr>Office Theme</vt:lpstr>
      <vt:lpstr>BÁO CÁO KỸ THUẬT (Tuần 01: 30/12/2024 – 05/01/2025)</vt:lpstr>
      <vt:lpstr>Tổng hợp AOG, Delay và GTB/ATB/DIV</vt:lpstr>
      <vt:lpstr>ATB/GTB Comparison</vt:lpstr>
      <vt:lpstr>Các sự kiện ATB/GTB/DIV</vt:lpstr>
      <vt:lpstr>Các sự kiện MOR</vt:lpstr>
      <vt:lpstr>PowerPoint Presentation</vt:lpstr>
      <vt:lpstr>TÌNH TRẠNG KỸ THUẬT ĐỘI BAY – A321</vt:lpstr>
      <vt:lpstr>TÌNH TRẠNG KỸ THUẬT ĐỘI BAY – A321</vt:lpstr>
      <vt:lpstr>TÌNH TRẠNG KỸ THUẬT ĐỘI BAY – A321</vt:lpstr>
      <vt:lpstr>TÌNH TRẠNG KỸ THUẬT ĐỘI BAY A320/ A321 </vt:lpstr>
      <vt:lpstr>TÌNH TRẠNG KỸ THUẬT ĐỘI BAY – A350</vt:lpstr>
      <vt:lpstr>TÌNH TRẠNG KỸ THUẬT ĐỘI BAY – A350</vt:lpstr>
      <vt:lpstr>A894-Delay due to Pack 1 INOP</vt:lpstr>
      <vt:lpstr>PowerPoint Presentation</vt:lpstr>
      <vt:lpstr>PowerPoint Presentation</vt:lpstr>
      <vt:lpstr>TÌNH TRẠNG KỸ THUẬT ĐỘI BAY – B787</vt:lpstr>
      <vt:lpstr>PowerPoint Presentation</vt:lpstr>
      <vt:lpstr>PowerPoint Presentation</vt:lpstr>
      <vt:lpstr>PowerPoint Presentation</vt:lpstr>
      <vt:lpstr>TÌNH TRẠNG KỸ THUẬT ĐỘI BAY – ATR72</vt:lpstr>
      <vt:lpstr>TÌNH TRẠNG KỸ THUẬT ĐỘI BAY – ATR72</vt:lpstr>
      <vt:lpstr>B223-GTB due to TO CONFIG and FTL CTL</vt:lpstr>
      <vt:lpstr>Dispatch Reliability W01 (30/12/2024-05/01/2025)</vt:lpstr>
      <vt:lpstr>CÁC CÔNG VIỆC TRỌNG ĐIỂM TRONG TUẦN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BQDB VÀ ĐANG TRONG BẢO DƯỠNG ĐỊNH KỲ (BDĐK)</vt:lpstr>
      <vt:lpstr>CÁC TÀU BQDB VÀ ĐANG TRONG BẢO DƯỠNG ĐỊNH KỲ (BDĐK)</vt:lpstr>
      <vt:lpstr>CÁC TÀU BQDB VÀ ĐANG TRONG BẢO DƯỠNG ĐỊNH KỲ (BDĐK)</vt:lpstr>
      <vt:lpstr>PowerPoint Presentation</vt:lpstr>
      <vt:lpstr>PowerPoint Presentation</vt:lpstr>
      <vt:lpstr>PowerPoint Presentation</vt:lpstr>
      <vt:lpstr>PowerPoint Presentation</vt:lpstr>
      <vt:lpstr>Nhân nhượng trong tuần</vt:lpstr>
      <vt:lpstr>Giờ bay trung bình trong tuần các đội tàu</vt:lpstr>
      <vt:lpstr>Số chuyến bay theo ngày trong tuần các đội tàu</vt:lpstr>
      <vt:lpstr>Số chuyến bay khai thác theo ngày</vt:lpstr>
      <vt:lpstr>Số chuyến bay theo ngày trong tuần các đội tàu</vt:lpstr>
      <vt:lpstr>A321</vt:lpstr>
      <vt:lpstr>A321</vt:lpstr>
      <vt:lpstr>A321</vt:lpstr>
      <vt:lpstr>A321</vt:lpstr>
      <vt:lpstr>TÌNH TRẠNG APU LRU A321 </vt:lpstr>
      <vt:lpstr>A321 CÁC VẬT TƯ VƯỚNG MẮC KHÁC</vt:lpstr>
      <vt:lpstr>A321 VƯỚNG MẮC VẬT TƯ VAECO</vt:lpstr>
      <vt:lpstr>B787</vt:lpstr>
      <vt:lpstr>B787</vt:lpstr>
      <vt:lpstr>B787</vt:lpstr>
      <vt:lpstr>A350</vt:lpstr>
      <vt:lpstr>A350</vt:lpstr>
      <vt:lpstr>A350</vt:lpstr>
      <vt:lpstr>ATR</vt:lpstr>
      <vt:lpstr>Phanh, bánh lốp cho các đội bay</vt:lpstr>
      <vt:lpstr>Động cơ</vt:lpstr>
      <vt:lpstr>Động cơ</vt:lpstr>
      <vt:lpstr>Động cơ</vt:lpstr>
      <vt:lpstr>PowerPoint Presentation</vt:lpstr>
      <vt:lpstr>PowerPoint Presentation</vt:lpstr>
      <vt:lpstr>Kế hoạch động cơ </vt:lpstr>
      <vt:lpstr>APU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Vu Chi Thanh</cp:lastModifiedBy>
  <cp:revision>11446</cp:revision>
  <cp:lastPrinted>2019-03-27T09:25:07Z</cp:lastPrinted>
  <dcterms:created xsi:type="dcterms:W3CDTF">2018-12-27T04:50:36Z</dcterms:created>
  <dcterms:modified xsi:type="dcterms:W3CDTF">2025-01-05T15:55:17Z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