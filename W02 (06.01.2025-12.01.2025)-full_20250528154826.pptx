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charts/chart3.xml" ContentType="application/vnd.openxmlformats-officedocument.drawingml.chart+xml"/>
  <Override PartName="/ppt/charts/style2.xml" ContentType="application/vnd.ms-office.chartstyle+xml"/>
  <Override PartName="/ppt/charts/colors2.xml" ContentType="application/vnd.ms-office.chartcolorstyle+xml"/>
  <Override PartName="/ppt/charts/chart4.xml" ContentType="application/vnd.openxmlformats-officedocument.drawingml.chart+xml"/>
  <Override PartName="/ppt/theme/themeOverride1.xml" ContentType="application/vnd.openxmlformats-officedocument.themeOverride+xml"/>
  <Override PartName="/ppt/notesSlides/notesSlide3.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tags/tag1.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7.xml" ContentType="application/vnd.openxmlformats-officedocument.drawingml.chart+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rts/chart8.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26.xml" ContentType="application/vnd.openxmlformats-officedocument.presentationml.notesSlide+xml"/>
  <Override PartName="/ppt/charts/chart9.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27.xml" ContentType="application/vnd.openxmlformats-officedocument.presentationml.notesSlide+xml"/>
  <Override PartName="/ppt/charts/chart10.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28.xml" ContentType="application/vnd.openxmlformats-officedocument.presentationml.notesSlide+xml"/>
  <Override PartName="/ppt/charts/chart11.xml" ContentType="application/vnd.openxmlformats-officedocument.drawingml.chart+xml"/>
  <Override PartName="/ppt/charts/style6.xml" ContentType="application/vnd.ms-office.chartstyle+xml"/>
  <Override PartName="/ppt/charts/colors6.xml" ContentType="application/vnd.ms-office.chartcolorstyle+xml"/>
  <Override PartName="/ppt/drawings/drawing1.xml" ContentType="application/vnd.openxmlformats-officedocument.drawingml.chartshapes+xml"/>
  <Override PartName="/ppt/charts/chart12.xml" ContentType="application/vnd.openxmlformats-officedocument.drawingml.chart+xml"/>
  <Override PartName="/ppt/charts/style7.xml" ContentType="application/vnd.ms-office.chartstyle+xml"/>
  <Override PartName="/ppt/charts/colors7.xml" ContentType="application/vnd.ms-office.chartcolorstyle+xml"/>
  <Override PartName="/ppt/charts/chart13.xml" ContentType="application/vnd.openxmlformats-officedocument.drawingml.chart+xml"/>
  <Override PartName="/ppt/charts/style8.xml" ContentType="application/vnd.ms-office.chartstyle+xml"/>
  <Override PartName="/ppt/charts/colors8.xml" ContentType="application/vnd.ms-office.chartcolorstyle+xml"/>
  <Override PartName="/ppt/drawings/drawing2.xml" ContentType="application/vnd.openxmlformats-officedocument.drawingml.chartshapes+xml"/>
  <Override PartName="/ppt/charts/chart14.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rts/chart15.xml" ContentType="application/vnd.openxmlformats-officedocument.drawingml.chart+xml"/>
  <Override PartName="/ppt/notesSlides/notesSlide36.xml" ContentType="application/vnd.openxmlformats-officedocument.presentationml.notesSlide+xml"/>
  <Override PartName="/ppt/charts/chart16.xml" ContentType="application/vnd.openxmlformats-officedocument.drawingml.chart+xml"/>
  <Override PartName="/ppt/charts/style10.xml" ContentType="application/vnd.ms-office.chartstyle+xml"/>
  <Override PartName="/ppt/charts/colors10.xml" ContentType="application/vnd.ms-office.chartcolorstyle+xml"/>
  <Override PartName="/ppt/theme/themeOverride2.xml" ContentType="application/vnd.openxmlformats-officedocument.themeOverride+xml"/>
  <Override PartName="/ppt/notesSlides/notesSlide37.xml" ContentType="application/vnd.openxmlformats-officedocument.presentationml.notesSlide+xml"/>
  <Override PartName="/ppt/charts/chart17.xml" ContentType="application/vnd.openxmlformats-officedocument.drawingml.chart+xml"/>
  <Override PartName="/ppt/charts/style11.xml" ContentType="application/vnd.ms-office.chartstyle+xml"/>
  <Override PartName="/ppt/charts/colors11.xml" ContentType="application/vnd.ms-office.chartcolorstyle+xml"/>
  <Override PartName="/ppt/theme/themeOverride3.xml" ContentType="application/vnd.openxmlformats-officedocument.themeOverride+xml"/>
  <Override PartName="/ppt/notesSlides/notesSlide38.xml" ContentType="application/vnd.openxmlformats-officedocument.presentationml.notesSlide+xml"/>
  <Override PartName="/ppt/charts/chart18.xml" ContentType="application/vnd.openxmlformats-officedocument.drawingml.chart+xml"/>
  <Override PartName="/ppt/charts/style12.xml" ContentType="application/vnd.ms-office.chartstyle+xml"/>
  <Override PartName="/ppt/charts/colors12.xml" ContentType="application/vnd.ms-office.chartcolorstyle+xml"/>
  <Override PartName="/ppt/theme/themeOverride4.xml" ContentType="application/vnd.openxmlformats-officedocument.themeOverr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58" r:id="rId4"/>
    <p:sldMasterId id="2147483676" r:id="rId5"/>
  </p:sldMasterIdLst>
  <p:notesMasterIdLst>
    <p:notesMasterId r:id="rId78"/>
  </p:notesMasterIdLst>
  <p:sldIdLst>
    <p:sldId id="11485" r:id="rId6"/>
    <p:sldId id="3997" r:id="rId7"/>
    <p:sldId id="3793" r:id="rId8"/>
    <p:sldId id="11909" r:id="rId9"/>
    <p:sldId id="11705" r:id="rId10"/>
    <p:sldId id="11750" r:id="rId11"/>
    <p:sldId id="11910" r:id="rId12"/>
    <p:sldId id="11912" r:id="rId13"/>
    <p:sldId id="10903" r:id="rId14"/>
    <p:sldId id="11913" r:id="rId15"/>
    <p:sldId id="11914" r:id="rId16"/>
    <p:sldId id="11915" r:id="rId17"/>
    <p:sldId id="11917" r:id="rId18"/>
    <p:sldId id="11918" r:id="rId19"/>
    <p:sldId id="11936" r:id="rId20"/>
    <p:sldId id="11937" r:id="rId21"/>
    <p:sldId id="11938" r:id="rId22"/>
    <p:sldId id="11843" r:id="rId23"/>
    <p:sldId id="11939" r:id="rId24"/>
    <p:sldId id="11940" r:id="rId25"/>
    <p:sldId id="11919" r:id="rId26"/>
    <p:sldId id="11905" r:id="rId27"/>
    <p:sldId id="11920" r:id="rId28"/>
    <p:sldId id="11921" r:id="rId29"/>
    <p:sldId id="11922" r:id="rId30"/>
    <p:sldId id="11923" r:id="rId31"/>
    <p:sldId id="11924" r:id="rId32"/>
    <p:sldId id="11925" r:id="rId33"/>
    <p:sldId id="11926" r:id="rId34"/>
    <p:sldId id="11927" r:id="rId35"/>
    <p:sldId id="11928" r:id="rId36"/>
    <p:sldId id="11929" r:id="rId37"/>
    <p:sldId id="11930" r:id="rId38"/>
    <p:sldId id="11931" r:id="rId39"/>
    <p:sldId id="11932" r:id="rId40"/>
    <p:sldId id="11933" r:id="rId41"/>
    <p:sldId id="11934" r:id="rId42"/>
    <p:sldId id="11935" r:id="rId43"/>
    <p:sldId id="11906" r:id="rId44"/>
    <p:sldId id="11907" r:id="rId45"/>
    <p:sldId id="11908" r:id="rId46"/>
    <p:sldId id="11902" r:id="rId47"/>
    <p:sldId id="11903" r:id="rId48"/>
    <p:sldId id="11904" r:id="rId49"/>
    <p:sldId id="11876" r:id="rId50"/>
    <p:sldId id="8509" r:id="rId51"/>
    <p:sldId id="11899" r:id="rId52"/>
    <p:sldId id="11900" r:id="rId53"/>
    <p:sldId id="11901" r:id="rId54"/>
    <p:sldId id="11877" r:id="rId55"/>
    <p:sldId id="11878" r:id="rId56"/>
    <p:sldId id="11879" r:id="rId57"/>
    <p:sldId id="11880" r:id="rId58"/>
    <p:sldId id="11881" r:id="rId59"/>
    <p:sldId id="11882" r:id="rId60"/>
    <p:sldId id="11883" r:id="rId61"/>
    <p:sldId id="11884" r:id="rId62"/>
    <p:sldId id="11885" r:id="rId63"/>
    <p:sldId id="11886" r:id="rId64"/>
    <p:sldId id="11887" r:id="rId65"/>
    <p:sldId id="11888" r:id="rId66"/>
    <p:sldId id="11889" r:id="rId67"/>
    <p:sldId id="11890" r:id="rId68"/>
    <p:sldId id="11891" r:id="rId69"/>
    <p:sldId id="11892" r:id="rId70"/>
    <p:sldId id="11893" r:id="rId71"/>
    <p:sldId id="11894" r:id="rId72"/>
    <p:sldId id="11895" r:id="rId73"/>
    <p:sldId id="11896" r:id="rId74"/>
    <p:sldId id="11897" r:id="rId75"/>
    <p:sldId id="11898" r:id="rId76"/>
    <p:sldId id="11486" r:id="rId77"/>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guyen Dinh Thanh" initials="NDT" lastIdx="1" clrIdx="0">
    <p:extLst>
      <p:ext uri="{19B8F6BF-5375-455C-9EA6-DF929625EA0E}">
        <p15:presenceInfo xmlns:p15="http://schemas.microsoft.com/office/powerpoint/2012/main" userId="d098a10a9a17dfc3" providerId="Windows Live"/>
      </p:ext>
    </p:extLst>
  </p:cmAuthor>
  <p:cmAuthor id="2" name="MayTinhBachVuong" initials="M" lastIdx="1" clrIdx="1">
    <p:extLst>
      <p:ext uri="{19B8F6BF-5375-455C-9EA6-DF929625EA0E}">
        <p15:presenceInfo xmlns:p15="http://schemas.microsoft.com/office/powerpoint/2012/main" userId="MayTinhBachVuong"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F6E"/>
    <a:srgbClr val="FFFF00"/>
    <a:srgbClr val="0099FF"/>
    <a:srgbClr val="D2A43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6499" autoAdjust="0"/>
    <p:restoredTop sz="95337" autoAdjust="0"/>
  </p:normalViewPr>
  <p:slideViewPr>
    <p:cSldViewPr>
      <p:cViewPr varScale="1">
        <p:scale>
          <a:sx n="85" d="100"/>
          <a:sy n="85" d="100"/>
        </p:scale>
        <p:origin x="62" y="120"/>
      </p:cViewPr>
      <p:guideLst>
        <p:guide orient="horz" pos="2160"/>
        <p:guide pos="3840"/>
      </p:guideLst>
    </p:cSldViewPr>
  </p:slideViewPr>
  <p:outlineViewPr>
    <p:cViewPr>
      <p:scale>
        <a:sx n="33" d="100"/>
        <a:sy n="33" d="100"/>
      </p:scale>
      <p:origin x="0" y="-268"/>
    </p:cViewPr>
  </p:outlineViewPr>
  <p:notesTextViewPr>
    <p:cViewPr>
      <p:scale>
        <a:sx n="3" d="2"/>
        <a:sy n="3" d="2"/>
      </p:scale>
      <p:origin x="0" y="0"/>
    </p:cViewPr>
  </p:notesTextViewPr>
  <p:sorterViewPr>
    <p:cViewPr>
      <p:scale>
        <a:sx n="100" d="100"/>
        <a:sy n="100" d="100"/>
      </p:scale>
      <p:origin x="0" y="0"/>
    </p:cViewPr>
  </p:sorterViewPr>
  <p:notesViewPr>
    <p:cSldViewPr>
      <p:cViewPr varScale="1">
        <p:scale>
          <a:sx n="99" d="100"/>
          <a:sy n="99" d="100"/>
        </p:scale>
        <p:origin x="4272" y="1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slide" Target="slides/slide58.xml"/><Relationship Id="rId68" Type="http://schemas.openxmlformats.org/officeDocument/2006/relationships/slide" Target="slides/slide63.xml"/><Relationship Id="rId76" Type="http://schemas.openxmlformats.org/officeDocument/2006/relationships/slide" Target="slides/slide71.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74" Type="http://schemas.openxmlformats.org/officeDocument/2006/relationships/slide" Target="slides/slide69.xml"/><Relationship Id="rId79" Type="http://schemas.openxmlformats.org/officeDocument/2006/relationships/commentAuthors" Target="commentAuthors.xml"/><Relationship Id="rId5" Type="http://schemas.openxmlformats.org/officeDocument/2006/relationships/slideMaster" Target="slideMasters/slideMaster2.xml"/><Relationship Id="rId61" Type="http://schemas.openxmlformats.org/officeDocument/2006/relationships/slide" Target="slides/slide56.xml"/><Relationship Id="rId82"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notesMaster" Target="notesMasters/notesMaster1.xml"/><Relationship Id="rId8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slide" Target="slides/slide72.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s>
</file>

<file path=ppt/charts/_rels/chart1.xml.rels><?xml version="1.0" encoding="UTF-8" standalone="yes"?>
<Relationships xmlns="http://schemas.openxmlformats.org/package/2006/relationships"><Relationship Id="rId1" Type="http://schemas.openxmlformats.org/officeDocument/2006/relationships/oleObject" Target="file:///C:\Users\admin\Desktop\TAI%20LIEU%20LAM%20VIEC\MOC\BC_Tu&#226;n\2025\W2\W02%20(06.01.2025-12.01.2025).xlsx" TargetMode="External"/></Relationships>
</file>

<file path=ppt/charts/_rels/chart2.xml.rels><?xml version="1.0" encoding="UTF-8" standalone="yes"?>
<Relationships xmlns="http://schemas.openxmlformats.org/package/2006/relationships"><Relationship Id="rId3" Type="http://schemas.openxmlformats.org/officeDocument/2006/relationships/oleObject" Target="file:///C:\Users\admin\Desktop\TAI%20LIEU%20LAM%20VIEC\MOC\BC_Tu&#226;n\2025\W2\W02%20(06.01.2025-12.01.2025).xlsx" TargetMode="External"/><Relationship Id="rId2" Type="http://schemas.microsoft.com/office/2011/relationships/chartColorStyle" Target="colors1.xml"/><Relationship Id="rId1" Type="http://schemas.microsoft.com/office/2011/relationships/chartStyle" Target="style1.xml"/></Relationships>
</file>

<file path=ppt/charts/_rels/chart3.xml.rels><?xml version="1.0" encoding="UTF-8" standalone="yes"?>
<Relationships xmlns="http://schemas.openxmlformats.org/package/2006/relationships"><Relationship Id="rId3" Type="http://schemas.openxmlformats.org/officeDocument/2006/relationships/oleObject" Target="file:///C:\Users\admin\Desktop\TAI%20LIEU%20LAM%20VIEC\MOC\BC_Tu&#226;n\2025\W2\W02%20(06.01.2025-12.01.2025).xlsx" TargetMode="External"/><Relationship Id="rId2" Type="http://schemas.microsoft.com/office/2011/relationships/chartColorStyle" Target="colors2.xml"/><Relationship Id="rId1" Type="http://schemas.microsoft.com/office/2011/relationships/chartStyle" Target="style2.xml"/></Relationships>
</file>

<file path=ppt/charts/_rels/chart4.xml.rels><?xml version="1.0" encoding="UTF-8" standalone="yes"?>
<Relationships xmlns="http://schemas.openxmlformats.org/package/2006/relationships"><Relationship Id="rId2" Type="http://schemas.openxmlformats.org/officeDocument/2006/relationships/oleObject" Target="file:///C:\Users\admin\Desktop\TAI%20LIEU%20LAM%20VIEC\MOC\BC_Tu&#226;n\2025\W2\W02%20(06.01.2025-12.01.2025).xlsx" TargetMode="External"/><Relationship Id="rId1" Type="http://schemas.openxmlformats.org/officeDocument/2006/relationships/themeOverride" Target="../theme/themeOverride1.xml"/></Relationships>
</file>

<file path=ppt/charts/_rels/chart5.xml.rels><?xml version="1.0" encoding="UTF-8" standalone="yes"?>
<Relationships xmlns="http://schemas.openxmlformats.org/package/2006/relationships"><Relationship Id="rId1" Type="http://schemas.openxmlformats.org/officeDocument/2006/relationships/oleObject" Target="file:///C:\Users\admin\Desktop\TAI%20LIEU%20LAM%20VIEC\MOC\BC_Tu&#226;n\2025\W2\W02%20(06.01.2025-12.01.2025).xlsx" TargetMode="External"/></Relationships>
</file>

<file path=ppt/charts/_rels/chart6.xml.rels><?xml version="1.0" encoding="UTF-8" standalone="yes"?>
<Relationships xmlns="http://schemas.openxmlformats.org/package/2006/relationships"><Relationship Id="rId1" Type="http://schemas.openxmlformats.org/officeDocument/2006/relationships/oleObject" Target="file:///C:\Users\admin\Desktop\TAI%20LIEU%20LAM%20VIEC\MOC\BC_Tu&#226;n\2025\W2\W02%20(06.01.2025-12.01.2025).xlsx" TargetMode="External"/></Relationships>
</file>

<file path=ppt/charts/_rels/chart7.xml.rels><?xml version="1.0" encoding="UTF-8" standalone="yes"?>
<Relationships xmlns="http://schemas.openxmlformats.org/package/2006/relationships"><Relationship Id="rId1" Type="http://schemas.openxmlformats.org/officeDocument/2006/relationships/oleObject" Target="file:///D:\GOOGLE%20DRIVE-cty\BAO%20CAO%20DO%20TIN%20CAY\BAO%20CAO%20TUAN\BC%20chu%20nhat\2025\02\DR\DR-W02.xlsx" TargetMode="Externa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3.xml"/><Relationship Id="rId1" Type="http://schemas.microsoft.com/office/2011/relationships/chartStyle" Target="style3.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4.xml"/><Relationship Id="rId1" Type="http://schemas.microsoft.com/office/2011/relationships/chartStyle" Target="style4.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5.xml"/><Relationship Id="rId1" Type="http://schemas.microsoft.com/office/2011/relationships/chartStyle" Target="style5.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6.xml"/><Relationship Id="rId1" Type="http://schemas.microsoft.com/office/2011/relationships/chartStyle" Target="style6.xml"/><Relationship Id="rId4" Type="http://schemas.openxmlformats.org/officeDocument/2006/relationships/chartUserShapes" Target="../drawings/drawing1.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7.xml"/><Relationship Id="rId1" Type="http://schemas.microsoft.com/office/2011/relationships/chartStyle" Target="style7.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8.xml"/><Relationship Id="rId1" Type="http://schemas.microsoft.com/office/2011/relationships/chartStyle" Target="style8.xml"/><Relationship Id="rId4" Type="http://schemas.openxmlformats.org/officeDocument/2006/relationships/chartUserShapes" Target="../drawings/drawing2.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9.xml"/><Relationship Id="rId1" Type="http://schemas.microsoft.com/office/2011/relationships/chartStyle" Target="style9.xml"/></Relationships>
</file>

<file path=ppt/charts/_rels/chart15.xml.rels><?xml version="1.0" encoding="UTF-8" standalone="yes"?>
<Relationships xmlns="http://schemas.openxmlformats.org/package/2006/relationships"><Relationship Id="rId1" Type="http://schemas.openxmlformats.org/officeDocument/2006/relationships/oleObject" Target="file:///C:\Users\admin\Desktop\TAI%20LIEU%20LAM%20VIEC\MOC\BC_Tu&#226;n\2025\W2\W02%20(06.01.2025-12.01.2025).xlsx" TargetMode="External"/></Relationships>
</file>

<file path=ppt/charts/_rels/chart16.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10.xml"/><Relationship Id="rId1" Type="http://schemas.microsoft.com/office/2011/relationships/chartStyle" Target="style10.xml"/><Relationship Id="rId4" Type="http://schemas.openxmlformats.org/officeDocument/2006/relationships/oleObject" Target="file:///D:\P.MOC\B&#225;o%20c&#225;o%20tu&#7847;n\L&#7883;ch%20bay%20h&#224;ng%20tu&#7847;n%202025.xlsx" TargetMode="External"/></Relationships>
</file>

<file path=ppt/charts/_rels/chart17.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11.xml"/><Relationship Id="rId1" Type="http://schemas.microsoft.com/office/2011/relationships/chartStyle" Target="style11.xml"/><Relationship Id="rId4" Type="http://schemas.openxmlformats.org/officeDocument/2006/relationships/oleObject" Target="file:///D:\P.MOC\B&#225;o%20c&#225;o%20tu&#7847;n\L&#7883;ch%20bay%20h&#224;ng%20tu&#7847;n%202025.xlsx" TargetMode="External"/></Relationships>
</file>

<file path=ppt/charts/_rels/chart18.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12.xml"/><Relationship Id="rId1" Type="http://schemas.microsoft.com/office/2011/relationships/chartStyle" Target="style12.xml"/><Relationship Id="rId4" Type="http://schemas.openxmlformats.org/officeDocument/2006/relationships/oleObject" Target="file:///D:\P.MOC\B&#225;o%20c&#225;o%20tu&#7847;n\L&#7883;ch%20bay%20h&#224;ng%20tu&#7847;n%202025.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1">
                <a:solidFill>
                  <a:schemeClr val="tx1"/>
                </a:solidFill>
                <a:latin typeface="Times New Roman" panose="02020603050405020304" pitchFamily="18" charset="0"/>
                <a:cs typeface="Times New Roman" panose="02020603050405020304" pitchFamily="18" charset="0"/>
              </a:rPr>
              <a:t>Thống</a:t>
            </a:r>
            <a:r>
              <a:rPr lang="en-US" sz="1600" b="1" baseline="0">
                <a:solidFill>
                  <a:schemeClr val="tx1"/>
                </a:solidFill>
                <a:latin typeface="Times New Roman" panose="02020603050405020304" pitchFamily="18" charset="0"/>
                <a:cs typeface="Times New Roman" panose="02020603050405020304" pitchFamily="18" charset="0"/>
              </a:rPr>
              <a:t> kê </a:t>
            </a:r>
            <a:r>
              <a:rPr lang="en-US" sz="1600" b="1">
                <a:solidFill>
                  <a:schemeClr val="tx1"/>
                </a:solidFill>
                <a:latin typeface="Times New Roman" panose="02020603050405020304" pitchFamily="18" charset="0"/>
                <a:cs typeface="Times New Roman" panose="02020603050405020304" pitchFamily="18" charset="0"/>
              </a:rPr>
              <a:t>GTB</a:t>
            </a:r>
          </a:p>
        </c:rich>
      </c:tx>
      <c:layout/>
      <c:overlay val="0"/>
      <c:spPr>
        <a:noFill/>
        <a:ln>
          <a:noFill/>
        </a:ln>
        <a:effectLst/>
      </c:spPr>
    </c:title>
    <c:autoTitleDeleted val="0"/>
    <c:plotArea>
      <c:layout>
        <c:manualLayout>
          <c:layoutTarget val="inner"/>
          <c:xMode val="edge"/>
          <c:yMode val="edge"/>
          <c:x val="4.8553271516007079E-2"/>
          <c:y val="0.23258718451685151"/>
          <c:w val="0.92392962136768553"/>
          <c:h val="0.51878764300478664"/>
        </c:manualLayout>
      </c:layout>
      <c:barChart>
        <c:barDir val="col"/>
        <c:grouping val="clustered"/>
        <c:varyColors val="0"/>
        <c:ser>
          <c:idx val="0"/>
          <c:order val="0"/>
          <c:tx>
            <c:strRef>
              <c:f>'Data Chart'!$C$19</c:f>
              <c:strCache>
                <c:ptCount val="1"/>
                <c:pt idx="0">
                  <c:v>Last week</c:v>
                </c:pt>
              </c:strCache>
              <c:extLst xmlns:c16r2="http://schemas.microsoft.com/office/drawing/2015/06/chart" xmlns:c15="http://schemas.microsoft.com/office/drawing/2012/chart"/>
            </c:strRef>
          </c:tx>
          <c:spPr>
            <a:solidFill>
              <a:srgbClr val="FFC00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xmlns:c16r2="http://schemas.microsoft.com/office/drawing/2015/06/chart" xmlns:c15="http://schemas.microsoft.com/office/drawing/2012/chart">
              <c:ext xmlns:c15="http://schemas.microsoft.com/office/drawing/2012/chart" uri="{CE6537A1-D6FC-4f65-9D91-7224C49458BB}">
                <c15:layout/>
                <c15:showLeaderLines val="0"/>
              </c:ext>
            </c:extLst>
          </c:dLbls>
          <c:cat>
            <c:strRef>
              <c:f>'Data Chart'!$B$20:$B$25</c:f>
              <c:strCache>
                <c:ptCount val="6"/>
                <c:pt idx="0">
                  <c:v>A320</c:v>
                </c:pt>
                <c:pt idx="1">
                  <c:v>A321</c:v>
                </c:pt>
                <c:pt idx="2">
                  <c:v>A350</c:v>
                </c:pt>
                <c:pt idx="3">
                  <c:v>B787</c:v>
                </c:pt>
                <c:pt idx="4">
                  <c:v>ATR72</c:v>
                </c:pt>
                <c:pt idx="5">
                  <c:v>Tất cả</c:v>
                </c:pt>
              </c:strCache>
              <c:extLst xmlns:c16r2="http://schemas.microsoft.com/office/drawing/2015/06/chart" xmlns:c15="http://schemas.microsoft.com/office/drawing/2012/chart"/>
            </c:strRef>
          </c:cat>
          <c:val>
            <c:numRef>
              <c:f>'Data Chart'!$C$20:$C$25</c:f>
              <c:numCache>
                <c:formatCode>General</c:formatCode>
                <c:ptCount val="6"/>
                <c:pt idx="0">
                  <c:v>0</c:v>
                </c:pt>
                <c:pt idx="1">
                  <c:v>0</c:v>
                </c:pt>
                <c:pt idx="2">
                  <c:v>0</c:v>
                </c:pt>
                <c:pt idx="3">
                  <c:v>0</c:v>
                </c:pt>
                <c:pt idx="4">
                  <c:v>1</c:v>
                </c:pt>
                <c:pt idx="5">
                  <c:v>1</c:v>
                </c:pt>
              </c:numCache>
              <c:extLst xmlns:c16r2="http://schemas.microsoft.com/office/drawing/2015/06/chart" xmlns:c15="http://schemas.microsoft.com/office/drawing/2012/chart"/>
            </c:numRef>
          </c:val>
          <c:extLst xmlns:c16r2="http://schemas.microsoft.com/office/drawing/2015/06/chart" xmlns:c15="http://schemas.microsoft.com/office/drawing/2012/chart">
            <c:ext xmlns:c16="http://schemas.microsoft.com/office/drawing/2014/chart" uri="{C3380CC4-5D6E-409C-BE32-E72D297353CC}">
              <c16:uniqueId val="{00000000-0E35-42B1-820D-A766D43F353C}"/>
            </c:ext>
          </c:extLst>
        </c:ser>
        <c:ser>
          <c:idx val="1"/>
          <c:order val="1"/>
          <c:tx>
            <c:strRef>
              <c:f>'Data Chart'!$D$19</c:f>
              <c:strCache>
                <c:ptCount val="1"/>
                <c:pt idx="0">
                  <c:v>This week</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0"/>
              </c:ext>
            </c:extLst>
          </c:dLbls>
          <c:cat>
            <c:strRef>
              <c:f>'Data Chart'!$B$20:$B$25</c:f>
              <c:strCache>
                <c:ptCount val="6"/>
                <c:pt idx="0">
                  <c:v>A320</c:v>
                </c:pt>
                <c:pt idx="1">
                  <c:v>A321</c:v>
                </c:pt>
                <c:pt idx="2">
                  <c:v>A350</c:v>
                </c:pt>
                <c:pt idx="3">
                  <c:v>B787</c:v>
                </c:pt>
                <c:pt idx="4">
                  <c:v>ATR72</c:v>
                </c:pt>
                <c:pt idx="5">
                  <c:v>Tất cả</c:v>
                </c:pt>
              </c:strCache>
            </c:strRef>
          </c:cat>
          <c:val>
            <c:numRef>
              <c:f>'Data Chart'!$D$20:$D$25</c:f>
              <c:numCache>
                <c:formatCode>General</c:formatCode>
                <c:ptCount val="6"/>
                <c:pt idx="0">
                  <c:v>0</c:v>
                </c:pt>
                <c:pt idx="1">
                  <c:v>0</c:v>
                </c:pt>
                <c:pt idx="2">
                  <c:v>2</c:v>
                </c:pt>
                <c:pt idx="3">
                  <c:v>0</c:v>
                </c:pt>
                <c:pt idx="4">
                  <c:v>0</c:v>
                </c:pt>
                <c:pt idx="5">
                  <c:v>2</c:v>
                </c:pt>
              </c:numCache>
            </c:numRef>
          </c:val>
          <c:extLst xmlns:c16r2="http://schemas.microsoft.com/office/drawing/2015/06/chart">
            <c:ext xmlns:c16="http://schemas.microsoft.com/office/drawing/2014/chart" uri="{C3380CC4-5D6E-409C-BE32-E72D297353CC}">
              <c16:uniqueId val="{00000001-0E35-42B1-820D-A766D43F353C}"/>
            </c:ext>
          </c:extLst>
        </c:ser>
        <c:dLbls>
          <c:showLegendKey val="0"/>
          <c:showVal val="0"/>
          <c:showCatName val="0"/>
          <c:showSerName val="0"/>
          <c:showPercent val="0"/>
          <c:showBubbleSize val="0"/>
        </c:dLbls>
        <c:gapWidth val="219"/>
        <c:overlap val="-27"/>
        <c:axId val="10613456"/>
        <c:axId val="238094600"/>
        <c:extLst xmlns:c16r2="http://schemas.microsoft.com/office/drawing/2015/06/chart"/>
      </c:barChart>
      <c:catAx>
        <c:axId val="106134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38094600"/>
        <c:crosses val="autoZero"/>
        <c:auto val="1"/>
        <c:lblAlgn val="ctr"/>
        <c:lblOffset val="100"/>
        <c:noMultiLvlLbl val="0"/>
      </c:catAx>
      <c:valAx>
        <c:axId val="23809460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10613456"/>
        <c:crosses val="autoZero"/>
        <c:crossBetween val="between"/>
        <c:majorUnit val="1"/>
      </c:valAx>
      <c:spPr>
        <a:noFill/>
        <a:ln>
          <a:noFill/>
        </a:ln>
        <a:effectLst/>
      </c:spPr>
    </c:plotArea>
    <c:legend>
      <c:legendPos val="b"/>
      <c:layout>
        <c:manualLayout>
          <c:xMode val="edge"/>
          <c:yMode val="edge"/>
          <c:x val="0.23472701799472892"/>
          <c:y val="0.88146435647144594"/>
          <c:w val="0.56147071762910628"/>
          <c:h val="9.5171103624036968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sz="1600" b="1">
                <a:solidFill>
                  <a:schemeClr val="tx1"/>
                </a:solidFill>
                <a:latin typeface="Times New Roman" panose="02020603050405020304" pitchFamily="18" charset="0"/>
                <a:cs typeface="Times New Roman" panose="02020603050405020304" pitchFamily="18" charset="0"/>
              </a:rPr>
              <a:t>AOG</a:t>
            </a:r>
          </a:p>
        </c:rich>
      </c:tx>
      <c:layout/>
      <c:overlay val="0"/>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'Data Chart'!$C$1</c:f>
              <c:strCache>
                <c:ptCount val="1"/>
                <c:pt idx="0">
                  <c:v>Last week</c:v>
                </c:pt>
              </c:strCache>
              <c:extLst xmlns:c16r2="http://schemas.microsoft.com/office/drawing/2015/06/chart" xmlns:c15="http://schemas.microsoft.com/office/drawing/2012/chart"/>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6r2="http://schemas.microsoft.com/office/drawing/2015/06/chart" xmlns:c15="http://schemas.microsoft.com/office/drawing/2012/chart">
              <c:ext xmlns:c15="http://schemas.microsoft.com/office/drawing/2012/chart" uri="{CE6537A1-D6FC-4f65-9D91-7224C49458BB}">
                <c15:layout/>
                <c15:showLeaderLines val="0"/>
              </c:ext>
            </c:extLst>
          </c:dLbls>
          <c:cat>
            <c:strRef>
              <c:f>'Data Chart'!$B$2:$B$7</c:f>
              <c:strCache>
                <c:ptCount val="6"/>
                <c:pt idx="0">
                  <c:v>A320</c:v>
                </c:pt>
                <c:pt idx="1">
                  <c:v>A321</c:v>
                </c:pt>
                <c:pt idx="2">
                  <c:v>A350</c:v>
                </c:pt>
                <c:pt idx="3">
                  <c:v>B787</c:v>
                </c:pt>
                <c:pt idx="4">
                  <c:v>ATR72</c:v>
                </c:pt>
                <c:pt idx="5">
                  <c:v>Tất cả</c:v>
                </c:pt>
              </c:strCache>
              <c:extLst xmlns:c16r2="http://schemas.microsoft.com/office/drawing/2015/06/chart" xmlns:c15="http://schemas.microsoft.com/office/drawing/2012/chart"/>
            </c:strRef>
          </c:cat>
          <c:val>
            <c:numRef>
              <c:f>'Data Chart'!$C$2:$C$7</c:f>
              <c:numCache>
                <c:formatCode>General</c:formatCode>
                <c:ptCount val="6"/>
                <c:pt idx="0">
                  <c:v>0</c:v>
                </c:pt>
                <c:pt idx="1">
                  <c:v>1</c:v>
                </c:pt>
                <c:pt idx="2">
                  <c:v>1</c:v>
                </c:pt>
                <c:pt idx="3">
                  <c:v>1</c:v>
                </c:pt>
                <c:pt idx="4">
                  <c:v>1</c:v>
                </c:pt>
                <c:pt idx="5">
                  <c:v>4</c:v>
                </c:pt>
              </c:numCache>
              <c:extLst xmlns:c16r2="http://schemas.microsoft.com/office/drawing/2015/06/chart" xmlns:c15="http://schemas.microsoft.com/office/drawing/2012/chart"/>
            </c:numRef>
          </c:val>
          <c:extLst xmlns:c16r2="http://schemas.microsoft.com/office/drawing/2015/06/chart" xmlns:c15="http://schemas.microsoft.com/office/drawing/2012/chart">
            <c:ext xmlns:c16="http://schemas.microsoft.com/office/drawing/2014/chart" uri="{C3380CC4-5D6E-409C-BE32-E72D297353CC}">
              <c16:uniqueId val="{00000000-862B-4DB2-A40D-ADE911E9E1B4}"/>
            </c:ext>
          </c:extLst>
        </c:ser>
        <c:ser>
          <c:idx val="1"/>
          <c:order val="1"/>
          <c:tx>
            <c:strRef>
              <c:f>'Data Chart'!$D$1</c:f>
              <c:strCache>
                <c:ptCount val="1"/>
                <c:pt idx="0">
                  <c:v>This week</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0"/>
              </c:ext>
            </c:extLst>
          </c:dLbls>
          <c:cat>
            <c:strRef>
              <c:f>'Data Chart'!$B$2:$B$7</c:f>
              <c:strCache>
                <c:ptCount val="6"/>
                <c:pt idx="0">
                  <c:v>A320</c:v>
                </c:pt>
                <c:pt idx="1">
                  <c:v>A321</c:v>
                </c:pt>
                <c:pt idx="2">
                  <c:v>A350</c:v>
                </c:pt>
                <c:pt idx="3">
                  <c:v>B787</c:v>
                </c:pt>
                <c:pt idx="4">
                  <c:v>ATR72</c:v>
                </c:pt>
                <c:pt idx="5">
                  <c:v>Tất cả</c:v>
                </c:pt>
              </c:strCache>
            </c:strRef>
          </c:cat>
          <c:val>
            <c:numRef>
              <c:f>'Data Chart'!$D$2:$D$7</c:f>
              <c:numCache>
                <c:formatCode>General</c:formatCode>
                <c:ptCount val="6"/>
                <c:pt idx="0">
                  <c:v>0</c:v>
                </c:pt>
                <c:pt idx="1">
                  <c:v>2</c:v>
                </c:pt>
                <c:pt idx="2">
                  <c:v>0</c:v>
                </c:pt>
                <c:pt idx="3">
                  <c:v>0</c:v>
                </c:pt>
                <c:pt idx="4">
                  <c:v>1</c:v>
                </c:pt>
                <c:pt idx="5">
                  <c:v>3</c:v>
                </c:pt>
              </c:numCache>
            </c:numRef>
          </c:val>
          <c:extLst xmlns:c16r2="http://schemas.microsoft.com/office/drawing/2015/06/chart">
            <c:ext xmlns:c16="http://schemas.microsoft.com/office/drawing/2014/chart" uri="{C3380CC4-5D6E-409C-BE32-E72D297353CC}">
              <c16:uniqueId val="{00000001-862B-4DB2-A40D-ADE911E9E1B4}"/>
            </c:ext>
          </c:extLst>
        </c:ser>
        <c:dLbls>
          <c:dLblPos val="outEnd"/>
          <c:showLegendKey val="0"/>
          <c:showVal val="1"/>
          <c:showCatName val="0"/>
          <c:showSerName val="0"/>
          <c:showPercent val="0"/>
          <c:showBubbleSize val="0"/>
        </c:dLbls>
        <c:gapWidth val="219"/>
        <c:overlap val="-27"/>
        <c:axId val="238311608"/>
        <c:axId val="238311992"/>
        <c:extLst xmlns:c16r2="http://schemas.microsoft.com/office/drawing/2015/06/chart"/>
      </c:barChart>
      <c:catAx>
        <c:axId val="2383116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38311992"/>
        <c:crosses val="autoZero"/>
        <c:auto val="1"/>
        <c:lblAlgn val="ctr"/>
        <c:lblOffset val="100"/>
        <c:noMultiLvlLbl val="0"/>
      </c:catAx>
      <c:valAx>
        <c:axId val="2383119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38311608"/>
        <c:crosses val="autoZero"/>
        <c:crossBetween val="between"/>
        <c:majorUnit val="3"/>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a:glow>
        <a:schemeClr val="accent1">
          <a:alpha val="40000"/>
        </a:schemeClr>
      </a:glow>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1" i="0" baseline="0">
                <a:solidFill>
                  <a:schemeClr val="tx1"/>
                </a:solidFill>
                <a:effectLst/>
                <a:latin typeface="Times New Roman" panose="02020603050405020304" pitchFamily="18" charset="0"/>
                <a:cs typeface="Times New Roman" panose="02020603050405020304" pitchFamily="18" charset="0"/>
              </a:rPr>
              <a:t>Thống kê ATB</a:t>
            </a:r>
            <a:endParaRPr lang="en-US" sz="1600">
              <a:solidFill>
                <a:schemeClr val="tx1"/>
              </a:solidFill>
              <a:effectLst/>
              <a:latin typeface="Times New Roman" panose="02020603050405020304" pitchFamily="18" charset="0"/>
              <a:cs typeface="Times New Roman" panose="02020603050405020304" pitchFamily="18" charset="0"/>
            </a:endParaRPr>
          </a:p>
        </c:rich>
      </c:tx>
      <c:layout/>
      <c:overlay val="0"/>
      <c:spPr>
        <a:noFill/>
        <a:ln>
          <a:noFill/>
        </a:ln>
        <a:effectLst/>
      </c:spPr>
      <c:txPr>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'Data Chart'!$C$26</c:f>
              <c:strCache>
                <c:ptCount val="1"/>
                <c:pt idx="0">
                  <c:v>Last week</c:v>
                </c:pt>
              </c:strCache>
              <c:extLst xmlns:c16r2="http://schemas.microsoft.com/office/drawing/2015/06/chart" xmlns:c15="http://schemas.microsoft.com/office/drawing/2012/chart"/>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xmlns:c16r2="http://schemas.microsoft.com/office/drawing/2015/06/chart" xmlns:c15="http://schemas.microsoft.com/office/drawing/2012/chart">
              <c:ext xmlns:c15="http://schemas.microsoft.com/office/drawing/2012/chart" uri="{CE6537A1-D6FC-4f65-9D91-7224C49458BB}">
                <c15:layout/>
                <c15:showLeaderLines val="0"/>
              </c:ext>
            </c:extLst>
          </c:dLbls>
          <c:cat>
            <c:strRef>
              <c:f>'Data Chart'!$B$27:$B$32</c:f>
              <c:strCache>
                <c:ptCount val="6"/>
                <c:pt idx="0">
                  <c:v>A320</c:v>
                </c:pt>
                <c:pt idx="1">
                  <c:v>A321</c:v>
                </c:pt>
                <c:pt idx="2">
                  <c:v>A350</c:v>
                </c:pt>
                <c:pt idx="3">
                  <c:v>B787</c:v>
                </c:pt>
                <c:pt idx="4">
                  <c:v>ATR72</c:v>
                </c:pt>
                <c:pt idx="5">
                  <c:v>Tất cả</c:v>
                </c:pt>
              </c:strCache>
              <c:extLst xmlns:c16r2="http://schemas.microsoft.com/office/drawing/2015/06/chart" xmlns:c15="http://schemas.microsoft.com/office/drawing/2012/chart"/>
            </c:strRef>
          </c:cat>
          <c:val>
            <c:numRef>
              <c:f>'Data Chart'!$C$27:$C$32</c:f>
              <c:numCache>
                <c:formatCode>General</c:formatCode>
                <c:ptCount val="6"/>
                <c:pt idx="0">
                  <c:v>0</c:v>
                </c:pt>
                <c:pt idx="1">
                  <c:v>0</c:v>
                </c:pt>
                <c:pt idx="2">
                  <c:v>0</c:v>
                </c:pt>
                <c:pt idx="3">
                  <c:v>0</c:v>
                </c:pt>
                <c:pt idx="4">
                  <c:v>0</c:v>
                </c:pt>
                <c:pt idx="5">
                  <c:v>0</c:v>
                </c:pt>
              </c:numCache>
              <c:extLst xmlns:c16r2="http://schemas.microsoft.com/office/drawing/2015/06/chart" xmlns:c15="http://schemas.microsoft.com/office/drawing/2012/chart"/>
            </c:numRef>
          </c:val>
          <c:extLst xmlns:c16r2="http://schemas.microsoft.com/office/drawing/2015/06/chart" xmlns:c15="http://schemas.microsoft.com/office/drawing/2012/chart">
            <c:ext xmlns:c16="http://schemas.microsoft.com/office/drawing/2014/chart" uri="{C3380CC4-5D6E-409C-BE32-E72D297353CC}">
              <c16:uniqueId val="{00000000-48D5-40BD-BEF8-F3AC7FAF9995}"/>
            </c:ext>
          </c:extLst>
        </c:ser>
        <c:ser>
          <c:idx val="1"/>
          <c:order val="1"/>
          <c:tx>
            <c:strRef>
              <c:f>'Data Chart'!$D$26</c:f>
              <c:strCache>
                <c:ptCount val="1"/>
                <c:pt idx="0">
                  <c:v>This week</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0"/>
              </c:ext>
            </c:extLst>
          </c:dLbls>
          <c:cat>
            <c:strRef>
              <c:f>'Data Chart'!$B$27:$B$32</c:f>
              <c:strCache>
                <c:ptCount val="6"/>
                <c:pt idx="0">
                  <c:v>A320</c:v>
                </c:pt>
                <c:pt idx="1">
                  <c:v>A321</c:v>
                </c:pt>
                <c:pt idx="2">
                  <c:v>A350</c:v>
                </c:pt>
                <c:pt idx="3">
                  <c:v>B787</c:v>
                </c:pt>
                <c:pt idx="4">
                  <c:v>ATR72</c:v>
                </c:pt>
                <c:pt idx="5">
                  <c:v>Tất cả</c:v>
                </c:pt>
              </c:strCache>
            </c:strRef>
          </c:cat>
          <c:val>
            <c:numRef>
              <c:f>'Data Chart'!$D$27:$D$32</c:f>
              <c:numCache>
                <c:formatCode>General</c:formatCode>
                <c:ptCount val="6"/>
                <c:pt idx="0">
                  <c:v>0</c:v>
                </c:pt>
                <c:pt idx="1">
                  <c:v>0</c:v>
                </c:pt>
                <c:pt idx="2">
                  <c:v>0</c:v>
                </c:pt>
                <c:pt idx="3">
                  <c:v>0</c:v>
                </c:pt>
                <c:pt idx="4">
                  <c:v>0</c:v>
                </c:pt>
                <c:pt idx="5">
                  <c:v>0</c:v>
                </c:pt>
              </c:numCache>
            </c:numRef>
          </c:val>
          <c:extLst xmlns:c16r2="http://schemas.microsoft.com/office/drawing/2015/06/chart">
            <c:ext xmlns:c16="http://schemas.microsoft.com/office/drawing/2014/chart" uri="{C3380CC4-5D6E-409C-BE32-E72D297353CC}">
              <c16:uniqueId val="{00000001-48D5-40BD-BEF8-F3AC7FAF9995}"/>
            </c:ext>
          </c:extLst>
        </c:ser>
        <c:dLbls>
          <c:showLegendKey val="0"/>
          <c:showVal val="0"/>
          <c:showCatName val="0"/>
          <c:showSerName val="0"/>
          <c:showPercent val="0"/>
          <c:showBubbleSize val="0"/>
        </c:dLbls>
        <c:gapWidth val="219"/>
        <c:overlap val="-27"/>
        <c:axId val="237247944"/>
        <c:axId val="237794200"/>
        <c:extLst xmlns:c16r2="http://schemas.microsoft.com/office/drawing/2015/06/chart"/>
      </c:barChart>
      <c:catAx>
        <c:axId val="2372479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37794200"/>
        <c:crosses val="autoZero"/>
        <c:auto val="1"/>
        <c:lblAlgn val="ctr"/>
        <c:lblOffset val="100"/>
        <c:noMultiLvlLbl val="0"/>
      </c:catAx>
      <c:valAx>
        <c:axId val="23779420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37247944"/>
        <c:crosses val="autoZero"/>
        <c:crossBetween val="between"/>
        <c:majorUnit val="1"/>
      </c:valAx>
      <c:spPr>
        <a:noFill/>
        <a:ln>
          <a:noFill/>
        </a:ln>
        <a:effectLst/>
      </c:spPr>
    </c:plotArea>
    <c:legend>
      <c:legendPos val="b"/>
      <c:layout>
        <c:manualLayout>
          <c:xMode val="edge"/>
          <c:yMode val="edge"/>
          <c:x val="0.30501405613658977"/>
          <c:y val="0.87827375237682981"/>
          <c:w val="0.50965540838670731"/>
          <c:h val="9.8401482124286316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solidFill>
      <a:schemeClr val="bg1"/>
    </a:solidFill>
    <a:ln w="12700" cap="flat" cmpd="sng" algn="ctr">
      <a:solidFill>
        <a:schemeClr val="tx1"/>
      </a:solidFill>
      <a:round/>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vert="horz"/>
          <a:lstStyle/>
          <a:p>
            <a:pPr>
              <a:defRPr sz="1600">
                <a:latin typeface="Times New Roman" panose="02020603050405020304" pitchFamily="18" charset="0"/>
                <a:cs typeface="Times New Roman" panose="02020603050405020304" pitchFamily="18" charset="0"/>
              </a:defRPr>
            </a:pPr>
            <a:r>
              <a:rPr lang="en-US" sz="1600">
                <a:latin typeface="Times New Roman" panose="02020603050405020304" pitchFamily="18" charset="0"/>
                <a:cs typeface="Times New Roman" panose="02020603050405020304" pitchFamily="18" charset="0"/>
              </a:rPr>
              <a:t>Delay</a:t>
            </a:r>
          </a:p>
        </c:rich>
      </c:tx>
      <c:layout>
        <c:manualLayout>
          <c:xMode val="edge"/>
          <c:yMode val="edge"/>
          <c:x val="0.42060411198600178"/>
          <c:y val="2.7777777777777776E-2"/>
        </c:manualLayout>
      </c:layout>
      <c:overlay val="0"/>
      <c:spPr>
        <a:noFill/>
        <a:ln>
          <a:noFill/>
        </a:ln>
        <a:effectLst/>
      </c:spPr>
    </c:title>
    <c:autoTitleDeleted val="0"/>
    <c:plotArea>
      <c:layout/>
      <c:barChart>
        <c:barDir val="col"/>
        <c:grouping val="clustered"/>
        <c:varyColors val="0"/>
        <c:ser>
          <c:idx val="0"/>
          <c:order val="0"/>
          <c:tx>
            <c:strRef>
              <c:f>'Data Chart'!$C$9</c:f>
              <c:strCache>
                <c:ptCount val="1"/>
                <c:pt idx="0">
                  <c:v>Last week</c:v>
                </c:pt>
              </c:strCache>
              <c:extLst xmlns:c15="http://schemas.microsoft.com/office/drawing/2012/chart" xmlns:c16r2="http://schemas.microsoft.com/office/drawing/2015/06/chart"/>
            </c:strRef>
          </c:tx>
          <c:spPr>
            <a:solidFill>
              <a:srgbClr val="FFC00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5="http://schemas.microsoft.com/office/drawing/2012/chart" xmlns:c16r2="http://schemas.microsoft.com/office/drawing/2015/06/chart">
              <c:ext xmlns:c15="http://schemas.microsoft.com/office/drawing/2012/chart" uri="{CE6537A1-D6FC-4f65-9D91-7224C49458BB}">
                <c15:layout/>
                <c15:showLeaderLines val="0"/>
              </c:ext>
            </c:extLst>
          </c:dLbls>
          <c:cat>
            <c:strRef>
              <c:f>'Data Chart'!$B$10:$B$15</c:f>
              <c:strCache>
                <c:ptCount val="6"/>
                <c:pt idx="0">
                  <c:v>A320</c:v>
                </c:pt>
                <c:pt idx="1">
                  <c:v>A321</c:v>
                </c:pt>
                <c:pt idx="2">
                  <c:v>A350</c:v>
                </c:pt>
                <c:pt idx="3">
                  <c:v>B787</c:v>
                </c:pt>
                <c:pt idx="4">
                  <c:v>ATR72</c:v>
                </c:pt>
                <c:pt idx="5">
                  <c:v>Tất cả</c:v>
                </c:pt>
              </c:strCache>
              <c:extLst xmlns:c15="http://schemas.microsoft.com/office/drawing/2012/chart" xmlns:c16r2="http://schemas.microsoft.com/office/drawing/2015/06/chart"/>
            </c:strRef>
          </c:cat>
          <c:val>
            <c:numRef>
              <c:f>'Data Chart'!$C$10:$C$15</c:f>
              <c:numCache>
                <c:formatCode>General</c:formatCode>
                <c:ptCount val="6"/>
                <c:pt idx="0">
                  <c:v>0</c:v>
                </c:pt>
                <c:pt idx="1">
                  <c:v>5</c:v>
                </c:pt>
                <c:pt idx="2">
                  <c:v>0</c:v>
                </c:pt>
                <c:pt idx="3">
                  <c:v>1</c:v>
                </c:pt>
                <c:pt idx="4">
                  <c:v>0</c:v>
                </c:pt>
                <c:pt idx="5">
                  <c:v>6</c:v>
                </c:pt>
              </c:numCache>
              <c:extLst xmlns:c15="http://schemas.microsoft.com/office/drawing/2012/chart" xmlns:c16r2="http://schemas.microsoft.com/office/drawing/2015/06/chart"/>
            </c:numRef>
          </c:val>
          <c:extLst xmlns:c15="http://schemas.microsoft.com/office/drawing/2012/chart" xmlns:c16r2="http://schemas.microsoft.com/office/drawing/2015/06/chart">
            <c:ext xmlns:c16="http://schemas.microsoft.com/office/drawing/2014/chart" uri="{C3380CC4-5D6E-409C-BE32-E72D297353CC}">
              <c16:uniqueId val="{00000000-74B8-4464-8585-BDAC8333DAD3}"/>
            </c:ext>
          </c:extLst>
        </c:ser>
        <c:ser>
          <c:idx val="1"/>
          <c:order val="1"/>
          <c:tx>
            <c:strRef>
              <c:f>'Data Chart'!$D$9</c:f>
              <c:strCache>
                <c:ptCount val="1"/>
                <c:pt idx="0">
                  <c:v>This week</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sz="1000">
                    <a:solidFill>
                      <a:schemeClr val="tx1"/>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0"/>
              </c:ext>
            </c:extLst>
          </c:dLbls>
          <c:cat>
            <c:strRef>
              <c:f>'Data Chart'!$B$10:$B$15</c:f>
              <c:strCache>
                <c:ptCount val="6"/>
                <c:pt idx="0">
                  <c:v>A320</c:v>
                </c:pt>
                <c:pt idx="1">
                  <c:v>A321</c:v>
                </c:pt>
                <c:pt idx="2">
                  <c:v>A350</c:v>
                </c:pt>
                <c:pt idx="3">
                  <c:v>B787</c:v>
                </c:pt>
                <c:pt idx="4">
                  <c:v>ATR72</c:v>
                </c:pt>
                <c:pt idx="5">
                  <c:v>Tất cả</c:v>
                </c:pt>
              </c:strCache>
            </c:strRef>
          </c:cat>
          <c:val>
            <c:numRef>
              <c:f>'Data Chart'!$D$10:$D$15</c:f>
              <c:numCache>
                <c:formatCode>General</c:formatCode>
                <c:ptCount val="6"/>
                <c:pt idx="0">
                  <c:v>0</c:v>
                </c:pt>
                <c:pt idx="1">
                  <c:v>4</c:v>
                </c:pt>
                <c:pt idx="2">
                  <c:v>4</c:v>
                </c:pt>
                <c:pt idx="3">
                  <c:v>0</c:v>
                </c:pt>
                <c:pt idx="4">
                  <c:v>0</c:v>
                </c:pt>
                <c:pt idx="5">
                  <c:v>8</c:v>
                </c:pt>
              </c:numCache>
            </c:numRef>
          </c:val>
          <c:extLst xmlns:c16r2="http://schemas.microsoft.com/office/drawing/2015/06/chart">
            <c:ext xmlns:c16="http://schemas.microsoft.com/office/drawing/2014/chart" uri="{C3380CC4-5D6E-409C-BE32-E72D297353CC}">
              <c16:uniqueId val="{00000001-74B8-4464-8585-BDAC8333DAD3}"/>
            </c:ext>
          </c:extLst>
        </c:ser>
        <c:dLbls>
          <c:dLblPos val="outEnd"/>
          <c:showLegendKey val="0"/>
          <c:showVal val="1"/>
          <c:showCatName val="0"/>
          <c:showSerName val="0"/>
          <c:showPercent val="0"/>
          <c:showBubbleSize val="0"/>
        </c:dLbls>
        <c:gapWidth val="219"/>
        <c:overlap val="-27"/>
        <c:axId val="237751064"/>
        <c:axId val="237750672"/>
        <c:extLst xmlns:c16r2="http://schemas.microsoft.com/office/drawing/2015/06/chart"/>
      </c:barChart>
      <c:catAx>
        <c:axId val="2377510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vert="horz"/>
          <a:lstStyle/>
          <a:p>
            <a:pPr>
              <a:defRPr>
                <a:solidFill>
                  <a:schemeClr val="tx1"/>
                </a:solidFill>
                <a:latin typeface="Times New Roman" panose="02020603050405020304" pitchFamily="18" charset="0"/>
                <a:cs typeface="Times New Roman" panose="02020603050405020304" pitchFamily="18" charset="0"/>
              </a:defRPr>
            </a:pPr>
            <a:endParaRPr lang="en-US"/>
          </a:p>
        </c:txPr>
        <c:crossAx val="237750672"/>
        <c:crosses val="autoZero"/>
        <c:auto val="1"/>
        <c:lblAlgn val="ctr"/>
        <c:lblOffset val="100"/>
        <c:noMultiLvlLbl val="0"/>
      </c:catAx>
      <c:valAx>
        <c:axId val="23775067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vert="horz"/>
          <a:lstStyle/>
          <a:p>
            <a:pPr>
              <a:defRPr>
                <a:solidFill>
                  <a:schemeClr val="tx1"/>
                </a:solidFill>
                <a:latin typeface="Times New Roman" panose="02020603050405020304" pitchFamily="18" charset="0"/>
                <a:cs typeface="Times New Roman" panose="02020603050405020304" pitchFamily="18" charset="0"/>
              </a:defRPr>
            </a:pPr>
            <a:endParaRPr lang="en-US"/>
          </a:p>
        </c:txPr>
        <c:crossAx val="237751064"/>
        <c:crosses val="autoZero"/>
        <c:crossBetween val="between"/>
        <c:majorUnit val="5"/>
      </c:valAx>
      <c:spPr>
        <a:noFill/>
        <a:ln>
          <a:noFill/>
        </a:ln>
        <a:effectLst/>
      </c:spPr>
    </c:plotArea>
    <c:legend>
      <c:legendPos val="b"/>
      <c:layout>
        <c:manualLayout>
          <c:xMode val="edge"/>
          <c:yMode val="edge"/>
          <c:x val="0.28759995625546803"/>
          <c:y val="0.89409667541557303"/>
          <c:w val="0.53172947799883274"/>
          <c:h val="7.8125546806649168E-2"/>
        </c:manualLayout>
      </c:layout>
      <c:overlay val="0"/>
      <c:spPr>
        <a:noFill/>
        <a:ln>
          <a:noFill/>
        </a:ln>
        <a:effectLst/>
      </c:spPr>
      <c:txPr>
        <a:bodyPr rot="0" vert="horz"/>
        <a:lstStyle/>
        <a:p>
          <a:pPr>
            <a:defRPr>
              <a:latin typeface="Times New Roman" panose="02020603050405020304" pitchFamily="18" charset="0"/>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a:latin typeface="+mn-lt"/>
          <a:cs typeface="Times New Roman" panose="02020603050405020304" pitchFamily="18" charset="0"/>
        </a:defRPr>
      </a:pPr>
      <a:endParaRPr lang="en-US"/>
    </a:p>
  </c:txPr>
  <c:externalData r:id="rId2">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0">
                <a:solidFill>
                  <a:schemeClr val="tx1"/>
                </a:solidFill>
                <a:latin typeface="Times New Roman" panose="02020603050405020304" pitchFamily="18" charset="0"/>
                <a:cs typeface="Times New Roman" panose="02020603050405020304" pitchFamily="18" charset="0"/>
              </a:rPr>
              <a:t>ATB Comparison</a:t>
            </a:r>
          </a:p>
        </c:rich>
      </c:tx>
      <c:layout/>
      <c:overlay val="0"/>
      <c:spPr>
        <a:noFill/>
        <a:ln>
          <a:noFill/>
        </a:ln>
        <a:effectLst/>
      </c:spPr>
    </c:title>
    <c:autoTitleDeleted val="0"/>
    <c:plotArea>
      <c:layout/>
      <c:lineChart>
        <c:grouping val="standard"/>
        <c:varyColors val="0"/>
        <c:ser>
          <c:idx val="0"/>
          <c:order val="0"/>
          <c:tx>
            <c:v>ATB in 2024</c:v>
          </c:tx>
          <c:spPr>
            <a:ln w="19050" cap="rnd">
              <a:solidFill>
                <a:srgbClr val="FFC000"/>
              </a:solidFill>
              <a:round/>
            </a:ln>
            <a:effectLst/>
          </c:spPr>
          <c:marker>
            <c:symbol val="circle"/>
            <c:size val="5"/>
            <c:spPr>
              <a:solidFill>
                <a:srgbClr val="FFC000"/>
              </a:solidFill>
              <a:ln w="9525">
                <a:solidFill>
                  <a:srgbClr val="FFC000"/>
                </a:solidFill>
              </a:ln>
              <a:effectLst/>
            </c:spPr>
          </c:marker>
          <c:cat>
            <c:numRef>
              <c:f>'Thống kê ATB, GTB'!$E$3:$E$55</c:f>
              <c:numCache>
                <c:formatCode>General</c:formatCode>
                <c:ptCount val="53"/>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numCache>
            </c:numRef>
          </c:cat>
          <c:val>
            <c:numRef>
              <c:f>'Thống kê ATB, GTB'!$B$3:$B$54</c:f>
              <c:numCache>
                <c:formatCode>General</c:formatCode>
                <c:ptCount val="52"/>
                <c:pt idx="0">
                  <c:v>1</c:v>
                </c:pt>
                <c:pt idx="1">
                  <c:v>1</c:v>
                </c:pt>
                <c:pt idx="2">
                  <c:v>1</c:v>
                </c:pt>
                <c:pt idx="3">
                  <c:v>0</c:v>
                </c:pt>
                <c:pt idx="4">
                  <c:v>1</c:v>
                </c:pt>
                <c:pt idx="5">
                  <c:v>0</c:v>
                </c:pt>
                <c:pt idx="6">
                  <c:v>1</c:v>
                </c:pt>
                <c:pt idx="7">
                  <c:v>0</c:v>
                </c:pt>
                <c:pt idx="8">
                  <c:v>0</c:v>
                </c:pt>
                <c:pt idx="9">
                  <c:v>0</c:v>
                </c:pt>
                <c:pt idx="10">
                  <c:v>0</c:v>
                </c:pt>
                <c:pt idx="11">
                  <c:v>0</c:v>
                </c:pt>
                <c:pt idx="12">
                  <c:v>0</c:v>
                </c:pt>
                <c:pt idx="13">
                  <c:v>0</c:v>
                </c:pt>
                <c:pt idx="14">
                  <c:v>0</c:v>
                </c:pt>
                <c:pt idx="15">
                  <c:v>0</c:v>
                </c:pt>
                <c:pt idx="16">
                  <c:v>0</c:v>
                </c:pt>
                <c:pt idx="17">
                  <c:v>0</c:v>
                </c:pt>
                <c:pt idx="18">
                  <c:v>0</c:v>
                </c:pt>
                <c:pt idx="19">
                  <c:v>1</c:v>
                </c:pt>
                <c:pt idx="20">
                  <c:v>0</c:v>
                </c:pt>
                <c:pt idx="21">
                  <c:v>0</c:v>
                </c:pt>
                <c:pt idx="22">
                  <c:v>1</c:v>
                </c:pt>
                <c:pt idx="23">
                  <c:v>0</c:v>
                </c:pt>
                <c:pt idx="24">
                  <c:v>0</c:v>
                </c:pt>
                <c:pt idx="25">
                  <c:v>0</c:v>
                </c:pt>
                <c:pt idx="26">
                  <c:v>1</c:v>
                </c:pt>
                <c:pt idx="27">
                  <c:v>2</c:v>
                </c:pt>
                <c:pt idx="28">
                  <c:v>0</c:v>
                </c:pt>
                <c:pt idx="29">
                  <c:v>2</c:v>
                </c:pt>
                <c:pt idx="30">
                  <c:v>0</c:v>
                </c:pt>
                <c:pt idx="31">
                  <c:v>0</c:v>
                </c:pt>
                <c:pt idx="32">
                  <c:v>0</c:v>
                </c:pt>
                <c:pt idx="33">
                  <c:v>0</c:v>
                </c:pt>
                <c:pt idx="34">
                  <c:v>0</c:v>
                </c:pt>
                <c:pt idx="35">
                  <c:v>0</c:v>
                </c:pt>
                <c:pt idx="36">
                  <c:v>1</c:v>
                </c:pt>
                <c:pt idx="37">
                  <c:v>0</c:v>
                </c:pt>
                <c:pt idx="38">
                  <c:v>1</c:v>
                </c:pt>
                <c:pt idx="39">
                  <c:v>0</c:v>
                </c:pt>
                <c:pt idx="40">
                  <c:v>1</c:v>
                </c:pt>
                <c:pt idx="41">
                  <c:v>0</c:v>
                </c:pt>
                <c:pt idx="42">
                  <c:v>0</c:v>
                </c:pt>
                <c:pt idx="43">
                  <c:v>1</c:v>
                </c:pt>
                <c:pt idx="44">
                  <c:v>0</c:v>
                </c:pt>
                <c:pt idx="45">
                  <c:v>0</c:v>
                </c:pt>
                <c:pt idx="46">
                  <c:v>0</c:v>
                </c:pt>
                <c:pt idx="47">
                  <c:v>1</c:v>
                </c:pt>
                <c:pt idx="48">
                  <c:v>0</c:v>
                </c:pt>
                <c:pt idx="49">
                  <c:v>2</c:v>
                </c:pt>
                <c:pt idx="50">
                  <c:v>1</c:v>
                </c:pt>
                <c:pt idx="51">
                  <c:v>0</c:v>
                </c:pt>
              </c:numCache>
            </c:numRef>
          </c:val>
          <c:smooth val="0"/>
          <c:extLst xmlns:c16r2="http://schemas.microsoft.com/office/drawing/2015/06/chart">
            <c:ext xmlns:c16="http://schemas.microsoft.com/office/drawing/2014/chart" uri="{C3380CC4-5D6E-409C-BE32-E72D297353CC}">
              <c16:uniqueId val="{00000000-7947-47E7-8A47-4B54E005FA44}"/>
            </c:ext>
          </c:extLst>
        </c:ser>
        <c:ser>
          <c:idx val="1"/>
          <c:order val="1"/>
          <c:tx>
            <c:v>ATB in 2025</c:v>
          </c:tx>
          <c:spPr>
            <a:ln w="19050" cap="rnd">
              <a:solidFill>
                <a:srgbClr val="00B0F0"/>
              </a:solidFill>
              <a:round/>
            </a:ln>
            <a:effectLst/>
          </c:spPr>
          <c:marker>
            <c:symbol val="circle"/>
            <c:size val="5"/>
            <c:spPr>
              <a:solidFill>
                <a:srgbClr val="00B0F0"/>
              </a:solidFill>
              <a:ln w="9525">
                <a:solidFill>
                  <a:srgbClr val="00B0F0"/>
                </a:solidFill>
              </a:ln>
              <a:effectLst/>
            </c:spPr>
          </c:marker>
          <c:cat>
            <c:numRef>
              <c:f>'Thống kê ATB, GTB'!$E$3:$E$55</c:f>
              <c:numCache>
                <c:formatCode>General</c:formatCode>
                <c:ptCount val="53"/>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numCache>
            </c:numRef>
          </c:cat>
          <c:val>
            <c:numRef>
              <c:f>'Thống kê ATB, GTB'!$F$3:$F$54</c:f>
              <c:numCache>
                <c:formatCode>General</c:formatCode>
                <c:ptCount val="52"/>
                <c:pt idx="0">
                  <c:v>0</c:v>
                </c:pt>
                <c:pt idx="1">
                  <c:v>0</c:v>
                </c:pt>
              </c:numCache>
            </c:numRef>
          </c:val>
          <c:smooth val="0"/>
          <c:extLst xmlns:c16r2="http://schemas.microsoft.com/office/drawing/2015/06/chart">
            <c:ext xmlns:c16="http://schemas.microsoft.com/office/drawing/2014/chart" uri="{C3380CC4-5D6E-409C-BE32-E72D297353CC}">
              <c16:uniqueId val="{00000001-7947-47E7-8A47-4B54E005FA44}"/>
            </c:ext>
          </c:extLst>
        </c:ser>
        <c:dLbls>
          <c:showLegendKey val="0"/>
          <c:showVal val="0"/>
          <c:showCatName val="0"/>
          <c:showSerName val="0"/>
          <c:showPercent val="0"/>
          <c:showBubbleSize val="0"/>
        </c:dLbls>
        <c:marker val="1"/>
        <c:smooth val="0"/>
        <c:axId val="237751848"/>
        <c:axId val="237752240"/>
      </c:lineChart>
      <c:catAx>
        <c:axId val="237751848"/>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Week</a:t>
                </a:r>
              </a:p>
            </c:rich>
          </c:tx>
          <c:layout>
            <c:manualLayout>
              <c:xMode val="edge"/>
              <c:yMode val="edge"/>
              <c:x val="0.4474479109594402"/>
              <c:y val="0.9044444444444445"/>
            </c:manualLayout>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37752240"/>
        <c:crosses val="autoZero"/>
        <c:auto val="1"/>
        <c:lblAlgn val="ctr"/>
        <c:lblOffset val="100"/>
        <c:noMultiLvlLbl val="0"/>
      </c:catAx>
      <c:valAx>
        <c:axId val="237752240"/>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ATB</a:t>
                </a:r>
              </a:p>
            </c:rich>
          </c:tx>
          <c:layout>
            <c:manualLayout>
              <c:xMode val="edge"/>
              <c:yMode val="edge"/>
              <c:x val="9.2776673293571907E-3"/>
              <c:y val="0.43418862642169731"/>
            </c:manualLayout>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37751848"/>
        <c:crosses val="autoZero"/>
        <c:crossBetween val="between"/>
        <c:majorUnit val="1"/>
        <c:minorUnit val="1"/>
      </c:valAx>
      <c:spPr>
        <a:noFill/>
        <a:ln>
          <a:solidFill>
            <a:schemeClr val="tx1">
              <a:lumMod val="25000"/>
              <a:lumOff val="75000"/>
            </a:schemeClr>
          </a:solidFill>
        </a:ln>
        <a:effectLst/>
      </c:spPr>
    </c:plotArea>
    <c:legend>
      <c:legendPos val="r"/>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0">
                <a:solidFill>
                  <a:schemeClr val="tx1"/>
                </a:solidFill>
                <a:latin typeface="Times New Roman" panose="02020603050405020304" pitchFamily="18" charset="0"/>
                <a:cs typeface="Times New Roman" panose="02020603050405020304" pitchFamily="18" charset="0"/>
              </a:rPr>
              <a:t>GTB Comparison</a:t>
            </a:r>
          </a:p>
        </c:rich>
      </c:tx>
      <c:layout/>
      <c:overlay val="0"/>
      <c:spPr>
        <a:noFill/>
        <a:ln>
          <a:noFill/>
        </a:ln>
        <a:effectLst/>
      </c:spPr>
    </c:title>
    <c:autoTitleDeleted val="0"/>
    <c:plotArea>
      <c:layout/>
      <c:lineChart>
        <c:grouping val="standard"/>
        <c:varyColors val="0"/>
        <c:ser>
          <c:idx val="0"/>
          <c:order val="0"/>
          <c:tx>
            <c:v>GTB in 2024</c:v>
          </c:tx>
          <c:spPr>
            <a:ln w="19050" cap="rnd">
              <a:solidFill>
                <a:srgbClr val="FFC000"/>
              </a:solidFill>
              <a:round/>
            </a:ln>
            <a:effectLst/>
          </c:spPr>
          <c:marker>
            <c:symbol val="circle"/>
            <c:size val="5"/>
            <c:spPr>
              <a:solidFill>
                <a:srgbClr val="FFC000"/>
              </a:solidFill>
              <a:ln w="9525">
                <a:solidFill>
                  <a:srgbClr val="FFC000"/>
                </a:solidFill>
              </a:ln>
              <a:effectLst/>
            </c:spPr>
          </c:marker>
          <c:val>
            <c:numRef>
              <c:f>'Thống kê ATB, GTB'!$C$3:$C$54</c:f>
              <c:numCache>
                <c:formatCode>General</c:formatCode>
                <c:ptCount val="52"/>
                <c:pt idx="0">
                  <c:v>2</c:v>
                </c:pt>
                <c:pt idx="1">
                  <c:v>1</c:v>
                </c:pt>
                <c:pt idx="2">
                  <c:v>1</c:v>
                </c:pt>
                <c:pt idx="3">
                  <c:v>3</c:v>
                </c:pt>
                <c:pt idx="4">
                  <c:v>0</c:v>
                </c:pt>
                <c:pt idx="5">
                  <c:v>4</c:v>
                </c:pt>
                <c:pt idx="6">
                  <c:v>2</c:v>
                </c:pt>
                <c:pt idx="7">
                  <c:v>2</c:v>
                </c:pt>
                <c:pt idx="8">
                  <c:v>4</c:v>
                </c:pt>
                <c:pt idx="9">
                  <c:v>2</c:v>
                </c:pt>
                <c:pt idx="10">
                  <c:v>0</c:v>
                </c:pt>
                <c:pt idx="11">
                  <c:v>0</c:v>
                </c:pt>
                <c:pt idx="12">
                  <c:v>2</c:v>
                </c:pt>
                <c:pt idx="13">
                  <c:v>3</c:v>
                </c:pt>
                <c:pt idx="14">
                  <c:v>1</c:v>
                </c:pt>
                <c:pt idx="15">
                  <c:v>0</c:v>
                </c:pt>
                <c:pt idx="16">
                  <c:v>6</c:v>
                </c:pt>
                <c:pt idx="17">
                  <c:v>2</c:v>
                </c:pt>
                <c:pt idx="18">
                  <c:v>1</c:v>
                </c:pt>
                <c:pt idx="19">
                  <c:v>0</c:v>
                </c:pt>
                <c:pt idx="20">
                  <c:v>2</c:v>
                </c:pt>
                <c:pt idx="21">
                  <c:v>4</c:v>
                </c:pt>
                <c:pt idx="22">
                  <c:v>1</c:v>
                </c:pt>
                <c:pt idx="23">
                  <c:v>1</c:v>
                </c:pt>
                <c:pt idx="24">
                  <c:v>2</c:v>
                </c:pt>
                <c:pt idx="25">
                  <c:v>3</c:v>
                </c:pt>
                <c:pt idx="26">
                  <c:v>1</c:v>
                </c:pt>
                <c:pt idx="27">
                  <c:v>3</c:v>
                </c:pt>
                <c:pt idx="28">
                  <c:v>0</c:v>
                </c:pt>
                <c:pt idx="29">
                  <c:v>1</c:v>
                </c:pt>
                <c:pt idx="30">
                  <c:v>1</c:v>
                </c:pt>
                <c:pt idx="31">
                  <c:v>3</c:v>
                </c:pt>
                <c:pt idx="32">
                  <c:v>2</c:v>
                </c:pt>
                <c:pt idx="33">
                  <c:v>1</c:v>
                </c:pt>
                <c:pt idx="34">
                  <c:v>1</c:v>
                </c:pt>
                <c:pt idx="35">
                  <c:v>1</c:v>
                </c:pt>
                <c:pt idx="36">
                  <c:v>1</c:v>
                </c:pt>
                <c:pt idx="37">
                  <c:v>0</c:v>
                </c:pt>
                <c:pt idx="38">
                  <c:v>2</c:v>
                </c:pt>
                <c:pt idx="39">
                  <c:v>2</c:v>
                </c:pt>
                <c:pt idx="40">
                  <c:v>0</c:v>
                </c:pt>
                <c:pt idx="41">
                  <c:v>4</c:v>
                </c:pt>
                <c:pt idx="42">
                  <c:v>0</c:v>
                </c:pt>
                <c:pt idx="43">
                  <c:v>1</c:v>
                </c:pt>
                <c:pt idx="44">
                  <c:v>1</c:v>
                </c:pt>
                <c:pt idx="45">
                  <c:v>3</c:v>
                </c:pt>
                <c:pt idx="46">
                  <c:v>0</c:v>
                </c:pt>
                <c:pt idx="47">
                  <c:v>3</c:v>
                </c:pt>
                <c:pt idx="48">
                  <c:v>0</c:v>
                </c:pt>
                <c:pt idx="49">
                  <c:v>7</c:v>
                </c:pt>
                <c:pt idx="50">
                  <c:v>5</c:v>
                </c:pt>
                <c:pt idx="51">
                  <c:v>1</c:v>
                </c:pt>
              </c:numCache>
            </c:numRef>
          </c:val>
          <c:smooth val="0"/>
          <c:extLst xmlns:c16r2="http://schemas.microsoft.com/office/drawing/2015/06/chart">
            <c:ext xmlns:c16="http://schemas.microsoft.com/office/drawing/2014/chart" uri="{C3380CC4-5D6E-409C-BE32-E72D297353CC}">
              <c16:uniqueId val="{00000000-8DC2-4125-B660-531F5DDD8413}"/>
            </c:ext>
          </c:extLst>
        </c:ser>
        <c:ser>
          <c:idx val="1"/>
          <c:order val="1"/>
          <c:tx>
            <c:v>GTB in 2025</c:v>
          </c:tx>
          <c:spPr>
            <a:ln w="19050" cap="rnd">
              <a:solidFill>
                <a:srgbClr val="00B0F0"/>
              </a:solidFill>
              <a:round/>
            </a:ln>
            <a:effectLst/>
          </c:spPr>
          <c:marker>
            <c:symbol val="circle"/>
            <c:size val="5"/>
            <c:spPr>
              <a:solidFill>
                <a:srgbClr val="00B0F0"/>
              </a:solidFill>
              <a:ln w="9525">
                <a:solidFill>
                  <a:srgbClr val="00B0F0"/>
                </a:solidFill>
              </a:ln>
              <a:effectLst/>
            </c:spPr>
          </c:marker>
          <c:val>
            <c:numRef>
              <c:f>'Thống kê ATB, GTB'!$G$3:$G$54</c:f>
              <c:numCache>
                <c:formatCode>General</c:formatCode>
                <c:ptCount val="52"/>
                <c:pt idx="0">
                  <c:v>1</c:v>
                </c:pt>
                <c:pt idx="1">
                  <c:v>2</c:v>
                </c:pt>
              </c:numCache>
            </c:numRef>
          </c:val>
          <c:smooth val="0"/>
          <c:extLst xmlns:c16r2="http://schemas.microsoft.com/office/drawing/2015/06/chart">
            <c:ext xmlns:c16="http://schemas.microsoft.com/office/drawing/2014/chart" uri="{C3380CC4-5D6E-409C-BE32-E72D297353CC}">
              <c16:uniqueId val="{00000001-8DC2-4125-B660-531F5DDD8413}"/>
            </c:ext>
          </c:extLst>
        </c:ser>
        <c:dLbls>
          <c:showLegendKey val="0"/>
          <c:showVal val="0"/>
          <c:showCatName val="0"/>
          <c:showSerName val="0"/>
          <c:showPercent val="0"/>
          <c:showBubbleSize val="0"/>
        </c:dLbls>
        <c:marker val="1"/>
        <c:smooth val="0"/>
        <c:axId val="237749888"/>
        <c:axId val="275469136"/>
      </c:lineChart>
      <c:catAx>
        <c:axId val="237749888"/>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Week</a:t>
                </a:r>
              </a:p>
            </c:rich>
          </c:tx>
          <c:layout>
            <c:manualLayout>
              <c:xMode val="edge"/>
              <c:yMode val="edge"/>
              <c:x val="0.44707953377849297"/>
              <c:y val="0.91333330300378057"/>
            </c:manualLayout>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75469136"/>
        <c:crosses val="autoZero"/>
        <c:auto val="1"/>
        <c:lblAlgn val="ctr"/>
        <c:lblOffset val="100"/>
        <c:noMultiLvlLbl val="0"/>
      </c:catAx>
      <c:valAx>
        <c:axId val="275469136"/>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GTB</a:t>
                </a:r>
              </a:p>
            </c:rich>
          </c:tx>
          <c:layout>
            <c:manualLayout>
              <c:xMode val="edge"/>
              <c:yMode val="edge"/>
              <c:x val="9.2876556191622411E-3"/>
              <c:y val="0.42974433236897019"/>
            </c:manualLayout>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37749888"/>
        <c:crosses val="autoZero"/>
        <c:crossBetween val="between"/>
      </c:valAx>
      <c:spPr>
        <a:noFill/>
        <a:ln>
          <a:noFill/>
        </a:ln>
        <a:effectLst/>
      </c:spPr>
    </c:plotArea>
    <c:legend>
      <c:legendPos val="r"/>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6484713059516321E-2"/>
          <c:y val="6.2711374378903909E-2"/>
          <c:w val="0.92226413421295206"/>
          <c:h val="0.76374283652369968"/>
        </c:manualLayout>
      </c:layout>
      <c:barChart>
        <c:barDir val="col"/>
        <c:grouping val="clustered"/>
        <c:varyColors val="0"/>
        <c:ser>
          <c:idx val="0"/>
          <c:order val="0"/>
          <c:tx>
            <c:strRef>
              <c:f>DR!$C$3</c:f>
              <c:strCache>
                <c:ptCount val="1"/>
                <c:pt idx="0">
                  <c:v>W01</c:v>
                </c:pt>
              </c:strCache>
            </c:strRef>
          </c:tx>
          <c:spPr>
            <a:solidFill>
              <a:schemeClr val="accent5">
                <a:lumMod val="50000"/>
              </a:schemeClr>
            </a:solidFill>
            <a:ln>
              <a:noFill/>
            </a:ln>
            <a:effectLst/>
          </c:spPr>
          <c:invertIfNegative val="0"/>
          <c:dLbls>
            <c:dLbl>
              <c:idx val="0"/>
              <c:layout>
                <c:manualLayout>
                  <c:x val="-4.4182621502209382E-3"/>
                  <c:y val="-1.1121491174714888E-7"/>
                </c:manualLayout>
              </c:layout>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0-DC64-4E90-BD51-28C9A88FE397}"/>
                </c:ext>
                <c:ext xmlns:c15="http://schemas.microsoft.com/office/drawing/2012/chart" uri="{CE6537A1-D6FC-4f65-9D91-7224C49458BB}">
                  <c15:layout>
                    <c:manualLayout>
                      <c:w val="4.8703937780973254E-2"/>
                      <c:h val="6.3644067796610151E-2"/>
                    </c:manualLayout>
                  </c15:layout>
                </c:ext>
              </c:extLst>
            </c:dLbl>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ext>
            </c:extLst>
          </c:dLbls>
          <c:cat>
            <c:strRef>
              <c:f>DR!$B$5:$B$8</c:f>
              <c:strCache>
                <c:ptCount val="4"/>
                <c:pt idx="0">
                  <c:v>A321</c:v>
                </c:pt>
                <c:pt idx="1">
                  <c:v>A350</c:v>
                </c:pt>
                <c:pt idx="2">
                  <c:v>B787</c:v>
                </c:pt>
                <c:pt idx="3">
                  <c:v>ATR72</c:v>
                </c:pt>
              </c:strCache>
            </c:strRef>
          </c:cat>
          <c:val>
            <c:numRef>
              <c:f>DR!$C$5:$C$8</c:f>
              <c:numCache>
                <c:formatCode>0.00</c:formatCode>
                <c:ptCount val="4"/>
                <c:pt idx="0">
                  <c:v>99.73147153598282</c:v>
                </c:pt>
                <c:pt idx="1">
                  <c:v>99.375</c:v>
                </c:pt>
                <c:pt idx="2">
                  <c:v>99.714285714285708</c:v>
                </c:pt>
                <c:pt idx="3">
                  <c:v>99.53051643192488</c:v>
                </c:pt>
              </c:numCache>
            </c:numRef>
          </c:val>
          <c:extLst xmlns:c16r2="http://schemas.microsoft.com/office/drawing/2015/06/chart">
            <c:ext xmlns:c16="http://schemas.microsoft.com/office/drawing/2014/chart" uri="{C3380CC4-5D6E-409C-BE32-E72D297353CC}">
              <c16:uniqueId val="{00000001-DC64-4E90-BD51-28C9A88FE397}"/>
            </c:ext>
          </c:extLst>
        </c:ser>
        <c:ser>
          <c:idx val="1"/>
          <c:order val="1"/>
          <c:tx>
            <c:strRef>
              <c:f>DR!$D$3</c:f>
              <c:strCache>
                <c:ptCount val="1"/>
                <c:pt idx="0">
                  <c:v>W02</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ext>
            </c:extLst>
          </c:dLbls>
          <c:cat>
            <c:strRef>
              <c:f>DR!$B$5:$B$8</c:f>
              <c:strCache>
                <c:ptCount val="4"/>
                <c:pt idx="0">
                  <c:v>A321</c:v>
                </c:pt>
                <c:pt idx="1">
                  <c:v>A350</c:v>
                </c:pt>
                <c:pt idx="2">
                  <c:v>B787</c:v>
                </c:pt>
                <c:pt idx="3">
                  <c:v>ATR72</c:v>
                </c:pt>
              </c:strCache>
            </c:strRef>
          </c:cat>
          <c:val>
            <c:numRef>
              <c:f>DR!$D$5:$D$8</c:f>
              <c:numCache>
                <c:formatCode>0.00</c:formatCode>
                <c:ptCount val="4"/>
                <c:pt idx="0">
                  <c:v>99.779005524861873</c:v>
                </c:pt>
                <c:pt idx="1">
                  <c:v>97.604790419161674</c:v>
                </c:pt>
                <c:pt idx="2">
                  <c:v>100</c:v>
                </c:pt>
                <c:pt idx="3">
                  <c:v>100</c:v>
                </c:pt>
              </c:numCache>
            </c:numRef>
          </c:val>
          <c:extLst xmlns:c16r2="http://schemas.microsoft.com/office/drawing/2015/06/chart">
            <c:ext xmlns:c16="http://schemas.microsoft.com/office/drawing/2014/chart" uri="{C3380CC4-5D6E-409C-BE32-E72D297353CC}">
              <c16:uniqueId val="{00000002-DC64-4E90-BD51-28C9A88FE397}"/>
            </c:ext>
          </c:extLst>
        </c:ser>
        <c:ser>
          <c:idx val="2"/>
          <c:order val="3"/>
          <c:tx>
            <c:strRef>
              <c:f>DR!$F$3</c:f>
              <c:strCache>
                <c:ptCount val="1"/>
                <c:pt idx="0">
                  <c:v>Target</c:v>
                </c:pt>
              </c:strCache>
            </c:strRef>
          </c:tx>
          <c:spPr>
            <a:solidFill>
              <a:srgbClr val="FFC000"/>
            </a:solidFill>
          </c:spPr>
          <c:invertIfNegative val="0"/>
          <c:dLbls>
            <c:dLbl>
              <c:idx val="0"/>
              <c:spPr>
                <a:noFill/>
                <a:ln>
                  <a:noFill/>
                </a:ln>
                <a:effectLst/>
              </c:spPr>
              <c:txPr>
                <a:bodyPr wrap="square" lIns="38100" tIns="19050" rIns="38100" bIns="19050" anchor="ctr">
                  <a:noAutofit/>
                </a:bodyPr>
                <a:lstStyle/>
                <a:p>
                  <a:pPr>
                    <a:defRPr sz="1100" b="1">
                      <a:solidFill>
                        <a:srgbClr val="FF0000"/>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3-DC64-4E90-BD51-28C9A88FE397}"/>
                </c:ext>
                <c:ext xmlns:c15="http://schemas.microsoft.com/office/drawing/2012/chart" uri="{CE6537A1-D6FC-4f65-9D91-7224C49458BB}">
                  <c15:spPr xmlns:c15="http://schemas.microsoft.com/office/drawing/2012/chart">
                    <a:prstGeom prst="rect">
                      <a:avLst/>
                    </a:prstGeom>
                  </c15:spPr>
                </c:ext>
              </c:extLst>
            </c:dLbl>
            <c:spPr>
              <a:noFill/>
              <a:ln>
                <a:noFill/>
              </a:ln>
              <a:effectLst/>
            </c:spPr>
            <c:txPr>
              <a:bodyPr wrap="square" lIns="38100" tIns="19050" rIns="38100" bIns="19050" anchor="ctr">
                <a:spAutoFit/>
              </a:bodyPr>
              <a:lstStyle/>
              <a:p>
                <a:pPr>
                  <a:defRPr sz="1100" b="1">
                    <a:solidFill>
                      <a:srgbClr val="FF0000"/>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ext>
            </c:extLst>
          </c:dLbls>
          <c:cat>
            <c:strRef>
              <c:f>DR!$B$5:$B$8</c:f>
              <c:strCache>
                <c:ptCount val="4"/>
                <c:pt idx="0">
                  <c:v>A321</c:v>
                </c:pt>
                <c:pt idx="1">
                  <c:v>A350</c:v>
                </c:pt>
                <c:pt idx="2">
                  <c:v>B787</c:v>
                </c:pt>
                <c:pt idx="3">
                  <c:v>ATR72</c:v>
                </c:pt>
              </c:strCache>
            </c:strRef>
          </c:cat>
          <c:val>
            <c:numRef>
              <c:f>DR!$F$5:$F$8</c:f>
              <c:numCache>
                <c:formatCode>0.00</c:formatCode>
                <c:ptCount val="4"/>
                <c:pt idx="0">
                  <c:v>99.63</c:v>
                </c:pt>
                <c:pt idx="1">
                  <c:v>99.44</c:v>
                </c:pt>
                <c:pt idx="2">
                  <c:v>99.36</c:v>
                </c:pt>
                <c:pt idx="3">
                  <c:v>99.65</c:v>
                </c:pt>
              </c:numCache>
            </c:numRef>
          </c:val>
          <c:extLst xmlns:c16r2="http://schemas.microsoft.com/office/drawing/2015/06/chart">
            <c:ext xmlns:c16="http://schemas.microsoft.com/office/drawing/2014/chart" uri="{C3380CC4-5D6E-409C-BE32-E72D297353CC}">
              <c16:uniqueId val="{00000004-DC64-4E90-BD51-28C9A88FE397}"/>
            </c:ext>
          </c:extLst>
        </c:ser>
        <c:dLbls>
          <c:showLegendKey val="0"/>
          <c:showVal val="0"/>
          <c:showCatName val="0"/>
          <c:showSerName val="0"/>
          <c:showPercent val="0"/>
          <c:showBubbleSize val="0"/>
        </c:dLbls>
        <c:gapWidth val="219"/>
        <c:overlap val="-27"/>
        <c:axId val="275474232"/>
        <c:axId val="275471880"/>
        <c:extLst xmlns:c16r2="http://schemas.microsoft.com/office/drawing/2015/06/chart">
          <c:ext xmlns:c15="http://schemas.microsoft.com/office/drawing/2012/chart" uri="{02D57815-91ED-43cb-92C2-25804820EDAC}">
            <c15:filteredBarSeries>
              <c15:ser>
                <c:idx val="3"/>
                <c:order val="2"/>
                <c:tx>
                  <c:strRef>
                    <c:extLst xmlns:c16r2="http://schemas.microsoft.com/office/drawing/2015/06/chart">
                      <c:ext uri="{02D57815-91ED-43cb-92C2-25804820EDAC}">
                        <c15:formulaRef>
                          <c15:sqref>DR!$E$3</c15:sqref>
                        </c15:formulaRef>
                      </c:ext>
                    </c:extLst>
                    <c:strCache>
                      <c:ptCount val="1"/>
                    </c:strCache>
                  </c:strRef>
                </c:tx>
                <c:invertIfNegative val="0"/>
                <c:dLbls>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xmlns:c16r2="http://schemas.microsoft.com/office/drawing/2015/06/chart">
                    <c:ext uri="{CE6537A1-D6FC-4f65-9D91-7224C49458BB}">
                      <c15:showLeaderLines val="1"/>
                    </c:ext>
                  </c:extLst>
                </c:dLbls>
                <c:cat>
                  <c:strRef>
                    <c:extLst xmlns:c16r2="http://schemas.microsoft.com/office/drawing/2015/06/chart">
                      <c:ext uri="{02D57815-91ED-43cb-92C2-25804820EDAC}">
                        <c15:formulaRef>
                          <c15:sqref>DR!$B$5:$B$8</c15:sqref>
                        </c15:formulaRef>
                      </c:ext>
                    </c:extLst>
                    <c:strCache>
                      <c:ptCount val="4"/>
                      <c:pt idx="0">
                        <c:v>A321</c:v>
                      </c:pt>
                      <c:pt idx="1">
                        <c:v>A350</c:v>
                      </c:pt>
                      <c:pt idx="2">
                        <c:v>B787</c:v>
                      </c:pt>
                      <c:pt idx="3">
                        <c:v>ATR72</c:v>
                      </c:pt>
                    </c:strCache>
                  </c:strRef>
                </c:cat>
                <c:val>
                  <c:numRef>
                    <c:extLst xmlns:c16r2="http://schemas.microsoft.com/office/drawing/2015/06/chart">
                      <c:ext uri="{02D57815-91ED-43cb-92C2-25804820EDAC}">
                        <c15:formulaRef>
                          <c15:sqref>DR!$E$5:$E$8</c15:sqref>
                        </c15:formulaRef>
                      </c:ext>
                    </c:extLst>
                    <c:numCache>
                      <c:formatCode>General</c:formatCode>
                      <c:ptCount val="4"/>
                    </c:numCache>
                  </c:numRef>
                </c:val>
                <c:extLst xmlns:c16r2="http://schemas.microsoft.com/office/drawing/2015/06/chart">
                  <c:ext xmlns:c16="http://schemas.microsoft.com/office/drawing/2014/chart" uri="{C3380CC4-5D6E-409C-BE32-E72D297353CC}">
                    <c16:uniqueId val="{00000005-DC64-4E90-BD51-28C9A88FE397}"/>
                  </c:ext>
                </c:extLst>
              </c15:ser>
            </c15:filteredBarSeries>
          </c:ext>
        </c:extLst>
      </c:barChart>
      <c:catAx>
        <c:axId val="275474232"/>
        <c:scaling>
          <c:orientation val="minMax"/>
        </c:scaling>
        <c:delete val="0"/>
        <c:axPos val="b"/>
        <c:numFmt formatCode="General" sourceLinked="1"/>
        <c:majorTickMark val="none"/>
        <c:minorTickMark val="none"/>
        <c:tickLblPos val="nextTo"/>
        <c:spPr>
          <a:noFill/>
          <a:ln w="19050" cap="flat" cmpd="sng" algn="ctr">
            <a:solidFill>
              <a:srgbClr val="000000"/>
            </a:solidFill>
            <a:round/>
            <a:tailEnd type="triangle"/>
          </a:ln>
          <a:effectLst/>
        </c:spPr>
        <c:txPr>
          <a:bodyPr rot="-6000000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crossAx val="275471880"/>
        <c:crosses val="autoZero"/>
        <c:auto val="1"/>
        <c:lblAlgn val="ctr"/>
        <c:lblOffset val="100"/>
        <c:noMultiLvlLbl val="0"/>
      </c:catAx>
      <c:valAx>
        <c:axId val="275471880"/>
        <c:scaling>
          <c:orientation val="minMax"/>
          <c:max val="100"/>
          <c:min val="95"/>
        </c:scaling>
        <c:delete val="0"/>
        <c:axPos val="l"/>
        <c:numFmt formatCode="0.0" sourceLinked="0"/>
        <c:majorTickMark val="none"/>
        <c:minorTickMark val="none"/>
        <c:tickLblPos val="nextTo"/>
        <c:spPr>
          <a:noFill/>
          <a:ln w="15875">
            <a:solidFill>
              <a:srgbClr val="000000"/>
            </a:solidFill>
            <a:tailEnd type="triangle"/>
          </a:ln>
          <a:effectLst/>
        </c:spPr>
        <c:txPr>
          <a:bodyPr rot="-6000000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crossAx val="275474232"/>
        <c:crosses val="autoZero"/>
        <c:crossBetween val="between"/>
        <c:majorUnit val="1"/>
        <c:minorUnit val="0.5"/>
      </c:valAx>
      <c:spPr>
        <a:noFill/>
        <a:ln>
          <a:noFill/>
        </a:ln>
        <a:effectLst/>
      </c:spPr>
    </c:plotArea>
    <c:legend>
      <c:legendPos val="b"/>
      <c:layout>
        <c:manualLayout>
          <c:xMode val="edge"/>
          <c:yMode val="edge"/>
          <c:x val="0.33530118013598875"/>
          <c:y val="0.93235963844755665"/>
          <c:w val="0.28837344986830094"/>
          <c:h val="6.7640217261685578E-2"/>
        </c:manualLayout>
      </c:layout>
      <c:overlay val="0"/>
      <c:spPr>
        <a:noFill/>
        <a:ln>
          <a:noFill/>
        </a:ln>
        <a:effectLst/>
      </c:spPr>
      <c:txPr>
        <a:bodyPr rot="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4789942122619287E-2"/>
          <c:y val="4.4293689684825485E-2"/>
          <c:w val="0.93681234355610998"/>
          <c:h val="0.8358298845569484"/>
        </c:manualLayout>
      </c:layout>
      <c:lineChart>
        <c:grouping val="standard"/>
        <c:varyColors val="0"/>
        <c:ser>
          <c:idx val="0"/>
          <c:order val="0"/>
          <c:tx>
            <c:strRef>
              <c:f>Sheet1!$C$8</c:f>
              <c:strCache>
                <c:ptCount val="1"/>
                <c:pt idx="0">
                  <c:v>A321CEO</c:v>
                </c:pt>
              </c:strCache>
            </c:strRef>
          </c:tx>
          <c:spPr>
            <a:ln w="19050" cap="rnd">
              <a:solidFill>
                <a:srgbClr val="FFC000"/>
              </a:solidFill>
              <a:round/>
            </a:ln>
            <a:effectLst/>
          </c:spPr>
          <c:marker>
            <c:symbol val="circle"/>
            <c:size val="20"/>
            <c:spPr>
              <a:solidFill>
                <a:srgbClr val="FFC000"/>
              </a:solidFill>
              <a:ln w="9525">
                <a:solidFill>
                  <a:srgbClr val="FFC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Sheet1!$D$8:$AC$8</c:f>
              <c:numCache>
                <c:formatCode>General</c:formatCode>
                <c:ptCount val="6"/>
                <c:pt idx="0">
                  <c:v>0</c:v>
                </c:pt>
                <c:pt idx="1">
                  <c:v>0</c:v>
                </c:pt>
                <c:pt idx="2">
                  <c:v>0</c:v>
                </c:pt>
                <c:pt idx="3">
                  <c:v>0</c:v>
                </c:pt>
                <c:pt idx="4">
                  <c:v>0</c:v>
                </c:pt>
                <c:pt idx="5">
                  <c:v>0</c:v>
                </c:pt>
              </c:numCache>
            </c:numRef>
          </c:val>
          <c:smooth val="0"/>
          <c:extLst xmlns:c16r2="http://schemas.microsoft.com/office/drawing/2015/06/chart">
            <c:ext xmlns:c16="http://schemas.microsoft.com/office/drawing/2014/chart" uri="{C3380CC4-5D6E-409C-BE32-E72D297353CC}">
              <c16:uniqueId val="{00000000-D6AD-4063-8EE1-45911A2334ED}"/>
            </c:ext>
          </c:extLst>
        </c:ser>
        <c:ser>
          <c:idx val="2"/>
          <c:order val="2"/>
          <c:tx>
            <c:strRef>
              <c:f>Sheet1!$C$10</c:f>
              <c:strCache>
                <c:ptCount val="1"/>
                <c:pt idx="0">
                  <c:v>A350</c:v>
                </c:pt>
              </c:strCache>
            </c:strRef>
          </c:tx>
          <c:spPr>
            <a:ln w="19050" cap="rnd">
              <a:solidFill>
                <a:srgbClr val="00B0F0"/>
              </a:solidFill>
              <a:round/>
            </a:ln>
            <a:effectLst/>
          </c:spPr>
          <c:marker>
            <c:symbol val="circle"/>
            <c:size val="23"/>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Sheet1!$D$10:$AC$10</c:f>
              <c:numCache>
                <c:formatCode>General</c:formatCode>
                <c:ptCount val="6"/>
                <c:pt idx="0">
                  <c:v>8</c:v>
                </c:pt>
                <c:pt idx="1">
                  <c:v>9</c:v>
                </c:pt>
                <c:pt idx="2">
                  <c:v>9</c:v>
                </c:pt>
                <c:pt idx="3">
                  <c:v>8</c:v>
                </c:pt>
                <c:pt idx="4">
                  <c:v>5</c:v>
                </c:pt>
                <c:pt idx="5">
                  <c:v>3</c:v>
                </c:pt>
              </c:numCache>
            </c:numRef>
          </c:val>
          <c:smooth val="0"/>
          <c:extLst xmlns:c16r2="http://schemas.microsoft.com/office/drawing/2015/06/chart">
            <c:ext xmlns:c16="http://schemas.microsoft.com/office/drawing/2014/chart" uri="{C3380CC4-5D6E-409C-BE32-E72D297353CC}">
              <c16:uniqueId val="{00000001-D6AD-4063-8EE1-45911A2334ED}"/>
            </c:ext>
          </c:extLst>
        </c:ser>
        <c:ser>
          <c:idx val="3"/>
          <c:order val="3"/>
          <c:tx>
            <c:strRef>
              <c:f>Sheet1!$C$11</c:f>
              <c:strCache>
                <c:ptCount val="1"/>
                <c:pt idx="0">
                  <c:v>B787</c:v>
                </c:pt>
              </c:strCache>
            </c:strRef>
          </c:tx>
          <c:spPr>
            <a:ln w="19050" cap="rnd">
              <a:solidFill>
                <a:schemeClr val="accent2">
                  <a:lumMod val="60000"/>
                </a:schemeClr>
              </a:solidFill>
              <a:round/>
            </a:ln>
            <a:effectLst/>
          </c:spPr>
          <c:marker>
            <c:symbol val="circle"/>
            <c:size val="20"/>
            <c:spPr>
              <a:solidFill>
                <a:srgbClr val="00B050"/>
              </a:solidFill>
              <a:ln w="9525">
                <a:solidFill>
                  <a:srgbClr val="00B05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Sheet1!$D$11:$AC$11</c:f>
              <c:numCache>
                <c:formatCode>General</c:formatCode>
                <c:ptCount val="6"/>
                <c:pt idx="0">
                  <c:v>0</c:v>
                </c:pt>
                <c:pt idx="1">
                  <c:v>0</c:v>
                </c:pt>
                <c:pt idx="2">
                  <c:v>0</c:v>
                </c:pt>
                <c:pt idx="3">
                  <c:v>0</c:v>
                </c:pt>
                <c:pt idx="4">
                  <c:v>0</c:v>
                </c:pt>
                <c:pt idx="5">
                  <c:v>0</c:v>
                </c:pt>
              </c:numCache>
            </c:numRef>
          </c:val>
          <c:smooth val="0"/>
          <c:extLst xmlns:c16r2="http://schemas.microsoft.com/office/drawing/2015/06/chart">
            <c:ext xmlns:c16="http://schemas.microsoft.com/office/drawing/2014/chart" uri="{C3380CC4-5D6E-409C-BE32-E72D297353CC}">
              <c16:uniqueId val="{00000002-D6AD-4063-8EE1-45911A2334ED}"/>
            </c:ext>
          </c:extLst>
        </c:ser>
        <c:dLbls>
          <c:dLblPos val="ctr"/>
          <c:showLegendKey val="0"/>
          <c:showVal val="1"/>
          <c:showCatName val="0"/>
          <c:showSerName val="0"/>
          <c:showPercent val="0"/>
          <c:showBubbleSize val="0"/>
        </c:dLbls>
        <c:marker val="1"/>
        <c:smooth val="0"/>
        <c:axId val="316844176"/>
        <c:axId val="316846528"/>
      </c:lineChart>
      <c:lineChart>
        <c:grouping val="standard"/>
        <c:varyColors val="0"/>
        <c:ser>
          <c:idx val="1"/>
          <c:order val="1"/>
          <c:tx>
            <c:strRef>
              <c:f>Sheet1!$C$9</c:f>
              <c:strCache>
                <c:ptCount val="1"/>
                <c:pt idx="0">
                  <c:v>A321NEO</c:v>
                </c:pt>
              </c:strCache>
            </c:strRef>
          </c:tx>
          <c:spPr>
            <a:ln w="19050" cap="rnd">
              <a:solidFill>
                <a:srgbClr val="FF0000"/>
              </a:solidFill>
              <a:round/>
            </a:ln>
            <a:effectLst/>
          </c:spPr>
          <c:marker>
            <c:symbol val="circle"/>
            <c:size val="20"/>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Sheet1!$D$9:$AC$9</c:f>
              <c:numCache>
                <c:formatCode>General</c:formatCode>
                <c:ptCount val="6"/>
                <c:pt idx="0">
                  <c:v>27.25</c:v>
                </c:pt>
                <c:pt idx="1">
                  <c:v>26.75</c:v>
                </c:pt>
                <c:pt idx="2">
                  <c:v>26.75</c:v>
                </c:pt>
                <c:pt idx="3">
                  <c:v>23.75</c:v>
                </c:pt>
                <c:pt idx="4">
                  <c:v>23</c:v>
                </c:pt>
                <c:pt idx="5">
                  <c:v>22.5</c:v>
                </c:pt>
              </c:numCache>
            </c:numRef>
          </c:val>
          <c:smooth val="0"/>
          <c:extLst xmlns:c16r2="http://schemas.microsoft.com/office/drawing/2015/06/chart">
            <c:ext xmlns:c16="http://schemas.microsoft.com/office/drawing/2014/chart" uri="{C3380CC4-5D6E-409C-BE32-E72D297353CC}">
              <c16:uniqueId val="{00000003-D6AD-4063-8EE1-45911A2334ED}"/>
            </c:ext>
          </c:extLst>
        </c:ser>
        <c:ser>
          <c:idx val="4"/>
          <c:order val="4"/>
          <c:tx>
            <c:strRef>
              <c:f>Sheet1!$C$12</c:f>
              <c:strCache>
                <c:ptCount val="1"/>
                <c:pt idx="0">
                  <c:v>ATR72</c:v>
                </c:pt>
              </c:strCache>
            </c:strRef>
          </c:tx>
          <c:spPr>
            <a:ln w="19050" cap="rnd">
              <a:solidFill>
                <a:schemeClr val="accent4">
                  <a:lumMod val="60000"/>
                </a:schemeClr>
              </a:solidFill>
              <a:round/>
            </a:ln>
            <a:effectLst/>
          </c:spPr>
          <c:marker>
            <c:symbol val="circle"/>
            <c:size val="20"/>
            <c:spPr>
              <a:solidFill>
                <a:schemeClr val="accent4">
                  <a:lumMod val="60000"/>
                </a:schemeClr>
              </a:solidFill>
              <a:ln w="9525">
                <a:solidFill>
                  <a:schemeClr val="accent4">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ysClr val="windowText" lastClr="000000"/>
                    </a:solidFill>
                    <a:latin typeface="+mn-lt"/>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Sheet1!$D$12:$AC$12</c:f>
              <c:numCache>
                <c:formatCode>General</c:formatCode>
                <c:ptCount val="6"/>
                <c:pt idx="0">
                  <c:v>0</c:v>
                </c:pt>
                <c:pt idx="1">
                  <c:v>0</c:v>
                </c:pt>
                <c:pt idx="2">
                  <c:v>0</c:v>
                </c:pt>
                <c:pt idx="3">
                  <c:v>0</c:v>
                </c:pt>
                <c:pt idx="4">
                  <c:v>0</c:v>
                </c:pt>
                <c:pt idx="5">
                  <c:v>0</c:v>
                </c:pt>
              </c:numCache>
            </c:numRef>
          </c:val>
          <c:smooth val="0"/>
          <c:extLst xmlns:c16r2="http://schemas.microsoft.com/office/drawing/2015/06/chart">
            <c:ext xmlns:c16="http://schemas.microsoft.com/office/drawing/2014/chart" uri="{C3380CC4-5D6E-409C-BE32-E72D297353CC}">
              <c16:uniqueId val="{00000004-D6AD-4063-8EE1-45911A2334ED}"/>
            </c:ext>
          </c:extLst>
        </c:ser>
        <c:dLbls>
          <c:showLegendKey val="0"/>
          <c:showVal val="0"/>
          <c:showCatName val="0"/>
          <c:showSerName val="0"/>
          <c:showPercent val="0"/>
          <c:showBubbleSize val="0"/>
        </c:dLbls>
        <c:marker val="1"/>
        <c:smooth val="0"/>
        <c:axId val="316846920"/>
        <c:axId val="316842216"/>
      </c:lineChart>
      <c:catAx>
        <c:axId val="316844176"/>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crossAx val="316846528"/>
        <c:crosses val="autoZero"/>
        <c:auto val="1"/>
        <c:lblAlgn val="ctr"/>
        <c:lblOffset val="100"/>
        <c:noMultiLvlLbl val="0"/>
      </c:catAx>
      <c:valAx>
        <c:axId val="316846528"/>
        <c:scaling>
          <c:orientation val="minMax"/>
          <c:max val="20"/>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crossAx val="316844176"/>
        <c:crosses val="autoZero"/>
        <c:crossBetween val="between"/>
      </c:valAx>
      <c:valAx>
        <c:axId val="316842216"/>
        <c:scaling>
          <c:orientation val="minMax"/>
          <c:max val="35"/>
          <c:min val="0"/>
        </c:scaling>
        <c:delete val="0"/>
        <c:axPos val="r"/>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crossAx val="316846920"/>
        <c:crosses val="max"/>
        <c:crossBetween val="between"/>
      </c:valAx>
      <c:catAx>
        <c:axId val="316846920"/>
        <c:scaling>
          <c:orientation val="minMax"/>
        </c:scaling>
        <c:delete val="1"/>
        <c:axPos val="b"/>
        <c:numFmt formatCode="General" sourceLinked="1"/>
        <c:majorTickMark val="out"/>
        <c:minorTickMark val="none"/>
        <c:tickLblPos val="nextTo"/>
        <c:crossAx val="316842216"/>
        <c:crosses val="autoZero"/>
        <c:auto val="1"/>
        <c:lblAlgn val="ctr"/>
        <c:lblOffset val="100"/>
        <c:noMultiLvlLbl val="0"/>
      </c:catAx>
      <c:spPr>
        <a:noFill/>
        <a:ln>
          <a:noFill/>
        </a:ln>
        <a:effectLst/>
      </c:spPr>
    </c:plotArea>
    <c:legend>
      <c:legendPos val="b"/>
      <c:layout>
        <c:manualLayout>
          <c:xMode val="edge"/>
          <c:yMode val="edge"/>
          <c:x val="3.2108065818695741E-2"/>
          <c:y val="1.3638679970698371E-2"/>
          <c:w val="0.89903166467431961"/>
          <c:h val="7.3197199055431955E-2"/>
        </c:manualLayout>
      </c:layout>
      <c:overlay val="0"/>
      <c:spPr>
        <a:solidFill>
          <a:schemeClr val="bg1"/>
        </a:solidFill>
        <a:ln>
          <a:solidFill>
            <a:schemeClr val="accent1"/>
          </a:solidFill>
        </a:ln>
        <a:effectLst/>
      </c:spPr>
      <c:txPr>
        <a:bodyPr rot="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legend>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solidFill>
      <a:schemeClr val="bg1"/>
    </a:solidFill>
    <a:ln>
      <a:solidFill>
        <a:schemeClr val="tx1"/>
      </a:solidFill>
    </a:ln>
    <a:effectLst/>
  </c:spPr>
  <c:txPr>
    <a:bodyPr/>
    <a:lstStyle/>
    <a:p>
      <a:pPr>
        <a:defRPr sz="1600" b="1">
          <a:solidFill>
            <a:sysClr val="windowText" lastClr="000000"/>
          </a:solidFill>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4871626623595125E-2"/>
          <c:y val="4.7882687702116004E-2"/>
          <c:w val="0.93681234355610998"/>
          <c:h val="0.87227703924009881"/>
        </c:manualLayout>
      </c:layout>
      <c:lineChart>
        <c:grouping val="standard"/>
        <c:varyColors val="0"/>
        <c:ser>
          <c:idx val="0"/>
          <c:order val="0"/>
          <c:tx>
            <c:strRef>
              <c:f>Sheet1!$C$8</c:f>
              <c:strCache>
                <c:ptCount val="1"/>
                <c:pt idx="0">
                  <c:v>A321CEO</c:v>
                </c:pt>
              </c:strCache>
            </c:strRef>
          </c:tx>
          <c:spPr>
            <a:ln w="19050" cap="rnd">
              <a:solidFill>
                <a:srgbClr val="FF0000"/>
              </a:solidFill>
              <a:round/>
            </a:ln>
            <a:effectLst/>
          </c:spPr>
          <c:marker>
            <c:symbol val="circle"/>
            <c:size val="20"/>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Sheet1!$D$7:$AI$7</c:f>
              <c:strCache>
                <c:ptCount val="12"/>
                <c:pt idx="0">
                  <c:v>Jan-W1/25</c:v>
                </c:pt>
                <c:pt idx="1">
                  <c:v>Jan-W2</c:v>
                </c:pt>
                <c:pt idx="2">
                  <c:v>Jan-W3</c:v>
                </c:pt>
                <c:pt idx="3">
                  <c:v>Jan-W4</c:v>
                </c:pt>
                <c:pt idx="4">
                  <c:v>Feb-W1</c:v>
                </c:pt>
                <c:pt idx="5">
                  <c:v>Feb-W2</c:v>
                </c:pt>
                <c:pt idx="6">
                  <c:v>Feb-W3</c:v>
                </c:pt>
                <c:pt idx="7">
                  <c:v>Feb-W4</c:v>
                </c:pt>
                <c:pt idx="8">
                  <c:v>Mar-W1</c:v>
                </c:pt>
                <c:pt idx="9">
                  <c:v>Mar-W2</c:v>
                </c:pt>
                <c:pt idx="10">
                  <c:v>Mar-W3</c:v>
                </c:pt>
                <c:pt idx="11">
                  <c:v>Mar-W4</c:v>
                </c:pt>
              </c:strCache>
            </c:strRef>
          </c:cat>
          <c:val>
            <c:numRef>
              <c:f>Sheet1!$D$8:$AI$8</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smooth val="0"/>
          <c:extLst xmlns:c16r2="http://schemas.microsoft.com/office/drawing/2015/06/chart">
            <c:ext xmlns:c16="http://schemas.microsoft.com/office/drawing/2014/chart" uri="{C3380CC4-5D6E-409C-BE32-E72D297353CC}">
              <c16:uniqueId val="{00000000-BD83-4FDB-9BCE-4410951EBD59}"/>
            </c:ext>
          </c:extLst>
        </c:ser>
        <c:ser>
          <c:idx val="1"/>
          <c:order val="1"/>
          <c:tx>
            <c:strRef>
              <c:f>Sheet1!$C$9</c:f>
              <c:strCache>
                <c:ptCount val="1"/>
                <c:pt idx="0">
                  <c:v>A321NEO</c:v>
                </c:pt>
              </c:strCache>
            </c:strRef>
          </c:tx>
          <c:spPr>
            <a:ln w="19050" cap="rnd">
              <a:solidFill>
                <a:srgbClr val="00B0F0"/>
              </a:solidFill>
              <a:round/>
            </a:ln>
            <a:effectLst/>
          </c:spPr>
          <c:marker>
            <c:symbol val="circle"/>
            <c:size val="20"/>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Sheet1!$D$7:$AI$7</c:f>
              <c:strCache>
                <c:ptCount val="12"/>
                <c:pt idx="0">
                  <c:v>Jan-W1/25</c:v>
                </c:pt>
                <c:pt idx="1">
                  <c:v>Jan-W2</c:v>
                </c:pt>
                <c:pt idx="2">
                  <c:v>Jan-W3</c:v>
                </c:pt>
                <c:pt idx="3">
                  <c:v>Jan-W4</c:v>
                </c:pt>
                <c:pt idx="4">
                  <c:v>Feb-W1</c:v>
                </c:pt>
                <c:pt idx="5">
                  <c:v>Feb-W2</c:v>
                </c:pt>
                <c:pt idx="6">
                  <c:v>Feb-W3</c:v>
                </c:pt>
                <c:pt idx="7">
                  <c:v>Feb-W4</c:v>
                </c:pt>
                <c:pt idx="8">
                  <c:v>Mar-W1</c:v>
                </c:pt>
                <c:pt idx="9">
                  <c:v>Mar-W2</c:v>
                </c:pt>
                <c:pt idx="10">
                  <c:v>Mar-W3</c:v>
                </c:pt>
                <c:pt idx="11">
                  <c:v>Mar-W4</c:v>
                </c:pt>
              </c:strCache>
            </c:strRef>
          </c:cat>
          <c:val>
            <c:numRef>
              <c:f>Sheet1!$D$9:$AI$9</c:f>
              <c:numCache>
                <c:formatCode>General</c:formatCode>
                <c:ptCount val="12"/>
                <c:pt idx="0">
                  <c:v>29</c:v>
                </c:pt>
                <c:pt idx="1">
                  <c:v>28</c:v>
                </c:pt>
                <c:pt idx="2">
                  <c:v>26</c:v>
                </c:pt>
                <c:pt idx="3">
                  <c:v>26</c:v>
                </c:pt>
                <c:pt idx="4">
                  <c:v>26</c:v>
                </c:pt>
                <c:pt idx="5">
                  <c:v>26</c:v>
                </c:pt>
                <c:pt idx="6">
                  <c:v>28</c:v>
                </c:pt>
                <c:pt idx="7">
                  <c:v>27</c:v>
                </c:pt>
                <c:pt idx="8">
                  <c:v>28</c:v>
                </c:pt>
                <c:pt idx="9">
                  <c:v>28</c:v>
                </c:pt>
                <c:pt idx="10">
                  <c:v>26</c:v>
                </c:pt>
                <c:pt idx="11">
                  <c:v>25</c:v>
                </c:pt>
              </c:numCache>
            </c:numRef>
          </c:val>
          <c:smooth val="0"/>
          <c:extLst xmlns:c16r2="http://schemas.microsoft.com/office/drawing/2015/06/chart">
            <c:ext xmlns:c16="http://schemas.microsoft.com/office/drawing/2014/chart" uri="{C3380CC4-5D6E-409C-BE32-E72D297353CC}">
              <c16:uniqueId val="{00000001-BD83-4FDB-9BCE-4410951EBD59}"/>
            </c:ext>
          </c:extLst>
        </c:ser>
        <c:ser>
          <c:idx val="2"/>
          <c:order val="2"/>
          <c:tx>
            <c:strRef>
              <c:f>Sheet1!$C$10</c:f>
              <c:strCache>
                <c:ptCount val="1"/>
                <c:pt idx="0">
                  <c:v>A350</c:v>
                </c:pt>
              </c:strCache>
            </c:strRef>
          </c:tx>
          <c:spPr>
            <a:ln w="19050" cap="rnd">
              <a:solidFill>
                <a:schemeClr val="accent6"/>
              </a:solidFill>
              <a:round/>
            </a:ln>
            <a:effectLst/>
          </c:spPr>
          <c:marker>
            <c:symbol val="circle"/>
            <c:size val="20"/>
            <c:spPr>
              <a:solidFill>
                <a:srgbClr val="00B050"/>
              </a:solidFill>
              <a:ln w="9525">
                <a:solidFill>
                  <a:srgbClr val="00B05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Sheet1!$D$7:$AI$7</c:f>
              <c:strCache>
                <c:ptCount val="12"/>
                <c:pt idx="0">
                  <c:v>Jan-W1/25</c:v>
                </c:pt>
                <c:pt idx="1">
                  <c:v>Jan-W2</c:v>
                </c:pt>
                <c:pt idx="2">
                  <c:v>Jan-W3</c:v>
                </c:pt>
                <c:pt idx="3">
                  <c:v>Jan-W4</c:v>
                </c:pt>
                <c:pt idx="4">
                  <c:v>Feb-W1</c:v>
                </c:pt>
                <c:pt idx="5">
                  <c:v>Feb-W2</c:v>
                </c:pt>
                <c:pt idx="6">
                  <c:v>Feb-W3</c:v>
                </c:pt>
                <c:pt idx="7">
                  <c:v>Feb-W4</c:v>
                </c:pt>
                <c:pt idx="8">
                  <c:v>Mar-W1</c:v>
                </c:pt>
                <c:pt idx="9">
                  <c:v>Mar-W2</c:v>
                </c:pt>
                <c:pt idx="10">
                  <c:v>Mar-W3</c:v>
                </c:pt>
                <c:pt idx="11">
                  <c:v>Mar-W4</c:v>
                </c:pt>
              </c:strCache>
            </c:strRef>
          </c:cat>
          <c:val>
            <c:numRef>
              <c:f>Sheet1!$D$10:$AI$10</c:f>
              <c:numCache>
                <c:formatCode>General</c:formatCode>
                <c:ptCount val="12"/>
                <c:pt idx="0">
                  <c:v>8</c:v>
                </c:pt>
                <c:pt idx="1">
                  <c:v>8</c:v>
                </c:pt>
                <c:pt idx="2">
                  <c:v>8</c:v>
                </c:pt>
                <c:pt idx="3">
                  <c:v>8</c:v>
                </c:pt>
                <c:pt idx="4">
                  <c:v>8</c:v>
                </c:pt>
                <c:pt idx="5">
                  <c:v>8</c:v>
                </c:pt>
                <c:pt idx="6">
                  <c:v>10</c:v>
                </c:pt>
                <c:pt idx="7">
                  <c:v>10</c:v>
                </c:pt>
                <c:pt idx="8">
                  <c:v>10</c:v>
                </c:pt>
                <c:pt idx="9">
                  <c:v>9</c:v>
                </c:pt>
                <c:pt idx="10">
                  <c:v>9</c:v>
                </c:pt>
                <c:pt idx="11">
                  <c:v>8</c:v>
                </c:pt>
              </c:numCache>
            </c:numRef>
          </c:val>
          <c:smooth val="0"/>
          <c:extLst xmlns:c16r2="http://schemas.microsoft.com/office/drawing/2015/06/chart">
            <c:ext xmlns:c16="http://schemas.microsoft.com/office/drawing/2014/chart" uri="{C3380CC4-5D6E-409C-BE32-E72D297353CC}">
              <c16:uniqueId val="{00000002-BD83-4FDB-9BCE-4410951EBD59}"/>
            </c:ext>
          </c:extLst>
        </c:ser>
        <c:ser>
          <c:idx val="3"/>
          <c:order val="3"/>
          <c:tx>
            <c:strRef>
              <c:f>Sheet1!$C$11</c:f>
              <c:strCache>
                <c:ptCount val="1"/>
                <c:pt idx="0">
                  <c:v>B787</c:v>
                </c:pt>
              </c:strCache>
            </c:strRef>
          </c:tx>
          <c:spPr>
            <a:ln w="19050" cap="rnd">
              <a:solidFill>
                <a:schemeClr val="accent2">
                  <a:lumMod val="60000"/>
                </a:schemeClr>
              </a:solidFill>
              <a:round/>
            </a:ln>
            <a:effectLst/>
          </c:spPr>
          <c:marker>
            <c:symbol val="circle"/>
            <c:size val="20"/>
            <c:spPr>
              <a:solidFill>
                <a:schemeClr val="accent2">
                  <a:lumMod val="50000"/>
                </a:schemeClr>
              </a:solidFill>
              <a:ln w="9525">
                <a:solidFill>
                  <a:schemeClr val="accent2">
                    <a:lumMod val="5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Sheet1!$D$7:$AI$7</c:f>
              <c:strCache>
                <c:ptCount val="12"/>
                <c:pt idx="0">
                  <c:v>Jan-W1/25</c:v>
                </c:pt>
                <c:pt idx="1">
                  <c:v>Jan-W2</c:v>
                </c:pt>
                <c:pt idx="2">
                  <c:v>Jan-W3</c:v>
                </c:pt>
                <c:pt idx="3">
                  <c:v>Jan-W4</c:v>
                </c:pt>
                <c:pt idx="4">
                  <c:v>Feb-W1</c:v>
                </c:pt>
                <c:pt idx="5">
                  <c:v>Feb-W2</c:v>
                </c:pt>
                <c:pt idx="6">
                  <c:v>Feb-W3</c:v>
                </c:pt>
                <c:pt idx="7">
                  <c:v>Feb-W4</c:v>
                </c:pt>
                <c:pt idx="8">
                  <c:v>Mar-W1</c:v>
                </c:pt>
                <c:pt idx="9">
                  <c:v>Mar-W2</c:v>
                </c:pt>
                <c:pt idx="10">
                  <c:v>Mar-W3</c:v>
                </c:pt>
                <c:pt idx="11">
                  <c:v>Mar-W4</c:v>
                </c:pt>
              </c:strCache>
            </c:strRef>
          </c:cat>
          <c:val>
            <c:numRef>
              <c:f>Sheet1!$D$11:$AI$11</c:f>
              <c:numCache>
                <c:formatCode>General</c:formatCode>
                <c:ptCount val="12"/>
                <c:pt idx="0">
                  <c:v>0</c:v>
                </c:pt>
                <c:pt idx="1">
                  <c:v>0</c:v>
                </c:pt>
                <c:pt idx="2">
                  <c:v>0</c:v>
                </c:pt>
                <c:pt idx="3">
                  <c:v>0</c:v>
                </c:pt>
                <c:pt idx="4">
                  <c:v>0</c:v>
                </c:pt>
                <c:pt idx="5">
                  <c:v>0</c:v>
                </c:pt>
                <c:pt idx="6">
                  <c:v>0</c:v>
                </c:pt>
                <c:pt idx="7">
                  <c:v>0</c:v>
                </c:pt>
              </c:numCache>
            </c:numRef>
          </c:val>
          <c:smooth val="0"/>
          <c:extLst xmlns:c16r2="http://schemas.microsoft.com/office/drawing/2015/06/chart">
            <c:ext xmlns:c16="http://schemas.microsoft.com/office/drawing/2014/chart" uri="{C3380CC4-5D6E-409C-BE32-E72D297353CC}">
              <c16:uniqueId val="{00000003-BD83-4FDB-9BCE-4410951EBD59}"/>
            </c:ext>
          </c:extLst>
        </c:ser>
        <c:ser>
          <c:idx val="4"/>
          <c:order val="4"/>
          <c:tx>
            <c:strRef>
              <c:f>Sheet1!$C$12</c:f>
              <c:strCache>
                <c:ptCount val="1"/>
                <c:pt idx="0">
                  <c:v>ATR72</c:v>
                </c:pt>
              </c:strCache>
            </c:strRef>
          </c:tx>
          <c:spPr>
            <a:ln w="19050" cap="rnd">
              <a:solidFill>
                <a:srgbClr val="FFC000"/>
              </a:solidFill>
              <a:round/>
            </a:ln>
            <a:effectLst/>
          </c:spPr>
          <c:marker>
            <c:symbol val="circle"/>
            <c:size val="20"/>
            <c:spPr>
              <a:solidFill>
                <a:schemeClr val="accent4">
                  <a:lumMod val="60000"/>
                </a:schemeClr>
              </a:solidFill>
              <a:ln w="9525">
                <a:solidFill>
                  <a:schemeClr val="accent4">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ysClr val="windowText" lastClr="000000"/>
                    </a:solidFill>
                    <a:latin typeface="+mn-lt"/>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Sheet1!$D$7:$AI$7</c:f>
              <c:strCache>
                <c:ptCount val="12"/>
                <c:pt idx="0">
                  <c:v>Jan-W1/25</c:v>
                </c:pt>
                <c:pt idx="1">
                  <c:v>Jan-W2</c:v>
                </c:pt>
                <c:pt idx="2">
                  <c:v>Jan-W3</c:v>
                </c:pt>
                <c:pt idx="3">
                  <c:v>Jan-W4</c:v>
                </c:pt>
                <c:pt idx="4">
                  <c:v>Feb-W1</c:v>
                </c:pt>
                <c:pt idx="5">
                  <c:v>Feb-W2</c:v>
                </c:pt>
                <c:pt idx="6">
                  <c:v>Feb-W3</c:v>
                </c:pt>
                <c:pt idx="7">
                  <c:v>Feb-W4</c:v>
                </c:pt>
                <c:pt idx="8">
                  <c:v>Mar-W1</c:v>
                </c:pt>
                <c:pt idx="9">
                  <c:v>Mar-W2</c:v>
                </c:pt>
                <c:pt idx="10">
                  <c:v>Mar-W3</c:v>
                </c:pt>
                <c:pt idx="11">
                  <c:v>Mar-W4</c:v>
                </c:pt>
              </c:strCache>
            </c:strRef>
          </c:cat>
          <c:val>
            <c:numRef>
              <c:f>Sheet1!$D$12:$AI$12</c:f>
              <c:numCache>
                <c:formatCode>General</c:formatCode>
                <c:ptCount val="12"/>
                <c:pt idx="0">
                  <c:v>0</c:v>
                </c:pt>
                <c:pt idx="1">
                  <c:v>0</c:v>
                </c:pt>
                <c:pt idx="2">
                  <c:v>0</c:v>
                </c:pt>
                <c:pt idx="3">
                  <c:v>0</c:v>
                </c:pt>
                <c:pt idx="4">
                  <c:v>0</c:v>
                </c:pt>
                <c:pt idx="5">
                  <c:v>0</c:v>
                </c:pt>
                <c:pt idx="6">
                  <c:v>0</c:v>
                </c:pt>
                <c:pt idx="7">
                  <c:v>0</c:v>
                </c:pt>
              </c:numCache>
            </c:numRef>
          </c:val>
          <c:smooth val="0"/>
          <c:extLst xmlns:c16r2="http://schemas.microsoft.com/office/drawing/2015/06/chart">
            <c:ext xmlns:c16="http://schemas.microsoft.com/office/drawing/2014/chart" uri="{C3380CC4-5D6E-409C-BE32-E72D297353CC}">
              <c16:uniqueId val="{00000004-BD83-4FDB-9BCE-4410951EBD59}"/>
            </c:ext>
          </c:extLst>
        </c:ser>
        <c:dLbls>
          <c:dLblPos val="ctr"/>
          <c:showLegendKey val="0"/>
          <c:showVal val="1"/>
          <c:showCatName val="0"/>
          <c:showSerName val="0"/>
          <c:showPercent val="0"/>
          <c:showBubbleSize val="0"/>
        </c:dLbls>
        <c:marker val="1"/>
        <c:smooth val="0"/>
        <c:axId val="316845744"/>
        <c:axId val="316849272"/>
      </c:lineChart>
      <c:catAx>
        <c:axId val="316845744"/>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316849272"/>
        <c:crosses val="autoZero"/>
        <c:auto val="1"/>
        <c:lblAlgn val="ctr"/>
        <c:lblOffset val="100"/>
        <c:tickMarkSkip val="1"/>
        <c:noMultiLvlLbl val="0"/>
      </c:catAx>
      <c:valAx>
        <c:axId val="316849272"/>
        <c:scaling>
          <c:orientation val="minMax"/>
          <c:max val="34"/>
          <c:min val="-2"/>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316845744"/>
        <c:crosses val="autoZero"/>
        <c:crossBetween val="between"/>
      </c:valAx>
      <c:spPr>
        <a:noFill/>
        <a:ln>
          <a:noFill/>
        </a:ln>
        <a:effectLst/>
      </c:spPr>
    </c:plotArea>
    <c:legend>
      <c:legendPos val="b"/>
      <c:layout>
        <c:manualLayout>
          <c:xMode val="edge"/>
          <c:yMode val="edge"/>
          <c:x val="0.45427866677955575"/>
          <c:y val="0.36957218535300551"/>
          <c:w val="0.26506228656901759"/>
          <c:h val="0.21602423181857586"/>
        </c:manualLayout>
      </c:layout>
      <c:overlay val="0"/>
      <c:spPr>
        <a:solidFill>
          <a:schemeClr val="bg1"/>
        </a:solidFill>
        <a:ln>
          <a:solidFill>
            <a:schemeClr val="accent1"/>
          </a:solidFill>
        </a:ln>
        <a:effectLst/>
      </c:spPr>
      <c:txPr>
        <a:bodyPr rot="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legend>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solidFill>
      <a:schemeClr val="bg1"/>
    </a:solidFill>
    <a:ln>
      <a:solidFill>
        <a:schemeClr val="tx1"/>
      </a:solidFill>
    </a:ln>
    <a:effectLst/>
  </c:spPr>
  <c:txPr>
    <a:bodyPr/>
    <a:lstStyle/>
    <a:p>
      <a:pPr>
        <a:defRPr sz="1600" b="1">
          <a:solidFill>
            <a:sysClr val="windowText" lastClr="000000"/>
          </a:solidFill>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3.5445543480618638E-2"/>
          <c:y val="2.2682228076795662E-2"/>
          <c:w val="0.943893299494588"/>
          <c:h val="0.90560716838710642"/>
        </c:manualLayout>
      </c:layout>
      <c:lineChart>
        <c:grouping val="standard"/>
        <c:varyColors val="0"/>
        <c:ser>
          <c:idx val="0"/>
          <c:order val="0"/>
          <c:tx>
            <c:strRef>
              <c:f>Sheet1!$B$1</c:f>
              <c:strCache>
                <c:ptCount val="1"/>
                <c:pt idx="0">
                  <c:v>KH Hiện tại</c:v>
                </c:pt>
              </c:strCache>
            </c:strRef>
          </c:tx>
          <c:spPr>
            <a:ln w="28575" cap="rnd">
              <a:solidFill>
                <a:srgbClr val="00B0F0"/>
              </a:solidFill>
              <a:round/>
            </a:ln>
            <a:effectLst/>
          </c:spPr>
          <c:marker>
            <c:symbol val="circle"/>
            <c:size val="25"/>
            <c:spPr>
              <a:solidFill>
                <a:srgbClr val="0099FF"/>
              </a:solidFill>
              <a:ln w="9525">
                <a:solidFill>
                  <a:srgbClr val="0099FF"/>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Sheet1!$A$2:$A$16</c:f>
              <c:strCache>
                <c:ptCount val="5"/>
                <c:pt idx="0">
                  <c:v>T11</c:v>
                </c:pt>
                <c:pt idx="1">
                  <c:v>T12</c:v>
                </c:pt>
                <c:pt idx="2">
                  <c:v>T1/25</c:v>
                </c:pt>
                <c:pt idx="3">
                  <c:v>T2</c:v>
                </c:pt>
                <c:pt idx="4">
                  <c:v>T3</c:v>
                </c:pt>
              </c:strCache>
            </c:strRef>
          </c:cat>
          <c:val>
            <c:numRef>
              <c:f>Sheet1!$B$2:$B$16</c:f>
              <c:numCache>
                <c:formatCode>General</c:formatCode>
                <c:ptCount val="5"/>
                <c:pt idx="0">
                  <c:v>15</c:v>
                </c:pt>
                <c:pt idx="1">
                  <c:v>15.5</c:v>
                </c:pt>
                <c:pt idx="2">
                  <c:v>14.25</c:v>
                </c:pt>
                <c:pt idx="3">
                  <c:v>13.75</c:v>
                </c:pt>
                <c:pt idx="4">
                  <c:v>14</c:v>
                </c:pt>
              </c:numCache>
            </c:numRef>
          </c:val>
          <c:smooth val="1"/>
          <c:extLst xmlns:c16r2="http://schemas.microsoft.com/office/drawing/2015/06/chart">
            <c:ext xmlns:c16="http://schemas.microsoft.com/office/drawing/2014/chart" uri="{C3380CC4-5D6E-409C-BE32-E72D297353CC}">
              <c16:uniqueId val="{00000000-1A84-4B14-B83A-F9020AB8809D}"/>
            </c:ext>
          </c:extLst>
        </c:ser>
        <c:ser>
          <c:idx val="1"/>
          <c:order val="1"/>
          <c:tx>
            <c:strRef>
              <c:f>Sheet1!$C$1</c:f>
              <c:strCache>
                <c:ptCount val="1"/>
                <c:pt idx="0">
                  <c:v>KB cũ </c:v>
                </c:pt>
              </c:strCache>
            </c:strRef>
          </c:tx>
          <c:spPr>
            <a:ln w="28575" cap="rnd">
              <a:solidFill>
                <a:srgbClr val="C00000"/>
              </a:solidFill>
              <a:prstDash val="sysDash"/>
              <a:round/>
            </a:ln>
            <a:effectLst/>
          </c:spPr>
          <c:marker>
            <c:symbol val="circle"/>
            <c:size val="25"/>
            <c:spPr>
              <a:solidFill>
                <a:schemeClr val="bg1"/>
              </a:solidFill>
              <a:ln w="22225">
                <a:solidFill>
                  <a:srgbClr val="ED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FF0000"/>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Sheet1!$A$2:$A$16</c:f>
              <c:strCache>
                <c:ptCount val="5"/>
                <c:pt idx="0">
                  <c:v>T11</c:v>
                </c:pt>
                <c:pt idx="1">
                  <c:v>T12</c:v>
                </c:pt>
                <c:pt idx="2">
                  <c:v>T1/25</c:v>
                </c:pt>
                <c:pt idx="3">
                  <c:v>T2</c:v>
                </c:pt>
                <c:pt idx="4">
                  <c:v>T3</c:v>
                </c:pt>
              </c:strCache>
            </c:strRef>
          </c:cat>
          <c:val>
            <c:numRef>
              <c:f>Sheet1!$C$2:$C$16</c:f>
              <c:numCache>
                <c:formatCode>General</c:formatCode>
                <c:ptCount val="5"/>
                <c:pt idx="0">
                  <c:v>14</c:v>
                </c:pt>
                <c:pt idx="1">
                  <c:v>15</c:v>
                </c:pt>
                <c:pt idx="2">
                  <c:v>13</c:v>
                </c:pt>
                <c:pt idx="3">
                  <c:v>12.5</c:v>
                </c:pt>
                <c:pt idx="4">
                  <c:v>13</c:v>
                </c:pt>
              </c:numCache>
            </c:numRef>
          </c:val>
          <c:smooth val="1"/>
          <c:extLst xmlns:c16r2="http://schemas.microsoft.com/office/drawing/2015/06/chart">
            <c:ext xmlns:c16="http://schemas.microsoft.com/office/drawing/2014/chart" uri="{C3380CC4-5D6E-409C-BE32-E72D297353CC}">
              <c16:uniqueId val="{00000001-1A84-4B14-B83A-F9020AB8809D}"/>
            </c:ext>
          </c:extLst>
        </c:ser>
        <c:ser>
          <c:idx val="3"/>
          <c:order val="2"/>
          <c:tx>
            <c:strRef>
              <c:f>Sheet1!$E$1</c:f>
              <c:strCache>
                <c:ptCount val="1"/>
                <c:pt idx="0">
                  <c:v>Giải pháp triển khai thêm để giảm 01 AOG (khả thi)</c:v>
                </c:pt>
              </c:strCache>
            </c:strRef>
          </c:tx>
          <c:spPr>
            <a:ln w="28575" cap="rnd">
              <a:solidFill>
                <a:schemeClr val="accent4"/>
              </a:solidFill>
              <a:round/>
            </a:ln>
            <a:effectLst/>
          </c:spPr>
          <c:marker>
            <c:symbol val="circle"/>
            <c:size val="30"/>
            <c:spPr>
              <a:solidFill>
                <a:srgbClr val="00B050"/>
              </a:solidFill>
              <a:ln w="9525">
                <a:solidFill>
                  <a:srgbClr val="00B05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Sheet1!$A$2:$A$16</c:f>
              <c:strCache>
                <c:ptCount val="5"/>
                <c:pt idx="0">
                  <c:v>T11</c:v>
                </c:pt>
                <c:pt idx="1">
                  <c:v>T12</c:v>
                </c:pt>
                <c:pt idx="2">
                  <c:v>T1/25</c:v>
                </c:pt>
                <c:pt idx="3">
                  <c:v>T2</c:v>
                </c:pt>
                <c:pt idx="4">
                  <c:v>T3</c:v>
                </c:pt>
              </c:strCache>
            </c:strRef>
          </c:cat>
          <c:val>
            <c:numRef>
              <c:f>Sheet1!$E$2:$E$16</c:f>
            </c:numRef>
          </c:val>
          <c:smooth val="1"/>
          <c:extLst xmlns:c16r2="http://schemas.microsoft.com/office/drawing/2015/06/chart">
            <c:ext xmlns:c16="http://schemas.microsoft.com/office/drawing/2014/chart" uri="{C3380CC4-5D6E-409C-BE32-E72D297353CC}">
              <c16:uniqueId val="{00000002-1A84-4B14-B83A-F9020AB8809D}"/>
            </c:ext>
          </c:extLst>
        </c:ser>
        <c:dLbls>
          <c:showLegendKey val="0"/>
          <c:showVal val="0"/>
          <c:showCatName val="0"/>
          <c:showSerName val="0"/>
          <c:showPercent val="0"/>
          <c:showBubbleSize val="0"/>
        </c:dLbls>
        <c:marker val="1"/>
        <c:smooth val="0"/>
        <c:axId val="316846136"/>
        <c:axId val="316847704"/>
      </c:lineChart>
      <c:catAx>
        <c:axId val="3168461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16847704"/>
        <c:crosses val="autoZero"/>
        <c:auto val="1"/>
        <c:lblAlgn val="ctr"/>
        <c:lblOffset val="100"/>
        <c:noMultiLvlLbl val="0"/>
      </c:catAx>
      <c:valAx>
        <c:axId val="316847704"/>
        <c:scaling>
          <c:orientation val="minMax"/>
          <c:max val="16"/>
          <c:min val="1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16846136"/>
        <c:crosses val="autoZero"/>
        <c:crossBetween val="between"/>
        <c:majorUnit val="1"/>
      </c:valAx>
      <c:spPr>
        <a:noFill/>
        <a:ln>
          <a:noFill/>
        </a:ln>
        <a:effectLst/>
      </c:spPr>
    </c:plotArea>
    <c:legend>
      <c:legendPos val="r"/>
      <c:layout>
        <c:manualLayout>
          <c:xMode val="edge"/>
          <c:yMode val="edge"/>
          <c:x val="0.74928376782223216"/>
          <c:y val="0.76358296622613808"/>
          <c:w val="0.16189253624902974"/>
          <c:h val="0.16291558268872777"/>
        </c:manualLayout>
      </c:layout>
      <c:overlay val="0"/>
      <c:spPr>
        <a:solidFill>
          <a:schemeClr val="bg1"/>
        </a:solidFill>
        <a:ln>
          <a:solidFill>
            <a:srgbClr val="0070C0"/>
          </a:solid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r>
              <a:rPr lang="en-US" sz="1000" dirty="0">
                <a:solidFill>
                  <a:schemeClr val="tx1"/>
                </a:solidFill>
                <a:latin typeface="Times New Roman" panose="02020603050405020304" pitchFamily="18" charset="0"/>
              </a:rPr>
              <a:t>ĐỘI</a:t>
            </a:r>
            <a:r>
              <a:rPr lang="en-US" sz="1000" baseline="0" dirty="0">
                <a:solidFill>
                  <a:schemeClr val="tx1"/>
                </a:solidFill>
                <a:latin typeface="Times New Roman" panose="02020603050405020304" pitchFamily="18" charset="0"/>
              </a:rPr>
              <a:t> BAY B787</a:t>
            </a:r>
            <a:endParaRPr lang="en-US" sz="1000" dirty="0">
              <a:solidFill>
                <a:schemeClr val="tx1"/>
              </a:solidFill>
              <a:latin typeface="Times New Roman" panose="02020603050405020304" pitchFamily="18" charset="0"/>
            </a:endParaRPr>
          </a:p>
        </c:rich>
      </c:tx>
      <c:layout/>
      <c:overlay val="0"/>
      <c:spPr>
        <a:noFill/>
        <a:ln>
          <a:noFill/>
        </a:ln>
        <a:effectLst/>
      </c:spPr>
      <c:txPr>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8.78943944380291E-2"/>
          <c:y val="8.7481841457847848E-2"/>
          <c:w val="0.88719896978880353"/>
          <c:h val="0.79400996275743063"/>
        </c:manualLayout>
      </c:layout>
      <c:lineChart>
        <c:grouping val="standard"/>
        <c:varyColors val="0"/>
        <c:ser>
          <c:idx val="5"/>
          <c:order val="0"/>
          <c:tx>
            <c:strRef>
              <c:f>Sheet1!$G$1</c:f>
              <c:strCache>
                <c:ptCount val="1"/>
                <c:pt idx="0">
                  <c:v>B787 Available</c:v>
                </c:pt>
              </c:strCache>
            </c:strRef>
          </c:tx>
          <c:spPr>
            <a:ln w="28575" cap="rnd">
              <a:solidFill>
                <a:srgbClr val="FF0000"/>
              </a:solidFill>
              <a:round/>
            </a:ln>
            <a:effectLst/>
          </c:spPr>
          <c:marker>
            <c:symbol val="circle"/>
            <c:size val="20"/>
            <c:spPr>
              <a:solidFill>
                <a:srgbClr val="002060"/>
              </a:solidFill>
              <a:ln w="9525">
                <a:solidFill>
                  <a:srgbClr val="00206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Sheet1!$A$100:$A$111</c:f>
              <c:strCache>
                <c:ptCount val="12"/>
                <c:pt idx="0">
                  <c:v>Dec-W1</c:v>
                </c:pt>
                <c:pt idx="1">
                  <c:v>Dec-W2</c:v>
                </c:pt>
                <c:pt idx="2">
                  <c:v>Dec-W3</c:v>
                </c:pt>
                <c:pt idx="3">
                  <c:v>Dec-W4</c:v>
                </c:pt>
                <c:pt idx="4">
                  <c:v>Jan-W1</c:v>
                </c:pt>
                <c:pt idx="5">
                  <c:v>Jan-W2</c:v>
                </c:pt>
                <c:pt idx="6">
                  <c:v>Jan-W3</c:v>
                </c:pt>
                <c:pt idx="7">
                  <c:v>Jan-W4</c:v>
                </c:pt>
                <c:pt idx="8">
                  <c:v>Feb-W1</c:v>
                </c:pt>
                <c:pt idx="9">
                  <c:v>Feb-W2</c:v>
                </c:pt>
                <c:pt idx="10">
                  <c:v>Feb-W3</c:v>
                </c:pt>
                <c:pt idx="11">
                  <c:v>Feb-W4</c:v>
                </c:pt>
              </c:strCache>
            </c:strRef>
          </c:cat>
          <c:val>
            <c:numRef>
              <c:f>Sheet1!$G$100:$G$111</c:f>
              <c:numCache>
                <c:formatCode>General</c:formatCode>
                <c:ptCount val="12"/>
                <c:pt idx="0">
                  <c:v>16</c:v>
                </c:pt>
                <c:pt idx="1">
                  <c:v>16</c:v>
                </c:pt>
                <c:pt idx="2">
                  <c:v>16</c:v>
                </c:pt>
                <c:pt idx="3">
                  <c:v>17</c:v>
                </c:pt>
                <c:pt idx="4">
                  <c:v>17</c:v>
                </c:pt>
                <c:pt idx="5">
                  <c:v>17</c:v>
                </c:pt>
                <c:pt idx="6">
                  <c:v>17</c:v>
                </c:pt>
                <c:pt idx="7">
                  <c:v>17</c:v>
                </c:pt>
                <c:pt idx="8">
                  <c:v>17</c:v>
                </c:pt>
                <c:pt idx="9">
                  <c:v>17</c:v>
                </c:pt>
                <c:pt idx="10">
                  <c:v>17</c:v>
                </c:pt>
                <c:pt idx="11">
                  <c:v>17</c:v>
                </c:pt>
              </c:numCache>
            </c:numRef>
          </c:val>
          <c:smooth val="0"/>
          <c:extLst xmlns:c16r2="http://schemas.microsoft.com/office/drawing/2015/06/chart">
            <c:ext xmlns:c16="http://schemas.microsoft.com/office/drawing/2014/chart" uri="{C3380CC4-5D6E-409C-BE32-E72D297353CC}">
              <c16:uniqueId val="{00000000-39BA-43F7-838F-DB44C72A4044}"/>
            </c:ext>
          </c:extLst>
        </c:ser>
        <c:dLbls>
          <c:dLblPos val="ctr"/>
          <c:showLegendKey val="0"/>
          <c:showVal val="1"/>
          <c:showCatName val="0"/>
          <c:showSerName val="0"/>
          <c:showPercent val="0"/>
          <c:showBubbleSize val="0"/>
        </c:dLbls>
        <c:marker val="1"/>
        <c:smooth val="0"/>
        <c:axId val="316843392"/>
        <c:axId val="316848096"/>
      </c:lineChart>
      <c:catAx>
        <c:axId val="3168433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en-US"/>
          </a:p>
        </c:txPr>
        <c:crossAx val="316848096"/>
        <c:crosses val="autoZero"/>
        <c:auto val="1"/>
        <c:lblAlgn val="ctr"/>
        <c:lblOffset val="100"/>
        <c:noMultiLvlLbl val="0"/>
      </c:catAx>
      <c:valAx>
        <c:axId val="316848096"/>
        <c:scaling>
          <c:orientation val="minMax"/>
          <c:min val="1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316843392"/>
        <c:crosses val="autoZero"/>
        <c:crossBetween val="between"/>
      </c:valAx>
      <c:spPr>
        <a:noFill/>
        <a:ln>
          <a:noFill/>
        </a:ln>
        <a:effectLst/>
      </c:spPr>
    </c:plotArea>
    <c:legend>
      <c:legendPos val="b"/>
      <c:layout>
        <c:manualLayout>
          <c:xMode val="edge"/>
          <c:yMode val="edge"/>
          <c:x val="0.61250891982889899"/>
          <c:y val="0.55532237636395698"/>
          <c:w val="0.35697479887302619"/>
          <c:h val="9.3332332586484101E-2"/>
        </c:manualLayout>
      </c:layout>
      <c:overlay val="0"/>
      <c:spPr>
        <a:solidFill>
          <a:schemeClr val="bg1"/>
        </a:solidFill>
        <a:ln>
          <a:solidFill>
            <a:srgbClr val="00B0F0"/>
          </a:solidFill>
        </a:ln>
        <a:effectLst/>
      </c:spPr>
      <c:txPr>
        <a:bodyPr rot="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legend>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w="28575">
      <a:solidFill>
        <a:schemeClr val="tx1"/>
      </a:solidFill>
    </a:ln>
    <a:effectLst/>
  </c:spPr>
  <c:txPr>
    <a:bodyPr/>
    <a:lstStyle/>
    <a:p>
      <a:pPr>
        <a:defRPr/>
      </a:pPr>
      <a:endParaRPr lang="en-US"/>
    </a:p>
  </c:txPr>
  <c:externalData r:id="rId3">
    <c:autoUpdate val="0"/>
  </c:externalData>
  <c:userShapes r:id="rId4"/>
</c:chartSpace>
</file>

<file path=ppt/charts/chart1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r>
              <a:rPr lang="en-US" sz="1400" b="1">
                <a:solidFill>
                  <a:schemeClr val="tx1"/>
                </a:solidFill>
              </a:rPr>
              <a:t>Số</a:t>
            </a:r>
            <a:r>
              <a:rPr lang="en-US" sz="1400" b="1" baseline="0">
                <a:solidFill>
                  <a:schemeClr val="tx1"/>
                </a:solidFill>
              </a:rPr>
              <a:t> lượng A350 AOG</a:t>
            </a:r>
            <a:endParaRPr lang="en-US" sz="1400" b="1">
              <a:solidFill>
                <a:schemeClr val="tx1"/>
              </a:solidFill>
            </a:endParaRPr>
          </a:p>
        </c:rich>
      </c:tx>
      <c:layout/>
      <c:overlay val="0"/>
      <c:spPr>
        <a:noFill/>
        <a:ln>
          <a:noFill/>
        </a:ln>
        <a:effectLst/>
      </c:spPr>
      <c:txPr>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4.7242419776671173E-2"/>
          <c:y val="3.2725603332538003E-2"/>
          <c:w val="0.943893299494588"/>
          <c:h val="0.75142988019223178"/>
        </c:manualLayout>
      </c:layout>
      <c:lineChart>
        <c:grouping val="standard"/>
        <c:varyColors val="0"/>
        <c:ser>
          <c:idx val="0"/>
          <c:order val="0"/>
          <c:tx>
            <c:strRef>
              <c:f>Sheet1!$B$1</c:f>
              <c:strCache>
                <c:ptCount val="1"/>
                <c:pt idx="0">
                  <c:v>NL báo KHPT</c:v>
                </c:pt>
              </c:strCache>
            </c:strRef>
          </c:tx>
          <c:spPr>
            <a:ln w="28575" cap="rnd">
              <a:solidFill>
                <a:schemeClr val="accent1"/>
              </a:solidFill>
              <a:round/>
            </a:ln>
            <a:effectLst/>
          </c:spPr>
          <c:marker>
            <c:symbol val="circle"/>
            <c:size val="25"/>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3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Sheet1!$A$9:$A$24</c:f>
              <c:strCache>
                <c:ptCount val="12"/>
                <c:pt idx="0">
                  <c:v>Jan-W1</c:v>
                </c:pt>
                <c:pt idx="1">
                  <c:v>Jan-W2</c:v>
                </c:pt>
                <c:pt idx="2">
                  <c:v>Jan-W3</c:v>
                </c:pt>
                <c:pt idx="3">
                  <c:v>Jan-W4</c:v>
                </c:pt>
                <c:pt idx="4">
                  <c:v>Feb-W1</c:v>
                </c:pt>
                <c:pt idx="5">
                  <c:v>Feb-W2</c:v>
                </c:pt>
                <c:pt idx="6">
                  <c:v>Feb-W3</c:v>
                </c:pt>
                <c:pt idx="7">
                  <c:v>Feb-W4</c:v>
                </c:pt>
                <c:pt idx="8">
                  <c:v>Mar-W1</c:v>
                </c:pt>
                <c:pt idx="9">
                  <c:v>Mar-W2</c:v>
                </c:pt>
                <c:pt idx="10">
                  <c:v>Mar-W3</c:v>
                </c:pt>
                <c:pt idx="11">
                  <c:v>Mar-W4</c:v>
                </c:pt>
              </c:strCache>
            </c:strRef>
          </c:cat>
          <c:val>
            <c:numRef>
              <c:f>Sheet1!$B$9:$B$24</c:f>
            </c:numRef>
          </c:val>
          <c:smooth val="1"/>
          <c:extLst xmlns:c16r2="http://schemas.microsoft.com/office/drawing/2015/06/chart">
            <c:ext xmlns:c16="http://schemas.microsoft.com/office/drawing/2014/chart" uri="{C3380CC4-5D6E-409C-BE32-E72D297353CC}">
              <c16:uniqueId val="{00000000-7DB7-40A0-96F5-1D2E7AF0F464}"/>
            </c:ext>
          </c:extLst>
        </c:ser>
        <c:ser>
          <c:idx val="1"/>
          <c:order val="1"/>
          <c:tx>
            <c:strRef>
              <c:f>Sheet1!$C$1</c:f>
              <c:strCache>
                <c:ptCount val="1"/>
                <c:pt idx="0">
                  <c:v>KH hiện tại</c:v>
                </c:pt>
              </c:strCache>
            </c:strRef>
          </c:tx>
          <c:spPr>
            <a:ln w="28575" cap="rnd">
              <a:solidFill>
                <a:srgbClr val="FF0000"/>
              </a:solidFill>
              <a:round/>
            </a:ln>
            <a:effectLst/>
          </c:spPr>
          <c:marker>
            <c:symbol val="circle"/>
            <c:size val="20"/>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Sheet1!$A$9:$A$24</c:f>
              <c:strCache>
                <c:ptCount val="12"/>
                <c:pt idx="0">
                  <c:v>Jan-W1</c:v>
                </c:pt>
                <c:pt idx="1">
                  <c:v>Jan-W2</c:v>
                </c:pt>
                <c:pt idx="2">
                  <c:v>Jan-W3</c:v>
                </c:pt>
                <c:pt idx="3">
                  <c:v>Jan-W4</c:v>
                </c:pt>
                <c:pt idx="4">
                  <c:v>Feb-W1</c:v>
                </c:pt>
                <c:pt idx="5">
                  <c:v>Feb-W2</c:v>
                </c:pt>
                <c:pt idx="6">
                  <c:v>Feb-W3</c:v>
                </c:pt>
                <c:pt idx="7">
                  <c:v>Feb-W4</c:v>
                </c:pt>
                <c:pt idx="8">
                  <c:v>Mar-W1</c:v>
                </c:pt>
                <c:pt idx="9">
                  <c:v>Mar-W2</c:v>
                </c:pt>
                <c:pt idx="10">
                  <c:v>Mar-W3</c:v>
                </c:pt>
                <c:pt idx="11">
                  <c:v>Mar-W4</c:v>
                </c:pt>
              </c:strCache>
            </c:strRef>
          </c:cat>
          <c:val>
            <c:numRef>
              <c:f>Sheet1!$C$9:$C$24</c:f>
              <c:numCache>
                <c:formatCode>General</c:formatCode>
                <c:ptCount val="12"/>
                <c:pt idx="0">
                  <c:v>4</c:v>
                </c:pt>
                <c:pt idx="1">
                  <c:v>4</c:v>
                </c:pt>
                <c:pt idx="2">
                  <c:v>4</c:v>
                </c:pt>
                <c:pt idx="3">
                  <c:v>5</c:v>
                </c:pt>
                <c:pt idx="4">
                  <c:v>4</c:v>
                </c:pt>
                <c:pt idx="5">
                  <c:v>4</c:v>
                </c:pt>
                <c:pt idx="6">
                  <c:v>5</c:v>
                </c:pt>
                <c:pt idx="7">
                  <c:v>4</c:v>
                </c:pt>
                <c:pt idx="8">
                  <c:v>4</c:v>
                </c:pt>
                <c:pt idx="9">
                  <c:v>4</c:v>
                </c:pt>
                <c:pt idx="10">
                  <c:v>4</c:v>
                </c:pt>
                <c:pt idx="11">
                  <c:v>4</c:v>
                </c:pt>
              </c:numCache>
            </c:numRef>
          </c:val>
          <c:smooth val="1"/>
          <c:extLst xmlns:c16r2="http://schemas.microsoft.com/office/drawing/2015/06/chart">
            <c:ext xmlns:c16="http://schemas.microsoft.com/office/drawing/2014/chart" uri="{C3380CC4-5D6E-409C-BE32-E72D297353CC}">
              <c16:uniqueId val="{00000001-7DB7-40A0-96F5-1D2E7AF0F464}"/>
            </c:ext>
          </c:extLst>
        </c:ser>
        <c:dLbls>
          <c:showLegendKey val="0"/>
          <c:showVal val="0"/>
          <c:showCatName val="0"/>
          <c:showSerName val="0"/>
          <c:showPercent val="0"/>
          <c:showBubbleSize val="0"/>
        </c:dLbls>
        <c:marker val="1"/>
        <c:smooth val="0"/>
        <c:axId val="281611136"/>
        <c:axId val="307032496"/>
      </c:lineChart>
      <c:catAx>
        <c:axId val="281611136"/>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1" i="0" u="none" strike="noStrike" kern="1200" baseline="0">
                <a:solidFill>
                  <a:schemeClr val="tx1"/>
                </a:solidFill>
                <a:latin typeface="+mn-lt"/>
                <a:ea typeface="+mn-ea"/>
                <a:cs typeface="+mn-cs"/>
              </a:defRPr>
            </a:pPr>
            <a:endParaRPr lang="en-US"/>
          </a:p>
        </c:txPr>
        <c:crossAx val="307032496"/>
        <c:crosses val="autoZero"/>
        <c:auto val="1"/>
        <c:lblAlgn val="ctr"/>
        <c:lblOffset val="100"/>
        <c:noMultiLvlLbl val="0"/>
      </c:catAx>
      <c:valAx>
        <c:axId val="307032496"/>
        <c:scaling>
          <c:orientation val="minMax"/>
          <c:max val="6"/>
          <c:min val="2"/>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81611136"/>
        <c:crosses val="autoZero"/>
        <c:crossBetween val="between"/>
        <c:majorUnit val="1"/>
      </c:valAx>
      <c:spPr>
        <a:noFill/>
        <a:ln>
          <a:noFill/>
        </a:ln>
        <a:effectLst/>
      </c:spPr>
    </c:plotArea>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solidFill>
        <a:schemeClr val="accent1"/>
      </a:solid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6741001059458913E-2"/>
          <c:y val="7.9544479126264098E-2"/>
          <c:w val="0.89607850198693251"/>
          <c:h val="0.73802210163219706"/>
        </c:manualLayout>
      </c:layout>
      <c:lineChart>
        <c:grouping val="standard"/>
        <c:varyColors val="0"/>
        <c:ser>
          <c:idx val="3"/>
          <c:order val="0"/>
          <c:tx>
            <c:strRef>
              <c:f>Sheet1!$B$1</c:f>
              <c:strCache>
                <c:ptCount val="1"/>
                <c:pt idx="0">
                  <c:v>A350 đủ động cơ</c:v>
                </c:pt>
              </c:strCache>
            </c:strRef>
          </c:tx>
          <c:spPr>
            <a:ln w="28575" cap="rnd">
              <a:solidFill>
                <a:srgbClr val="FF0000"/>
              </a:solidFill>
              <a:round/>
            </a:ln>
            <a:effectLst/>
          </c:spPr>
          <c:marker>
            <c:symbol val="circle"/>
            <c:size val="20"/>
            <c:spPr>
              <a:solidFill>
                <a:srgbClr val="003300"/>
              </a:solidFill>
              <a:ln w="9525">
                <a:solidFill>
                  <a:srgbClr val="003300"/>
                </a:solidFill>
              </a:ln>
              <a:effectLst/>
            </c:spPr>
          </c:marker>
          <c:dLbls>
            <c:spPr>
              <a:noFill/>
              <a:ln>
                <a:noFill/>
              </a:ln>
              <a:effectLst/>
            </c:spPr>
            <c:txPr>
              <a:bodyPr rot="0" spcFirstLastPara="1" vertOverflow="ellipsis" vert="horz" wrap="square" anchor="ctr" anchorCtr="1"/>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Sheet1!$A$7:$A$107</c:f>
              <c:strCache>
                <c:ptCount val="16"/>
                <c:pt idx="0">
                  <c:v>Nov-W1</c:v>
                </c:pt>
                <c:pt idx="1">
                  <c:v>Nov-W2</c:v>
                </c:pt>
                <c:pt idx="2">
                  <c:v>Nov-W3</c:v>
                </c:pt>
                <c:pt idx="3">
                  <c:v>Nov-W4</c:v>
                </c:pt>
                <c:pt idx="4">
                  <c:v>Dec-W1</c:v>
                </c:pt>
                <c:pt idx="5">
                  <c:v>Dec-W2</c:v>
                </c:pt>
                <c:pt idx="6">
                  <c:v>Dec-W3</c:v>
                </c:pt>
                <c:pt idx="7">
                  <c:v>Dec-W4</c:v>
                </c:pt>
                <c:pt idx="8">
                  <c:v>Jan-W1</c:v>
                </c:pt>
                <c:pt idx="9">
                  <c:v>Jan-W2</c:v>
                </c:pt>
                <c:pt idx="10">
                  <c:v>Jan-W3</c:v>
                </c:pt>
                <c:pt idx="11">
                  <c:v>Jan-W4</c:v>
                </c:pt>
                <c:pt idx="12">
                  <c:v>Feb-W1</c:v>
                </c:pt>
                <c:pt idx="13">
                  <c:v>Feb-W2</c:v>
                </c:pt>
                <c:pt idx="14">
                  <c:v>Feb-W3</c:v>
                </c:pt>
                <c:pt idx="15">
                  <c:v>Feb-W4</c:v>
                </c:pt>
              </c:strCache>
            </c:strRef>
          </c:cat>
          <c:val>
            <c:numRef>
              <c:f>Sheet1!$B$7:$B$107</c:f>
              <c:numCache>
                <c:formatCode>General</c:formatCode>
                <c:ptCount val="16"/>
                <c:pt idx="0">
                  <c:v>10</c:v>
                </c:pt>
                <c:pt idx="1">
                  <c:v>10</c:v>
                </c:pt>
                <c:pt idx="2">
                  <c:v>9</c:v>
                </c:pt>
                <c:pt idx="3">
                  <c:v>9</c:v>
                </c:pt>
                <c:pt idx="4">
                  <c:v>9</c:v>
                </c:pt>
                <c:pt idx="5">
                  <c:v>9</c:v>
                </c:pt>
                <c:pt idx="6">
                  <c:v>9</c:v>
                </c:pt>
                <c:pt idx="7">
                  <c:v>10</c:v>
                </c:pt>
                <c:pt idx="8">
                  <c:v>10</c:v>
                </c:pt>
                <c:pt idx="9">
                  <c:v>10</c:v>
                </c:pt>
                <c:pt idx="10">
                  <c:v>9</c:v>
                </c:pt>
                <c:pt idx="11">
                  <c:v>10</c:v>
                </c:pt>
                <c:pt idx="12">
                  <c:v>10</c:v>
                </c:pt>
                <c:pt idx="13">
                  <c:v>10</c:v>
                </c:pt>
                <c:pt idx="14">
                  <c:v>9</c:v>
                </c:pt>
                <c:pt idx="15">
                  <c:v>10</c:v>
                </c:pt>
              </c:numCache>
            </c:numRef>
          </c:val>
          <c:smooth val="0"/>
          <c:extLst xmlns:c16r2="http://schemas.microsoft.com/office/drawing/2015/06/chart">
            <c:ext xmlns:c16="http://schemas.microsoft.com/office/drawing/2014/chart" uri="{C3380CC4-5D6E-409C-BE32-E72D297353CC}">
              <c16:uniqueId val="{00000000-37CD-47C2-9C96-FB4BA1EFE2D2}"/>
            </c:ext>
          </c:extLst>
        </c:ser>
        <c:ser>
          <c:idx val="0"/>
          <c:order val="1"/>
          <c:tx>
            <c:strRef>
              <c:f>Sheet1!$C$1</c:f>
              <c:strCache>
                <c:ptCount val="1"/>
                <c:pt idx="0">
                  <c:v>Nhu cầu A350</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Sheet1!$A$7:$A$107</c:f>
              <c:strCache>
                <c:ptCount val="16"/>
                <c:pt idx="0">
                  <c:v>Nov-W1</c:v>
                </c:pt>
                <c:pt idx="1">
                  <c:v>Nov-W2</c:v>
                </c:pt>
                <c:pt idx="2">
                  <c:v>Nov-W3</c:v>
                </c:pt>
                <c:pt idx="3">
                  <c:v>Nov-W4</c:v>
                </c:pt>
                <c:pt idx="4">
                  <c:v>Dec-W1</c:v>
                </c:pt>
                <c:pt idx="5">
                  <c:v>Dec-W2</c:v>
                </c:pt>
                <c:pt idx="6">
                  <c:v>Dec-W3</c:v>
                </c:pt>
                <c:pt idx="7">
                  <c:v>Dec-W4</c:v>
                </c:pt>
                <c:pt idx="8">
                  <c:v>Jan-W1</c:v>
                </c:pt>
                <c:pt idx="9">
                  <c:v>Jan-W2</c:v>
                </c:pt>
                <c:pt idx="10">
                  <c:v>Jan-W3</c:v>
                </c:pt>
                <c:pt idx="11">
                  <c:v>Jan-W4</c:v>
                </c:pt>
                <c:pt idx="12">
                  <c:v>Feb-W1</c:v>
                </c:pt>
                <c:pt idx="13">
                  <c:v>Feb-W2</c:v>
                </c:pt>
                <c:pt idx="14">
                  <c:v>Feb-W3</c:v>
                </c:pt>
                <c:pt idx="15">
                  <c:v>Feb-W4</c:v>
                </c:pt>
              </c:strCache>
            </c:strRef>
          </c:cat>
          <c:val>
            <c:numRef>
              <c:f>Sheet1!$C$7:$C$107</c:f>
            </c:numRef>
          </c:val>
          <c:smooth val="0"/>
          <c:extLst xmlns:c16r2="http://schemas.microsoft.com/office/drawing/2015/06/chart">
            <c:ext xmlns:c16="http://schemas.microsoft.com/office/drawing/2014/chart" uri="{C3380CC4-5D6E-409C-BE32-E72D297353CC}">
              <c16:uniqueId val="{00000001-37CD-47C2-9C96-FB4BA1EFE2D2}"/>
            </c:ext>
          </c:extLst>
        </c:ser>
        <c:dLbls>
          <c:dLblPos val="ctr"/>
          <c:showLegendKey val="0"/>
          <c:showVal val="1"/>
          <c:showCatName val="0"/>
          <c:showSerName val="0"/>
          <c:showPercent val="0"/>
          <c:showBubbleSize val="0"/>
        </c:dLbls>
        <c:marker val="1"/>
        <c:smooth val="0"/>
        <c:axId val="307028576"/>
        <c:axId val="307026616"/>
      </c:lineChart>
      <c:catAx>
        <c:axId val="307028576"/>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307026616"/>
        <c:crosses val="autoZero"/>
        <c:auto val="1"/>
        <c:lblAlgn val="ctr"/>
        <c:lblOffset val="100"/>
        <c:noMultiLvlLbl val="0"/>
      </c:catAx>
      <c:valAx>
        <c:axId val="307026616"/>
        <c:scaling>
          <c:orientation val="minMax"/>
          <c:max val="11"/>
          <c:min val="1"/>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en-US"/>
          </a:p>
        </c:txPr>
        <c:crossAx val="307028576"/>
        <c:crosses val="autoZero"/>
        <c:crossBetween val="between"/>
        <c:majorUnit val="1"/>
      </c:valAx>
      <c:spPr>
        <a:noFill/>
        <a:ln>
          <a:noFill/>
        </a:ln>
        <a:effectLst/>
      </c:spPr>
    </c:plotArea>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w="28575">
      <a:solidFill>
        <a:srgbClr val="00B050"/>
      </a:solidFill>
    </a:ln>
    <a:effectLst/>
  </c:spPr>
  <c:txPr>
    <a:bodyPr/>
    <a:lstStyle/>
    <a:p>
      <a:pPr>
        <a:defRPr sz="1600" b="1"/>
      </a:pPr>
      <a:endParaRPr lang="en-US"/>
    </a:p>
  </c:txPr>
  <c:externalData r:id="rId3">
    <c:autoUpdate val="0"/>
  </c:externalData>
  <c:userShapes r:id="rId4"/>
</c:chartSpace>
</file>

<file path=ppt/charts/chart1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r>
              <a:rPr lang="en-US" sz="1000" dirty="0">
                <a:solidFill>
                  <a:schemeClr val="tx1"/>
                </a:solidFill>
              </a:rPr>
              <a:t>ĐỘI</a:t>
            </a:r>
            <a:r>
              <a:rPr lang="en-US" sz="1000" baseline="0" dirty="0">
                <a:solidFill>
                  <a:schemeClr val="tx1"/>
                </a:solidFill>
              </a:rPr>
              <a:t> </a:t>
            </a:r>
            <a:r>
              <a:rPr lang="en-US" sz="1000" baseline="0">
                <a:solidFill>
                  <a:schemeClr val="tx1"/>
                </a:solidFill>
              </a:rPr>
              <a:t>BAY ATR72</a:t>
            </a:r>
            <a:endParaRPr lang="en-US" sz="1000" dirty="0">
              <a:solidFill>
                <a:schemeClr val="tx1"/>
              </a:solidFill>
            </a:endParaRPr>
          </a:p>
        </c:rich>
      </c:tx>
      <c:layout/>
      <c:overlay val="0"/>
      <c:spPr>
        <a:noFill/>
        <a:ln>
          <a:noFill/>
        </a:ln>
        <a:effectLst/>
      </c:spPr>
      <c:txPr>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7.6741006124173256E-2"/>
          <c:y val="7.6421014126223277E-2"/>
          <c:w val="0.86908620881679688"/>
          <c:h val="0.76207697550003184"/>
        </c:manualLayout>
      </c:layout>
      <c:barChart>
        <c:barDir val="col"/>
        <c:grouping val="clustered"/>
        <c:varyColors val="0"/>
        <c:ser>
          <c:idx val="3"/>
          <c:order val="0"/>
          <c:tx>
            <c:strRef>
              <c:f>Sheet1!$E$1</c:f>
              <c:strCache>
                <c:ptCount val="1"/>
                <c:pt idx="0">
                  <c:v>ATR AOG</c:v>
                </c:pt>
              </c:strCache>
            </c:strRef>
          </c:tx>
          <c:spPr>
            <a:solidFill>
              <a:schemeClr val="accent6">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Sheet1!$E$10:$E$33</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extLst xmlns:c16r2="http://schemas.microsoft.com/office/drawing/2015/06/chart">
            <c:ext xmlns:c16="http://schemas.microsoft.com/office/drawing/2014/chart" uri="{C3380CC4-5D6E-409C-BE32-E72D297353CC}">
              <c16:uniqueId val="{00000000-5DD9-45B0-A857-E17C1999913E}"/>
            </c:ext>
          </c:extLst>
        </c:ser>
        <c:dLbls>
          <c:dLblPos val="ctr"/>
          <c:showLegendKey val="0"/>
          <c:showVal val="1"/>
          <c:showCatName val="0"/>
          <c:showSerName val="0"/>
          <c:showPercent val="0"/>
          <c:showBubbleSize val="0"/>
        </c:dLbls>
        <c:gapWidth val="150"/>
        <c:axId val="307030144"/>
        <c:axId val="307032104"/>
      </c:barChart>
      <c:lineChart>
        <c:grouping val="standard"/>
        <c:varyColors val="0"/>
        <c:ser>
          <c:idx val="4"/>
          <c:order val="1"/>
          <c:tx>
            <c:strRef>
              <c:f>Sheet1!$F$1</c:f>
              <c:strCache>
                <c:ptCount val="1"/>
                <c:pt idx="0">
                  <c:v>ATR có thể khai thác</c:v>
                </c:pt>
              </c:strCache>
            </c:strRef>
          </c:tx>
          <c:spPr>
            <a:ln w="28575" cap="rnd">
              <a:solidFill>
                <a:schemeClr val="accent5">
                  <a:lumMod val="60000"/>
                </a:schemeClr>
              </a:solidFill>
              <a:round/>
            </a:ln>
            <a:effectLst/>
          </c:spPr>
          <c:marker>
            <c:symbol val="circle"/>
            <c:size val="20"/>
            <c:spPr>
              <a:solidFill>
                <a:schemeClr val="accent5">
                  <a:lumMod val="60000"/>
                </a:schemeClr>
              </a:solidFill>
              <a:ln w="9525">
                <a:solidFill>
                  <a:schemeClr val="accent5">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Sheet1!$F$10:$F$33</c:f>
              <c:numCache>
                <c:formatCode>General</c:formatCode>
                <c:ptCount val="12"/>
                <c:pt idx="0">
                  <c:v>5</c:v>
                </c:pt>
                <c:pt idx="1">
                  <c:v>5</c:v>
                </c:pt>
                <c:pt idx="2">
                  <c:v>5</c:v>
                </c:pt>
                <c:pt idx="3">
                  <c:v>5</c:v>
                </c:pt>
                <c:pt idx="4">
                  <c:v>5</c:v>
                </c:pt>
                <c:pt idx="5">
                  <c:v>5</c:v>
                </c:pt>
                <c:pt idx="6">
                  <c:v>6</c:v>
                </c:pt>
                <c:pt idx="7">
                  <c:v>6</c:v>
                </c:pt>
                <c:pt idx="8">
                  <c:v>6</c:v>
                </c:pt>
                <c:pt idx="9">
                  <c:v>6</c:v>
                </c:pt>
                <c:pt idx="10">
                  <c:v>6</c:v>
                </c:pt>
                <c:pt idx="11">
                  <c:v>6</c:v>
                </c:pt>
              </c:numCache>
            </c:numRef>
          </c:val>
          <c:smooth val="0"/>
          <c:extLst xmlns:c16r2="http://schemas.microsoft.com/office/drawing/2015/06/chart">
            <c:ext xmlns:c16="http://schemas.microsoft.com/office/drawing/2014/chart" uri="{C3380CC4-5D6E-409C-BE32-E72D297353CC}">
              <c16:uniqueId val="{00000001-5DD9-45B0-A857-E17C1999913E}"/>
            </c:ext>
          </c:extLst>
        </c:ser>
        <c:dLbls>
          <c:showLegendKey val="0"/>
          <c:showVal val="0"/>
          <c:showCatName val="0"/>
          <c:showSerName val="0"/>
          <c:showPercent val="0"/>
          <c:showBubbleSize val="0"/>
        </c:dLbls>
        <c:marker val="1"/>
        <c:smooth val="0"/>
        <c:axId val="307030144"/>
        <c:axId val="307032104"/>
      </c:lineChart>
      <c:catAx>
        <c:axId val="3070301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307032104"/>
        <c:crosses val="autoZero"/>
        <c:auto val="1"/>
        <c:lblAlgn val="ctr"/>
        <c:lblOffset val="100"/>
        <c:noMultiLvlLbl val="0"/>
      </c:catAx>
      <c:valAx>
        <c:axId val="307032104"/>
        <c:scaling>
          <c:orientation val="minMax"/>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solidFill>
                <a:latin typeface="+mn-lt"/>
                <a:ea typeface="+mn-ea"/>
                <a:cs typeface="+mn-cs"/>
              </a:defRPr>
            </a:pPr>
            <a:endParaRPr lang="en-US"/>
          </a:p>
        </c:txPr>
        <c:crossAx val="307030144"/>
        <c:crosses val="autoZero"/>
        <c:crossBetween val="between"/>
      </c:valAx>
      <c:spPr>
        <a:noFill/>
        <a:ln>
          <a:noFill/>
        </a:ln>
        <a:effectLst/>
      </c:spPr>
    </c:plotArea>
    <c:legend>
      <c:legendPos val="b"/>
      <c:layout>
        <c:manualLayout>
          <c:xMode val="edge"/>
          <c:yMode val="edge"/>
          <c:x val="0.67513027291531713"/>
          <c:y val="6.004108159602075E-2"/>
          <c:w val="0.30713392618610735"/>
          <c:h val="5.4412364558412099E-2"/>
        </c:manualLayout>
      </c:layout>
      <c:overlay val="0"/>
      <c:spPr>
        <a:solidFill>
          <a:schemeClr val="bg1"/>
        </a:solidFill>
        <a:ln>
          <a:solidFill>
            <a:srgbClr val="00FF00"/>
          </a:solidFill>
        </a:ln>
        <a:effectLst/>
      </c:spPr>
      <c:txPr>
        <a:bodyPr rot="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legend>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w="28575">
      <a:solidFill>
        <a:srgbClr val="00B050"/>
      </a:solid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600"/>
            </a:pPr>
            <a:r>
              <a:rPr lang="en-US" sz="1600"/>
              <a:t>Số nhân nhượng theo tuần</a:t>
            </a:r>
            <a:endParaRPr lang="vi-VN" sz="1600"/>
          </a:p>
        </c:rich>
      </c:tx>
      <c:layout/>
      <c:overlay val="0"/>
    </c:title>
    <c:autoTitleDeleted val="0"/>
    <c:plotArea>
      <c:layout/>
      <c:barChart>
        <c:barDir val="col"/>
        <c:grouping val="clustered"/>
        <c:varyColors val="0"/>
        <c:ser>
          <c:idx val="0"/>
          <c:order val="0"/>
          <c:tx>
            <c:strRef>
              <c:f>'Data Chart'!$C$34</c:f>
              <c:strCache>
                <c:ptCount val="1"/>
                <c:pt idx="0">
                  <c:v>Last week</c:v>
                </c:pt>
              </c:strCache>
            </c:strRef>
          </c:tx>
          <c:spPr>
            <a:solidFill>
              <a:srgbClr val="FFC000"/>
            </a:solidFill>
          </c:spPr>
          <c:invertIfNegative val="0"/>
          <c:dLbls>
            <c:spPr>
              <a:noFill/>
              <a:ln>
                <a:noFill/>
              </a:ln>
              <a:effectLst/>
            </c:spPr>
            <c:txPr>
              <a:bodyPr wrap="square" lIns="38100" tIns="19050" rIns="38100" bIns="19050" anchor="ctr">
                <a:spAutoFit/>
              </a:bodyPr>
              <a:lstStyle/>
              <a:p>
                <a:pPr>
                  <a:defRPr sz="1000"/>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0"/>
              </c:ext>
            </c:extLst>
          </c:dLbls>
          <c:cat>
            <c:strRef>
              <c:f>'Data Chart'!$A$35:$B$40</c:f>
              <c:strCache>
                <c:ptCount val="6"/>
                <c:pt idx="0">
                  <c:v>A320</c:v>
                </c:pt>
                <c:pt idx="1">
                  <c:v>A321</c:v>
                </c:pt>
                <c:pt idx="2">
                  <c:v>A350</c:v>
                </c:pt>
                <c:pt idx="3">
                  <c:v>B787</c:v>
                </c:pt>
                <c:pt idx="4">
                  <c:v>ATR72</c:v>
                </c:pt>
                <c:pt idx="5">
                  <c:v>Tất cả</c:v>
                </c:pt>
              </c:strCache>
            </c:strRef>
          </c:cat>
          <c:val>
            <c:numRef>
              <c:f>'Data Chart'!$C$35:$C$40</c:f>
              <c:numCache>
                <c:formatCode>General</c:formatCode>
                <c:ptCount val="6"/>
                <c:pt idx="0">
                  <c:v>0</c:v>
                </c:pt>
                <c:pt idx="1">
                  <c:v>2</c:v>
                </c:pt>
                <c:pt idx="2">
                  <c:v>0</c:v>
                </c:pt>
                <c:pt idx="3">
                  <c:v>4</c:v>
                </c:pt>
                <c:pt idx="4">
                  <c:v>1</c:v>
                </c:pt>
                <c:pt idx="5" formatCode="0">
                  <c:v>7</c:v>
                </c:pt>
              </c:numCache>
            </c:numRef>
          </c:val>
          <c:extLst xmlns:c16r2="http://schemas.microsoft.com/office/drawing/2015/06/chart">
            <c:ext xmlns:c16="http://schemas.microsoft.com/office/drawing/2014/chart" uri="{C3380CC4-5D6E-409C-BE32-E72D297353CC}">
              <c16:uniqueId val="{00000000-EC7F-4364-89A8-487C5DDB8DF5}"/>
            </c:ext>
          </c:extLst>
        </c:ser>
        <c:ser>
          <c:idx val="1"/>
          <c:order val="1"/>
          <c:tx>
            <c:strRef>
              <c:f>'Data Chart'!$D$34</c:f>
              <c:strCache>
                <c:ptCount val="1"/>
                <c:pt idx="0">
                  <c:v>This week</c:v>
                </c:pt>
              </c:strCache>
            </c:strRef>
          </c:tx>
          <c:spPr>
            <a:solidFill>
              <a:srgbClr val="00B0F0"/>
            </a:solidFill>
          </c:spPr>
          <c:invertIfNegative val="0"/>
          <c:dLbls>
            <c:spPr>
              <a:noFill/>
              <a:ln>
                <a:noFill/>
              </a:ln>
              <a:effectLst/>
            </c:spPr>
            <c:txPr>
              <a:bodyPr wrap="square" lIns="38100" tIns="19050" rIns="38100" bIns="19050" anchor="ctr">
                <a:spAutoFit/>
              </a:bodyPr>
              <a:lstStyle/>
              <a:p>
                <a:pPr>
                  <a:defRPr sz="1000"/>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0"/>
              </c:ext>
            </c:extLst>
          </c:dLbls>
          <c:cat>
            <c:strRef>
              <c:f>'Data Chart'!$A$35:$B$40</c:f>
              <c:strCache>
                <c:ptCount val="6"/>
                <c:pt idx="0">
                  <c:v>A320</c:v>
                </c:pt>
                <c:pt idx="1">
                  <c:v>A321</c:v>
                </c:pt>
                <c:pt idx="2">
                  <c:v>A350</c:v>
                </c:pt>
                <c:pt idx="3">
                  <c:v>B787</c:v>
                </c:pt>
                <c:pt idx="4">
                  <c:v>ATR72</c:v>
                </c:pt>
                <c:pt idx="5">
                  <c:v>Tất cả</c:v>
                </c:pt>
              </c:strCache>
            </c:strRef>
          </c:cat>
          <c:val>
            <c:numRef>
              <c:f>'Data Chart'!$D$35:$D$40</c:f>
              <c:numCache>
                <c:formatCode>General</c:formatCode>
                <c:ptCount val="6"/>
                <c:pt idx="0">
                  <c:v>0</c:v>
                </c:pt>
                <c:pt idx="1">
                  <c:v>2</c:v>
                </c:pt>
                <c:pt idx="2">
                  <c:v>2</c:v>
                </c:pt>
                <c:pt idx="3">
                  <c:v>4</c:v>
                </c:pt>
                <c:pt idx="4">
                  <c:v>1</c:v>
                </c:pt>
                <c:pt idx="5" formatCode="0">
                  <c:v>9</c:v>
                </c:pt>
              </c:numCache>
            </c:numRef>
          </c:val>
          <c:extLst xmlns:c16r2="http://schemas.microsoft.com/office/drawing/2015/06/chart">
            <c:ext xmlns:c16="http://schemas.microsoft.com/office/drawing/2014/chart" uri="{C3380CC4-5D6E-409C-BE32-E72D297353CC}">
              <c16:uniqueId val="{00000001-EC7F-4364-89A8-487C5DDB8DF5}"/>
            </c:ext>
          </c:extLst>
        </c:ser>
        <c:dLbls>
          <c:showLegendKey val="0"/>
          <c:showVal val="0"/>
          <c:showCatName val="0"/>
          <c:showSerName val="0"/>
          <c:showPercent val="0"/>
          <c:showBubbleSize val="0"/>
        </c:dLbls>
        <c:gapWidth val="150"/>
        <c:axId val="275469528"/>
        <c:axId val="275470704"/>
      </c:barChart>
      <c:catAx>
        <c:axId val="275469528"/>
        <c:scaling>
          <c:orientation val="minMax"/>
        </c:scaling>
        <c:delete val="0"/>
        <c:axPos val="b"/>
        <c:numFmt formatCode="General" sourceLinked="0"/>
        <c:majorTickMark val="out"/>
        <c:minorTickMark val="none"/>
        <c:tickLblPos val="nextTo"/>
        <c:txPr>
          <a:bodyPr/>
          <a:lstStyle/>
          <a:p>
            <a:pPr>
              <a:defRPr sz="1000">
                <a:solidFill>
                  <a:schemeClr val="tx1"/>
                </a:solidFill>
              </a:defRPr>
            </a:pPr>
            <a:endParaRPr lang="en-US"/>
          </a:p>
        </c:txPr>
        <c:crossAx val="275470704"/>
        <c:crosses val="autoZero"/>
        <c:auto val="1"/>
        <c:lblAlgn val="ctr"/>
        <c:lblOffset val="100"/>
        <c:noMultiLvlLbl val="0"/>
      </c:catAx>
      <c:valAx>
        <c:axId val="275470704"/>
        <c:scaling>
          <c:orientation val="minMax"/>
        </c:scaling>
        <c:delete val="0"/>
        <c:axPos val="l"/>
        <c:numFmt formatCode="General" sourceLinked="1"/>
        <c:majorTickMark val="out"/>
        <c:minorTickMark val="none"/>
        <c:tickLblPos val="nextTo"/>
        <c:txPr>
          <a:bodyPr/>
          <a:lstStyle/>
          <a:p>
            <a:pPr>
              <a:defRPr sz="1000">
                <a:solidFill>
                  <a:schemeClr val="tx1"/>
                </a:solidFill>
              </a:defRPr>
            </a:pPr>
            <a:endParaRPr lang="en-US"/>
          </a:p>
        </c:txPr>
        <c:crossAx val="275469528"/>
        <c:crosses val="autoZero"/>
        <c:crossBetween val="between"/>
        <c:majorUnit val="4"/>
        <c:minorUnit val="2"/>
      </c:valAx>
    </c:plotArea>
    <c:legend>
      <c:legendPos val="b"/>
      <c:layout/>
      <c:overlay val="0"/>
      <c:txPr>
        <a:bodyPr/>
        <a:lstStyle/>
        <a:p>
          <a:pPr>
            <a:defRPr sz="1000"/>
          </a:pPr>
          <a:endParaRPr lang="en-US"/>
        </a:p>
      </c:txPr>
    </c:legend>
    <c:plotVisOnly val="1"/>
    <c:dispBlanksAs val="gap"/>
    <c:showDLblsOverMax val="0"/>
  </c:chart>
  <c:spPr>
    <a:ln w="12700">
      <a:solidFill>
        <a:schemeClr val="tx1"/>
      </a:solidFill>
    </a:ln>
  </c:spPr>
  <c:txPr>
    <a:bodyPr/>
    <a:lstStyle/>
    <a:p>
      <a:pPr>
        <a:defRPr sz="1200">
          <a:latin typeface="Times New Roman" panose="02020603050405020304" pitchFamily="18" charset="0"/>
          <a:cs typeface="Times New Roman" panose="02020603050405020304" pitchFamily="18" charset="0"/>
        </a:defRPr>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4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400" b="1">
                <a:solidFill>
                  <a:schemeClr val="tx1"/>
                </a:solidFill>
              </a:rPr>
              <a:t>Trung bình giờ bay các</a:t>
            </a:r>
            <a:r>
              <a:rPr lang="en-US" sz="1400" b="1" baseline="0">
                <a:solidFill>
                  <a:schemeClr val="tx1"/>
                </a:solidFill>
              </a:rPr>
              <a:t> đội tàu</a:t>
            </a:r>
            <a:endParaRPr lang="en-US" sz="1400" b="1">
              <a:solidFill>
                <a:schemeClr val="tx1"/>
              </a:solidFill>
            </a:endParaRPr>
          </a:p>
        </c:rich>
      </c:tx>
      <c:layout/>
      <c:overlay val="0"/>
      <c:spPr>
        <a:noFill/>
        <a:ln>
          <a:noFill/>
        </a:ln>
        <a:effectLst/>
      </c:spPr>
      <c:txPr>
        <a:bodyPr rot="0" spcFirstLastPara="1" vertOverflow="ellipsis" vert="horz" wrap="square" anchor="ctr" anchorCtr="1"/>
        <a:lstStyle/>
        <a:p>
          <a:pPr>
            <a:defRPr sz="144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Week!$A$2</c:f>
              <c:strCache>
                <c:ptCount val="1"/>
                <c:pt idx="0">
                  <c:v>This Week</c:v>
                </c:pt>
              </c:strCache>
            </c:strRef>
          </c:tx>
          <c:spPr>
            <a:solidFill>
              <a:srgbClr val="0070C0"/>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Week!$B$4:$B$12</c:f>
              <c:strCache>
                <c:ptCount val="9"/>
                <c:pt idx="0">
                  <c:v>A320NEO</c:v>
                </c:pt>
                <c:pt idx="1">
                  <c:v>A321CEO</c:v>
                </c:pt>
                <c:pt idx="2">
                  <c:v>A321NEO</c:v>
                </c:pt>
                <c:pt idx="3">
                  <c:v>35A</c:v>
                </c:pt>
                <c:pt idx="4">
                  <c:v>35B</c:v>
                </c:pt>
                <c:pt idx="5">
                  <c:v>78A</c:v>
                </c:pt>
                <c:pt idx="6">
                  <c:v>78B</c:v>
                </c:pt>
                <c:pt idx="7">
                  <c:v>78C</c:v>
                </c:pt>
                <c:pt idx="8">
                  <c:v>ATR</c:v>
                </c:pt>
              </c:strCache>
            </c:strRef>
          </c:cat>
          <c:val>
            <c:numRef>
              <c:f>Week!$E$4:$E$12</c:f>
              <c:numCache>
                <c:formatCode>[h]:mm</c:formatCode>
                <c:ptCount val="9"/>
                <c:pt idx="0">
                  <c:v>6.317934782608696E-2</c:v>
                </c:pt>
                <c:pt idx="1">
                  <c:v>8.1522950089126675E-2</c:v>
                </c:pt>
                <c:pt idx="2">
                  <c:v>9.2605744949495014E-2</c:v>
                </c:pt>
                <c:pt idx="3">
                  <c:v>0.18223566308243724</c:v>
                </c:pt>
                <c:pt idx="4">
                  <c:v>0.27576082516339889</c:v>
                </c:pt>
                <c:pt idx="5">
                  <c:v>0.25781874500399687</c:v>
                </c:pt>
                <c:pt idx="6">
                  <c:v>0.1482547514619883</c:v>
                </c:pt>
                <c:pt idx="7">
                  <c:v>0.14122137404580165</c:v>
                </c:pt>
                <c:pt idx="8">
                  <c:v>4.3092757936507957E-2</c:v>
                </c:pt>
              </c:numCache>
            </c:numRef>
          </c:val>
          <c:extLst xmlns:c16r2="http://schemas.microsoft.com/office/drawing/2015/06/chart">
            <c:ext xmlns:c16="http://schemas.microsoft.com/office/drawing/2014/chart" uri="{C3380CC4-5D6E-409C-BE32-E72D297353CC}">
              <c16:uniqueId val="{00000000-0A59-4EE5-9512-4EAD3210FCF0}"/>
            </c:ext>
          </c:extLst>
        </c:ser>
        <c:ser>
          <c:idx val="6"/>
          <c:order val="1"/>
          <c:tx>
            <c:strRef>
              <c:f>Week!$G$2</c:f>
              <c:strCache>
                <c:ptCount val="1"/>
                <c:pt idx="0">
                  <c:v>Next Week</c:v>
                </c:pt>
              </c:strCache>
            </c:strRef>
          </c:tx>
          <c:spPr>
            <a:solidFill>
              <a:schemeClr val="accent2"/>
            </a:solidFill>
            <a:ln>
              <a:solidFill>
                <a:schemeClr val="accent2"/>
              </a:solid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Week!$B$4:$B$12</c:f>
              <c:strCache>
                <c:ptCount val="9"/>
                <c:pt idx="0">
                  <c:v>A320NEO</c:v>
                </c:pt>
                <c:pt idx="1">
                  <c:v>A321CEO</c:v>
                </c:pt>
                <c:pt idx="2">
                  <c:v>A321NEO</c:v>
                </c:pt>
                <c:pt idx="3">
                  <c:v>35A</c:v>
                </c:pt>
                <c:pt idx="4">
                  <c:v>35B</c:v>
                </c:pt>
                <c:pt idx="5">
                  <c:v>78A</c:v>
                </c:pt>
                <c:pt idx="6">
                  <c:v>78B</c:v>
                </c:pt>
                <c:pt idx="7">
                  <c:v>78C</c:v>
                </c:pt>
                <c:pt idx="8">
                  <c:v>ATR</c:v>
                </c:pt>
              </c:strCache>
            </c:strRef>
          </c:cat>
          <c:val>
            <c:numRef>
              <c:f>Week!$K$4:$K$12</c:f>
              <c:numCache>
                <c:formatCode>[h]:mm</c:formatCode>
                <c:ptCount val="9"/>
                <c:pt idx="0">
                  <c:v>6.5992292870905606E-2</c:v>
                </c:pt>
                <c:pt idx="1">
                  <c:v>7.8881667895772001E-2</c:v>
                </c:pt>
                <c:pt idx="2">
                  <c:v>8.8541666666666657E-2</c:v>
                </c:pt>
                <c:pt idx="3">
                  <c:v>0.15533625730994152</c:v>
                </c:pt>
                <c:pt idx="4">
                  <c:v>0.26945943245403686</c:v>
                </c:pt>
                <c:pt idx="5">
                  <c:v>0.24394645467836279</c:v>
                </c:pt>
                <c:pt idx="6">
                  <c:v>0.14798280423280419</c:v>
                </c:pt>
                <c:pt idx="7">
                  <c:v>0.14535178426601802</c:v>
                </c:pt>
                <c:pt idx="8">
                  <c:v>4.5080532212885188E-2</c:v>
                </c:pt>
              </c:numCache>
            </c:numRef>
          </c:val>
          <c:extLst xmlns:c16r2="http://schemas.microsoft.com/office/drawing/2015/06/chart">
            <c:ext xmlns:c16="http://schemas.microsoft.com/office/drawing/2014/chart" uri="{C3380CC4-5D6E-409C-BE32-E72D297353CC}">
              <c16:uniqueId val="{00000001-0A59-4EE5-9512-4EAD3210FCF0}"/>
            </c:ext>
          </c:extLst>
        </c:ser>
        <c:dLbls>
          <c:showLegendKey val="0"/>
          <c:showVal val="0"/>
          <c:showCatName val="0"/>
          <c:showSerName val="0"/>
          <c:showPercent val="0"/>
          <c:showBubbleSize val="0"/>
        </c:dLbls>
        <c:gapWidth val="75"/>
        <c:axId val="275475408"/>
        <c:axId val="275472664"/>
      </c:barChart>
      <c:catAx>
        <c:axId val="275475408"/>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75472664"/>
        <c:crosses val="autoZero"/>
        <c:auto val="1"/>
        <c:lblAlgn val="ctr"/>
        <c:lblOffset val="100"/>
        <c:noMultiLvlLbl val="0"/>
      </c:catAx>
      <c:valAx>
        <c:axId val="275472664"/>
        <c:scaling>
          <c:orientation val="minMax"/>
        </c:scaling>
        <c:delete val="0"/>
        <c:axPos val="l"/>
        <c:majorGridlines>
          <c:spPr>
            <a:ln w="9525" cap="flat" cmpd="sng" algn="ctr">
              <a:solidFill>
                <a:schemeClr val="tx1">
                  <a:lumMod val="15000"/>
                  <a:lumOff val="85000"/>
                </a:schemeClr>
              </a:solidFill>
              <a:round/>
            </a:ln>
            <a:effectLst/>
          </c:spPr>
        </c:majorGridlines>
        <c:numFmt formatCode="[h]:mm"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75475408"/>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2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2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GB" sz="1400" b="1">
                <a:solidFill>
                  <a:schemeClr val="tx1"/>
                </a:solidFill>
              </a:rPr>
              <a:t>Số chuyến bay trung bình theo ngày của các Fleet tàu bay trong tuần</a:t>
            </a:r>
            <a:endParaRPr lang="en-US" sz="1400" b="1">
              <a:solidFill>
                <a:schemeClr val="tx1"/>
              </a:solidFill>
            </a:endParaRPr>
          </a:p>
        </c:rich>
      </c:tx>
      <c:layout/>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Week!$A$15</c:f>
              <c:strCache>
                <c:ptCount val="1"/>
                <c:pt idx="0">
                  <c:v>This Week</c:v>
                </c:pt>
              </c:strCache>
            </c:strRef>
          </c:tx>
          <c:spPr>
            <a:solidFill>
              <a:srgbClr val="0070C0"/>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Week!$A$17:$A$22</c:f>
              <c:strCache>
                <c:ptCount val="6"/>
                <c:pt idx="0">
                  <c:v>A320NEO</c:v>
                </c:pt>
                <c:pt idx="1">
                  <c:v>A321CEO</c:v>
                </c:pt>
                <c:pt idx="2">
                  <c:v>A321NEO</c:v>
                </c:pt>
                <c:pt idx="3">
                  <c:v>A350</c:v>
                </c:pt>
                <c:pt idx="4">
                  <c:v>B787</c:v>
                </c:pt>
                <c:pt idx="5">
                  <c:v>ATR72</c:v>
                </c:pt>
              </c:strCache>
            </c:strRef>
          </c:cat>
          <c:val>
            <c:numRef>
              <c:f>Week!$I$17:$I$22</c:f>
              <c:numCache>
                <c:formatCode>0.00</c:formatCode>
                <c:ptCount val="6"/>
                <c:pt idx="0">
                  <c:v>6.5714285714285703</c:v>
                </c:pt>
                <c:pt idx="1">
                  <c:v>5.4798534798534799</c:v>
                </c:pt>
                <c:pt idx="2">
                  <c:v>5.0285714285714276</c:v>
                </c:pt>
                <c:pt idx="3">
                  <c:v>2.3857142857142857</c:v>
                </c:pt>
                <c:pt idx="4">
                  <c:v>2.9075630252100844</c:v>
                </c:pt>
                <c:pt idx="5">
                  <c:v>6.4</c:v>
                </c:pt>
              </c:numCache>
            </c:numRef>
          </c:val>
          <c:extLst xmlns:c16r2="http://schemas.microsoft.com/office/drawing/2015/06/chart">
            <c:ext xmlns:c16="http://schemas.microsoft.com/office/drawing/2014/chart" uri="{C3380CC4-5D6E-409C-BE32-E72D297353CC}">
              <c16:uniqueId val="{00000000-AF76-4BE1-9AD9-076B5AA3466E}"/>
            </c:ext>
          </c:extLst>
        </c:ser>
        <c:ser>
          <c:idx val="1"/>
          <c:order val="1"/>
          <c:tx>
            <c:strRef>
              <c:f>Week!$K$15</c:f>
              <c:strCache>
                <c:ptCount val="1"/>
                <c:pt idx="0">
                  <c:v>Next Week</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Week!$A$17:$A$22</c:f>
              <c:strCache>
                <c:ptCount val="6"/>
                <c:pt idx="0">
                  <c:v>A320NEO</c:v>
                </c:pt>
                <c:pt idx="1">
                  <c:v>A321CEO</c:v>
                </c:pt>
                <c:pt idx="2">
                  <c:v>A321NEO</c:v>
                </c:pt>
                <c:pt idx="3">
                  <c:v>A350</c:v>
                </c:pt>
                <c:pt idx="4">
                  <c:v>B787</c:v>
                </c:pt>
                <c:pt idx="5">
                  <c:v>ATR72</c:v>
                </c:pt>
              </c:strCache>
            </c:strRef>
          </c:cat>
          <c:val>
            <c:numRef>
              <c:f>Week!$S$17:$S$22</c:f>
              <c:numCache>
                <c:formatCode>0.00</c:formatCode>
                <c:ptCount val="6"/>
                <c:pt idx="0">
                  <c:v>8.2380952380952372</c:v>
                </c:pt>
                <c:pt idx="1">
                  <c:v>6.6227106227106214</c:v>
                </c:pt>
                <c:pt idx="2">
                  <c:v>5.2653061224489788</c:v>
                </c:pt>
                <c:pt idx="3">
                  <c:v>2.8</c:v>
                </c:pt>
                <c:pt idx="4">
                  <c:v>2.9579831932773111</c:v>
                </c:pt>
                <c:pt idx="5">
                  <c:v>6.8</c:v>
                </c:pt>
              </c:numCache>
            </c:numRef>
          </c:val>
          <c:extLst xmlns:c16r2="http://schemas.microsoft.com/office/drawing/2015/06/chart">
            <c:ext xmlns:c16="http://schemas.microsoft.com/office/drawing/2014/chart" uri="{C3380CC4-5D6E-409C-BE32-E72D297353CC}">
              <c16:uniqueId val="{00000001-AF76-4BE1-9AD9-076B5AA3466E}"/>
            </c:ext>
          </c:extLst>
        </c:ser>
        <c:dLbls>
          <c:showLegendKey val="0"/>
          <c:showVal val="1"/>
          <c:showCatName val="0"/>
          <c:showSerName val="0"/>
          <c:showPercent val="0"/>
          <c:showBubbleSize val="0"/>
        </c:dLbls>
        <c:gapWidth val="150"/>
        <c:axId val="275470312"/>
        <c:axId val="275471096"/>
      </c:barChart>
      <c:catAx>
        <c:axId val="275470312"/>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75471096"/>
        <c:crosses val="autoZero"/>
        <c:auto val="1"/>
        <c:lblAlgn val="ctr"/>
        <c:lblOffset val="100"/>
        <c:noMultiLvlLbl val="0"/>
      </c:catAx>
      <c:valAx>
        <c:axId val="275471096"/>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75470312"/>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1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spPr>
            <a:solidFill>
              <a:srgbClr val="0070C0"/>
            </a:solidFill>
            <a:ln w="9525" cap="flat" cmpd="sng" algn="ctr">
              <a:solidFill>
                <a:schemeClr val="accent1">
                  <a:shade val="95000"/>
                </a:schemeClr>
              </a:solidFill>
              <a:round/>
            </a:ln>
            <a:effectLst/>
          </c:spPr>
          <c:invertIfNegative val="0"/>
          <c:dPt>
            <c:idx val="0"/>
            <c:invertIfNegative val="0"/>
            <c:bubble3D val="0"/>
            <c:spPr>
              <a:solidFill>
                <a:srgbClr val="ED7D31"/>
              </a:solidFill>
              <a:ln w="9525" cap="flat" cmpd="sng" algn="ctr">
                <a:solidFill>
                  <a:schemeClr val="accent1">
                    <a:shade val="95000"/>
                  </a:schemeClr>
                </a:solidFill>
                <a:round/>
              </a:ln>
              <a:effectLst/>
            </c:spPr>
            <c:extLst xmlns:c16r2="http://schemas.microsoft.com/office/drawing/2015/06/chart">
              <c:ext xmlns:c16="http://schemas.microsoft.com/office/drawing/2014/chart" uri="{C3380CC4-5D6E-409C-BE32-E72D297353CC}">
                <c16:uniqueId val="{00000001-2D84-41DE-BDAC-7B647802D7E1}"/>
              </c:ext>
            </c:extLst>
          </c:dPt>
          <c:dPt>
            <c:idx val="1"/>
            <c:invertIfNegative val="0"/>
            <c:bubble3D val="0"/>
            <c:spPr>
              <a:solidFill>
                <a:srgbClr val="ED7D31"/>
              </a:solidFill>
              <a:ln w="9525" cap="flat" cmpd="sng" algn="ctr">
                <a:solidFill>
                  <a:schemeClr val="accent1">
                    <a:shade val="95000"/>
                  </a:schemeClr>
                </a:solidFill>
                <a:round/>
              </a:ln>
              <a:effectLst/>
            </c:spPr>
            <c:extLst xmlns:c16r2="http://schemas.microsoft.com/office/drawing/2015/06/chart">
              <c:ext xmlns:c16="http://schemas.microsoft.com/office/drawing/2014/chart" uri="{C3380CC4-5D6E-409C-BE32-E72D297353CC}">
                <c16:uniqueId val="{00000003-2D84-41DE-BDAC-7B647802D7E1}"/>
              </c:ext>
            </c:extLst>
          </c:dPt>
          <c:dPt>
            <c:idx val="2"/>
            <c:invertIfNegative val="0"/>
            <c:bubble3D val="0"/>
            <c:spPr>
              <a:solidFill>
                <a:srgbClr val="ED7D31"/>
              </a:solidFill>
              <a:ln w="9525" cap="flat" cmpd="sng" algn="ctr">
                <a:solidFill>
                  <a:schemeClr val="accent1">
                    <a:shade val="95000"/>
                  </a:schemeClr>
                </a:solidFill>
                <a:round/>
              </a:ln>
              <a:effectLst/>
            </c:spPr>
            <c:extLst xmlns:c16r2="http://schemas.microsoft.com/office/drawing/2015/06/chart">
              <c:ext xmlns:c16="http://schemas.microsoft.com/office/drawing/2014/chart" uri="{C3380CC4-5D6E-409C-BE32-E72D297353CC}">
                <c16:uniqueId val="{00000005-2D84-41DE-BDAC-7B647802D7E1}"/>
              </c:ext>
            </c:extLst>
          </c:dPt>
          <c:dPt>
            <c:idx val="3"/>
            <c:invertIfNegative val="0"/>
            <c:bubble3D val="0"/>
            <c:spPr>
              <a:solidFill>
                <a:srgbClr val="ED7D31"/>
              </a:solidFill>
              <a:ln w="9525" cap="flat" cmpd="sng" algn="ctr">
                <a:solidFill>
                  <a:schemeClr val="accent1">
                    <a:shade val="95000"/>
                  </a:schemeClr>
                </a:solidFill>
                <a:round/>
              </a:ln>
              <a:effectLst/>
            </c:spPr>
            <c:extLst xmlns:c16r2="http://schemas.microsoft.com/office/drawing/2015/06/chart">
              <c:ext xmlns:c16="http://schemas.microsoft.com/office/drawing/2014/chart" uri="{C3380CC4-5D6E-409C-BE32-E72D297353CC}">
                <c16:uniqueId val="{00000007-2D84-41DE-BDAC-7B647802D7E1}"/>
              </c:ext>
            </c:extLst>
          </c:dPt>
          <c:dPt>
            <c:idx val="4"/>
            <c:invertIfNegative val="0"/>
            <c:bubble3D val="0"/>
            <c:spPr>
              <a:solidFill>
                <a:srgbClr val="ED7D31"/>
              </a:solidFill>
              <a:ln w="9525" cap="flat" cmpd="sng" algn="ctr">
                <a:solidFill>
                  <a:schemeClr val="accent1">
                    <a:shade val="95000"/>
                  </a:schemeClr>
                </a:solidFill>
                <a:round/>
              </a:ln>
              <a:effectLst/>
            </c:spPr>
            <c:extLst xmlns:c16r2="http://schemas.microsoft.com/office/drawing/2015/06/chart">
              <c:ext xmlns:c16="http://schemas.microsoft.com/office/drawing/2014/chart" uri="{C3380CC4-5D6E-409C-BE32-E72D297353CC}">
                <c16:uniqueId val="{00000009-2D84-41DE-BDAC-7B647802D7E1}"/>
              </c:ext>
            </c:extLst>
          </c:dPt>
          <c:dPt>
            <c:idx val="5"/>
            <c:invertIfNegative val="0"/>
            <c:bubble3D val="0"/>
            <c:spPr>
              <a:solidFill>
                <a:srgbClr val="ED7D31"/>
              </a:solidFill>
              <a:ln w="9525" cap="flat" cmpd="sng" algn="ctr">
                <a:solidFill>
                  <a:schemeClr val="accent1">
                    <a:shade val="95000"/>
                  </a:schemeClr>
                </a:solidFill>
                <a:round/>
              </a:ln>
              <a:effectLst/>
            </c:spPr>
            <c:extLst xmlns:c16r2="http://schemas.microsoft.com/office/drawing/2015/06/chart">
              <c:ext xmlns:c16="http://schemas.microsoft.com/office/drawing/2014/chart" uri="{C3380CC4-5D6E-409C-BE32-E72D297353CC}">
                <c16:uniqueId val="{0000000B-2D84-41DE-BDAC-7B647802D7E1}"/>
              </c:ext>
            </c:extLst>
          </c:dPt>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a:solidFill>
                        <a:schemeClr val="tx1">
                          <a:lumMod val="35000"/>
                          <a:lumOff val="65000"/>
                        </a:schemeClr>
                      </a:solidFill>
                    </a:ln>
                    <a:effectLst/>
                  </c:spPr>
                </c15:leaderLines>
              </c:ext>
            </c:extLst>
          </c:dLbls>
          <c:cat>
            <c:numRef>
              <c:f>Week!$B$35:$BQ$35</c:f>
              <c:numCache>
                <c:formatCode>d\-mmm</c:formatCode>
                <c:ptCount val="68"/>
                <c:pt idx="0">
                  <c:v>45663</c:v>
                </c:pt>
                <c:pt idx="1">
                  <c:v>45664</c:v>
                </c:pt>
                <c:pt idx="2">
                  <c:v>45665</c:v>
                </c:pt>
                <c:pt idx="3">
                  <c:v>45666</c:v>
                </c:pt>
                <c:pt idx="4">
                  <c:v>45667</c:v>
                </c:pt>
                <c:pt idx="5">
                  <c:v>45668</c:v>
                </c:pt>
                <c:pt idx="6">
                  <c:v>45669</c:v>
                </c:pt>
                <c:pt idx="7">
                  <c:v>45670</c:v>
                </c:pt>
                <c:pt idx="8">
                  <c:v>45671</c:v>
                </c:pt>
                <c:pt idx="9">
                  <c:v>45672</c:v>
                </c:pt>
                <c:pt idx="10">
                  <c:v>45673</c:v>
                </c:pt>
                <c:pt idx="11">
                  <c:v>45674</c:v>
                </c:pt>
                <c:pt idx="12">
                  <c:v>45675</c:v>
                </c:pt>
                <c:pt idx="13">
                  <c:v>45676</c:v>
                </c:pt>
                <c:pt idx="14">
                  <c:v>45677</c:v>
                </c:pt>
                <c:pt idx="15">
                  <c:v>45678</c:v>
                </c:pt>
                <c:pt idx="16">
                  <c:v>45679</c:v>
                </c:pt>
                <c:pt idx="17">
                  <c:v>45680</c:v>
                </c:pt>
                <c:pt idx="18">
                  <c:v>45681</c:v>
                </c:pt>
                <c:pt idx="19">
                  <c:v>45682</c:v>
                </c:pt>
                <c:pt idx="20">
                  <c:v>45683</c:v>
                </c:pt>
                <c:pt idx="21">
                  <c:v>45684</c:v>
                </c:pt>
                <c:pt idx="22">
                  <c:v>45685</c:v>
                </c:pt>
                <c:pt idx="23">
                  <c:v>45686</c:v>
                </c:pt>
                <c:pt idx="24">
                  <c:v>45687</c:v>
                </c:pt>
                <c:pt idx="25">
                  <c:v>45688</c:v>
                </c:pt>
                <c:pt idx="26">
                  <c:v>45689</c:v>
                </c:pt>
                <c:pt idx="27">
                  <c:v>45690</c:v>
                </c:pt>
                <c:pt idx="28">
                  <c:v>45691</c:v>
                </c:pt>
                <c:pt idx="29">
                  <c:v>45692</c:v>
                </c:pt>
                <c:pt idx="30">
                  <c:v>45693</c:v>
                </c:pt>
                <c:pt idx="31">
                  <c:v>45694</c:v>
                </c:pt>
                <c:pt idx="32">
                  <c:v>45695</c:v>
                </c:pt>
                <c:pt idx="33">
                  <c:v>45696</c:v>
                </c:pt>
                <c:pt idx="34">
                  <c:v>45697</c:v>
                </c:pt>
                <c:pt idx="35">
                  <c:v>45698</c:v>
                </c:pt>
                <c:pt idx="36">
                  <c:v>45699</c:v>
                </c:pt>
                <c:pt idx="37">
                  <c:v>45700</c:v>
                </c:pt>
                <c:pt idx="38">
                  <c:v>45701</c:v>
                </c:pt>
                <c:pt idx="39">
                  <c:v>45702</c:v>
                </c:pt>
                <c:pt idx="40">
                  <c:v>45703</c:v>
                </c:pt>
                <c:pt idx="41">
                  <c:v>45704</c:v>
                </c:pt>
                <c:pt idx="42">
                  <c:v>45705</c:v>
                </c:pt>
                <c:pt idx="43">
                  <c:v>45706</c:v>
                </c:pt>
                <c:pt idx="44">
                  <c:v>45707</c:v>
                </c:pt>
                <c:pt idx="45">
                  <c:v>45708</c:v>
                </c:pt>
                <c:pt idx="46">
                  <c:v>45709</c:v>
                </c:pt>
                <c:pt idx="47">
                  <c:v>45710</c:v>
                </c:pt>
                <c:pt idx="48">
                  <c:v>45711</c:v>
                </c:pt>
                <c:pt idx="49">
                  <c:v>45712</c:v>
                </c:pt>
                <c:pt idx="50">
                  <c:v>45713</c:v>
                </c:pt>
                <c:pt idx="51">
                  <c:v>45714</c:v>
                </c:pt>
                <c:pt idx="52">
                  <c:v>45715</c:v>
                </c:pt>
                <c:pt idx="53">
                  <c:v>45716</c:v>
                </c:pt>
              </c:numCache>
            </c:numRef>
          </c:cat>
          <c:val>
            <c:numRef>
              <c:f>Week!$B$36:$BQ$36</c:f>
              <c:numCache>
                <c:formatCode>General</c:formatCode>
                <c:ptCount val="68"/>
                <c:pt idx="0">
                  <c:v>362</c:v>
                </c:pt>
                <c:pt idx="1">
                  <c:v>355</c:v>
                </c:pt>
                <c:pt idx="2">
                  <c:v>354</c:v>
                </c:pt>
                <c:pt idx="3">
                  <c:v>366</c:v>
                </c:pt>
                <c:pt idx="4">
                  <c:v>368</c:v>
                </c:pt>
                <c:pt idx="5">
                  <c:v>374</c:v>
                </c:pt>
                <c:pt idx="6">
                  <c:v>375</c:v>
                </c:pt>
                <c:pt idx="7">
                  <c:v>406</c:v>
                </c:pt>
                <c:pt idx="8">
                  <c:v>429</c:v>
                </c:pt>
                <c:pt idx="9">
                  <c:v>450</c:v>
                </c:pt>
                <c:pt idx="10">
                  <c:v>453</c:v>
                </c:pt>
                <c:pt idx="11">
                  <c:v>456</c:v>
                </c:pt>
                <c:pt idx="12">
                  <c:v>453</c:v>
                </c:pt>
                <c:pt idx="13">
                  <c:v>467</c:v>
                </c:pt>
                <c:pt idx="14">
                  <c:v>467</c:v>
                </c:pt>
                <c:pt idx="15">
                  <c:v>512</c:v>
                </c:pt>
                <c:pt idx="16">
                  <c:v>523</c:v>
                </c:pt>
                <c:pt idx="17">
                  <c:v>531</c:v>
                </c:pt>
                <c:pt idx="18">
                  <c:v>535</c:v>
                </c:pt>
                <c:pt idx="19">
                  <c:v>526</c:v>
                </c:pt>
                <c:pt idx="20">
                  <c:v>524</c:v>
                </c:pt>
                <c:pt idx="21">
                  <c:v>538</c:v>
                </c:pt>
                <c:pt idx="22">
                  <c:v>495</c:v>
                </c:pt>
                <c:pt idx="23">
                  <c:v>469</c:v>
                </c:pt>
                <c:pt idx="24">
                  <c:v>492</c:v>
                </c:pt>
                <c:pt idx="25">
                  <c:v>510</c:v>
                </c:pt>
                <c:pt idx="26">
                  <c:v>539</c:v>
                </c:pt>
                <c:pt idx="27">
                  <c:v>565</c:v>
                </c:pt>
                <c:pt idx="28">
                  <c:v>559</c:v>
                </c:pt>
                <c:pt idx="29">
                  <c:v>551</c:v>
                </c:pt>
                <c:pt idx="30">
                  <c:v>546</c:v>
                </c:pt>
                <c:pt idx="31">
                  <c:v>545</c:v>
                </c:pt>
                <c:pt idx="32">
                  <c:v>546</c:v>
                </c:pt>
                <c:pt idx="33">
                  <c:v>528</c:v>
                </c:pt>
                <c:pt idx="34">
                  <c:v>531</c:v>
                </c:pt>
                <c:pt idx="35">
                  <c:v>510</c:v>
                </c:pt>
                <c:pt idx="36">
                  <c:v>502</c:v>
                </c:pt>
                <c:pt idx="37">
                  <c:v>497</c:v>
                </c:pt>
                <c:pt idx="38">
                  <c:v>425</c:v>
                </c:pt>
                <c:pt idx="39">
                  <c:v>425</c:v>
                </c:pt>
                <c:pt idx="40">
                  <c:v>420</c:v>
                </c:pt>
                <c:pt idx="41">
                  <c:v>428</c:v>
                </c:pt>
                <c:pt idx="42">
                  <c:v>399</c:v>
                </c:pt>
                <c:pt idx="43">
                  <c:v>385</c:v>
                </c:pt>
                <c:pt idx="44">
                  <c:v>392</c:v>
                </c:pt>
                <c:pt idx="45">
                  <c:v>395</c:v>
                </c:pt>
                <c:pt idx="46">
                  <c:v>406</c:v>
                </c:pt>
                <c:pt idx="47">
                  <c:v>404</c:v>
                </c:pt>
                <c:pt idx="48">
                  <c:v>408</c:v>
                </c:pt>
                <c:pt idx="49">
                  <c:v>388</c:v>
                </c:pt>
                <c:pt idx="50">
                  <c:v>389</c:v>
                </c:pt>
                <c:pt idx="51">
                  <c:v>382</c:v>
                </c:pt>
                <c:pt idx="52">
                  <c:v>389</c:v>
                </c:pt>
                <c:pt idx="53">
                  <c:v>387</c:v>
                </c:pt>
              </c:numCache>
            </c:numRef>
          </c:val>
          <c:extLst xmlns:c16r2="http://schemas.microsoft.com/office/drawing/2015/06/chart">
            <c:ext xmlns:c16="http://schemas.microsoft.com/office/drawing/2014/chart" uri="{C3380CC4-5D6E-409C-BE32-E72D297353CC}">
              <c16:uniqueId val="{0000000C-2D84-41DE-BDAC-7B647802D7E1}"/>
            </c:ext>
          </c:extLst>
        </c:ser>
        <c:dLbls>
          <c:showLegendKey val="0"/>
          <c:showVal val="1"/>
          <c:showCatName val="0"/>
          <c:showSerName val="0"/>
          <c:showPercent val="0"/>
          <c:showBubbleSize val="0"/>
        </c:dLbls>
        <c:gapWidth val="75"/>
        <c:axId val="275473448"/>
        <c:axId val="275473840"/>
      </c:barChart>
      <c:dateAx>
        <c:axId val="275473448"/>
        <c:scaling>
          <c:orientation val="minMax"/>
        </c:scaling>
        <c:delete val="0"/>
        <c:axPos val="b"/>
        <c:numFmt formatCode="d\-mmm"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75473840"/>
        <c:crosses val="autoZero"/>
        <c:auto val="1"/>
        <c:lblOffset val="100"/>
        <c:baseTimeUnit val="days"/>
      </c:dateAx>
      <c:valAx>
        <c:axId val="275473840"/>
        <c:scaling>
          <c:orientation val="minMax"/>
          <c:max val="590"/>
          <c:min val="250"/>
        </c:scaling>
        <c:delete val="0"/>
        <c:axPos val="l"/>
        <c:numFmt formatCode="General" sourceLinked="1"/>
        <c:majorTickMark val="none"/>
        <c:minorTickMark val="none"/>
        <c:tickLblPos val="nextTo"/>
        <c:spPr>
          <a:noFill/>
          <a:ln w="9525">
            <a:solidFill>
              <a:schemeClr val="tx1"/>
            </a:solid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75473448"/>
        <c:crosses val="autoZero"/>
        <c:crossBetween val="between"/>
        <c:majorUnit val="30"/>
        <c:minorUnit val="5"/>
      </c:valAx>
      <c:spPr>
        <a:noFill/>
        <a:ln>
          <a:noFill/>
        </a:ln>
        <a:effectLst/>
      </c:spPr>
    </c:plotArea>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1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6">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drawings/drawing1.xml><?xml version="1.0" encoding="utf-8"?>
<c:userShapes xmlns:c="http://schemas.openxmlformats.org/drawingml/2006/chart">
  <cdr:relSizeAnchor xmlns:cdr="http://schemas.openxmlformats.org/drawingml/2006/chartDrawing">
    <cdr:from>
      <cdr:x>0.3797</cdr:x>
      <cdr:y>0.79526</cdr:y>
    </cdr:from>
    <cdr:to>
      <cdr:x>0.48327</cdr:x>
      <cdr:y>0.86114</cdr:y>
    </cdr:to>
    <cdr:sp macro="" textlink="">
      <cdr:nvSpPr>
        <cdr:cNvPr id="2" name="TextBox 1">
          <a:extLst xmlns:a="http://schemas.openxmlformats.org/drawingml/2006/main">
            <a:ext uri="{FF2B5EF4-FFF2-40B4-BE49-F238E27FC236}">
              <a16:creationId xmlns:a16="http://schemas.microsoft.com/office/drawing/2014/main" xmlns="" id="{06015A32-1E3C-6359-2AE7-55045DA3B5A1}"/>
            </a:ext>
          </a:extLst>
        </cdr:cNvPr>
        <cdr:cNvSpPr txBox="1"/>
      </cdr:nvSpPr>
      <cdr:spPr>
        <a:xfrm xmlns:a="http://schemas.openxmlformats.org/drawingml/2006/main">
          <a:off x="1828811" y="2972323"/>
          <a:ext cx="498855" cy="246221"/>
        </a:xfrm>
        <a:prstGeom xmlns:a="http://schemas.openxmlformats.org/drawingml/2006/main" prst="rect">
          <a:avLst/>
        </a:prstGeom>
        <a:noFill xmlns:a="http://schemas.openxmlformats.org/drawingml/2006/main"/>
      </cdr:spPr>
      <cdr:txBody>
        <a:bodyPr xmlns:a="http://schemas.openxmlformats.org/drawingml/2006/main" vertOverflow="clip" wrap="none" rtlCol="0">
          <a:spAutoFit/>
        </a:bodyPr>
        <a:lstStyle xmlns:a="http://schemas.openxmlformats.org/drawingml/2006/main"/>
        <a:p xmlns:a="http://schemas.openxmlformats.org/drawingml/2006/main">
          <a:r>
            <a:rPr lang="en-US" sz="1000" b="1" kern="1200" dirty="0">
              <a:solidFill>
                <a:srgbClr val="D2A43B"/>
              </a:solidFill>
              <a:latin typeface="Montserrat" pitchFamily="2" charset="77"/>
            </a:rPr>
            <a:t>2025</a:t>
          </a:r>
        </a:p>
      </cdr:txBody>
    </cdr:sp>
  </cdr:relSizeAnchor>
</c:userShapes>
</file>

<file path=ppt/drawings/drawing2.xml><?xml version="1.0" encoding="utf-8"?>
<c:userShapes xmlns:c="http://schemas.openxmlformats.org/drawingml/2006/chart">
  <cdr:relSizeAnchor xmlns:cdr="http://schemas.openxmlformats.org/drawingml/2006/chartDrawing">
    <cdr:from>
      <cdr:x>0.07349</cdr:x>
      <cdr:y>0.76219</cdr:y>
    </cdr:from>
    <cdr:to>
      <cdr:x>0.97416</cdr:x>
      <cdr:y>0.82679</cdr:y>
    </cdr:to>
    <cdr:sp macro="" textlink="">
      <cdr:nvSpPr>
        <cdr:cNvPr id="4" name="Rectangle 3">
          <a:extLst xmlns:a="http://schemas.openxmlformats.org/drawingml/2006/main">
            <a:ext uri="{FF2B5EF4-FFF2-40B4-BE49-F238E27FC236}">
              <a16:creationId xmlns:a16="http://schemas.microsoft.com/office/drawing/2014/main" xmlns="" id="{338E3D7E-F7D1-440F-A166-CB5C793E6271}"/>
            </a:ext>
          </a:extLst>
        </cdr:cNvPr>
        <cdr:cNvSpPr/>
      </cdr:nvSpPr>
      <cdr:spPr>
        <a:xfrm xmlns:a="http://schemas.openxmlformats.org/drawingml/2006/main">
          <a:off x="838200" y="2910954"/>
          <a:ext cx="10272399" cy="246705"/>
        </a:xfrm>
        <a:prstGeom xmlns:a="http://schemas.openxmlformats.org/drawingml/2006/main" prst="rect">
          <a:avLst/>
        </a:prstGeom>
        <a:solidFill xmlns:a="http://schemas.openxmlformats.org/drawingml/2006/main">
          <a:srgbClr val="00B0F0"/>
        </a:solidFill>
      </cdr:spPr>
      <cdr:style>
        <a:lnRef xmlns:a="http://schemas.openxmlformats.org/drawingml/2006/main" idx="1">
          <a:schemeClr val="accent5"/>
        </a:lnRef>
        <a:fillRef xmlns:a="http://schemas.openxmlformats.org/drawingml/2006/main" idx="3">
          <a:schemeClr val="accent5"/>
        </a:fillRef>
        <a:effectRef xmlns:a="http://schemas.openxmlformats.org/drawingml/2006/main" idx="2">
          <a:schemeClr val="accent5"/>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r>
            <a:rPr lang="en-US" sz="900" b="1"/>
            <a:t>A886  thiếu 2 động cơ</a:t>
          </a:r>
          <a:endParaRPr lang="en-US" sz="900" b="1" dirty="0"/>
        </a:p>
      </cdr:txBody>
    </cdr:sp>
  </cdr:relSizeAnchor>
  <cdr:relSizeAnchor xmlns:cdr="http://schemas.openxmlformats.org/drawingml/2006/chartDrawing">
    <cdr:from>
      <cdr:x>0.07349</cdr:x>
      <cdr:y>0.68238</cdr:y>
    </cdr:from>
    <cdr:to>
      <cdr:x>0.97416</cdr:x>
      <cdr:y>0.74224</cdr:y>
    </cdr:to>
    <cdr:sp macro="" textlink="">
      <cdr:nvSpPr>
        <cdr:cNvPr id="5" name="Rectangle 4">
          <a:extLst xmlns:a="http://schemas.openxmlformats.org/drawingml/2006/main">
            <a:ext uri="{FF2B5EF4-FFF2-40B4-BE49-F238E27FC236}">
              <a16:creationId xmlns:a16="http://schemas.microsoft.com/office/drawing/2014/main" xmlns="" id="{AC001FB9-20D7-43C4-8A74-EF08DC900745}"/>
            </a:ext>
          </a:extLst>
        </cdr:cNvPr>
        <cdr:cNvSpPr/>
      </cdr:nvSpPr>
      <cdr:spPr>
        <a:xfrm xmlns:a="http://schemas.openxmlformats.org/drawingml/2006/main">
          <a:off x="838201" y="2606136"/>
          <a:ext cx="10272406" cy="228617"/>
        </a:xfrm>
        <a:prstGeom xmlns:a="http://schemas.openxmlformats.org/drawingml/2006/main" prst="rect">
          <a:avLst/>
        </a:prstGeom>
        <a:solidFill xmlns:a="http://schemas.openxmlformats.org/drawingml/2006/main">
          <a:srgbClr val="0070C0"/>
        </a:solidFill>
      </cdr:spPr>
      <cdr:style>
        <a:lnRef xmlns:a="http://schemas.openxmlformats.org/drawingml/2006/main" idx="1">
          <a:schemeClr val="accent5"/>
        </a:lnRef>
        <a:fillRef xmlns:a="http://schemas.openxmlformats.org/drawingml/2006/main" idx="3">
          <a:schemeClr val="accent5"/>
        </a:fillRef>
        <a:effectRef xmlns:a="http://schemas.openxmlformats.org/drawingml/2006/main" idx="2">
          <a:schemeClr val="accent5"/>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r>
            <a:rPr lang="en-US" sz="900" b="1"/>
            <a:t>A887 lắp 2 động cơ đến hạn kiểm tra LPT</a:t>
          </a:r>
        </a:p>
        <a:p xmlns:a="http://schemas.openxmlformats.org/drawingml/2006/main">
          <a:endParaRPr lang="en-US" sz="900" b="1" dirty="0"/>
        </a:p>
      </cdr:txBody>
    </cdr:sp>
  </cdr:relSizeAnchor>
  <cdr:relSizeAnchor xmlns:cdr="http://schemas.openxmlformats.org/drawingml/2006/chartDrawing">
    <cdr:from>
      <cdr:x>0.07702</cdr:x>
      <cdr:y>0.60258</cdr:y>
    </cdr:from>
    <cdr:to>
      <cdr:x>0.97416</cdr:x>
      <cdr:y>0.66243</cdr:y>
    </cdr:to>
    <cdr:sp macro="" textlink="">
      <cdr:nvSpPr>
        <cdr:cNvPr id="3" name="Rectangle 2">
          <a:extLst xmlns:a="http://schemas.openxmlformats.org/drawingml/2006/main">
            <a:ext uri="{FF2B5EF4-FFF2-40B4-BE49-F238E27FC236}">
              <a16:creationId xmlns:a16="http://schemas.microsoft.com/office/drawing/2014/main" xmlns="" id="{8C06442C-9D9E-F4F8-6680-E3EEBE834D35}"/>
            </a:ext>
          </a:extLst>
        </cdr:cNvPr>
        <cdr:cNvSpPr/>
      </cdr:nvSpPr>
      <cdr:spPr>
        <a:xfrm xmlns:a="http://schemas.openxmlformats.org/drawingml/2006/main">
          <a:off x="684017" y="1912981"/>
          <a:ext cx="7967945" cy="190003"/>
        </a:xfrm>
        <a:prstGeom xmlns:a="http://schemas.openxmlformats.org/drawingml/2006/main" prst="rect">
          <a:avLst/>
        </a:prstGeom>
        <a:solidFill xmlns:a="http://schemas.openxmlformats.org/drawingml/2006/main">
          <a:srgbClr val="00B0F0"/>
        </a:solidFill>
      </cdr:spPr>
      <cdr:style>
        <a:lnRef xmlns:a="http://schemas.openxmlformats.org/drawingml/2006/main" idx="1">
          <a:schemeClr val="accent5"/>
        </a:lnRef>
        <a:fillRef xmlns:a="http://schemas.openxmlformats.org/drawingml/2006/main" idx="3">
          <a:schemeClr val="accent5"/>
        </a:fillRef>
        <a:effectRef xmlns:a="http://schemas.openxmlformats.org/drawingml/2006/main" idx="2">
          <a:schemeClr val="accent5"/>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r>
            <a:rPr lang="en-US" sz="900" b="1"/>
            <a:t>A898 lắp 2 động cơ đến hạn kiểm tra LPT</a:t>
          </a:r>
          <a:endParaRPr lang="en-US" sz="900" b="1" dirty="0"/>
        </a:p>
      </cdr:txBody>
    </cdr:sp>
  </cdr:relSizeAnchor>
  <cdr:relSizeAnchor xmlns:cdr="http://schemas.openxmlformats.org/drawingml/2006/chartDrawing">
    <cdr:from>
      <cdr:x>0.07446</cdr:x>
      <cdr:y>0.51411</cdr:y>
    </cdr:from>
    <cdr:to>
      <cdr:x>0.97416</cdr:x>
      <cdr:y>0.57397</cdr:y>
    </cdr:to>
    <cdr:sp macro="" textlink="">
      <cdr:nvSpPr>
        <cdr:cNvPr id="6" name="Rectangle 5">
          <a:extLst xmlns:a="http://schemas.openxmlformats.org/drawingml/2006/main">
            <a:ext uri="{FF2B5EF4-FFF2-40B4-BE49-F238E27FC236}">
              <a16:creationId xmlns:a16="http://schemas.microsoft.com/office/drawing/2014/main" xmlns="" id="{3CB04933-FC0C-D6B1-4ACB-5A3CDF5466E3}"/>
            </a:ext>
          </a:extLst>
        </cdr:cNvPr>
        <cdr:cNvSpPr/>
      </cdr:nvSpPr>
      <cdr:spPr>
        <a:xfrm xmlns:a="http://schemas.openxmlformats.org/drawingml/2006/main">
          <a:off x="661347" y="1632120"/>
          <a:ext cx="7990616" cy="190034"/>
        </a:xfrm>
        <a:prstGeom xmlns:a="http://schemas.openxmlformats.org/drawingml/2006/main" prst="rect">
          <a:avLst/>
        </a:prstGeom>
        <a:solidFill xmlns:a="http://schemas.openxmlformats.org/drawingml/2006/main">
          <a:srgbClr val="0070C0"/>
        </a:solidFill>
        <a:ln xmlns:a="http://schemas.openxmlformats.org/drawingml/2006/main">
          <a:solidFill>
            <a:schemeClr val="accent1">
              <a:lumMod val="50000"/>
            </a:schemeClr>
          </a:solidFill>
        </a:ln>
      </cdr:spPr>
      <cdr:style>
        <a:lnRef xmlns:a="http://schemas.openxmlformats.org/drawingml/2006/main" idx="1">
          <a:schemeClr val="accent5"/>
        </a:lnRef>
        <a:fillRef xmlns:a="http://schemas.openxmlformats.org/drawingml/2006/main" idx="3">
          <a:schemeClr val="accent5"/>
        </a:fillRef>
        <a:effectRef xmlns:a="http://schemas.openxmlformats.org/drawingml/2006/main" idx="2">
          <a:schemeClr val="accent5"/>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r>
            <a:rPr lang="en-US" sz="900" b="1"/>
            <a:t>A895 lắp 2 động cơ hết LLP</a:t>
          </a:r>
          <a:endParaRPr lang="en-US" sz="900" b="1" dirty="0"/>
        </a:p>
      </cdr:txBody>
    </cdr:sp>
  </cdr:relSizeAnchor>
  <cdr:relSizeAnchor xmlns:cdr="http://schemas.openxmlformats.org/drawingml/2006/chartDrawing">
    <cdr:from>
      <cdr:x>0.18916</cdr:x>
      <cdr:y>0.42163</cdr:y>
    </cdr:from>
    <cdr:to>
      <cdr:x>0.46724</cdr:x>
      <cdr:y>0.49663</cdr:y>
    </cdr:to>
    <cdr:sp macro="" textlink="">
      <cdr:nvSpPr>
        <cdr:cNvPr id="7" name="Rectangle 6">
          <a:extLst xmlns:a="http://schemas.openxmlformats.org/drawingml/2006/main">
            <a:ext uri="{FF2B5EF4-FFF2-40B4-BE49-F238E27FC236}">
              <a16:creationId xmlns:a16="http://schemas.microsoft.com/office/drawing/2014/main" xmlns="" id="{36D639A6-0073-B7D2-F93D-836D7CB3B552}"/>
            </a:ext>
          </a:extLst>
        </cdr:cNvPr>
        <cdr:cNvSpPr/>
      </cdr:nvSpPr>
      <cdr:spPr>
        <a:xfrm xmlns:a="http://schemas.openxmlformats.org/drawingml/2006/main">
          <a:off x="1680017" y="1338532"/>
          <a:ext cx="2469786" cy="238095"/>
        </a:xfrm>
        <a:prstGeom xmlns:a="http://schemas.openxmlformats.org/drawingml/2006/main" prst="rect">
          <a:avLst/>
        </a:prstGeom>
        <a:solidFill xmlns:a="http://schemas.openxmlformats.org/drawingml/2006/main">
          <a:srgbClr val="00B0F0"/>
        </a:solidFill>
      </cdr:spPr>
      <cdr:style>
        <a:lnRef xmlns:a="http://schemas.openxmlformats.org/drawingml/2006/main" idx="1">
          <a:schemeClr val="accent5"/>
        </a:lnRef>
        <a:fillRef xmlns:a="http://schemas.openxmlformats.org/drawingml/2006/main" idx="3">
          <a:schemeClr val="accent5"/>
        </a:fillRef>
        <a:effectRef xmlns:a="http://schemas.openxmlformats.org/drawingml/2006/main" idx="2">
          <a:schemeClr val="accent5"/>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r>
            <a:rPr lang="en-US" sz="900" b="1"/>
            <a:t>A896 thay 2 động cơ</a:t>
          </a:r>
          <a:endParaRPr lang="en-US" sz="900" b="1" dirty="0"/>
        </a:p>
      </cdr:txBody>
    </cdr:sp>
  </cdr:relSizeAnchor>
  <cdr:relSizeAnchor xmlns:cdr="http://schemas.openxmlformats.org/drawingml/2006/chartDrawing">
    <cdr:from>
      <cdr:x>0.86228</cdr:x>
      <cdr:y>0.33519</cdr:y>
    </cdr:from>
    <cdr:to>
      <cdr:x>0.92092</cdr:x>
      <cdr:y>0.5</cdr:y>
    </cdr:to>
    <cdr:sp macro="" textlink="">
      <cdr:nvSpPr>
        <cdr:cNvPr id="8" name="Rectangle 7">
          <a:extLst xmlns:a="http://schemas.openxmlformats.org/drawingml/2006/main">
            <a:ext uri="{FF2B5EF4-FFF2-40B4-BE49-F238E27FC236}">
              <a16:creationId xmlns:a16="http://schemas.microsoft.com/office/drawing/2014/main" xmlns="" id="{6760457E-4D8D-4A41-A351-EB1CFCF9A605}"/>
            </a:ext>
          </a:extLst>
        </cdr:cNvPr>
        <cdr:cNvSpPr/>
      </cdr:nvSpPr>
      <cdr:spPr>
        <a:xfrm xmlns:a="http://schemas.openxmlformats.org/drawingml/2006/main">
          <a:off x="7658278" y="1064111"/>
          <a:ext cx="520809" cy="523214"/>
        </a:xfrm>
        <a:prstGeom xmlns:a="http://schemas.openxmlformats.org/drawingml/2006/main" prst="rect">
          <a:avLst/>
        </a:prstGeom>
        <a:solidFill xmlns:a="http://schemas.openxmlformats.org/drawingml/2006/main">
          <a:srgbClr val="00B0F0"/>
        </a:solidFill>
      </cdr:spPr>
      <cdr:style>
        <a:lnRef xmlns:a="http://schemas.openxmlformats.org/drawingml/2006/main" idx="1">
          <a:schemeClr val="accent5"/>
        </a:lnRef>
        <a:fillRef xmlns:a="http://schemas.openxmlformats.org/drawingml/2006/main" idx="3">
          <a:schemeClr val="accent5"/>
        </a:fillRef>
        <a:effectRef xmlns:a="http://schemas.openxmlformats.org/drawingml/2006/main" idx="2">
          <a:schemeClr val="accent5"/>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r>
            <a:rPr lang="en-US" sz="800" b="1"/>
            <a:t>A899 thay đ/c</a:t>
          </a:r>
          <a:endParaRPr lang="en-US" sz="800" b="1" dirty="0"/>
        </a:p>
      </cdr:txBody>
    </cdr:sp>
  </cdr:relSizeAnchor>
  <cdr:relSizeAnchor xmlns:cdr="http://schemas.openxmlformats.org/drawingml/2006/chartDrawing">
    <cdr:from>
      <cdr:x>0.63879</cdr:x>
      <cdr:y>0.33182</cdr:y>
    </cdr:from>
    <cdr:to>
      <cdr:x>0.69324</cdr:x>
      <cdr:y>0.49663</cdr:y>
    </cdr:to>
    <cdr:sp macro="" textlink="">
      <cdr:nvSpPr>
        <cdr:cNvPr id="9" name="Rectangle 8">
          <a:extLst xmlns:a="http://schemas.openxmlformats.org/drawingml/2006/main">
            <a:ext uri="{FF2B5EF4-FFF2-40B4-BE49-F238E27FC236}">
              <a16:creationId xmlns:a16="http://schemas.microsoft.com/office/drawing/2014/main" xmlns="" id="{89DA79E5-4D55-4BFD-99AB-8A66C78C61D0}"/>
            </a:ext>
          </a:extLst>
        </cdr:cNvPr>
        <cdr:cNvSpPr/>
      </cdr:nvSpPr>
      <cdr:spPr>
        <a:xfrm xmlns:a="http://schemas.openxmlformats.org/drawingml/2006/main">
          <a:off x="5673362" y="1053408"/>
          <a:ext cx="483662" cy="523220"/>
        </a:xfrm>
        <a:prstGeom xmlns:a="http://schemas.openxmlformats.org/drawingml/2006/main" prst="rect">
          <a:avLst/>
        </a:prstGeom>
        <a:solidFill xmlns:a="http://schemas.openxmlformats.org/drawingml/2006/main">
          <a:srgbClr val="00B0F0"/>
        </a:solidFill>
      </cdr:spPr>
      <cdr:style>
        <a:lnRef xmlns:a="http://schemas.openxmlformats.org/drawingml/2006/main" idx="1">
          <a:schemeClr val="accent5"/>
        </a:lnRef>
        <a:fillRef xmlns:a="http://schemas.openxmlformats.org/drawingml/2006/main" idx="3">
          <a:schemeClr val="accent5"/>
        </a:fillRef>
        <a:effectRef xmlns:a="http://schemas.openxmlformats.org/drawingml/2006/main" idx="2">
          <a:schemeClr val="accent5"/>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r>
            <a:rPr lang="en-US" sz="800" b="1"/>
            <a:t>A893 thay đ/c</a:t>
          </a:r>
          <a:endParaRPr lang="en-US" sz="800" b="1" dirty="0"/>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1440" tIns="45720" rIns="91440" bIns="45720" rtlCol="0"/>
          <a:lstStyle>
            <a:lvl1pPr algn="r">
              <a:defRPr sz="1200"/>
            </a:lvl1pPr>
          </a:lstStyle>
          <a:p>
            <a:fld id="{64E30043-8C10-7B47-A809-3F1C83F4798E}" type="datetimeFigureOut">
              <a:rPr lang="en-US" smtClean="0"/>
              <a:t>12-Jan-25</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041" y="4473893"/>
            <a:ext cx="5608320" cy="3660458"/>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1440" tIns="45720" rIns="91440" bIns="45720" rtlCol="0" anchor="b"/>
          <a:lstStyle>
            <a:lvl1pPr algn="r">
              <a:defRPr sz="1200"/>
            </a:lvl1pPr>
          </a:lstStyle>
          <a:p>
            <a:fld id="{19A373DA-F9AA-A644-86AE-7CBAAC246365}" type="slidenum">
              <a:rPr lang="en-US" smtClean="0"/>
              <a:t>‹#›</a:t>
            </a:fld>
            <a:endParaRPr lang="en-US"/>
          </a:p>
        </p:txBody>
      </p:sp>
    </p:spTree>
    <p:extLst>
      <p:ext uri="{BB962C8B-B14F-4D97-AF65-F5344CB8AC3E}">
        <p14:creationId xmlns:p14="http://schemas.microsoft.com/office/powerpoint/2010/main" val="33101500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
        <p:cNvGrpSpPr/>
        <p:nvPr/>
      </p:nvGrpSpPr>
      <p:grpSpPr>
        <a:xfrm>
          <a:off x="0" y="0"/>
          <a:ext cx="0" cy="0"/>
          <a:chOff x="0" y="0"/>
          <a:chExt cx="0" cy="0"/>
        </a:xfrm>
      </p:grpSpPr>
      <p:sp>
        <p:nvSpPr>
          <p:cNvPr id="23" name="Google Shape;23;g301f5ae314a_0_0: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 name="Google Shape;24;g301f5ae314a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405941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9A373DA-F9AA-A644-86AE-7CBAAC246365}" type="slidenum">
              <a:rPr lang="en-US" smtClean="0"/>
              <a:t>1</a:t>
            </a:fld>
            <a:endParaRPr lang="en-US"/>
          </a:p>
        </p:txBody>
      </p:sp>
    </p:spTree>
    <p:extLst>
      <p:ext uri="{BB962C8B-B14F-4D97-AF65-F5344CB8AC3E}">
        <p14:creationId xmlns:p14="http://schemas.microsoft.com/office/powerpoint/2010/main" val="10189506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9A373DA-F9AA-A644-86AE-7CBAAC246365}" type="slidenum">
              <a:rPr lang="en-US" smtClean="0"/>
              <a:t>2</a:t>
            </a:fld>
            <a:endParaRPr lang="en-US"/>
          </a:p>
        </p:txBody>
      </p:sp>
    </p:spTree>
    <p:extLst>
      <p:ext uri="{BB962C8B-B14F-4D97-AF65-F5344CB8AC3E}">
        <p14:creationId xmlns:p14="http://schemas.microsoft.com/office/powerpoint/2010/main" val="27008683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z="800" dirty="0">
              <a:latin typeface="+mn-lt"/>
            </a:endParaRPr>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C4CC002-4D4A-4293-9E33-071F59E80170}" type="slidenum">
              <a:rPr kumimoji="0" lang="en-US" altLang="en-US" sz="1200" b="0" i="0" u="none" strike="noStrike" kern="1200" cap="none" spc="0" normalizeH="0" baseline="0" noProof="0" smtClean="0">
                <a:ln>
                  <a:noFill/>
                </a:ln>
                <a:solidFill>
                  <a:srgbClr val="000000"/>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20773983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9" name="Slide Image Placeholder 1"/>
          <p:cNvSpPr>
            <a:spLocks noGrp="1" noRot="1" noChangeAspect="1"/>
          </p:cNvSpPr>
          <p:nvPr>
            <p:ph type="sldImg"/>
          </p:nvPr>
        </p:nvSpPr>
        <p:spPr/>
      </p:sp>
      <p:sp>
        <p:nvSpPr>
          <p:cNvPr id="1048600" name="Notes Placeholder 2"/>
          <p:cNvSpPr>
            <a:spLocks noGrp="1"/>
          </p:cNvSpPr>
          <p:nvPr>
            <p:ph type="body" idx="1"/>
          </p:nvPr>
        </p:nvSpPr>
        <p:spPr/>
        <p:txBody>
          <a:bodyPr/>
          <a:lstStyle/>
          <a:p>
            <a:endParaRPr lang="en-US" dirty="0"/>
          </a:p>
        </p:txBody>
      </p:sp>
      <p:sp>
        <p:nvSpPr>
          <p:cNvPr id="1048601"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pPr>
            <a:fld id="{19A373DA-F9AA-A644-86AE-7CBAAC24636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464600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5</a:t>
            </a:fld>
            <a:endParaRPr/>
          </a:p>
        </p:txBody>
      </p:sp>
    </p:spTree>
    <p:extLst>
      <p:ext uri="{BB962C8B-B14F-4D97-AF65-F5344CB8AC3E}">
        <p14:creationId xmlns:p14="http://schemas.microsoft.com/office/powerpoint/2010/main" val="40321074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xmlns="" id="{4AF5EB47-E03D-0D91-39FC-CC804F8BF772}"/>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xmlns="" id="{CFBD9FDC-6CB7-9CDF-6D99-A6F2219A5F7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xmlns="" id="{9E6A12EB-B4C3-DAA4-7E0D-96E242DAFFF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xmlns="" id="{78678873-6256-3E24-DC72-D1919FF17EB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4199666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xmlns="" id="{63F3BC7C-BB04-8504-F909-C0EAE5CC5FB3}"/>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xmlns="" id="{29D786FD-1D23-5EEA-C99C-BF22273F5B8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xmlns="" id="{59933066-3312-1634-DCA0-CF2D550D627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xmlns="" id="{329366D3-FD76-861A-3869-C8E328ABA41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863606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368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5A07728F-659E-4563-8681-F0461742A695}" type="slidenum">
              <a:rPr lang="en-US" altLang="en-US" smtClean="0">
                <a:solidFill>
                  <a:srgbClr val="000000"/>
                </a:solidFill>
              </a:rPr>
              <a:pPr fontAlgn="base">
                <a:spcBef>
                  <a:spcPct val="0"/>
                </a:spcBef>
                <a:spcAft>
                  <a:spcPct val="0"/>
                </a:spcAft>
              </a:pPr>
              <a:t>8</a:t>
            </a:fld>
            <a:endParaRPr lang="en-US" altLang="en-US">
              <a:solidFill>
                <a:srgbClr val="000000"/>
              </a:solidFill>
            </a:endParaRPr>
          </a:p>
        </p:txBody>
      </p:sp>
    </p:spTree>
    <p:extLst>
      <p:ext uri="{BB962C8B-B14F-4D97-AF65-F5344CB8AC3E}">
        <p14:creationId xmlns:p14="http://schemas.microsoft.com/office/powerpoint/2010/main" val="35409684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xmlns="" id="{2D244115-3526-86DD-02F0-950DD8271E36}"/>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xmlns="" id="{4741430F-F6E1-ED7F-868B-0C93A76EAD1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xmlns="" id="{EA96752A-C9F7-32A3-1D55-FC5894623C1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xmlns="" id="{6355F85F-2469-EBF8-BE61-88894DA37A9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174970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xmlns="" id="{2D244115-3526-86DD-02F0-950DD8271E36}"/>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xmlns="" id="{4741430F-F6E1-ED7F-868B-0C93A76EAD1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xmlns="" id="{EA96752A-C9F7-32A3-1D55-FC5894623C1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xmlns="" id="{6355F85F-2469-EBF8-BE61-88894DA37A9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9785957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xmlns="" id="{2D244115-3526-86DD-02F0-950DD8271E36}"/>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xmlns="" id="{4741430F-F6E1-ED7F-868B-0C93A76EAD1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xmlns="" id="{EA96752A-C9F7-32A3-1D55-FC5894623C1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xmlns="" id="{6355F85F-2469-EBF8-BE61-88894DA37A9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5979456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9A373DA-F9AA-A644-86AE-7CBAAC246365}" type="slidenum">
              <a:rPr lang="en-US" smtClean="0"/>
              <a:t>12</a:t>
            </a:fld>
            <a:endParaRPr lang="en-US"/>
          </a:p>
        </p:txBody>
      </p:sp>
    </p:spTree>
    <p:extLst>
      <p:ext uri="{BB962C8B-B14F-4D97-AF65-F5344CB8AC3E}">
        <p14:creationId xmlns:p14="http://schemas.microsoft.com/office/powerpoint/2010/main" val="23182258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9A373DA-F9AA-A644-86AE-7CBAAC246365}" type="slidenum">
              <a:rPr lang="en-US" smtClean="0"/>
              <a:t>13</a:t>
            </a:fld>
            <a:endParaRPr lang="en-US"/>
          </a:p>
        </p:txBody>
      </p:sp>
    </p:spTree>
    <p:extLst>
      <p:ext uri="{BB962C8B-B14F-4D97-AF65-F5344CB8AC3E}">
        <p14:creationId xmlns:p14="http://schemas.microsoft.com/office/powerpoint/2010/main" val="13115107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14</a:t>
            </a:fld>
            <a:endParaRPr/>
          </a:p>
        </p:txBody>
      </p:sp>
    </p:spTree>
    <p:extLst>
      <p:ext uri="{BB962C8B-B14F-4D97-AF65-F5344CB8AC3E}">
        <p14:creationId xmlns:p14="http://schemas.microsoft.com/office/powerpoint/2010/main" val="18975723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15</a:t>
            </a:fld>
            <a:endParaRPr/>
          </a:p>
        </p:txBody>
      </p:sp>
    </p:spTree>
    <p:extLst>
      <p:ext uri="{BB962C8B-B14F-4D97-AF65-F5344CB8AC3E}">
        <p14:creationId xmlns:p14="http://schemas.microsoft.com/office/powerpoint/2010/main" val="2639281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16</a:t>
            </a:fld>
            <a:endParaRPr/>
          </a:p>
        </p:txBody>
      </p:sp>
    </p:spTree>
    <p:extLst>
      <p:ext uri="{BB962C8B-B14F-4D97-AF65-F5344CB8AC3E}">
        <p14:creationId xmlns:p14="http://schemas.microsoft.com/office/powerpoint/2010/main" val="42210309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xmlns="" id="{6D6698A7-A523-FA8F-1560-38B78DE6C5CF}"/>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xmlns="" id="{8FD2FE96-8DD4-7F86-2AD5-717EFC1A57E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xmlns="" id="{7893F7A7-EB19-4D7A-3CFF-F28D2ED9E1F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xmlns="" id="{3163EDE2-855A-FFA1-3437-7A3D1A0D74D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5477873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18</a:t>
            </a:fld>
            <a:endParaRPr/>
          </a:p>
        </p:txBody>
      </p:sp>
    </p:spTree>
    <p:extLst>
      <p:ext uri="{BB962C8B-B14F-4D97-AF65-F5344CB8AC3E}">
        <p14:creationId xmlns:p14="http://schemas.microsoft.com/office/powerpoint/2010/main" val="20295960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19</a:t>
            </a:fld>
            <a:endParaRPr/>
          </a:p>
        </p:txBody>
      </p:sp>
    </p:spTree>
    <p:extLst>
      <p:ext uri="{BB962C8B-B14F-4D97-AF65-F5344CB8AC3E}">
        <p14:creationId xmlns:p14="http://schemas.microsoft.com/office/powerpoint/2010/main" val="15334963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xmlns="" id="{3FC104A0-13B4-310F-A29D-C2D066A04A15}"/>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xmlns="" id="{248459CD-70C2-5C9B-A2E9-60B9628C0AE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xmlns="" id="{46DBF351-C24B-1104-8F07-A554E6D4FF1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xmlns="" id="{8753D8A8-F896-0803-20E6-3DC18FF98DD4}"/>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9385326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368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5A07728F-659E-4563-8681-F0461742A695}" type="slidenum">
              <a:rPr lang="en-US" altLang="en-US" smtClean="0">
                <a:solidFill>
                  <a:srgbClr val="000000"/>
                </a:solidFill>
              </a:rPr>
              <a:pPr fontAlgn="base">
                <a:spcBef>
                  <a:spcPct val="0"/>
                </a:spcBef>
                <a:spcAft>
                  <a:spcPct val="0"/>
                </a:spcAft>
              </a:pPr>
              <a:t>21</a:t>
            </a:fld>
            <a:endParaRPr lang="en-US" altLang="en-US">
              <a:solidFill>
                <a:srgbClr val="000000"/>
              </a:solidFill>
            </a:endParaRPr>
          </a:p>
        </p:txBody>
      </p:sp>
    </p:spTree>
    <p:extLst>
      <p:ext uri="{BB962C8B-B14F-4D97-AF65-F5344CB8AC3E}">
        <p14:creationId xmlns:p14="http://schemas.microsoft.com/office/powerpoint/2010/main" val="40229018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xmlns=""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xmlns=""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xmlns=""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xmlns=""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23</a:t>
            </a:fld>
            <a:endParaRPr/>
          </a:p>
        </p:txBody>
      </p:sp>
    </p:spTree>
    <p:extLst>
      <p:ext uri="{BB962C8B-B14F-4D97-AF65-F5344CB8AC3E}">
        <p14:creationId xmlns:p14="http://schemas.microsoft.com/office/powerpoint/2010/main" val="9601419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xmlns="" id="{B0F878AF-BBDD-C6ED-7AD5-5B685E158E0F}"/>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xmlns="" id="{72F52688-1CC4-541B-43BC-86DB6E07C05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xmlns="" id="{2ED4F4CC-70E6-F17D-4EB8-ECA86EB25FE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xmlns="" id="{578DA26F-93B7-623C-25F5-0AA25B41617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24</a:t>
            </a:fld>
            <a:endParaRPr/>
          </a:p>
        </p:txBody>
      </p:sp>
    </p:spTree>
    <p:extLst>
      <p:ext uri="{BB962C8B-B14F-4D97-AF65-F5344CB8AC3E}">
        <p14:creationId xmlns:p14="http://schemas.microsoft.com/office/powerpoint/2010/main" val="32043775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92C2FA8-72AD-740C-B2A4-D59CA329E2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1713B04E-D2CA-6404-597A-92820680960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xmlns="" id="{1EE61739-826D-7AAF-B33B-18FF92150DF4}"/>
              </a:ext>
            </a:extLst>
          </p:cNvPr>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xmlns="" id="{676FAD88-11AB-C429-5B65-435A43FFA940}"/>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666ED7-631A-46AF-B451-227D0A8685A0}" type="slidenum">
              <a:rPr kumimoji="0" 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08328499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xmlns="" id="{A7C44048-5E54-913D-6718-81ADD22A47C0}"/>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xmlns="" id="{C3F2927F-22E1-2406-3F6D-272971FBB35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xmlns="" id="{F3BCC66C-F401-1539-F528-5C627ACEAA0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xmlns="" id="{29AD5FCB-0938-657E-F99F-296B870A9CD3}"/>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26</a:t>
            </a:fld>
            <a:endParaRPr/>
          </a:p>
        </p:txBody>
      </p:sp>
    </p:spTree>
    <p:extLst>
      <p:ext uri="{BB962C8B-B14F-4D97-AF65-F5344CB8AC3E}">
        <p14:creationId xmlns:p14="http://schemas.microsoft.com/office/powerpoint/2010/main" val="72705115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xmlns="" id="{E26068CF-38DB-1D6C-6DC7-F7D2D084AA39}"/>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xmlns="" id="{65B994C1-1E18-D0D0-66A3-BAFA78B7E1C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xmlns="" id="{2F0393F5-5A1F-BE21-BFE8-F6468BBE159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xmlns="" id="{4DCB08EB-58F1-3868-A15A-E5412B0FB1B9}"/>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27</a:t>
            </a:fld>
            <a:endParaRPr/>
          </a:p>
        </p:txBody>
      </p:sp>
    </p:spTree>
    <p:extLst>
      <p:ext uri="{BB962C8B-B14F-4D97-AF65-F5344CB8AC3E}">
        <p14:creationId xmlns:p14="http://schemas.microsoft.com/office/powerpoint/2010/main" val="245465188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xmlns="" id="{345BC7C4-A2AF-0A92-C797-AFA7332B9B77}"/>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xmlns="" id="{1DE54FAD-9C5B-FBB2-4944-B4F81AD9ACD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xmlns="" id="{8D2EAB10-7BA4-F850-28F0-A084C51F228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xmlns="" id="{8983371B-1407-FBAF-7F23-5A67DD72E0C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28</a:t>
            </a:fld>
            <a:endParaRPr/>
          </a:p>
        </p:txBody>
      </p:sp>
    </p:spTree>
    <p:extLst>
      <p:ext uri="{BB962C8B-B14F-4D97-AF65-F5344CB8AC3E}">
        <p14:creationId xmlns:p14="http://schemas.microsoft.com/office/powerpoint/2010/main" val="222106723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 name="Google Shape;72;p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73" name="Google Shape;73;p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38</a:t>
            </a:fld>
            <a:endParaRPr/>
          </a:p>
        </p:txBody>
      </p:sp>
    </p:spTree>
    <p:extLst>
      <p:ext uri="{BB962C8B-B14F-4D97-AF65-F5344CB8AC3E}">
        <p14:creationId xmlns:p14="http://schemas.microsoft.com/office/powerpoint/2010/main" val="67077468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 name="Google Shape;72;p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73" name="Google Shape;73;p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39</a:t>
            </a:fld>
            <a:endParaRPr/>
          </a:p>
        </p:txBody>
      </p:sp>
    </p:spTree>
    <p:extLst>
      <p:ext uri="{BB962C8B-B14F-4D97-AF65-F5344CB8AC3E}">
        <p14:creationId xmlns:p14="http://schemas.microsoft.com/office/powerpoint/2010/main" val="87960642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 name="Google Shape;72;p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73" name="Google Shape;73;p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40</a:t>
            </a:fld>
            <a:endParaRPr/>
          </a:p>
        </p:txBody>
      </p:sp>
    </p:spTree>
    <p:extLst>
      <p:ext uri="{BB962C8B-B14F-4D97-AF65-F5344CB8AC3E}">
        <p14:creationId xmlns:p14="http://schemas.microsoft.com/office/powerpoint/2010/main" val="393193471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bf661c5817_1_224:notes"/>
          <p:cNvSpPr>
            <a:spLocks noGrp="1" noRot="1" noChangeAspect="1"/>
          </p:cNvSpPr>
          <p:nvPr>
            <p:ph type="sldImg" idx="2"/>
          </p:nvPr>
        </p:nvSpPr>
        <p:spPr>
          <a:xfrm>
            <a:off x="877888" y="1260475"/>
            <a:ext cx="6048375" cy="34020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2bf661c5817_1_224:notes"/>
          <p:cNvSpPr txBox="1">
            <a:spLocks noGrp="1"/>
          </p:cNvSpPr>
          <p:nvPr>
            <p:ph type="body" idx="1"/>
          </p:nvPr>
        </p:nvSpPr>
        <p:spPr>
          <a:xfrm>
            <a:off x="780289" y="4851612"/>
            <a:ext cx="6242100" cy="3969600"/>
          </a:xfrm>
          <a:prstGeom prst="rect">
            <a:avLst/>
          </a:prstGeom>
          <a:noFill/>
          <a:ln>
            <a:noFill/>
          </a:ln>
        </p:spPr>
        <p:txBody>
          <a:bodyPr spcFirstLastPara="1" wrap="square" lIns="97000" tIns="48500" rIns="97000" bIns="48500" anchor="t" anchorCtr="0">
            <a:noAutofit/>
          </a:bodyPr>
          <a:lstStyle/>
          <a:p>
            <a:pPr marL="0" lvl="0" indent="0" algn="l" rtl="0">
              <a:lnSpc>
                <a:spcPct val="100000"/>
              </a:lnSpc>
              <a:spcBef>
                <a:spcPts val="0"/>
              </a:spcBef>
              <a:spcAft>
                <a:spcPts val="0"/>
              </a:spcAft>
              <a:buClr>
                <a:schemeClr val="dk1"/>
              </a:buClr>
              <a:buSzPts val="1500"/>
              <a:buFont typeface="Calibri"/>
              <a:buNone/>
            </a:pPr>
            <a:endParaRPr sz="1500" dirty="0"/>
          </a:p>
        </p:txBody>
      </p:sp>
      <p:sp>
        <p:nvSpPr>
          <p:cNvPr id="196" name="Google Shape;196;g2bf661c5817_1_224:notes"/>
          <p:cNvSpPr txBox="1">
            <a:spLocks noGrp="1"/>
          </p:cNvSpPr>
          <p:nvPr>
            <p:ph type="sldNum" idx="12"/>
          </p:nvPr>
        </p:nvSpPr>
        <p:spPr>
          <a:xfrm>
            <a:off x="4419826" y="9575461"/>
            <a:ext cx="3381300" cy="505800"/>
          </a:xfrm>
          <a:prstGeom prst="rect">
            <a:avLst/>
          </a:prstGeom>
          <a:noFill/>
          <a:ln>
            <a:noFill/>
          </a:ln>
        </p:spPr>
        <p:txBody>
          <a:bodyPr spcFirstLastPara="1" wrap="square" lIns="97000" tIns="48500" rIns="97000" bIns="485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300"/>
              <a:buFont typeface="Times New Roman"/>
              <a:buNone/>
              <a:tabLst/>
              <a:defRPr/>
            </a:pPr>
            <a:fld id="{00000000-1234-1234-1234-123412341234}" type="slidenum">
              <a:rPr kumimoji="0" lang="en-US"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auto" latinLnBrk="0" hangingPunct="1">
                <a:lnSpc>
                  <a:spcPct val="100000"/>
                </a:lnSpc>
                <a:spcBef>
                  <a:spcPts val="0"/>
                </a:spcBef>
                <a:spcAft>
                  <a:spcPts val="0"/>
                </a:spcAft>
                <a:buClr>
                  <a:srgbClr val="000000"/>
                </a:buClr>
                <a:buSzPts val="1300"/>
                <a:buFont typeface="Times New Roman"/>
                <a:buNone/>
                <a:tabLst/>
                <a:defRPr/>
              </a:pPr>
              <a:t>42</a:t>
            </a:fld>
            <a:endParaRPr kumimoji="0"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188200890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bf661c5817_1_224:notes"/>
          <p:cNvSpPr>
            <a:spLocks noGrp="1" noRot="1" noChangeAspect="1"/>
          </p:cNvSpPr>
          <p:nvPr>
            <p:ph type="sldImg" idx="2"/>
          </p:nvPr>
        </p:nvSpPr>
        <p:spPr>
          <a:xfrm>
            <a:off x="877888" y="1260475"/>
            <a:ext cx="6048375" cy="34020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2bf661c5817_1_224:notes"/>
          <p:cNvSpPr txBox="1">
            <a:spLocks noGrp="1"/>
          </p:cNvSpPr>
          <p:nvPr>
            <p:ph type="body" idx="1"/>
          </p:nvPr>
        </p:nvSpPr>
        <p:spPr>
          <a:xfrm>
            <a:off x="780289" y="4851612"/>
            <a:ext cx="6242100" cy="3969600"/>
          </a:xfrm>
          <a:prstGeom prst="rect">
            <a:avLst/>
          </a:prstGeom>
          <a:noFill/>
          <a:ln>
            <a:noFill/>
          </a:ln>
        </p:spPr>
        <p:txBody>
          <a:bodyPr spcFirstLastPara="1" wrap="square" lIns="97000" tIns="48500" rIns="97000" bIns="48500" anchor="t" anchorCtr="0">
            <a:noAutofit/>
          </a:bodyPr>
          <a:lstStyle/>
          <a:p>
            <a:pPr marL="0" lvl="0" indent="0" algn="l" rtl="0">
              <a:lnSpc>
                <a:spcPct val="100000"/>
              </a:lnSpc>
              <a:spcBef>
                <a:spcPts val="0"/>
              </a:spcBef>
              <a:spcAft>
                <a:spcPts val="0"/>
              </a:spcAft>
              <a:buClr>
                <a:schemeClr val="dk1"/>
              </a:buClr>
              <a:buSzPts val="1500"/>
              <a:buFont typeface="Calibri"/>
              <a:buNone/>
            </a:pPr>
            <a:endParaRPr sz="1500" dirty="0"/>
          </a:p>
        </p:txBody>
      </p:sp>
      <p:sp>
        <p:nvSpPr>
          <p:cNvPr id="196" name="Google Shape;196;g2bf661c5817_1_224:notes"/>
          <p:cNvSpPr txBox="1">
            <a:spLocks noGrp="1"/>
          </p:cNvSpPr>
          <p:nvPr>
            <p:ph type="sldNum" idx="12"/>
          </p:nvPr>
        </p:nvSpPr>
        <p:spPr>
          <a:xfrm>
            <a:off x="4419826" y="9575461"/>
            <a:ext cx="3381300" cy="505800"/>
          </a:xfrm>
          <a:prstGeom prst="rect">
            <a:avLst/>
          </a:prstGeom>
          <a:noFill/>
          <a:ln>
            <a:noFill/>
          </a:ln>
        </p:spPr>
        <p:txBody>
          <a:bodyPr spcFirstLastPara="1" wrap="square" lIns="97000" tIns="48500" rIns="97000" bIns="48500" anchor="b" anchorCtr="0">
            <a:noAutofit/>
          </a:bodyPr>
          <a:lstStyle/>
          <a:p>
            <a:pPr marL="0" marR="0" lvl="0" indent="0" algn="r" defTabSz="914400" rtl="0" eaLnBrk="1" fontAlgn="base" latinLnBrk="0" hangingPunct="1">
              <a:lnSpc>
                <a:spcPct val="100000"/>
              </a:lnSpc>
              <a:spcBef>
                <a:spcPts val="0"/>
              </a:spcBef>
              <a:spcAft>
                <a:spcPts val="0"/>
              </a:spcAft>
              <a:buClr>
                <a:srgbClr val="000000"/>
              </a:buClr>
              <a:buSzPts val="1300"/>
              <a:buFont typeface="Times New Roman"/>
              <a:buNone/>
              <a:tabLst/>
              <a:defRPr/>
            </a:pPr>
            <a:fld id="{00000000-1234-1234-1234-123412341234}" type="slidenum">
              <a:rPr kumimoji="0" lang="en-US"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base" latinLnBrk="0" hangingPunct="1">
                <a:lnSpc>
                  <a:spcPct val="100000"/>
                </a:lnSpc>
                <a:spcBef>
                  <a:spcPts val="0"/>
                </a:spcBef>
                <a:spcAft>
                  <a:spcPts val="0"/>
                </a:spcAft>
                <a:buClr>
                  <a:srgbClr val="000000"/>
                </a:buClr>
                <a:buSzPts val="1300"/>
                <a:buFont typeface="Times New Roman"/>
                <a:buNone/>
                <a:tabLst/>
                <a:defRPr/>
              </a:pPr>
              <a:t>43</a:t>
            </a:fld>
            <a:endParaRPr kumimoji="0"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167302587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01f5ae314a_0_37: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 name="Google Shape;63;g301f5ae314a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0198682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A373DA-F9AA-A644-86AE-7CBAAC246365}" type="slidenum">
              <a:rPr lang="en-US" smtClean="0"/>
              <a:t>45</a:t>
            </a:fld>
            <a:endParaRPr lang="en-US"/>
          </a:p>
        </p:txBody>
      </p:sp>
    </p:spTree>
    <p:extLst>
      <p:ext uri="{BB962C8B-B14F-4D97-AF65-F5344CB8AC3E}">
        <p14:creationId xmlns:p14="http://schemas.microsoft.com/office/powerpoint/2010/main" val="87937486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0298822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58615280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01382754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1ccdae391d_0_24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3" name="Google Shape;153;g31ccdae391d_0_24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4" name="Google Shape;154;g31ccdae391d_0_24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49</a:t>
            </a:fld>
            <a:endParaRPr/>
          </a:p>
        </p:txBody>
      </p:sp>
    </p:spTree>
    <p:extLst>
      <p:ext uri="{BB962C8B-B14F-4D97-AF65-F5344CB8AC3E}">
        <p14:creationId xmlns:p14="http://schemas.microsoft.com/office/powerpoint/2010/main" val="84769902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1ccdae391d_0_25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1" name="Google Shape;161;g31ccdae391d_0_255: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2" name="Google Shape;162;g31ccdae391d_0_255: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50</a:t>
            </a:fld>
            <a:endParaRPr/>
          </a:p>
        </p:txBody>
      </p:sp>
    </p:spTree>
    <p:extLst>
      <p:ext uri="{BB962C8B-B14F-4D97-AF65-F5344CB8AC3E}">
        <p14:creationId xmlns:p14="http://schemas.microsoft.com/office/powerpoint/2010/main" val="83813725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31ccdae391d_0_26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0" name="Google Shape;170;g31ccdae391d_0_26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1" name="Google Shape;171;g31ccdae391d_0_26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51</a:t>
            </a:fld>
            <a:endParaRPr/>
          </a:p>
        </p:txBody>
      </p:sp>
    </p:spTree>
    <p:extLst>
      <p:ext uri="{BB962C8B-B14F-4D97-AF65-F5344CB8AC3E}">
        <p14:creationId xmlns:p14="http://schemas.microsoft.com/office/powerpoint/2010/main" val="425641820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31ccdae391d_0_27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9" name="Google Shape;179;g31ccdae391d_0_271: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0" name="Google Shape;180;g31ccdae391d_0_271: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52</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74936072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1ccdae391d_0_27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7" name="Google Shape;187;g31ccdae391d_0_27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8" name="Google Shape;188;g31ccdae391d_0_27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53</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2183481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31ccdae391d_0_28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31ccdae391d_0_285: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6" name="Google Shape;196;g31ccdae391d_0_285: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54</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05941385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31ccdae391d_0_29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g31ccdae391d_0_29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g31ccdae391d_0_29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55</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70678085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31ccdae391d_0_29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1" name="Google Shape;211;g31ccdae391d_0_299: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2" name="Google Shape;212;g31ccdae391d_0_299: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56</a:t>
            </a:fld>
            <a:endParaRPr/>
          </a:p>
        </p:txBody>
      </p:sp>
    </p:spTree>
    <p:extLst>
      <p:ext uri="{BB962C8B-B14F-4D97-AF65-F5344CB8AC3E}">
        <p14:creationId xmlns:p14="http://schemas.microsoft.com/office/powerpoint/2010/main" val="332844887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31ccdae391d_0_30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1" name="Google Shape;221;g31ccdae391d_0_30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2" name="Google Shape;222;g31ccdae391d_0_30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57</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05096423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31ccdae391d_0_31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9" name="Google Shape;229;g31ccdae391d_0_315: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0" name="Google Shape;230;g31ccdae391d_0_315: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58</a:t>
            </a:fld>
            <a:endParaRPr/>
          </a:p>
        </p:txBody>
      </p:sp>
    </p:spTree>
    <p:extLst>
      <p:ext uri="{BB962C8B-B14F-4D97-AF65-F5344CB8AC3E}">
        <p14:creationId xmlns:p14="http://schemas.microsoft.com/office/powerpoint/2010/main" val="54783169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31ccdae391d_0_32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8" name="Google Shape;238;g31ccdae391d_0_32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9" name="Google Shape;239;g31ccdae391d_0_32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59</a:t>
            </a:fld>
            <a:endParaRPr/>
          </a:p>
        </p:txBody>
      </p:sp>
    </p:spTree>
    <p:extLst>
      <p:ext uri="{BB962C8B-B14F-4D97-AF65-F5344CB8AC3E}">
        <p14:creationId xmlns:p14="http://schemas.microsoft.com/office/powerpoint/2010/main" val="249485868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31ccdae391d_0_33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8" name="Google Shape;248;g31ccdae391d_0_33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 name="Google Shape;249;g31ccdae391d_0_33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60</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15733106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31ccdae391d_0_33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6" name="Google Shape;256;g31ccdae391d_0_339: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7" name="Google Shape;257;g31ccdae391d_0_339: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61</a:t>
            </a:fld>
            <a:endParaRPr/>
          </a:p>
        </p:txBody>
      </p:sp>
    </p:spTree>
    <p:extLst>
      <p:ext uri="{BB962C8B-B14F-4D97-AF65-F5344CB8AC3E}">
        <p14:creationId xmlns:p14="http://schemas.microsoft.com/office/powerpoint/2010/main" val="89827928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31ccdae391d_0_347: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5" name="Google Shape;265;g31ccdae391d_0_347: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6" name="Google Shape;266;g31ccdae391d_0_347: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62</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79961433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31ccdae391d_0_354: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3" name="Google Shape;273;g31ccdae391d_0_354: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4" name="Google Shape;274;g31ccdae391d_0_354: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63</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71289730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31ccdae391d_0_361: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1" name="Google Shape;281;g31ccdae391d_0_361: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82" name="Google Shape;282;g31ccdae391d_0_361: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64</a:t>
            </a:fld>
            <a:endParaRPr sz="1200">
              <a:latin typeface="Calibri"/>
              <a:ea typeface="Calibri"/>
              <a:cs typeface="Calibri"/>
              <a:sym typeface="Calibri"/>
            </a:endParaRPr>
          </a:p>
        </p:txBody>
      </p:sp>
    </p:spTree>
    <p:extLst>
      <p:ext uri="{BB962C8B-B14F-4D97-AF65-F5344CB8AC3E}">
        <p14:creationId xmlns:p14="http://schemas.microsoft.com/office/powerpoint/2010/main" val="202399441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1ccdae391d_0_368: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9" name="Google Shape;289;g31ccdae391d_0_368: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90" name="Google Shape;290;g31ccdae391d_0_368: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65</a:t>
            </a:fld>
            <a:endParaRPr sz="1200">
              <a:latin typeface="Calibri"/>
              <a:ea typeface="Calibri"/>
              <a:cs typeface="Calibri"/>
              <a:sym typeface="Calibri"/>
            </a:endParaRPr>
          </a:p>
        </p:txBody>
      </p:sp>
    </p:spTree>
    <p:extLst>
      <p:ext uri="{BB962C8B-B14F-4D97-AF65-F5344CB8AC3E}">
        <p14:creationId xmlns:p14="http://schemas.microsoft.com/office/powerpoint/2010/main" val="174631715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31ccdae391d_0_375: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7" name="Google Shape;297;g31ccdae391d_0_375: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98" name="Google Shape;298;g31ccdae391d_0_375: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66</a:t>
            </a:fld>
            <a:endParaRPr sz="1200">
              <a:latin typeface="Calibri"/>
              <a:ea typeface="Calibri"/>
              <a:cs typeface="Calibri"/>
              <a:sym typeface="Calibri"/>
            </a:endParaRPr>
          </a:p>
        </p:txBody>
      </p:sp>
    </p:spTree>
    <p:extLst>
      <p:ext uri="{BB962C8B-B14F-4D97-AF65-F5344CB8AC3E}">
        <p14:creationId xmlns:p14="http://schemas.microsoft.com/office/powerpoint/2010/main" val="102074960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31ccdae391d_0_383: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6" name="Google Shape;306;g31ccdae391d_0_383: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307" name="Google Shape;307;g31ccdae391d_0_383: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67</a:t>
            </a:fld>
            <a:endParaRPr sz="1200">
              <a:latin typeface="Calibri"/>
              <a:ea typeface="Calibri"/>
              <a:cs typeface="Calibri"/>
              <a:sym typeface="Calibri"/>
            </a:endParaRPr>
          </a:p>
        </p:txBody>
      </p:sp>
    </p:spTree>
    <p:extLst>
      <p:ext uri="{BB962C8B-B14F-4D97-AF65-F5344CB8AC3E}">
        <p14:creationId xmlns:p14="http://schemas.microsoft.com/office/powerpoint/2010/main" val="423439109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31ccdae391d_0_389: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3" name="Google Shape;313;g31ccdae391d_0_389: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314" name="Google Shape;314;g31ccdae391d_0_389: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68</a:t>
            </a:fld>
            <a:endParaRPr sz="1200">
              <a:latin typeface="Calibri"/>
              <a:ea typeface="Calibri"/>
              <a:cs typeface="Calibri"/>
              <a:sym typeface="Calibri"/>
            </a:endParaRPr>
          </a:p>
        </p:txBody>
      </p:sp>
    </p:spTree>
    <p:extLst>
      <p:ext uri="{BB962C8B-B14F-4D97-AF65-F5344CB8AC3E}">
        <p14:creationId xmlns:p14="http://schemas.microsoft.com/office/powerpoint/2010/main" val="145072354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31ccdae391d_0_396: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1" name="Google Shape;321;g31ccdae391d_0_396: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322" name="Google Shape;322;g31ccdae391d_0_396: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69</a:t>
            </a:fld>
            <a:endParaRPr sz="1200">
              <a:latin typeface="Calibri"/>
              <a:ea typeface="Calibri"/>
              <a:cs typeface="Calibri"/>
              <a:sym typeface="Calibri"/>
            </a:endParaRPr>
          </a:p>
        </p:txBody>
      </p:sp>
    </p:spTree>
    <p:extLst>
      <p:ext uri="{BB962C8B-B14F-4D97-AF65-F5344CB8AC3E}">
        <p14:creationId xmlns:p14="http://schemas.microsoft.com/office/powerpoint/2010/main" val="225891908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31ccdae391d_0_40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9" name="Google Shape;329;g31ccdae391d_0_40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0" name="Google Shape;330;g31ccdae391d_0_40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70</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14378427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01f5ae314a_0_76: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 name="Google Shape;104;g301f5ae314a_0_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8051963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1366085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3" name="Content Placeholder 2"/>
          <p:cNvSpPr>
            <a:spLocks noGrp="1"/>
          </p:cNvSpPr>
          <p:nvPr>
            <p:ph idx="1"/>
          </p:nvPr>
        </p:nvSpPr>
        <p:spPr>
          <a:xfrm>
            <a:off x="838200" y="1378039"/>
            <a:ext cx="10515600" cy="4291916"/>
          </a:xfrm>
        </p:spPr>
        <p:txBody>
          <a:bodyPr>
            <a:normAutofit/>
          </a:bodyPr>
          <a:lstStyle>
            <a:lvl1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1pPr>
            <a:lvl2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2pPr>
            <a:lvl3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3pPr>
            <a:lvl4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4pPr>
            <a:lvl5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p:cNvSpPr>
            <a:spLocks noGrp="1"/>
          </p:cNvSpPr>
          <p:nvPr>
            <p:ph type="title"/>
          </p:nvPr>
        </p:nvSpPr>
        <p:spPr>
          <a:xfrm>
            <a:off x="838200" y="365126"/>
            <a:ext cx="10515600" cy="793974"/>
          </a:xfrm>
        </p:spPr>
        <p:txBody>
          <a:bodyPr>
            <a:normAutofit/>
          </a:bodyPr>
          <a:lstStyle>
            <a:lvl1pPr algn="ctr">
              <a:defRPr sz="2400" b="1" i="0">
                <a:solidFill>
                  <a:schemeClr val="accent4">
                    <a:lumMod val="75000"/>
                  </a:schemeClr>
                </a:solidFill>
                <a:latin typeface="Times New Roman" panose="02020603050405020304" pitchFamily="18" charset="0"/>
                <a:ea typeface="Tahoma" pitchFamily="34" charset="0"/>
                <a:cs typeface="Times New Roman" panose="02020603050405020304" pitchFamily="18" charset="0"/>
              </a:defRPr>
            </a:lvl1pPr>
          </a:lstStyle>
          <a:p>
            <a:r>
              <a:rPr lang="en-US" dirty="0"/>
              <a:t>Click to edit Master title style</a:t>
            </a:r>
          </a:p>
        </p:txBody>
      </p:sp>
      <p:sp>
        <p:nvSpPr>
          <p:cNvPr id="10"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41903535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3" name="Content Placeholder 2"/>
          <p:cNvSpPr>
            <a:spLocks noGrp="1"/>
          </p:cNvSpPr>
          <p:nvPr>
            <p:ph sz="half" idx="1"/>
          </p:nvPr>
        </p:nvSpPr>
        <p:spPr>
          <a:xfrm>
            <a:off x="838200" y="1825625"/>
            <a:ext cx="5181600" cy="387442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6"/>
            <a:ext cx="5181600" cy="3874420"/>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2339011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a:xfrm>
            <a:off x="839788"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3" name="Text Placeholder 2"/>
          <p:cNvSpPr>
            <a:spLocks noGrp="1"/>
          </p:cNvSpPr>
          <p:nvPr>
            <p:ph type="body" idx="1"/>
          </p:nvPr>
        </p:nvSpPr>
        <p:spPr>
          <a:xfrm>
            <a:off x="839788" y="1681163"/>
            <a:ext cx="5157787" cy="737297"/>
          </a:xfrm>
        </p:spPr>
        <p:txBody>
          <a:bodyPr anchor="b"/>
          <a:lstStyle>
            <a:lvl1pPr marL="0" indent="0">
              <a:buNone/>
              <a:defRPr sz="2400" b="1" i="0">
                <a:solidFill>
                  <a:srgbClr val="D2A43B"/>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505075"/>
            <a:ext cx="5157787" cy="321206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737297"/>
          </a:xfrm>
        </p:spPr>
        <p:txBody>
          <a:bodyPr anchor="b"/>
          <a:lstStyle>
            <a:lvl1pPr marL="0" indent="0">
              <a:buNone/>
              <a:defRPr sz="2400" b="1" i="0">
                <a:solidFill>
                  <a:srgbClr val="D2A43B"/>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0" y="2505075"/>
            <a:ext cx="5183188" cy="321206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3"/>
          <p:cNvSpPr>
            <a:spLocks noGrp="1"/>
          </p:cNvSpPr>
          <p:nvPr>
            <p:ph type="sldNum" sz="quarter" idx="12"/>
          </p:nvPr>
        </p:nvSpPr>
        <p:spPr>
          <a:xfrm>
            <a:off x="8610600" y="5809416"/>
            <a:ext cx="2743200" cy="365125"/>
          </a:xfrm>
        </p:spPr>
        <p:txBody>
          <a:bodyPr/>
          <a:lstStyle>
            <a:lvl1pPr>
              <a:defRPr b="0" i="0">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9353520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7"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27993175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80497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5183188" y="2057400"/>
            <a:ext cx="6172200" cy="3642646"/>
          </a:xfrm>
        </p:spPr>
        <p:txBody>
          <a:bodyPr/>
          <a:lstStyle>
            <a:lvl1pPr>
              <a:defRPr sz="3200">
                <a:latin typeface="Times New Roman" panose="02020603050405020304" pitchFamily="18" charset="0"/>
              </a:defRPr>
            </a:lvl1pPr>
            <a:lvl2pPr>
              <a:defRPr sz="2800">
                <a:latin typeface="Times New Roman" panose="02020603050405020304" pitchFamily="18" charset="0"/>
              </a:defRPr>
            </a:lvl2pPr>
            <a:lvl3pPr>
              <a:defRPr sz="2400">
                <a:latin typeface="Times New Roman" panose="02020603050405020304" pitchFamily="18" charset="0"/>
              </a:defRPr>
            </a:lvl3pPr>
            <a:lvl4pPr>
              <a:defRPr sz="2000">
                <a:latin typeface="Times New Roman" panose="02020603050405020304" pitchFamily="18" charset="0"/>
              </a:defRPr>
            </a:lvl4pPr>
            <a:lvl5pPr>
              <a:defRPr sz="2000">
                <a:latin typeface="Times New Roman" panose="02020603050405020304" pitchFamily="18"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642646"/>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3175623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5183188" y="2057400"/>
            <a:ext cx="6172200" cy="3642645"/>
          </a:xfrm>
        </p:spPr>
        <p:txBody>
          <a:bodyPr/>
          <a:lstStyle>
            <a:lvl1pPr marL="0" indent="0">
              <a:buNone/>
              <a:defRPr sz="3200">
                <a:latin typeface="Times New Roman" panose="02020603050405020304" pitchFamily="18"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642645"/>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pic>
        <p:nvPicPr>
          <p:cNvPr id="7" name="Picture 6">
            <a:extLst>
              <a:ext uri="{FF2B5EF4-FFF2-40B4-BE49-F238E27FC236}">
                <a16:creationId xmlns:a16="http://schemas.microsoft.com/office/drawing/2014/main" xmlns="" id="{89D8EE4B-A928-AF41-A818-5448DED387C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39165062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pic>
        <p:nvPicPr>
          <p:cNvPr id="2" name="Picture 1"/>
          <p:cNvPicPr>
            <a:picLocks noChangeAspect="1"/>
          </p:cNvPicPr>
          <p:nvPr userDrawn="1"/>
        </p:nvPicPr>
        <p:blipFill>
          <a:blip r:embed="rId3" cstate="print"/>
          <a:stretch>
            <a:fillRect/>
          </a:stretch>
        </p:blipFill>
        <p:spPr>
          <a:xfrm>
            <a:off x="7603958" y="541897"/>
            <a:ext cx="1795803" cy="544909"/>
          </a:xfrm>
          <a:prstGeom prst="rect">
            <a:avLst/>
          </a:prstGeom>
        </p:spPr>
      </p:pic>
    </p:spTree>
    <p:extLst>
      <p:ext uri="{BB962C8B-B14F-4D97-AF65-F5344CB8AC3E}">
        <p14:creationId xmlns:p14="http://schemas.microsoft.com/office/powerpoint/2010/main" val="36775092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slide" type="title">
  <p:cSld name="2_Title slide">
    <p:spTree>
      <p:nvGrpSpPr>
        <p:cNvPr id="1" name="Shape 9"/>
        <p:cNvGrpSpPr/>
        <p:nvPr/>
      </p:nvGrpSpPr>
      <p:grpSpPr>
        <a:xfrm>
          <a:off x="0" y="0"/>
          <a:ext cx="0" cy="0"/>
          <a:chOff x="0" y="0"/>
          <a:chExt cx="0" cy="0"/>
        </a:xfrm>
      </p:grpSpPr>
      <p:sp>
        <p:nvSpPr>
          <p:cNvPr id="10" name="Google Shape;10;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vi" smtClean="0"/>
              <a:pPr/>
              <a:t>‹#›</a:t>
            </a:fld>
            <a:endParaRPr lang="vi"/>
          </a:p>
        </p:txBody>
      </p:sp>
      <p:sp>
        <p:nvSpPr>
          <p:cNvPr id="11" name="Google Shape;11;p2"/>
          <p:cNvSpPr>
            <a:spLocks noGrp="1"/>
          </p:cNvSpPr>
          <p:nvPr>
            <p:ph type="pic" idx="2"/>
          </p:nvPr>
        </p:nvSpPr>
        <p:spPr>
          <a:xfrm>
            <a:off x="509151" y="2698833"/>
            <a:ext cx="4972400" cy="2784400"/>
          </a:xfrm>
          <a:prstGeom prst="rect">
            <a:avLst/>
          </a:prstGeom>
          <a:noFill/>
          <a:ln>
            <a:noFill/>
          </a:ln>
        </p:spPr>
      </p:sp>
      <p:pic>
        <p:nvPicPr>
          <p:cNvPr id="12" name="Google Shape;12;p2" descr="A black and yellow lines on a blue surface&#10;&#10;Description automatically generated"/>
          <p:cNvPicPr preferRelativeResize="0"/>
          <p:nvPr/>
        </p:nvPicPr>
        <p:blipFill rotWithShape="1">
          <a:blip r:embed="rId2">
            <a:alphaModFix/>
          </a:blip>
          <a:srcRect/>
          <a:stretch/>
        </p:blipFill>
        <p:spPr>
          <a:xfrm>
            <a:off x="8650521" y="4650486"/>
            <a:ext cx="3545983" cy="2207517"/>
          </a:xfrm>
          <a:prstGeom prst="rect">
            <a:avLst/>
          </a:prstGeom>
          <a:noFill/>
          <a:ln>
            <a:noFill/>
          </a:ln>
        </p:spPr>
      </p:pic>
      <p:sp>
        <p:nvSpPr>
          <p:cNvPr id="13" name="Google Shape;13;p2"/>
          <p:cNvSpPr txBox="1">
            <a:spLocks noGrp="1"/>
          </p:cNvSpPr>
          <p:nvPr>
            <p:ph type="title"/>
          </p:nvPr>
        </p:nvSpPr>
        <p:spPr>
          <a:xfrm>
            <a:off x="509167" y="439933"/>
            <a:ext cx="25232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DEA610"/>
              </a:buClr>
              <a:buSzPts val="2100"/>
              <a:buFont typeface="Montserrat"/>
              <a:buNone/>
              <a:defRPr sz="2800" b="1">
                <a:solidFill>
                  <a:srgbClr val="DEA610"/>
                </a:solidFill>
                <a:latin typeface="Montserrat"/>
                <a:ea typeface="Montserrat"/>
                <a:cs typeface="Montserrat"/>
                <a:sym typeface="Montserrat"/>
              </a:defRPr>
            </a:lvl1pPr>
            <a:lvl2pPr lvl="1">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2pPr>
            <a:lvl3pPr lvl="2">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3pPr>
            <a:lvl4pPr lvl="3">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4pPr>
            <a:lvl5pPr lvl="4">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5pPr>
            <a:lvl6pPr lvl="5">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6pPr>
            <a:lvl7pPr lvl="6">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7pPr>
            <a:lvl8pPr lvl="7">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8pPr>
            <a:lvl9pPr lvl="8">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9pPr>
          </a:lstStyle>
          <a:p>
            <a:endParaRPr/>
          </a:p>
        </p:txBody>
      </p:sp>
      <p:sp>
        <p:nvSpPr>
          <p:cNvPr id="14" name="Google Shape;14;p2"/>
          <p:cNvSpPr txBox="1">
            <a:spLocks noGrp="1"/>
          </p:cNvSpPr>
          <p:nvPr>
            <p:ph type="title" idx="3"/>
          </p:nvPr>
        </p:nvSpPr>
        <p:spPr>
          <a:xfrm>
            <a:off x="5736767"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5" name="Google Shape;15;p2"/>
          <p:cNvSpPr txBox="1">
            <a:spLocks noGrp="1"/>
          </p:cNvSpPr>
          <p:nvPr>
            <p:ph type="title" idx="4"/>
          </p:nvPr>
        </p:nvSpPr>
        <p:spPr>
          <a:xfrm>
            <a:off x="5736767"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6" name="Google Shape;16;p2"/>
          <p:cNvSpPr txBox="1">
            <a:spLocks noGrp="1"/>
          </p:cNvSpPr>
          <p:nvPr>
            <p:ph type="title" idx="5"/>
          </p:nvPr>
        </p:nvSpPr>
        <p:spPr>
          <a:xfrm>
            <a:off x="8777600"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7" name="Google Shape;17;p2"/>
          <p:cNvSpPr txBox="1">
            <a:spLocks noGrp="1"/>
          </p:cNvSpPr>
          <p:nvPr>
            <p:ph type="title" idx="6"/>
          </p:nvPr>
        </p:nvSpPr>
        <p:spPr>
          <a:xfrm>
            <a:off x="8777600"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8" name="Google Shape;18;p2"/>
          <p:cNvSpPr txBox="1">
            <a:spLocks noGrp="1"/>
          </p:cNvSpPr>
          <p:nvPr>
            <p:ph type="title" idx="7"/>
          </p:nvPr>
        </p:nvSpPr>
        <p:spPr>
          <a:xfrm>
            <a:off x="5736767"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9" name="Google Shape;19;p2"/>
          <p:cNvSpPr txBox="1">
            <a:spLocks noGrp="1"/>
          </p:cNvSpPr>
          <p:nvPr>
            <p:ph type="title" idx="8"/>
          </p:nvPr>
        </p:nvSpPr>
        <p:spPr>
          <a:xfrm>
            <a:off x="5736767"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20" name="Google Shape;20;p2"/>
          <p:cNvSpPr txBox="1">
            <a:spLocks noGrp="1"/>
          </p:cNvSpPr>
          <p:nvPr>
            <p:ph type="title" idx="9"/>
          </p:nvPr>
        </p:nvSpPr>
        <p:spPr>
          <a:xfrm>
            <a:off x="8777600"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21" name="Google Shape;21;p2"/>
          <p:cNvSpPr txBox="1">
            <a:spLocks noGrp="1"/>
          </p:cNvSpPr>
          <p:nvPr>
            <p:ph type="title" idx="13"/>
          </p:nvPr>
        </p:nvSpPr>
        <p:spPr>
          <a:xfrm>
            <a:off x="8777600"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Tree>
    <p:extLst>
      <p:ext uri="{BB962C8B-B14F-4D97-AF65-F5344CB8AC3E}">
        <p14:creationId xmlns:p14="http://schemas.microsoft.com/office/powerpoint/2010/main" val="2769774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78"/>
        <p:cNvGrpSpPr/>
        <p:nvPr/>
      </p:nvGrpSpPr>
      <p:grpSpPr>
        <a:xfrm>
          <a:off x="0" y="0"/>
          <a:ext cx="0" cy="0"/>
          <a:chOff x="0" y="0"/>
          <a:chExt cx="0" cy="0"/>
        </a:xfrm>
      </p:grpSpPr>
      <p:sp>
        <p:nvSpPr>
          <p:cNvPr id="79" name="Google Shape;79;g31ccdae391d_0_417"/>
          <p:cNvSpPr txBox="1">
            <a:spLocks noGrp="1"/>
          </p:cNvSpPr>
          <p:nvPr>
            <p:ph type="body" idx="1"/>
          </p:nvPr>
        </p:nvSpPr>
        <p:spPr>
          <a:xfrm>
            <a:off x="838200" y="1825626"/>
            <a:ext cx="10515600" cy="388290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Montserrat"/>
                <a:ea typeface="Montserrat"/>
                <a:cs typeface="Montserrat"/>
                <a:sym typeface="Montserrat"/>
              </a:defRPr>
            </a:lvl1pPr>
            <a:lvl2pPr marL="914400" lvl="1" indent="-381000" algn="l">
              <a:lnSpc>
                <a:spcPct val="90000"/>
              </a:lnSpc>
              <a:spcBef>
                <a:spcPts val="500"/>
              </a:spcBef>
              <a:spcAft>
                <a:spcPts val="0"/>
              </a:spcAft>
              <a:buClr>
                <a:schemeClr val="dk1"/>
              </a:buClr>
              <a:buSzPts val="2400"/>
              <a:buChar char="•"/>
              <a:defRPr>
                <a:latin typeface="Montserrat"/>
                <a:ea typeface="Montserrat"/>
                <a:cs typeface="Montserrat"/>
                <a:sym typeface="Montserrat"/>
              </a:defRPr>
            </a:lvl2pPr>
            <a:lvl3pPr marL="1371600" lvl="2" indent="-355600" algn="l">
              <a:lnSpc>
                <a:spcPct val="90000"/>
              </a:lnSpc>
              <a:spcBef>
                <a:spcPts val="500"/>
              </a:spcBef>
              <a:spcAft>
                <a:spcPts val="0"/>
              </a:spcAft>
              <a:buClr>
                <a:schemeClr val="dk1"/>
              </a:buClr>
              <a:buSzPts val="2000"/>
              <a:buChar char="•"/>
              <a:defRPr>
                <a:latin typeface="Montserrat"/>
                <a:ea typeface="Montserrat"/>
                <a:cs typeface="Montserrat"/>
                <a:sym typeface="Montserrat"/>
              </a:defRPr>
            </a:lvl3pPr>
            <a:lvl4pPr marL="1828800" lvl="3" indent="-342900" algn="l">
              <a:lnSpc>
                <a:spcPct val="90000"/>
              </a:lnSpc>
              <a:spcBef>
                <a:spcPts val="500"/>
              </a:spcBef>
              <a:spcAft>
                <a:spcPts val="0"/>
              </a:spcAft>
              <a:buClr>
                <a:schemeClr val="dk1"/>
              </a:buClr>
              <a:buSzPts val="1800"/>
              <a:buChar char="•"/>
              <a:defRPr>
                <a:latin typeface="Montserrat"/>
                <a:ea typeface="Montserrat"/>
                <a:cs typeface="Montserrat"/>
                <a:sym typeface="Montserrat"/>
              </a:defRPr>
            </a:lvl4pPr>
            <a:lvl5pPr marL="2286000" lvl="4" indent="-342900" algn="l">
              <a:lnSpc>
                <a:spcPct val="90000"/>
              </a:lnSpc>
              <a:spcBef>
                <a:spcPts val="500"/>
              </a:spcBef>
              <a:spcAft>
                <a:spcPts val="0"/>
              </a:spcAft>
              <a:buClr>
                <a:schemeClr val="dk1"/>
              </a:buClr>
              <a:buSzPts val="1800"/>
              <a:buChar char="•"/>
              <a:defRPr>
                <a:latin typeface="Montserrat"/>
                <a:ea typeface="Montserrat"/>
                <a:cs typeface="Montserrat"/>
                <a:sym typeface="Montserrat"/>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g31ccdae391d_0_41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D2A43B"/>
              </a:buClr>
              <a:buSzPts val="4400"/>
              <a:buFont typeface="Montserrat"/>
              <a:buNone/>
              <a:defRPr b="1" i="0">
                <a:solidFill>
                  <a:srgbClr val="D2A43B"/>
                </a:solidFill>
                <a:latin typeface="Montserrat"/>
                <a:ea typeface="Montserrat"/>
                <a:cs typeface="Montserrat"/>
                <a:sym typeface="Montserra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g31ccdae391d_0_417"/>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6995373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9"/>
        <p:cNvGrpSpPr/>
        <p:nvPr/>
      </p:nvGrpSpPr>
      <p:grpSpPr>
        <a:xfrm>
          <a:off x="0" y="0"/>
          <a:ext cx="0" cy="0"/>
          <a:chOff x="0" y="0"/>
          <a:chExt cx="0" cy="0"/>
        </a:xfrm>
      </p:grpSpPr>
      <p:sp>
        <p:nvSpPr>
          <p:cNvPr id="10" name="Google Shape;10;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vi" smtClean="0"/>
              <a:pPr/>
              <a:t>‹#›</a:t>
            </a:fld>
            <a:endParaRPr lang="vi"/>
          </a:p>
        </p:txBody>
      </p:sp>
      <p:sp>
        <p:nvSpPr>
          <p:cNvPr id="11" name="Google Shape;11;p2"/>
          <p:cNvSpPr>
            <a:spLocks noGrp="1"/>
          </p:cNvSpPr>
          <p:nvPr>
            <p:ph type="pic" idx="2"/>
          </p:nvPr>
        </p:nvSpPr>
        <p:spPr>
          <a:xfrm>
            <a:off x="509151" y="2698833"/>
            <a:ext cx="4972400" cy="2784400"/>
          </a:xfrm>
          <a:prstGeom prst="rect">
            <a:avLst/>
          </a:prstGeom>
          <a:noFill/>
          <a:ln>
            <a:noFill/>
          </a:ln>
        </p:spPr>
      </p:sp>
      <p:pic>
        <p:nvPicPr>
          <p:cNvPr id="12" name="Google Shape;12;p2" descr="A black and yellow lines on a blue surface&#10;&#10;Description automatically generated"/>
          <p:cNvPicPr preferRelativeResize="0"/>
          <p:nvPr/>
        </p:nvPicPr>
        <p:blipFill rotWithShape="1">
          <a:blip r:embed="rId2">
            <a:alphaModFix/>
          </a:blip>
          <a:srcRect/>
          <a:stretch/>
        </p:blipFill>
        <p:spPr>
          <a:xfrm>
            <a:off x="8650521" y="4650486"/>
            <a:ext cx="3545983" cy="2207517"/>
          </a:xfrm>
          <a:prstGeom prst="rect">
            <a:avLst/>
          </a:prstGeom>
          <a:noFill/>
          <a:ln>
            <a:noFill/>
          </a:ln>
        </p:spPr>
      </p:pic>
      <p:sp>
        <p:nvSpPr>
          <p:cNvPr id="13" name="Google Shape;13;p2"/>
          <p:cNvSpPr txBox="1">
            <a:spLocks noGrp="1"/>
          </p:cNvSpPr>
          <p:nvPr>
            <p:ph type="title"/>
          </p:nvPr>
        </p:nvSpPr>
        <p:spPr>
          <a:xfrm>
            <a:off x="509167" y="439933"/>
            <a:ext cx="25232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DEA610"/>
              </a:buClr>
              <a:buSzPts val="2100"/>
              <a:buFont typeface="Montserrat"/>
              <a:buNone/>
              <a:defRPr sz="2800" b="1">
                <a:solidFill>
                  <a:srgbClr val="DEA610"/>
                </a:solidFill>
                <a:latin typeface="Montserrat"/>
                <a:ea typeface="Montserrat"/>
                <a:cs typeface="Montserrat"/>
                <a:sym typeface="Montserrat"/>
              </a:defRPr>
            </a:lvl1pPr>
            <a:lvl2pPr lvl="1">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2pPr>
            <a:lvl3pPr lvl="2">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3pPr>
            <a:lvl4pPr lvl="3">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4pPr>
            <a:lvl5pPr lvl="4">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5pPr>
            <a:lvl6pPr lvl="5">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6pPr>
            <a:lvl7pPr lvl="6">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7pPr>
            <a:lvl8pPr lvl="7">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8pPr>
            <a:lvl9pPr lvl="8">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9pPr>
          </a:lstStyle>
          <a:p>
            <a:endParaRPr/>
          </a:p>
        </p:txBody>
      </p:sp>
      <p:sp>
        <p:nvSpPr>
          <p:cNvPr id="14" name="Google Shape;14;p2"/>
          <p:cNvSpPr txBox="1">
            <a:spLocks noGrp="1"/>
          </p:cNvSpPr>
          <p:nvPr>
            <p:ph type="title" idx="3"/>
          </p:nvPr>
        </p:nvSpPr>
        <p:spPr>
          <a:xfrm>
            <a:off x="5736767"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5" name="Google Shape;15;p2"/>
          <p:cNvSpPr txBox="1">
            <a:spLocks noGrp="1"/>
          </p:cNvSpPr>
          <p:nvPr>
            <p:ph type="title" idx="4"/>
          </p:nvPr>
        </p:nvSpPr>
        <p:spPr>
          <a:xfrm>
            <a:off x="5736767"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6" name="Google Shape;16;p2"/>
          <p:cNvSpPr txBox="1">
            <a:spLocks noGrp="1"/>
          </p:cNvSpPr>
          <p:nvPr>
            <p:ph type="title" idx="5"/>
          </p:nvPr>
        </p:nvSpPr>
        <p:spPr>
          <a:xfrm>
            <a:off x="8777600"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7" name="Google Shape;17;p2"/>
          <p:cNvSpPr txBox="1">
            <a:spLocks noGrp="1"/>
          </p:cNvSpPr>
          <p:nvPr>
            <p:ph type="title" idx="6"/>
          </p:nvPr>
        </p:nvSpPr>
        <p:spPr>
          <a:xfrm>
            <a:off x="8777600"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8" name="Google Shape;18;p2"/>
          <p:cNvSpPr txBox="1">
            <a:spLocks noGrp="1"/>
          </p:cNvSpPr>
          <p:nvPr>
            <p:ph type="title" idx="7"/>
          </p:nvPr>
        </p:nvSpPr>
        <p:spPr>
          <a:xfrm>
            <a:off x="5736767"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9" name="Google Shape;19;p2"/>
          <p:cNvSpPr txBox="1">
            <a:spLocks noGrp="1"/>
          </p:cNvSpPr>
          <p:nvPr>
            <p:ph type="title" idx="8"/>
          </p:nvPr>
        </p:nvSpPr>
        <p:spPr>
          <a:xfrm>
            <a:off x="5736767"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20" name="Google Shape;20;p2"/>
          <p:cNvSpPr txBox="1">
            <a:spLocks noGrp="1"/>
          </p:cNvSpPr>
          <p:nvPr>
            <p:ph type="title" idx="9"/>
          </p:nvPr>
        </p:nvSpPr>
        <p:spPr>
          <a:xfrm>
            <a:off x="8777600"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21" name="Google Shape;21;p2"/>
          <p:cNvSpPr txBox="1">
            <a:spLocks noGrp="1"/>
          </p:cNvSpPr>
          <p:nvPr>
            <p:ph type="title" idx="13"/>
          </p:nvPr>
        </p:nvSpPr>
        <p:spPr>
          <a:xfrm>
            <a:off x="8777600"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Tree>
    <p:extLst>
      <p:ext uri="{BB962C8B-B14F-4D97-AF65-F5344CB8AC3E}">
        <p14:creationId xmlns:p14="http://schemas.microsoft.com/office/powerpoint/2010/main" val="1671437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defRPr>
            </a:lvl1pPr>
          </a:lstStyle>
          <a:p>
            <a:fld id="{EE876FE3-6897-AC45-A781-6CFE41690726}" type="datetime1">
              <a:rPr lang="en-US" smtClean="0">
                <a:solidFill>
                  <a:prstClr val="black">
                    <a:tint val="75000"/>
                  </a:prstClr>
                </a:solidFill>
              </a:rPr>
              <a:pPr/>
              <a:t>12-Jan-25</a:t>
            </a:fld>
            <a:endParaRPr lang="en-US" dirty="0">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defRPr>
            </a:lvl1pPr>
          </a:lstStyle>
          <a:p>
            <a:fld id="{6C6B6B8D-D74E-47CD-B5EE-156060B7CD17}"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133946212"/>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74" r:id="rId10"/>
    <p:sldLayoutId id="214748370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lvl="0" algn="r">
              <a:buNone/>
              <a:defRPr sz="1333">
                <a:solidFill>
                  <a:schemeClr val="dk2"/>
                </a:solidFill>
              </a:defRPr>
            </a:lvl1pPr>
            <a:lvl2pPr lvl="1" algn="r">
              <a:buNone/>
              <a:defRPr sz="1333">
                <a:solidFill>
                  <a:schemeClr val="dk2"/>
                </a:solidFill>
              </a:defRPr>
            </a:lvl2pPr>
            <a:lvl3pPr lvl="2" algn="r">
              <a:buNone/>
              <a:defRPr sz="1333">
                <a:solidFill>
                  <a:schemeClr val="dk2"/>
                </a:solidFill>
              </a:defRPr>
            </a:lvl3pPr>
            <a:lvl4pPr lvl="3" algn="r">
              <a:buNone/>
              <a:defRPr sz="1333">
                <a:solidFill>
                  <a:schemeClr val="dk2"/>
                </a:solidFill>
              </a:defRPr>
            </a:lvl4pPr>
            <a:lvl5pPr lvl="4" algn="r">
              <a:buNone/>
              <a:defRPr sz="1333">
                <a:solidFill>
                  <a:schemeClr val="dk2"/>
                </a:solidFill>
              </a:defRPr>
            </a:lvl5pPr>
            <a:lvl6pPr lvl="5" algn="r">
              <a:buNone/>
              <a:defRPr sz="1333">
                <a:solidFill>
                  <a:schemeClr val="dk2"/>
                </a:solidFill>
              </a:defRPr>
            </a:lvl6pPr>
            <a:lvl7pPr lvl="6" algn="r">
              <a:buNone/>
              <a:defRPr sz="1333">
                <a:solidFill>
                  <a:schemeClr val="dk2"/>
                </a:solidFill>
              </a:defRPr>
            </a:lvl7pPr>
            <a:lvl8pPr lvl="7" algn="r">
              <a:buNone/>
              <a:defRPr sz="1333">
                <a:solidFill>
                  <a:schemeClr val="dk2"/>
                </a:solidFill>
              </a:defRPr>
            </a:lvl8pPr>
            <a:lvl9pPr lvl="8" algn="r">
              <a:buNone/>
              <a:defRPr sz="1333">
                <a:solidFill>
                  <a:schemeClr val="dk2"/>
                </a:solidFill>
              </a:defRPr>
            </a:lvl9pPr>
          </a:lstStyle>
          <a:p>
            <a:fld id="{00000000-1234-1234-1234-123412341234}" type="slidenum">
              <a:rPr lang="vi" smtClean="0"/>
              <a:pPr/>
              <a:t>‹#›</a:t>
            </a:fld>
            <a:endParaRPr lang="vi"/>
          </a:p>
        </p:txBody>
      </p:sp>
    </p:spTree>
    <p:extLst>
      <p:ext uri="{BB962C8B-B14F-4D97-AF65-F5344CB8AC3E}">
        <p14:creationId xmlns:p14="http://schemas.microsoft.com/office/powerpoint/2010/main" val="3466801450"/>
      </p:ext>
    </p:extLst>
  </p:cSld>
  <p:clrMap bg1="lt1" tx1="dk1" bg2="dk2" tx2="lt2" accent1="accent1" accent2="accent2" accent3="accent3" accent4="accent4" accent5="accent5" accent6="accent6" hlink="hlink" folHlink="folHlink"/>
  <p:sldLayoutIdLst>
    <p:sldLayoutId id="2147483677"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0.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3.xml"/><Relationship Id="rId1" Type="http://schemas.openxmlformats.org/officeDocument/2006/relationships/slideLayout" Target="../slideLayouts/slideLayout10.xml"/><Relationship Id="rId4" Type="http://schemas.openxmlformats.org/officeDocument/2006/relationships/chart" Target="../charts/chart6.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0.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0.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0.xml"/><Relationship Id="rId5" Type="http://schemas.openxmlformats.org/officeDocument/2006/relationships/image" Target="../media/image12.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chart" Target="../charts/chart13.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2" Type="http://schemas.openxmlformats.org/officeDocument/2006/relationships/chart" Target="../charts/chart14.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notesSlide" Target="../notesSlides/notesSlide35.xml"/><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6.xml"/><Relationship Id="rId1" Type="http://schemas.openxmlformats.org/officeDocument/2006/relationships/slideLayout" Target="../slideLayouts/slideLayout10.xml"/><Relationship Id="rId4" Type="http://schemas.openxmlformats.org/officeDocument/2006/relationships/chart" Target="../charts/chart16.xml"/></Relationships>
</file>

<file path=ppt/slides/_rels/slide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7.xml"/><Relationship Id="rId1" Type="http://schemas.openxmlformats.org/officeDocument/2006/relationships/slideLayout" Target="../slideLayouts/slideLayout10.xml"/><Relationship Id="rId4" Type="http://schemas.openxmlformats.org/officeDocument/2006/relationships/chart" Target="../charts/chart17.xml"/></Relationships>
</file>

<file path=ppt/slides/_rels/slide4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8.xml"/><Relationship Id="rId1" Type="http://schemas.openxmlformats.org/officeDocument/2006/relationships/slideLayout" Target="../slideLayouts/slideLayout10.xml"/><Relationship Id="rId4" Type="http://schemas.openxmlformats.org/officeDocument/2006/relationships/chart" Target="../charts/chart18.xml"/></Relationships>
</file>

<file path=ppt/slides/_rels/slide5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9.xml"/><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0.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5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1.xml"/><Relationship Id="rId1" Type="http://schemas.openxmlformats.org/officeDocument/2006/relationships/slideLayout" Target="../slideLayouts/slideLayout11.xml"/></Relationships>
</file>

<file path=ppt/slides/_rels/slide5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2.xml"/><Relationship Id="rId1" Type="http://schemas.openxmlformats.org/officeDocument/2006/relationships/slideLayout" Target="../slideLayouts/slideLayout11.xml"/></Relationships>
</file>

<file path=ppt/slides/_rels/slide5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3.xml"/><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4.xml"/><Relationship Id="rId1" Type="http://schemas.openxmlformats.org/officeDocument/2006/relationships/slideLayout" Target="../slideLayouts/slideLayout11.xml"/></Relationships>
</file>

<file path=ppt/slides/_rels/slide5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5.xml"/><Relationship Id="rId1" Type="http://schemas.openxmlformats.org/officeDocument/2006/relationships/slideLayout" Target="../slideLayouts/slideLayout11.xml"/></Relationships>
</file>

<file path=ppt/slides/_rels/slide5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6.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5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7.xml"/><Relationship Id="rId1" Type="http://schemas.openxmlformats.org/officeDocument/2006/relationships/slideLayout" Target="../slideLayouts/slideLayout11.xml"/></Relationships>
</file>

<file path=ppt/slides/_rels/slide5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8.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6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9.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6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0.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6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2.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3.xml"/><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4.xml"/><Relationship Id="rId1" Type="http://schemas.openxmlformats.org/officeDocument/2006/relationships/slideLayout" Target="../slideLayouts/slideLayout11.xml"/></Relationships>
</file>

<file path=ppt/slides/_rels/slide6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5.xml"/><Relationship Id="rId1" Type="http://schemas.openxmlformats.org/officeDocument/2006/relationships/slideLayout" Target="../slideLayouts/slideLayout11.xml"/></Relationships>
</file>

<file path=ppt/slides/_rels/slide6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6.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6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7.xml"/><Relationship Id="rId1" Type="http://schemas.openxmlformats.org/officeDocument/2006/relationships/slideLayout" Target="../slideLayouts/slideLayout11.xml"/></Relationships>
</file>

<file path=ppt/slides/_rels/slide6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8.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7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9.xml"/><Relationship Id="rId1" Type="http://schemas.openxmlformats.org/officeDocument/2006/relationships/slideLayout" Target="../slideLayouts/slideLayout11.xml"/></Relationships>
</file>

<file path=ppt/slides/_rels/slide7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0.xml"/><Relationship Id="rId1" Type="http://schemas.openxmlformats.org/officeDocument/2006/relationships/slideLayout" Target="../slideLayouts/slideLayout11.xml"/><Relationship Id="rId5" Type="http://schemas.openxmlformats.org/officeDocument/2006/relationships/image" Target="../media/image4.png"/><Relationship Id="rId4" Type="http://schemas.openxmlformats.org/officeDocument/2006/relationships/image" Target="../media/image22.png"/></Relationships>
</file>

<file path=ppt/slides/_rels/slide7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1.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
        <p:cNvGrpSpPr/>
        <p:nvPr/>
      </p:nvGrpSpPr>
      <p:grpSpPr>
        <a:xfrm>
          <a:off x="0" y="0"/>
          <a:ext cx="0" cy="0"/>
          <a:chOff x="0" y="0"/>
          <a:chExt cx="0" cy="0"/>
        </a:xfrm>
      </p:grpSpPr>
      <p:pic>
        <p:nvPicPr>
          <p:cNvPr id="26" name="Google Shape;26;p3" descr="A blue background with yellow lines&#10;&#10;Description automatically generated"/>
          <p:cNvPicPr preferRelativeResize="0"/>
          <p:nvPr/>
        </p:nvPicPr>
        <p:blipFill rotWithShape="1">
          <a:blip r:embed="rId3">
            <a:alphaModFix/>
          </a:blip>
          <a:srcRect/>
          <a:stretch/>
        </p:blipFill>
        <p:spPr>
          <a:xfrm>
            <a:off x="1" y="9197"/>
            <a:ext cx="12191999" cy="6972297"/>
          </a:xfrm>
          <a:prstGeom prst="rect">
            <a:avLst/>
          </a:prstGeom>
          <a:noFill/>
          <a:ln>
            <a:noFill/>
          </a:ln>
        </p:spPr>
      </p:pic>
      <p:pic>
        <p:nvPicPr>
          <p:cNvPr id="28" name="Google Shape;28;p3" descr="A white text on a black background&#10;&#10;Description automatically generated"/>
          <p:cNvPicPr preferRelativeResize="0"/>
          <p:nvPr/>
        </p:nvPicPr>
        <p:blipFill rotWithShape="1">
          <a:blip r:embed="rId4">
            <a:alphaModFix/>
          </a:blip>
          <a:srcRect/>
          <a:stretch/>
        </p:blipFill>
        <p:spPr>
          <a:xfrm>
            <a:off x="615360" y="508566"/>
            <a:ext cx="2833825" cy="462665"/>
          </a:xfrm>
          <a:prstGeom prst="rect">
            <a:avLst/>
          </a:prstGeom>
          <a:noFill/>
          <a:ln>
            <a:noFill/>
          </a:ln>
        </p:spPr>
      </p:pic>
      <p:sp>
        <p:nvSpPr>
          <p:cNvPr id="30" name="Google Shape;30;p3"/>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vi"/>
              <a:pPr/>
              <a:t>0</a:t>
            </a:fld>
            <a:endParaRPr/>
          </a:p>
        </p:txBody>
      </p:sp>
      <p:sp>
        <p:nvSpPr>
          <p:cNvPr id="7" name="Title 1"/>
          <p:cNvSpPr>
            <a:spLocks noGrp="1"/>
          </p:cNvSpPr>
          <p:nvPr>
            <p:ph type="title"/>
          </p:nvPr>
        </p:nvSpPr>
        <p:spPr>
          <a:xfrm>
            <a:off x="584880" y="2667000"/>
            <a:ext cx="10417006" cy="2067564"/>
          </a:xfrm>
        </p:spPr>
        <p:txBody>
          <a:bodyPr>
            <a:normAutofit/>
          </a:bodyPr>
          <a:lstStyle/>
          <a:p>
            <a:pPr algn="ctr">
              <a:lnSpc>
                <a:spcPct val="150000"/>
              </a:lnSpc>
            </a:pPr>
            <a:r>
              <a:rPr lang="en-US" sz="4000" dirty="0">
                <a:solidFill>
                  <a:srgbClr val="D1930F"/>
                </a:solidFill>
                <a:latin typeface="Times New Roman" panose="02020603050405020304" pitchFamily="18" charset="0"/>
                <a:ea typeface="MS PGothic" panose="020B0600070205080204" pitchFamily="34" charset="-128"/>
                <a:cs typeface="Times New Roman" panose="02020603050405020304" pitchFamily="18" charset="0"/>
              </a:rPr>
              <a:t>BÁO CÁO KỸ THUẬT</a:t>
            </a:r>
            <a:r>
              <a:rPr lang="vi-VN" sz="4000" dirty="0">
                <a:solidFill>
                  <a:schemeClr val="accent2"/>
                </a:solidFill>
                <a:latin typeface="Times New Roman" panose="02020603050405020304" pitchFamily="18" charset="0"/>
                <a:ea typeface="MS PGothic" panose="020B0600070205080204" pitchFamily="34" charset="-128"/>
                <a:cs typeface="Times New Roman" panose="02020603050405020304" pitchFamily="18" charset="0"/>
              </a:rPr>
              <a:t/>
            </a:r>
            <a:br>
              <a:rPr lang="vi-VN" sz="4000" dirty="0">
                <a:solidFill>
                  <a:schemeClr val="accent2"/>
                </a:solidFill>
                <a:latin typeface="Times New Roman" panose="02020603050405020304" pitchFamily="18" charset="0"/>
                <a:ea typeface="MS PGothic" panose="020B0600070205080204" pitchFamily="34" charset="-128"/>
                <a:cs typeface="Times New Roman" panose="02020603050405020304" pitchFamily="18" charset="0"/>
              </a:rPr>
            </a:br>
            <a:r>
              <a:rPr lang="vi-VN" sz="4000" dirty="0">
                <a:solidFill>
                  <a:srgbClr val="D1930F"/>
                </a:solidFill>
                <a:latin typeface="Times New Roman" panose="02020603050405020304" pitchFamily="18" charset="0"/>
                <a:ea typeface="MS PGothic" panose="020B0600070205080204" pitchFamily="34" charset="-128"/>
                <a:cs typeface="Times New Roman" panose="02020603050405020304" pitchFamily="18" charset="0"/>
              </a:rPr>
              <a:t>(Tuần </a:t>
            </a:r>
            <a:r>
              <a:rPr lang="en-US" sz="4000" dirty="0" smtClean="0">
                <a:solidFill>
                  <a:srgbClr val="D1930F"/>
                </a:solidFill>
                <a:latin typeface="Times New Roman" panose="02020603050405020304" pitchFamily="18" charset="0"/>
                <a:ea typeface="MS PGothic" panose="020B0600070205080204" pitchFamily="34" charset="-128"/>
                <a:cs typeface="Times New Roman" panose="02020603050405020304" pitchFamily="18" charset="0"/>
              </a:rPr>
              <a:t>02</a:t>
            </a:r>
            <a:r>
              <a:rPr lang="vi-VN" sz="4000" dirty="0" smtClean="0">
                <a:solidFill>
                  <a:srgbClr val="D1930F"/>
                </a:solidFill>
                <a:latin typeface="Times New Roman" panose="02020603050405020304" pitchFamily="18" charset="0"/>
                <a:ea typeface="MS PGothic" panose="020B0600070205080204" pitchFamily="34" charset="-128"/>
                <a:cs typeface="Times New Roman" panose="02020603050405020304" pitchFamily="18" charset="0"/>
              </a:rPr>
              <a:t>: </a:t>
            </a:r>
            <a:r>
              <a:rPr lang="en-US" sz="4000" dirty="0" smtClean="0">
                <a:solidFill>
                  <a:srgbClr val="D1930F"/>
                </a:solidFill>
                <a:latin typeface="Times New Roman" panose="02020603050405020304" pitchFamily="18" charset="0"/>
                <a:ea typeface="MS PGothic" panose="020B0600070205080204" pitchFamily="34" charset="-128"/>
                <a:cs typeface="Times New Roman" panose="02020603050405020304" pitchFamily="18" charset="0"/>
              </a:rPr>
              <a:t>06</a:t>
            </a:r>
            <a:r>
              <a:rPr lang="en-US" sz="4000" dirty="0" smtClean="0">
                <a:solidFill>
                  <a:srgbClr val="D1930F"/>
                </a:solidFill>
                <a:latin typeface="Times New Roman" panose="02020603050405020304" pitchFamily="18" charset="0"/>
                <a:ea typeface="MS PGothic" panose="020B0600070205080204" pitchFamily="34" charset="-128"/>
                <a:cs typeface="Times New Roman" panose="02020603050405020304" pitchFamily="18" charset="0"/>
              </a:rPr>
              <a:t>/01/2025</a:t>
            </a:r>
            <a:r>
              <a:rPr lang="vi-VN" sz="4000" dirty="0" smtClean="0">
                <a:solidFill>
                  <a:srgbClr val="D1930F"/>
                </a:solidFill>
                <a:latin typeface="Times New Roman" panose="02020603050405020304" pitchFamily="18" charset="0"/>
                <a:ea typeface="MS PGothic" panose="020B0600070205080204" pitchFamily="34" charset="-128"/>
                <a:cs typeface="Times New Roman" panose="02020603050405020304" pitchFamily="18" charset="0"/>
              </a:rPr>
              <a:t> </a:t>
            </a:r>
            <a:r>
              <a:rPr lang="vi-VN" sz="4000" dirty="0">
                <a:solidFill>
                  <a:srgbClr val="D1930F"/>
                </a:solidFill>
                <a:latin typeface="Times New Roman" panose="02020603050405020304" pitchFamily="18" charset="0"/>
                <a:ea typeface="MS PGothic" panose="020B0600070205080204" pitchFamily="34" charset="-128"/>
                <a:cs typeface="Times New Roman" panose="02020603050405020304" pitchFamily="18" charset="0"/>
              </a:rPr>
              <a:t>– </a:t>
            </a:r>
            <a:r>
              <a:rPr lang="en-US" sz="4000" dirty="0" smtClean="0">
                <a:solidFill>
                  <a:srgbClr val="D1930F"/>
                </a:solidFill>
                <a:latin typeface="Times New Roman" panose="02020603050405020304" pitchFamily="18" charset="0"/>
                <a:ea typeface="MS PGothic" panose="020B0600070205080204" pitchFamily="34" charset="-128"/>
                <a:cs typeface="Times New Roman" panose="02020603050405020304" pitchFamily="18" charset="0"/>
              </a:rPr>
              <a:t>12</a:t>
            </a:r>
            <a:r>
              <a:rPr lang="vi-VN" sz="4000" dirty="0" smtClean="0">
                <a:solidFill>
                  <a:srgbClr val="D1930F"/>
                </a:solidFill>
                <a:latin typeface="Times New Roman" panose="02020603050405020304" pitchFamily="18" charset="0"/>
                <a:ea typeface="MS PGothic" panose="020B0600070205080204" pitchFamily="34" charset="-128"/>
                <a:cs typeface="Times New Roman" panose="02020603050405020304" pitchFamily="18" charset="0"/>
              </a:rPr>
              <a:t>/</a:t>
            </a:r>
            <a:r>
              <a:rPr lang="en-US" sz="4000" dirty="0" smtClean="0">
                <a:solidFill>
                  <a:srgbClr val="D1930F"/>
                </a:solidFill>
                <a:latin typeface="Times New Roman" panose="02020603050405020304" pitchFamily="18" charset="0"/>
                <a:ea typeface="MS PGothic" panose="020B0600070205080204" pitchFamily="34" charset="-128"/>
                <a:cs typeface="Times New Roman" panose="02020603050405020304" pitchFamily="18" charset="0"/>
              </a:rPr>
              <a:t>01</a:t>
            </a:r>
            <a:r>
              <a:rPr lang="vi-VN" sz="4000" dirty="0" smtClean="0">
                <a:solidFill>
                  <a:srgbClr val="D1930F"/>
                </a:solidFill>
                <a:latin typeface="Times New Roman" panose="02020603050405020304" pitchFamily="18" charset="0"/>
                <a:ea typeface="MS PGothic" panose="020B0600070205080204" pitchFamily="34" charset="-128"/>
                <a:cs typeface="Times New Roman" panose="02020603050405020304" pitchFamily="18" charset="0"/>
              </a:rPr>
              <a:t>/202</a:t>
            </a:r>
            <a:r>
              <a:rPr lang="en-US" sz="4000" dirty="0" smtClean="0">
                <a:solidFill>
                  <a:srgbClr val="D1930F"/>
                </a:solidFill>
                <a:latin typeface="Times New Roman" panose="02020603050405020304" pitchFamily="18" charset="0"/>
                <a:ea typeface="MS PGothic" panose="020B0600070205080204" pitchFamily="34" charset="-128"/>
                <a:cs typeface="Times New Roman" panose="02020603050405020304" pitchFamily="18" charset="0"/>
              </a:rPr>
              <a:t>5</a:t>
            </a:r>
            <a:r>
              <a:rPr lang="vi-VN" sz="4000" dirty="0" smtClean="0">
                <a:solidFill>
                  <a:srgbClr val="D1930F"/>
                </a:solidFill>
                <a:latin typeface="Times New Roman" panose="02020603050405020304" pitchFamily="18" charset="0"/>
                <a:ea typeface="MS PGothic" panose="020B0600070205080204" pitchFamily="34" charset="-128"/>
                <a:cs typeface="Times New Roman" panose="02020603050405020304" pitchFamily="18" charset="0"/>
              </a:rPr>
              <a:t>)</a:t>
            </a:r>
            <a:endParaRPr lang="en-US" sz="4000" dirty="0">
              <a:solidFill>
                <a:srgbClr val="D1930F"/>
              </a:solidFill>
              <a:latin typeface="Times New Roman" panose="02020603050405020304" pitchFamily="18" charset="0"/>
              <a:ea typeface="MS PGothic"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31133719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1</a:t>
            </a:fld>
            <a:endParaRPr lang="en-US"/>
          </a:p>
        </p:txBody>
      </p:sp>
      <p:sp>
        <p:nvSpPr>
          <p:cNvPr id="5" name="Title 4"/>
          <p:cNvSpPr>
            <a:spLocks noGrp="1"/>
          </p:cNvSpPr>
          <p:nvPr>
            <p:ph type="title"/>
          </p:nvPr>
        </p:nvSpPr>
        <p:spPr>
          <a:xfrm>
            <a:off x="509166" y="439933"/>
            <a:ext cx="7415633" cy="815200"/>
          </a:xfrm>
        </p:spPr>
        <p:txBody>
          <a:bodyPr>
            <a:noAutofit/>
          </a:bodyPr>
          <a:lstStyle/>
          <a:p>
            <a:r>
              <a:rPr lang="en-US" sz="2800" dirty="0" err="1">
                <a:ln w="0"/>
                <a:solidFill>
                  <a:schemeClr val="accent4"/>
                </a:solidFill>
                <a:latin typeface="Times New Roman" panose="02020603050405020304" pitchFamily="18" charset="0"/>
                <a:cs typeface="Times New Roman" panose="02020603050405020304" pitchFamily="18" charset="0"/>
              </a:rPr>
              <a:t>Tổng</a:t>
            </a:r>
            <a:r>
              <a:rPr lang="en-US" sz="2800" dirty="0">
                <a:ln w="0"/>
                <a:solidFill>
                  <a:schemeClr val="accent4"/>
                </a:solidFill>
                <a:latin typeface="Times New Roman" panose="02020603050405020304" pitchFamily="18" charset="0"/>
                <a:cs typeface="Times New Roman" panose="02020603050405020304" pitchFamily="18" charset="0"/>
              </a:rPr>
              <a:t> </a:t>
            </a:r>
            <a:r>
              <a:rPr lang="en-US" sz="2800" dirty="0" err="1">
                <a:ln w="0"/>
                <a:solidFill>
                  <a:schemeClr val="accent4"/>
                </a:solidFill>
                <a:latin typeface="Times New Roman" panose="02020603050405020304" pitchFamily="18" charset="0"/>
                <a:cs typeface="Times New Roman" panose="02020603050405020304" pitchFamily="18" charset="0"/>
              </a:rPr>
              <a:t>hợp</a:t>
            </a:r>
            <a:r>
              <a:rPr lang="en-US" sz="2800" dirty="0">
                <a:ln w="0"/>
                <a:solidFill>
                  <a:schemeClr val="accent4"/>
                </a:solidFill>
                <a:latin typeface="Times New Roman" panose="02020603050405020304" pitchFamily="18" charset="0"/>
                <a:cs typeface="Times New Roman" panose="02020603050405020304" pitchFamily="18" charset="0"/>
              </a:rPr>
              <a:t> AOG, Delay </a:t>
            </a:r>
            <a:r>
              <a:rPr lang="en-US" sz="2800" dirty="0" err="1">
                <a:ln w="0"/>
                <a:solidFill>
                  <a:schemeClr val="accent4"/>
                </a:solidFill>
                <a:latin typeface="Times New Roman" panose="02020603050405020304" pitchFamily="18" charset="0"/>
                <a:cs typeface="Times New Roman" panose="02020603050405020304" pitchFamily="18" charset="0"/>
              </a:rPr>
              <a:t>và</a:t>
            </a:r>
            <a:r>
              <a:rPr lang="en-US" sz="2800" dirty="0">
                <a:ln w="0"/>
                <a:solidFill>
                  <a:schemeClr val="accent4"/>
                </a:solidFill>
                <a:latin typeface="Times New Roman" panose="02020603050405020304" pitchFamily="18" charset="0"/>
                <a:cs typeface="Times New Roman" panose="02020603050405020304" pitchFamily="18" charset="0"/>
              </a:rPr>
              <a:t> GTB/ATB/DIV</a:t>
            </a:r>
            <a:endParaRPr lang="vi-VN" sz="28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11" name="Chart 10">
            <a:extLst>
              <a:ext uri="{FF2B5EF4-FFF2-40B4-BE49-F238E27FC236}">
                <a16:creationId xmlns:lc="http://schemas.openxmlformats.org/drawingml/2006/lockedCanvas" xmlns:a16="http://schemas.microsoft.com/office/drawing/2014/main" xmlns:xdr="http://schemas.openxmlformats.org/drawingml/2006/spreadsheetDrawing" xmlns="" id="{00000000-0008-0000-0900-000005000000}"/>
              </a:ext>
            </a:extLst>
          </p:cNvPr>
          <p:cNvGraphicFramePr>
            <a:graphicFrameLocks/>
          </p:cNvGraphicFramePr>
          <p:nvPr>
            <p:extLst>
              <p:ext uri="{D42A27DB-BD31-4B8C-83A1-F6EECF244321}">
                <p14:modId xmlns:p14="http://schemas.microsoft.com/office/powerpoint/2010/main" val="2003543171"/>
              </p:ext>
            </p:extLst>
          </p:nvPr>
        </p:nvGraphicFramePr>
        <p:xfrm>
          <a:off x="1374960" y="3837376"/>
          <a:ext cx="4176000" cy="2376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2" name="Chart 11">
            <a:extLst>
              <a:ext uri="{FF2B5EF4-FFF2-40B4-BE49-F238E27FC236}">
                <a16:creationId xmlns:lc="http://schemas.openxmlformats.org/drawingml/2006/lockedCanvas" xmlns:a16="http://schemas.microsoft.com/office/drawing/2014/main" xmlns:xdr="http://schemas.openxmlformats.org/drawingml/2006/spreadsheetDrawing" xmlns="" id="{00000000-0008-0000-0900-00000F000000}"/>
              </a:ext>
            </a:extLst>
          </p:cNvPr>
          <p:cNvGraphicFramePr>
            <a:graphicFrameLocks/>
          </p:cNvGraphicFramePr>
          <p:nvPr>
            <p:extLst>
              <p:ext uri="{D42A27DB-BD31-4B8C-83A1-F6EECF244321}">
                <p14:modId xmlns:p14="http://schemas.microsoft.com/office/powerpoint/2010/main" val="945755727"/>
              </p:ext>
            </p:extLst>
          </p:nvPr>
        </p:nvGraphicFramePr>
        <p:xfrm>
          <a:off x="1371600" y="1103701"/>
          <a:ext cx="4176000" cy="2376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4" name="Chart 13">
            <a:extLst>
              <a:ext uri="{FF2B5EF4-FFF2-40B4-BE49-F238E27FC236}">
                <a16:creationId xmlns:lc="http://schemas.openxmlformats.org/drawingml/2006/lockedCanvas" xmlns:a16="http://schemas.microsoft.com/office/drawing/2014/main" xmlns:xdr="http://schemas.openxmlformats.org/drawingml/2006/spreadsheetDrawing" xmlns="" id="{8347F7AA-5E77-475C-B68E-49E6EF5DA0A7}"/>
              </a:ext>
            </a:extLst>
          </p:cNvPr>
          <p:cNvGraphicFramePr>
            <a:graphicFrameLocks/>
          </p:cNvGraphicFramePr>
          <p:nvPr>
            <p:extLst>
              <p:ext uri="{D42A27DB-BD31-4B8C-83A1-F6EECF244321}">
                <p14:modId xmlns:p14="http://schemas.microsoft.com/office/powerpoint/2010/main" val="1395137958"/>
              </p:ext>
            </p:extLst>
          </p:nvPr>
        </p:nvGraphicFramePr>
        <p:xfrm>
          <a:off x="6007938" y="3846105"/>
          <a:ext cx="4176000" cy="237600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8" name="Chart 7">
            <a:extLst>
              <a:ext uri="{FF2B5EF4-FFF2-40B4-BE49-F238E27FC236}">
                <a16:creationId xmlns:lc="http://schemas.openxmlformats.org/drawingml/2006/lockedCanvas" xmlns="" xmlns:a16="http://schemas.microsoft.com/office/drawing/2014/main" xmlns:xdr="http://schemas.openxmlformats.org/drawingml/2006/spreadsheetDrawing" id="{00000000-0008-0000-0900-000004000000}"/>
              </a:ext>
            </a:extLst>
          </p:cNvPr>
          <p:cNvGraphicFramePr>
            <a:graphicFrameLocks/>
          </p:cNvGraphicFramePr>
          <p:nvPr>
            <p:extLst>
              <p:ext uri="{D42A27DB-BD31-4B8C-83A1-F6EECF244321}">
                <p14:modId xmlns:p14="http://schemas.microsoft.com/office/powerpoint/2010/main" val="1690690111"/>
              </p:ext>
            </p:extLst>
          </p:nvPr>
        </p:nvGraphicFramePr>
        <p:xfrm>
          <a:off x="6019800" y="1066800"/>
          <a:ext cx="4176000" cy="2376000"/>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1905199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2</a:t>
            </a:fld>
            <a:endParaRPr lang="en-US"/>
          </a:p>
        </p:txBody>
      </p:sp>
      <p:sp>
        <p:nvSpPr>
          <p:cNvPr id="5" name="Title 4"/>
          <p:cNvSpPr>
            <a:spLocks noGrp="1"/>
          </p:cNvSpPr>
          <p:nvPr>
            <p:ph type="title"/>
          </p:nvPr>
        </p:nvSpPr>
        <p:spPr>
          <a:xfrm>
            <a:off x="1143000" y="419332"/>
            <a:ext cx="9982200" cy="815200"/>
          </a:xfrm>
        </p:spPr>
        <p:txBody>
          <a:bodyPr>
            <a:normAutofit/>
          </a:bodyPr>
          <a:lstStyle/>
          <a:p>
            <a:r>
              <a:rPr lang="en-US" sz="2800" dirty="0">
                <a:ln w="0"/>
                <a:solidFill>
                  <a:srgbClr val="FFC000"/>
                </a:solidFill>
                <a:latin typeface="Times New Roman" panose="02020603050405020304" pitchFamily="18" charset="0"/>
                <a:cs typeface="Times New Roman" panose="02020603050405020304" pitchFamily="18" charset="0"/>
              </a:rPr>
              <a:t>ATB/GTB Comparison</a:t>
            </a:r>
            <a:endParaRPr lang="vi-VN" sz="2800" dirty="0">
              <a:ln w="0"/>
              <a:solidFill>
                <a:srgbClr val="FFC000"/>
              </a:solidFill>
              <a:latin typeface="Times New Roman" panose="02020603050405020304" pitchFamily="18" charset="0"/>
              <a:cs typeface="Times New Roman" panose="02020603050405020304" pitchFamily="18" charset="0"/>
            </a:endParaRPr>
          </a:p>
        </p:txBody>
      </p:sp>
      <p:graphicFrame>
        <p:nvGraphicFramePr>
          <p:cNvPr id="6" name="Chart 5">
            <a:extLst>
              <a:ext uri="{FF2B5EF4-FFF2-40B4-BE49-F238E27FC236}">
                <a16:creationId xmlns:lc="http://schemas.openxmlformats.org/drawingml/2006/lockedCanvas" xmlns:a16="http://schemas.microsoft.com/office/drawing/2014/main" xmlns:xdr="http://schemas.openxmlformats.org/drawingml/2006/spreadsheetDrawing" xmlns="" id="{00000000-0008-0000-0600-000004000000}"/>
              </a:ext>
            </a:extLst>
          </p:cNvPr>
          <p:cNvGraphicFramePr>
            <a:graphicFrameLocks/>
          </p:cNvGraphicFramePr>
          <p:nvPr>
            <p:extLst>
              <p:ext uri="{D42A27DB-BD31-4B8C-83A1-F6EECF244321}">
                <p14:modId xmlns:p14="http://schemas.microsoft.com/office/powerpoint/2010/main" val="1174496091"/>
              </p:ext>
            </p:extLst>
          </p:nvPr>
        </p:nvGraphicFramePr>
        <p:xfrm>
          <a:off x="1167172" y="1007963"/>
          <a:ext cx="9603316" cy="2794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Chart 7">
            <a:extLst>
              <a:ext uri="{FF2B5EF4-FFF2-40B4-BE49-F238E27FC236}">
                <a16:creationId xmlns:lc="http://schemas.openxmlformats.org/drawingml/2006/lockedCanvas" xmlns:a16="http://schemas.microsoft.com/office/drawing/2014/main" xmlns:xdr="http://schemas.openxmlformats.org/drawingml/2006/spreadsheetDrawing" xmlns="" id="{00000000-0008-0000-0600-000005000000}"/>
              </a:ext>
            </a:extLst>
          </p:cNvPr>
          <p:cNvGraphicFramePr>
            <a:graphicFrameLocks/>
          </p:cNvGraphicFramePr>
          <p:nvPr>
            <p:extLst>
              <p:ext uri="{D42A27DB-BD31-4B8C-83A1-F6EECF244321}">
                <p14:modId xmlns:p14="http://schemas.microsoft.com/office/powerpoint/2010/main" val="1156503723"/>
              </p:ext>
            </p:extLst>
          </p:nvPr>
        </p:nvGraphicFramePr>
        <p:xfrm>
          <a:off x="1165412" y="3978705"/>
          <a:ext cx="9593011" cy="2790612"/>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768755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Slide Number Placeholder 3"/>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52452E6-5DF7-4F8A-959D-4B1DD34CA726}" type="slidenum">
              <a:rPr kumimoji="0" lang="en-US" altLang="en-US" sz="1200" b="0" i="0" u="none" strike="noStrike" kern="1200" cap="none" spc="0" normalizeH="0" baseline="0" noProof="0" smtClean="0">
                <a:ln>
                  <a:noFill/>
                </a:ln>
                <a:solidFill>
                  <a:srgbClr val="D2A43B"/>
                </a:solidFill>
                <a:effectLst/>
                <a:uLnTx/>
                <a:uFillTx/>
                <a:latin typeface="Montserra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D2A43B"/>
              </a:solidFill>
              <a:effectLst/>
              <a:uLnTx/>
              <a:uFillTx/>
              <a:latin typeface="Montserrat"/>
              <a:ea typeface="+mn-ea"/>
              <a:cs typeface="+mn-cs"/>
            </a:endParaRPr>
          </a:p>
        </p:txBody>
      </p:sp>
      <p:sp>
        <p:nvSpPr>
          <p:cNvPr id="21506" name="Title 4"/>
          <p:cNvSpPr>
            <a:spLocks noGrp="1"/>
          </p:cNvSpPr>
          <p:nvPr>
            <p:ph type="title"/>
          </p:nvPr>
        </p:nvSpPr>
        <p:spPr>
          <a:xfrm>
            <a:off x="537454" y="76200"/>
            <a:ext cx="4520033" cy="815200"/>
          </a:xfrm>
        </p:spPr>
        <p:txBody>
          <a:bodyPr>
            <a:normAutofit/>
          </a:bodyPr>
          <a:lstStyle/>
          <a:p>
            <a:pPr algn="ctr" eaLnBrk="1" hangingPunct="1"/>
            <a:r>
              <a:rPr lang="en-US" altLang="en-US" sz="2800" dirty="0" err="1">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Các</a:t>
            </a:r>
            <a:r>
              <a:rPr lang="en-US"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
            </a:r>
            <a:r>
              <a:rPr lang="en-US" altLang="en-US" sz="2800" dirty="0" err="1">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sự</a:t>
            </a:r>
            <a:r>
              <a:rPr lang="en-US"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
            </a:r>
            <a:r>
              <a:rPr lang="en-US" altLang="en-US" sz="2800" dirty="0" err="1">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kiện</a:t>
            </a:r>
            <a:r>
              <a:rPr lang="en-US"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ATB/GTB/DIV</a:t>
            </a:r>
            <a:endParaRPr lang="vi-VN"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xmlns="" id="{CFEE23C1-B7EA-476A-9DFD-176A034D5BAE}"/>
              </a:ext>
            </a:extLst>
          </p:cNvPr>
          <p:cNvSpPr txBox="1"/>
          <p:nvPr/>
        </p:nvSpPr>
        <p:spPr>
          <a:xfrm>
            <a:off x="228602" y="615269"/>
            <a:ext cx="11553282" cy="369332"/>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RTO</a:t>
            </a:r>
            <a:r>
              <a:rPr kumimoji="0" lang="en-US" sz="1800" b="1" i="0" u="none" strike="noStrike" kern="1200" cap="none" spc="0" normalizeH="0" baseline="0" noProof="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vi-VN" sz="1800" b="1" i="0" u="none" strike="noStrike" kern="1200" cap="none" spc="0" normalizeH="0" baseline="0" noProof="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lang="en-US" b="1">
                <a:solidFill>
                  <a:prstClr val="black"/>
                </a:solidFill>
                <a:latin typeface="Times New Roman" panose="02020603050405020304" pitchFamily="18" charset="0"/>
                <a:ea typeface="MS PGothic" pitchFamily="34" charset="-128"/>
                <a:cs typeface="Times New Roman" panose="02020603050405020304" pitchFamily="18" charset="0"/>
              </a:rPr>
              <a:t>0</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ATB</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00</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GTB</a:t>
            </a:r>
            <a:r>
              <a:rPr kumimoji="0" lang="en-US" sz="1800" b="1" i="0" u="none" strike="noStrike" kern="1200" cap="none" spc="0" normalizeH="0" baseline="0" noProof="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02</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DIV: 00</a:t>
            </a:r>
          </a:p>
        </p:txBody>
      </p:sp>
      <p:graphicFrame>
        <p:nvGraphicFramePr>
          <p:cNvPr id="2" name="Table 1">
            <a:extLst>
              <a:ext uri="{FF2B5EF4-FFF2-40B4-BE49-F238E27FC236}">
                <a16:creationId xmlns:a16="http://schemas.microsoft.com/office/drawing/2014/main" xmlns="" id="{D1E0DBAF-BCB7-A84A-7D2E-B495D927554B}"/>
              </a:ext>
            </a:extLst>
          </p:cNvPr>
          <p:cNvGraphicFramePr>
            <a:graphicFrameLocks noGrp="1"/>
          </p:cNvGraphicFramePr>
          <p:nvPr>
            <p:extLst>
              <p:ext uri="{D42A27DB-BD31-4B8C-83A1-F6EECF244321}">
                <p14:modId xmlns:p14="http://schemas.microsoft.com/office/powerpoint/2010/main" val="773472629"/>
              </p:ext>
            </p:extLst>
          </p:nvPr>
        </p:nvGraphicFramePr>
        <p:xfrm>
          <a:off x="145501" y="1143000"/>
          <a:ext cx="11817899" cy="5539281"/>
        </p:xfrm>
        <a:graphic>
          <a:graphicData uri="http://schemas.openxmlformats.org/drawingml/2006/table">
            <a:tbl>
              <a:tblPr/>
              <a:tblGrid>
                <a:gridCol w="380998">
                  <a:extLst>
                    <a:ext uri="{9D8B030D-6E8A-4147-A177-3AD203B41FA5}">
                      <a16:colId xmlns:a16="http://schemas.microsoft.com/office/drawing/2014/main" xmlns="" val="2304385553"/>
                    </a:ext>
                  </a:extLst>
                </a:gridCol>
                <a:gridCol w="381000">
                  <a:extLst>
                    <a:ext uri="{9D8B030D-6E8A-4147-A177-3AD203B41FA5}">
                      <a16:colId xmlns:a16="http://schemas.microsoft.com/office/drawing/2014/main" xmlns="" val="3678562531"/>
                    </a:ext>
                  </a:extLst>
                </a:gridCol>
                <a:gridCol w="457200">
                  <a:extLst>
                    <a:ext uri="{9D8B030D-6E8A-4147-A177-3AD203B41FA5}">
                      <a16:colId xmlns:a16="http://schemas.microsoft.com/office/drawing/2014/main" xmlns="" val="4032930408"/>
                    </a:ext>
                  </a:extLst>
                </a:gridCol>
                <a:gridCol w="457200">
                  <a:extLst>
                    <a:ext uri="{9D8B030D-6E8A-4147-A177-3AD203B41FA5}">
                      <a16:colId xmlns:a16="http://schemas.microsoft.com/office/drawing/2014/main" xmlns="" val="3128753018"/>
                    </a:ext>
                  </a:extLst>
                </a:gridCol>
                <a:gridCol w="685800">
                  <a:extLst>
                    <a:ext uri="{9D8B030D-6E8A-4147-A177-3AD203B41FA5}">
                      <a16:colId xmlns:a16="http://schemas.microsoft.com/office/drawing/2014/main" xmlns="" val="3876792813"/>
                    </a:ext>
                  </a:extLst>
                </a:gridCol>
                <a:gridCol w="457200">
                  <a:extLst>
                    <a:ext uri="{9D8B030D-6E8A-4147-A177-3AD203B41FA5}">
                      <a16:colId xmlns:a16="http://schemas.microsoft.com/office/drawing/2014/main" xmlns="" val="1779862182"/>
                    </a:ext>
                  </a:extLst>
                </a:gridCol>
                <a:gridCol w="1143000">
                  <a:extLst>
                    <a:ext uri="{9D8B030D-6E8A-4147-A177-3AD203B41FA5}">
                      <a16:colId xmlns:a16="http://schemas.microsoft.com/office/drawing/2014/main" xmlns="" val="550419673"/>
                    </a:ext>
                  </a:extLst>
                </a:gridCol>
                <a:gridCol w="1524000">
                  <a:extLst>
                    <a:ext uri="{9D8B030D-6E8A-4147-A177-3AD203B41FA5}">
                      <a16:colId xmlns:a16="http://schemas.microsoft.com/office/drawing/2014/main" xmlns="" val="3321294906"/>
                    </a:ext>
                  </a:extLst>
                </a:gridCol>
                <a:gridCol w="313090">
                  <a:extLst>
                    <a:ext uri="{9D8B030D-6E8A-4147-A177-3AD203B41FA5}">
                      <a16:colId xmlns:a16="http://schemas.microsoft.com/office/drawing/2014/main" xmlns="" val="3863235633"/>
                    </a:ext>
                  </a:extLst>
                </a:gridCol>
                <a:gridCol w="6018411">
                  <a:extLst>
                    <a:ext uri="{9D8B030D-6E8A-4147-A177-3AD203B41FA5}">
                      <a16:colId xmlns:a16="http://schemas.microsoft.com/office/drawing/2014/main" xmlns="" val="3389094716"/>
                    </a:ext>
                  </a:extLst>
                </a:gridCol>
              </a:tblGrid>
              <a:tr h="135489">
                <a:tc>
                  <a:txBody>
                    <a:bodyPr/>
                    <a:lstStyle/>
                    <a:p>
                      <a:pPr algn="ctr" fontAlgn="ctr"/>
                      <a:r>
                        <a:rPr lang="en-US" sz="1000" b="0" i="0" u="none" strike="noStrike" dirty="0">
                          <a:solidFill>
                            <a:srgbClr val="000000"/>
                          </a:solidFill>
                          <a:effectLst/>
                          <a:latin typeface="Times New Roman" panose="02020603050405020304" pitchFamily="18" charset="0"/>
                          <a:cs typeface="Times New Roman" panose="02020603050405020304" pitchFamily="18" charset="0"/>
                        </a:rPr>
                        <a:t>A/C</a:t>
                      </a:r>
                    </a:p>
                  </a:txBody>
                  <a:tcPr marL="3351" marR="3351" marT="3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STA</a:t>
                      </a:r>
                    </a:p>
                  </a:txBody>
                  <a:tcPr marL="3351" marR="3351" marT="3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FLT NO</a:t>
                      </a:r>
                    </a:p>
                  </a:txBody>
                  <a:tcPr marL="3351" marR="3351" marT="3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ROUTE</a:t>
                      </a:r>
                    </a:p>
                  </a:txBody>
                  <a:tcPr marL="3351" marR="3351" marT="3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DATE</a:t>
                      </a:r>
                    </a:p>
                  </a:txBody>
                  <a:tcPr marL="3351" marR="3351" marT="3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EVENT</a:t>
                      </a:r>
                    </a:p>
                  </a:txBody>
                  <a:tcPr marL="3351" marR="3351" marT="3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REASON</a:t>
                      </a:r>
                    </a:p>
                  </a:txBody>
                  <a:tcPr marL="3351" marR="3351" marT="3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ACTION TAKEN</a:t>
                      </a:r>
                    </a:p>
                  </a:txBody>
                  <a:tcPr marL="3351" marR="3351" marT="3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dirty="0">
                          <a:solidFill>
                            <a:srgbClr val="000000"/>
                          </a:solidFill>
                          <a:effectLst/>
                          <a:latin typeface="Times New Roman" panose="02020603050405020304" pitchFamily="18" charset="0"/>
                          <a:cs typeface="Times New Roman" panose="02020603050405020304" pitchFamily="18" charset="0"/>
                        </a:rPr>
                        <a:t>ATA</a:t>
                      </a:r>
                    </a:p>
                  </a:txBody>
                  <a:tcPr marL="3351" marR="3351" marT="3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3351" marR="3351" marT="3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xmlns="" val="611015515"/>
                  </a:ext>
                </a:extLst>
              </a:tr>
              <a:tr h="1492533">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A899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VN240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 - 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09:33 09/01/2025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OGTB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DURING TAXI CAPT CALL VHF APPEAR MSG  "F/CTL STABILIZER"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FINAL ACTION: C/O MAINTENANCE AND RAISED MEL STABILIZER ELECTRICAL MOTOR E3.</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Times New Roman" panose="02020603050405020304" pitchFamily="18" charset="0"/>
                          <a:cs typeface="Times New Roman" panose="02020603050405020304" pitchFamily="18" charset="0"/>
                        </a:rPr>
                        <a:t>Hỏng hóc này xuất hiện lặp lại, nhưng chưa khắc phục triệt để.</a:t>
                      </a:r>
                      <a:br>
                        <a:rPr lang="vi-VN" sz="1100" b="0" i="0" u="none" strike="noStrike">
                          <a:solidFill>
                            <a:srgbClr val="000000"/>
                          </a:solidFill>
                          <a:effectLst/>
                          <a:latin typeface="Times New Roman" panose="02020603050405020304" pitchFamily="18" charset="0"/>
                          <a:cs typeface="Times New Roman" panose="02020603050405020304" pitchFamily="18" charset="0"/>
                        </a:rPr>
                      </a:br>
                      <a:r>
                        <a:rPr lang="vi-VN" sz="1100" b="0" i="0" u="none" strike="noStrike">
                          <a:solidFill>
                            <a:srgbClr val="000000"/>
                          </a:solidFill>
                          <a:effectLst/>
                          <a:latin typeface="Times New Roman" panose="02020603050405020304" pitchFamily="18" charset="0"/>
                          <a:cs typeface="Times New Roman" panose="02020603050405020304" pitchFamily="18" charset="0"/>
                        </a:rPr>
                        <a:t>Ngày 07.Dec.2024 =&gt; Do system test, MSG clear</a:t>
                      </a:r>
                      <a:br>
                        <a:rPr lang="vi-VN" sz="1100" b="0" i="0" u="none" strike="noStrike">
                          <a:solidFill>
                            <a:srgbClr val="000000"/>
                          </a:solidFill>
                          <a:effectLst/>
                          <a:latin typeface="Times New Roman" panose="02020603050405020304" pitchFamily="18" charset="0"/>
                          <a:cs typeface="Times New Roman" panose="02020603050405020304" pitchFamily="18" charset="0"/>
                        </a:rPr>
                      </a:br>
                      <a:r>
                        <a:rPr lang="vi-VN" sz="1100" b="0" i="0" u="none" strike="noStrike">
                          <a:solidFill>
                            <a:srgbClr val="000000"/>
                          </a:solidFill>
                          <a:effectLst/>
                          <a:latin typeface="Times New Roman" panose="02020603050405020304" pitchFamily="18" charset="0"/>
                          <a:cs typeface="Times New Roman" panose="02020603050405020304" pitchFamily="18" charset="0"/>
                        </a:rPr>
                        <a:t>Ngày 10.Dec.2024 =&gt; Hỏng hóc xuất hiện lại, raise ADD B960. </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p>
                      <a:pPr algn="l" fontAlgn="b"/>
                      <a:r>
                        <a:rPr lang="vi-VN" sz="1100" b="0" i="0" u="none" strike="noStrike">
                          <a:solidFill>
                            <a:srgbClr val="000000"/>
                          </a:solidFill>
                          <a:effectLst/>
                          <a:latin typeface="Times New Roman" panose="02020603050405020304" pitchFamily="18" charset="0"/>
                          <a:cs typeface="Times New Roman" panose="02020603050405020304" pitchFamily="18" charset="0"/>
                        </a:rPr>
                        <a:t>Ngày 13.Dec.2024,  REPLACE EMCU-THS ACTR,3 (101CH3), spare rob from A895 (BQDB)</a:t>
                      </a:r>
                      <a:br>
                        <a:rPr lang="vi-VN" sz="1100" b="0" i="0" u="none" strike="noStrike">
                          <a:solidFill>
                            <a:srgbClr val="000000"/>
                          </a:solidFill>
                          <a:effectLst/>
                          <a:latin typeface="Times New Roman" panose="02020603050405020304" pitchFamily="18" charset="0"/>
                          <a:cs typeface="Times New Roman" panose="02020603050405020304" pitchFamily="18" charset="0"/>
                        </a:rPr>
                      </a:br>
                      <a:r>
                        <a:rPr lang="vi-VN" sz="1100" b="0" i="0" u="none" strike="noStrike">
                          <a:solidFill>
                            <a:srgbClr val="000000"/>
                          </a:solidFill>
                          <a:effectLst/>
                          <a:latin typeface="Times New Roman" panose="02020603050405020304" pitchFamily="18" charset="0"/>
                          <a:cs typeface="Times New Roman" panose="02020603050405020304" pitchFamily="18" charset="0"/>
                        </a:rPr>
                        <a:t>Ngày 16.Dec.2024, Hỏng hóc xuất hiện lại raise ADD B963. Clean and check all connector of Harness 411CH FOUND OK. REPLACE EMCU-THS ACTR,3 (101CH3). Rob từ A898(BQDB)</a:t>
                      </a:r>
                      <a:br>
                        <a:rPr lang="vi-VN" sz="1100" b="0" i="0" u="none" strike="noStrike">
                          <a:solidFill>
                            <a:srgbClr val="000000"/>
                          </a:solidFill>
                          <a:effectLst/>
                          <a:latin typeface="Times New Roman" panose="02020603050405020304" pitchFamily="18" charset="0"/>
                          <a:cs typeface="Times New Roman" panose="02020603050405020304" pitchFamily="18" charset="0"/>
                        </a:rPr>
                      </a:br>
                      <a:r>
                        <a:rPr lang="vi-VN" sz="1100" b="0" i="0" u="none" strike="noStrike">
                          <a:solidFill>
                            <a:srgbClr val="000000"/>
                          </a:solidFill>
                          <a:effectLst/>
                          <a:latin typeface="Times New Roman" panose="02020603050405020304" pitchFamily="18" charset="0"/>
                          <a:cs typeface="Times New Roman" panose="02020603050405020304" pitchFamily="18" charset="0"/>
                        </a:rPr>
                        <a:t>Ngày 26.Dec.2024, Hỏng hóc xuất hiện lại raise ADD B969,  REPLACED THE ELECTRICAL HARNESS-THS ACTR,3(411CH) TO RECTIFY ADD </a:t>
                      </a:r>
                      <a:br>
                        <a:rPr lang="vi-VN" sz="1100" b="0" i="0" u="none" strike="noStrike">
                          <a:solidFill>
                            <a:srgbClr val="000000"/>
                          </a:solidFill>
                          <a:effectLst/>
                          <a:latin typeface="Times New Roman" panose="02020603050405020304" pitchFamily="18" charset="0"/>
                          <a:cs typeface="Times New Roman" panose="02020603050405020304" pitchFamily="18" charset="0"/>
                        </a:rPr>
                      </a:br>
                      <a:r>
                        <a:rPr lang="vi-VN" sz="1100" b="0" i="0" u="none" strike="noStrike">
                          <a:solidFill>
                            <a:srgbClr val="000000"/>
                          </a:solidFill>
                          <a:effectLst/>
                          <a:latin typeface="Times New Roman" panose="02020603050405020304" pitchFamily="18" charset="0"/>
                          <a:cs typeface="Times New Roman" panose="02020603050405020304" pitchFamily="18" charset="0"/>
                        </a:rPr>
                        <a:t>Ngày 09.Jan.2025, Hỏng hóc xuất hiện lại. raise ADD B797</a:t>
                      </a:r>
                      <a:br>
                        <a:rPr lang="vi-VN" sz="1100" b="0" i="0" u="none" strike="noStrike">
                          <a:solidFill>
                            <a:srgbClr val="000000"/>
                          </a:solidFill>
                          <a:effectLst/>
                          <a:latin typeface="Times New Roman" panose="02020603050405020304" pitchFamily="18" charset="0"/>
                          <a:cs typeface="Times New Roman" panose="02020603050405020304" pitchFamily="18" charset="0"/>
                        </a:rPr>
                      </a:br>
                      <a:r>
                        <a:rPr lang="vi-VN" sz="1100" b="1" i="0" u="none" strike="noStrike">
                          <a:solidFill>
                            <a:srgbClr val="000000"/>
                          </a:solidFill>
                          <a:effectLst/>
                          <a:latin typeface="Times New Roman" panose="02020603050405020304" pitchFamily="18" charset="0"/>
                          <a:cs typeface="Times New Roman" panose="02020603050405020304" pitchFamily="18" charset="0"/>
                        </a:rPr>
                        <a:t>Đang bố trí kế hoạch để thay khối MOTOR/BRAKE ASSY-THS ACTR, 201CH1, theo như hướng dẫn của AFI task và khuyến cáo của AIB TR 81512902.</a:t>
                      </a:r>
                      <a:endParaRPr lang="en-US" sz="1100" b="1" i="0" u="none" strike="noStrike">
                        <a:solidFill>
                          <a:srgbClr val="000000"/>
                        </a:solidFill>
                        <a:effectLst/>
                        <a:latin typeface="Times New Roman" panose="02020603050405020304" pitchFamily="18" charset="0"/>
                        <a:cs typeface="Times New Roman" panose="02020603050405020304" pitchFamily="18" charset="0"/>
                      </a:endParaRPr>
                    </a:p>
                    <a:p>
                      <a:pPr algn="l" fontAlgn="b"/>
                      <a:endParaRPr lang="vi-VN" sz="11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357491759"/>
                  </a:ext>
                </a:extLst>
              </a:tr>
              <a:tr h="677450">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A893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VN781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SGN -MEL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21:50 06/01/2025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OGTB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CAPT REPORT VIA VHF: </a:t>
                      </a:r>
                    </a:p>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FUEL CTR TK L PMP RUN CONTINOUSLY DURING TAXI </a:t>
                      </a:r>
                    </a:p>
                    <a:p>
                      <a:pPr algn="l" fontAlgn="b"/>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CAPT DECIED A/C GTB FOR CHECK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RPLD </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PRESS_SWITCH - STR TK PUMP 1. SATIS. DM GONE</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Times New Roman" panose="02020603050405020304" pitchFamily="18" charset="0"/>
                          <a:cs typeface="Times New Roman" panose="02020603050405020304" pitchFamily="18" charset="0"/>
                        </a:rPr>
                        <a:t>Hỏng hóc FUEL CTR TK L PMP RUN CONTINOUSLY, có FM:  PRESS SW -CTR TK PMP (105QA1)</a:t>
                      </a:r>
                      <a:r>
                        <a:rPr lang="en-US" sz="1100" b="0" i="0" u="none" strike="noStrike">
                          <a:solidFill>
                            <a:srgbClr val="000000"/>
                          </a:solidFill>
                          <a:effectLst/>
                          <a:latin typeface="Times New Roman" panose="02020603050405020304" pitchFamily="18" charset="0"/>
                          <a:cs typeface="Times New Roman" panose="02020603050405020304" pitchFamily="18" charset="0"/>
                        </a:rPr>
                        <a:t> </a:t>
                      </a:r>
                      <a:r>
                        <a:rPr lang="en-US" sz="1100" b="1" i="0" u="none" strike="noStrike">
                          <a:solidFill>
                            <a:srgbClr val="000000"/>
                          </a:solidFill>
                          <a:effectLst/>
                          <a:latin typeface="Times New Roman" panose="02020603050405020304" pitchFamily="18" charset="0"/>
                          <a:cs typeface="Times New Roman" panose="02020603050405020304" pitchFamily="18" charset="0"/>
                        </a:rPr>
                        <a:t>d</a:t>
                      </a:r>
                      <a:r>
                        <a:rPr lang="vi-VN" sz="1100" b="1" i="0" u="none" strike="noStrike">
                          <a:solidFill>
                            <a:srgbClr val="000000"/>
                          </a:solidFill>
                          <a:effectLst/>
                          <a:latin typeface="Times New Roman" panose="02020603050405020304" pitchFamily="18" charset="0"/>
                          <a:cs typeface="Times New Roman" panose="02020603050405020304" pitchFamily="18" charset="0"/>
                        </a:rPr>
                        <a:t>o Pressure switch (105QA1) P/N F7-1170-1. Đây là thiết bị cảm biến áp suất nhiên liệu</a:t>
                      </a:r>
                      <a:r>
                        <a:rPr lang="en-US" sz="1100" b="1" i="0" u="none" strike="noStrike">
                          <a:solidFill>
                            <a:srgbClr val="000000"/>
                          </a:solidFill>
                          <a:effectLst/>
                          <a:latin typeface="Times New Roman" panose="02020603050405020304" pitchFamily="18" charset="0"/>
                          <a:cs typeface="Times New Roman" panose="02020603050405020304" pitchFamily="18" charset="0"/>
                        </a:rPr>
                        <a:t>. </a:t>
                      </a:r>
                      <a:r>
                        <a:rPr lang="vi-VN" sz="1100" b="1" i="0" u="none" strike="noStrike">
                          <a:solidFill>
                            <a:srgbClr val="000000"/>
                          </a:solidFill>
                          <a:effectLst/>
                          <a:latin typeface="Times New Roman" panose="02020603050405020304" pitchFamily="18" charset="0"/>
                          <a:cs typeface="Times New Roman" panose="02020603050405020304" pitchFamily="18" charset="0"/>
                        </a:rPr>
                        <a:t/>
                      </a:r>
                      <a:br>
                        <a:rPr lang="vi-VN" sz="1100" b="1" i="0" u="none" strike="noStrike">
                          <a:solidFill>
                            <a:srgbClr val="000000"/>
                          </a:solidFill>
                          <a:effectLst/>
                          <a:latin typeface="Times New Roman" panose="02020603050405020304" pitchFamily="18" charset="0"/>
                          <a:cs typeface="Times New Roman" panose="02020603050405020304" pitchFamily="18" charset="0"/>
                        </a:rPr>
                      </a:br>
                      <a:r>
                        <a:rPr lang="vi-VN" sz="1100" b="1" i="0" u="none" strike="noStrike">
                          <a:solidFill>
                            <a:srgbClr val="000000"/>
                          </a:solidFill>
                          <a:effectLst/>
                          <a:latin typeface="Times New Roman" panose="02020603050405020304" pitchFamily="18" charset="0"/>
                          <a:cs typeface="Times New Roman" panose="02020603050405020304" pitchFamily="18" charset="0"/>
                        </a:rPr>
                        <a:t>Đây là lẩn đầu tiên xảy ra trên đội tàu bay A350 của VNA</a:t>
                      </a:r>
                      <a:r>
                        <a:rPr lang="vi-VN" sz="1100" b="0" i="0" u="none" strike="noStrike">
                          <a:solidFill>
                            <a:srgbClr val="000000"/>
                          </a:solidFill>
                          <a:effectLst/>
                          <a:latin typeface="Times New Roman" panose="02020603050405020304" pitchFamily="18" charset="0"/>
                          <a:cs typeface="Times New Roman" panose="02020603050405020304" pitchFamily="18" charset="0"/>
                        </a:rPr>
                        <a:t>. Tuy nhiên, trên worldwide, một số operator có ghi nhận cảnh báo Fuel Pump dẫn đến thay thế Pressure SW P/N F7-1170-1 này nhưng hầu hết đều là NFF khi gửi đi Shop.</a:t>
                      </a:r>
                      <a:br>
                        <a:rPr lang="vi-VN" sz="1100" b="0" i="0" u="none" strike="noStrike">
                          <a:solidFill>
                            <a:srgbClr val="000000"/>
                          </a:solidFill>
                          <a:effectLst/>
                          <a:latin typeface="Times New Roman" panose="02020603050405020304" pitchFamily="18" charset="0"/>
                          <a:cs typeface="Times New Roman" panose="02020603050405020304" pitchFamily="18" charset="0"/>
                        </a:rPr>
                      </a:b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p>
                      <a:pPr algn="l" fontAlgn="b"/>
                      <a:r>
                        <a:rPr lang="vi-VN" sz="1100" b="0" i="0" u="none" strike="noStrike">
                          <a:solidFill>
                            <a:srgbClr val="000000"/>
                          </a:solidFill>
                          <a:effectLst/>
                          <a:latin typeface="Times New Roman" panose="02020603050405020304" pitchFamily="18" charset="0"/>
                          <a:cs typeface="Times New Roman" panose="02020603050405020304" pitchFamily="18" charset="0"/>
                        </a:rPr>
                        <a:t>Airbus có ban hành TFU 28.21.00047 đề cập đến Pressure SW P/N F7-1170-1. Với thông tin như sau:</a:t>
                      </a:r>
                      <a:br>
                        <a:rPr lang="vi-VN" sz="1100" b="0" i="0" u="none" strike="noStrike">
                          <a:solidFill>
                            <a:srgbClr val="000000"/>
                          </a:solidFill>
                          <a:effectLst/>
                          <a:latin typeface="Times New Roman" panose="02020603050405020304" pitchFamily="18" charset="0"/>
                          <a:cs typeface="Times New Roman" panose="02020603050405020304" pitchFamily="18" charset="0"/>
                        </a:rPr>
                      </a:br>
                      <a:r>
                        <a:rPr lang="vi-VN" sz="1100" b="0" i="1" u="none" strike="noStrike">
                          <a:solidFill>
                            <a:srgbClr val="000000"/>
                          </a:solidFill>
                          <a:effectLst/>
                          <a:latin typeface="Times New Roman" panose="02020603050405020304" pitchFamily="18" charset="0"/>
                          <a:cs typeface="Times New Roman" panose="02020603050405020304" pitchFamily="18" charset="0"/>
                        </a:rPr>
                        <a:t>Airbus suspects freezing of the pressure switch to be causing the fault as a result of environmental factors (flight duration, outside air temperature, humidity). The fault disappearing on ground would be explained by the warming of the system.</a:t>
                      </a:r>
                      <a:br>
                        <a:rPr lang="vi-VN" sz="1100" b="0" i="1" u="none" strike="noStrike">
                          <a:solidFill>
                            <a:srgbClr val="000000"/>
                          </a:solidFill>
                          <a:effectLst/>
                          <a:latin typeface="Times New Roman" panose="02020603050405020304" pitchFamily="18" charset="0"/>
                          <a:cs typeface="Times New Roman" panose="02020603050405020304" pitchFamily="18" charset="0"/>
                        </a:rPr>
                      </a:br>
                      <a:r>
                        <a:rPr lang="vi-VN" sz="1100" b="0" i="1" u="none" strike="noStrike">
                          <a:solidFill>
                            <a:srgbClr val="000000"/>
                          </a:solidFill>
                          <a:effectLst/>
                          <a:latin typeface="Times New Roman" panose="02020603050405020304" pitchFamily="18" charset="0"/>
                          <a:cs typeface="Times New Roman" panose="02020603050405020304" pitchFamily="18" charset="0"/>
                        </a:rPr>
                        <a:t>Freezing may be occurring on the wet or dry side of the pressure switch, lab testing has proven that water accumulation on either side of the pressure switch is sufficient to replicate the fault. It was not possible to conclude if the wet or dry side is more affected in-service, but removed pressure switches showed signs of moisture on both the wet and dry side of the pressure switch.</a:t>
                      </a:r>
                      <a:r>
                        <a:rPr lang="vi-VN" sz="1100" b="0" i="0" u="none" strike="noStrike">
                          <a:solidFill>
                            <a:srgbClr val="000000"/>
                          </a:solidFill>
                          <a:effectLst/>
                          <a:latin typeface="Times New Roman" panose="02020603050405020304" pitchFamily="18" charset="0"/>
                          <a:cs typeface="Times New Roman" panose="02020603050405020304" pitchFamily="18" charset="0"/>
                        </a:rPr>
                        <a:t/>
                      </a:r>
                      <a:br>
                        <a:rPr lang="vi-VN" sz="1100" b="0" i="0" u="none" strike="noStrike">
                          <a:solidFill>
                            <a:srgbClr val="000000"/>
                          </a:solidFill>
                          <a:effectLst/>
                          <a:latin typeface="Times New Roman" panose="02020603050405020304" pitchFamily="18" charset="0"/>
                          <a:cs typeface="Times New Roman" panose="02020603050405020304" pitchFamily="18" charset="0"/>
                        </a:rPr>
                      </a:br>
                      <a:r>
                        <a:rPr lang="vi-VN" sz="1100" b="0" i="0" u="none" strike="noStrike">
                          <a:solidFill>
                            <a:srgbClr val="000000"/>
                          </a:solidFill>
                          <a:effectLst/>
                          <a:latin typeface="Times New Roman" panose="02020603050405020304" pitchFamily="18" charset="0"/>
                          <a:cs typeface="Times New Roman" panose="02020603050405020304" pitchFamily="18" charset="0"/>
                        </a:rPr>
                        <a:t/>
                      </a:r>
                      <a:br>
                        <a:rPr lang="vi-VN" sz="1100" b="0" i="0" u="none" strike="noStrike">
                          <a:solidFill>
                            <a:srgbClr val="000000"/>
                          </a:solidFill>
                          <a:effectLst/>
                          <a:latin typeface="Times New Roman" panose="02020603050405020304" pitchFamily="18" charset="0"/>
                          <a:cs typeface="Times New Roman" panose="02020603050405020304" pitchFamily="18" charset="0"/>
                        </a:rPr>
                      </a:br>
                      <a:r>
                        <a:rPr lang="vi-VN" sz="1100" b="1" i="0" u="none" strike="noStrike">
                          <a:solidFill>
                            <a:srgbClr val="000000"/>
                          </a:solidFill>
                          <a:effectLst/>
                          <a:latin typeface="Times New Roman" panose="02020603050405020304" pitchFamily="18" charset="0"/>
                          <a:cs typeface="Times New Roman" panose="02020603050405020304" pitchFamily="18" charset="0"/>
                        </a:rPr>
                        <a:t>Hiện tại, Airbus và Parker chưa có giải pháp nào cho hỏng hóc này. Chỉ khuyến cáo dự phòng</a:t>
                      </a:r>
                      <a:r>
                        <a:rPr lang="vi-VN" sz="1100" b="0" i="0" u="none" strike="noStrike">
                          <a:solidFill>
                            <a:srgbClr val="000000"/>
                          </a:solidFill>
                          <a:effectLst/>
                          <a:latin typeface="Times New Roman" panose="02020603050405020304" pitchFamily="18" charset="0"/>
                          <a:cs typeface="Times New Roman" panose="02020603050405020304" pitchFamily="18" charset="0"/>
                        </a:rPr>
                        <a:t>.</a:t>
                      </a:r>
                      <a:br>
                        <a:rPr lang="vi-VN" sz="1100" b="0" i="0" u="none" strike="noStrike">
                          <a:solidFill>
                            <a:srgbClr val="000000"/>
                          </a:solidFill>
                          <a:effectLst/>
                          <a:latin typeface="Times New Roman" panose="02020603050405020304" pitchFamily="18" charset="0"/>
                          <a:cs typeface="Times New Roman" panose="02020603050405020304" pitchFamily="18" charset="0"/>
                        </a:rPr>
                      </a:br>
                      <a:r>
                        <a:rPr lang="vi-VN" sz="1100" b="0" i="1" u="none" strike="noStrike">
                          <a:solidFill>
                            <a:srgbClr val="000000"/>
                          </a:solidFill>
                          <a:effectLst/>
                          <a:latin typeface="Times New Roman" panose="02020603050405020304" pitchFamily="18" charset="0"/>
                          <a:cs typeface="Times New Roman" panose="02020603050405020304" pitchFamily="18" charset="0"/>
                        </a:rPr>
                        <a:t>Mitigation actions are being studied to alleviate this issue at all pump positions. Currently an in-service evaluation is being carried out, updates will be shared here. These may be</a:t>
                      </a:r>
                      <a:r>
                        <a:rPr lang="en-US" sz="1100" b="0" i="1" u="none" strike="noStrike">
                          <a:solidFill>
                            <a:srgbClr val="000000"/>
                          </a:solidFill>
                          <a:effectLst/>
                          <a:latin typeface="Times New Roman" panose="02020603050405020304" pitchFamily="18" charset="0"/>
                          <a:cs typeface="Times New Roman" panose="02020603050405020304" pitchFamily="18" charset="0"/>
                        </a:rPr>
                        <a:t> similar.</a:t>
                      </a:r>
                      <a:r>
                        <a:rPr lang="vi-VN" sz="1100" b="0" i="1" u="none" strike="noStrike">
                          <a:solidFill>
                            <a:srgbClr val="000000"/>
                          </a:solidFill>
                          <a:effectLst/>
                          <a:latin typeface="Times New Roman" panose="02020603050405020304" pitchFamily="18" charset="0"/>
                          <a:cs typeface="Times New Roman" panose="02020603050405020304" pitchFamily="18" charset="0"/>
                        </a:rPr>
                        <a:t/>
                      </a:r>
                      <a:br>
                        <a:rPr lang="vi-VN" sz="1100" b="0" i="1" u="none" strike="noStrike">
                          <a:solidFill>
                            <a:srgbClr val="000000"/>
                          </a:solidFill>
                          <a:effectLst/>
                          <a:latin typeface="Times New Roman" panose="02020603050405020304" pitchFamily="18" charset="0"/>
                          <a:cs typeface="Times New Roman" panose="02020603050405020304" pitchFamily="18" charset="0"/>
                        </a:rPr>
                      </a:br>
                      <a:r>
                        <a:rPr lang="vi-VN" sz="1100" b="0" i="1" u="none" strike="noStrike">
                          <a:solidFill>
                            <a:srgbClr val="000000"/>
                          </a:solidFill>
                          <a:effectLst/>
                          <a:latin typeface="Times New Roman" panose="02020603050405020304" pitchFamily="18" charset="0"/>
                          <a:cs typeface="Times New Roman" panose="02020603050405020304" pitchFamily="18" charset="0"/>
                        </a:rPr>
                        <a:t>The solution will be a change of the pump operation logic to be implemented in FQMS v7, which is expected in 2026.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2423492769"/>
                  </a:ext>
                </a:extLst>
              </a:tr>
            </a:tbl>
          </a:graphicData>
        </a:graphic>
      </p:graphicFrame>
    </p:spTree>
    <p:custDataLst>
      <p:tags r:id="rId1"/>
    </p:custDataLst>
    <p:extLst>
      <p:ext uri="{BB962C8B-B14F-4D97-AF65-F5344CB8AC3E}">
        <p14:creationId xmlns:p14="http://schemas.microsoft.com/office/powerpoint/2010/main" val="2356036687"/>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6" name="Slide Number Placeholder 3"/>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pPr>
            <a:fld id="{6C6B6B8D-D74E-47CD-B5EE-156060B7CD17}" type="slidenum">
              <a:rPr kumimoji="0" lang="en-US" sz="1200" b="0" i="0" u="none" strike="noStrike" kern="1200" cap="none" spc="0" normalizeH="0" baseline="0" noProof="0" smtClean="0">
                <a:ln>
                  <a:noFill/>
                </a:ln>
                <a:solidFill>
                  <a:srgbClr val="D2A43B"/>
                </a:solidFill>
                <a:effectLst/>
                <a:uLnTx/>
                <a:uFillTx/>
                <a:latin typeface="Montserrat" pitchFamily="2" charset="77"/>
                <a:ea typeface="+mn-ea"/>
                <a:cs typeface="+mn-cs"/>
              </a:rPr>
              <a:t>4</a:t>
            </a:fld>
            <a:endParaRPr kumimoji="0" lang="en-US" sz="1200" b="0" i="0" u="none" strike="noStrike" kern="1200" cap="none" spc="0" normalizeH="0" baseline="0" noProof="0">
              <a:ln>
                <a:noFill/>
              </a:ln>
              <a:solidFill>
                <a:srgbClr val="D2A43B"/>
              </a:solidFill>
              <a:effectLst/>
              <a:uLnTx/>
              <a:uFillTx/>
              <a:latin typeface="Montserrat" pitchFamily="2" charset="77"/>
              <a:ea typeface="+mn-ea"/>
              <a:cs typeface="+mn-cs"/>
            </a:endParaRPr>
          </a:p>
        </p:txBody>
      </p:sp>
      <p:sp>
        <p:nvSpPr>
          <p:cNvPr id="1048595" name="Title 4"/>
          <p:cNvSpPr>
            <a:spLocks noGrp="1"/>
          </p:cNvSpPr>
          <p:nvPr>
            <p:ph type="title"/>
          </p:nvPr>
        </p:nvSpPr>
        <p:spPr>
          <a:xfrm>
            <a:off x="509166" y="439933"/>
            <a:ext cx="4901033" cy="815200"/>
          </a:xfrm>
        </p:spPr>
        <p:txBody>
          <a:bodyPr>
            <a:normAutofit/>
          </a:bodyPr>
          <a:lstStyle/>
          <a:p>
            <a:r>
              <a:rPr kumimoji="0" lang="en-US" sz="2800" b="1" i="0" u="none" strike="noStrike" kern="1200" cap="none" spc="0" normalizeH="0" baseline="0" noProof="0" dirty="0" err="1">
                <a:ln>
                  <a:noFill/>
                </a:ln>
                <a:solidFill>
                  <a:srgbClr val="FFC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Các</a:t>
            </a:r>
            <a:r>
              <a:rPr kumimoji="0" lang="en-US" sz="2800" b="1" i="0" u="none" strike="noStrike" kern="1200" cap="none" spc="0" normalizeH="0" baseline="0" noProof="0" dirty="0">
                <a:ln>
                  <a:noFill/>
                </a:ln>
                <a:solidFill>
                  <a:srgbClr val="FFC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2800" b="1" i="0" u="none" strike="noStrike" kern="1200" cap="none" spc="0" normalizeH="0" baseline="0" noProof="0" dirty="0" err="1">
                <a:ln>
                  <a:noFill/>
                </a:ln>
                <a:solidFill>
                  <a:srgbClr val="FFC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sự</a:t>
            </a:r>
            <a:r>
              <a:rPr kumimoji="0" lang="en-US" sz="2800" b="1" i="0" u="none" strike="noStrike" kern="1200" cap="none" spc="0" normalizeH="0" baseline="0" noProof="0" dirty="0">
                <a:ln>
                  <a:noFill/>
                </a:ln>
                <a:solidFill>
                  <a:srgbClr val="FFC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2800" b="1" i="0" u="none" strike="noStrike" kern="1200" cap="none" spc="0" normalizeH="0" baseline="0" noProof="0" dirty="0" err="1">
                <a:ln>
                  <a:noFill/>
                </a:ln>
                <a:solidFill>
                  <a:srgbClr val="FFC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kiện</a:t>
            </a:r>
            <a:r>
              <a:rPr kumimoji="0" lang="en-US" sz="2800" b="1" i="0" u="none" strike="noStrike" kern="1200" cap="none" spc="0" normalizeH="0" baseline="0" noProof="0" dirty="0">
                <a:ln>
                  <a:noFill/>
                </a:ln>
                <a:solidFill>
                  <a:srgbClr val="FFC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MOR</a:t>
            </a:r>
            <a:endParaRPr lang="vi-VN" sz="2800" dirty="0">
              <a:ln w="0"/>
              <a:solidFill>
                <a:srgbClr val="FFC000"/>
              </a:solidFill>
              <a:latin typeface="Times New Roman" panose="02020603050405020304" pitchFamily="18" charset="0"/>
              <a:cs typeface="Times New Roman" panose="02020603050405020304" pitchFamily="18" charset="0"/>
            </a:endParaRPr>
          </a:p>
        </p:txBody>
      </p:sp>
      <p:graphicFrame>
        <p:nvGraphicFramePr>
          <p:cNvPr id="3" name="Table 2"/>
          <p:cNvGraphicFramePr>
            <a:graphicFrameLocks noGrp="1"/>
          </p:cNvGraphicFramePr>
          <p:nvPr>
            <p:extLst>
              <p:ext uri="{D42A27DB-BD31-4B8C-83A1-F6EECF244321}">
                <p14:modId xmlns:p14="http://schemas.microsoft.com/office/powerpoint/2010/main" val="62500369"/>
              </p:ext>
            </p:extLst>
          </p:nvPr>
        </p:nvGraphicFramePr>
        <p:xfrm>
          <a:off x="509166" y="1066800"/>
          <a:ext cx="11073232" cy="4441579"/>
        </p:xfrm>
        <a:graphic>
          <a:graphicData uri="http://schemas.openxmlformats.org/drawingml/2006/table">
            <a:tbl>
              <a:tblPr/>
              <a:tblGrid>
                <a:gridCol w="414417"/>
                <a:gridCol w="414417"/>
                <a:gridCol w="472436"/>
                <a:gridCol w="447571"/>
                <a:gridCol w="513878"/>
                <a:gridCol w="414417"/>
                <a:gridCol w="471298"/>
                <a:gridCol w="457200"/>
                <a:gridCol w="2171344"/>
                <a:gridCol w="4881837"/>
                <a:gridCol w="414417"/>
              </a:tblGrid>
              <a:tr h="203666">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REG.</a:t>
                      </a:r>
                    </a:p>
                  </a:txBody>
                  <a:tcPr marL="4723" marR="4723" marT="47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FLEET</a:t>
                      </a:r>
                    </a:p>
                  </a:txBody>
                  <a:tcPr marL="4723" marR="4723" marT="47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YEAR</a:t>
                      </a:r>
                    </a:p>
                  </a:txBody>
                  <a:tcPr marL="4723" marR="4723" marT="47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MONTH</a:t>
                      </a:r>
                    </a:p>
                  </a:txBody>
                  <a:tcPr marL="4723" marR="4723" marT="47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DATE</a:t>
                      </a:r>
                    </a:p>
                  </a:txBody>
                  <a:tcPr marL="4723" marR="4723" marT="47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STA.</a:t>
                      </a:r>
                    </a:p>
                  </a:txBody>
                  <a:tcPr marL="4723" marR="4723" marT="47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FLIGHT</a:t>
                      </a:r>
                    </a:p>
                  </a:txBody>
                  <a:tcPr marL="4723" marR="4723" marT="47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DEP-ARV</a:t>
                      </a:r>
                    </a:p>
                  </a:txBody>
                  <a:tcPr marL="4723" marR="4723" marT="47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DEFECT</a:t>
                      </a:r>
                    </a:p>
                  </a:txBody>
                  <a:tcPr marL="4723" marR="4723" marT="47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CORRECTIVE ACTION</a:t>
                      </a:r>
                    </a:p>
                  </a:txBody>
                  <a:tcPr marL="4723" marR="4723" marT="47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ATA</a:t>
                      </a:r>
                    </a:p>
                  </a:txBody>
                  <a:tcPr marL="4723" marR="4723" marT="47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r>
              <a:tr h="814663">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A899</a:t>
                      </a:r>
                    </a:p>
                  </a:txBody>
                  <a:tcPr marL="4723" marR="4723" marT="47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A350</a:t>
                      </a:r>
                    </a:p>
                  </a:txBody>
                  <a:tcPr marL="4723" marR="4723" marT="47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2025</a:t>
                      </a:r>
                    </a:p>
                  </a:txBody>
                  <a:tcPr marL="4723" marR="4723" marT="47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01</a:t>
                      </a:r>
                    </a:p>
                  </a:txBody>
                  <a:tcPr marL="4723" marR="4723" marT="47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09</a:t>
                      </a:r>
                    </a:p>
                  </a:txBody>
                  <a:tcPr marL="4723" marR="4723" marT="47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4723" marR="4723" marT="47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VN240</a:t>
                      </a:r>
                    </a:p>
                  </a:txBody>
                  <a:tcPr marL="4723" marR="4723" marT="47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SGN-HAN</a:t>
                      </a:r>
                    </a:p>
                  </a:txBody>
                  <a:tcPr marL="4723" marR="4723" marT="47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DURING TAXI CAPT CALL VHF APPEAR MSG  "F/CTL STABILIZER" </a:t>
                      </a:r>
                    </a:p>
                  </a:txBody>
                  <a:tcPr marL="4723" marR="4723" marT="47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FINAL ACTION: C/O MAINTENANCE AND RAISED MEL STABILIZER ELECTRICAL MOTOR E3</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 DURING TAXI CAPT CALL VHF APPEAR MSG  "F/CTL STABILIZER" EVENT CLOSED </a:t>
                      </a:r>
                    </a:p>
                  </a:txBody>
                  <a:tcPr marL="4723" marR="4723" marT="47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4723" marR="4723" marT="472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425661">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A893</a:t>
                      </a:r>
                    </a:p>
                  </a:txBody>
                  <a:tcPr marL="4723" marR="4723" marT="47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A350</a:t>
                      </a:r>
                    </a:p>
                  </a:txBody>
                  <a:tcPr marL="4723" marR="4723" marT="47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2025</a:t>
                      </a:r>
                    </a:p>
                  </a:txBody>
                  <a:tcPr marL="4723" marR="4723" marT="47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01</a:t>
                      </a:r>
                    </a:p>
                  </a:txBody>
                  <a:tcPr marL="4723" marR="4723" marT="47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06</a:t>
                      </a:r>
                    </a:p>
                  </a:txBody>
                  <a:tcPr marL="4723" marR="4723" marT="47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4723" marR="4723" marT="47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VN781</a:t>
                      </a:r>
                    </a:p>
                  </a:txBody>
                  <a:tcPr marL="4723" marR="4723" marT="47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SGN-MEL</a:t>
                      </a:r>
                    </a:p>
                  </a:txBody>
                  <a:tcPr marL="4723" marR="4723" marT="47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A893 [GTB] FUEL CTR TK L PMP RUN CONTINOUSLY DURING TAXI CAPT REPORT VIA VHF: FUEL CTR TK L PMP RUN CONTINOUSLY. CAPT DECIED A/C GTB FOR CHECK</a:t>
                      </a:r>
                    </a:p>
                  </a:txBody>
                  <a:tcPr marL="4723" marR="4723" marT="47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C/O </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RPLD PRESS_SWITCH - STR TK PUMP 1. SATIS. DM GONE</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723" marR="4723" marT="47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4723" marR="4723" marT="472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832992">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A327</a:t>
                      </a:r>
                    </a:p>
                  </a:txBody>
                  <a:tcPr marL="4723" marR="4723" marT="47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A321</a:t>
                      </a:r>
                    </a:p>
                  </a:txBody>
                  <a:tcPr marL="4723" marR="4723" marT="47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2025</a:t>
                      </a:r>
                    </a:p>
                  </a:txBody>
                  <a:tcPr marL="4723" marR="4723" marT="47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01</a:t>
                      </a:r>
                    </a:p>
                  </a:txBody>
                  <a:tcPr marL="4723" marR="4723" marT="47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08</a:t>
                      </a:r>
                    </a:p>
                  </a:txBody>
                  <a:tcPr marL="4723" marR="4723" marT="47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HAN</a:t>
                      </a:r>
                    </a:p>
                  </a:txBody>
                  <a:tcPr marL="4723" marR="4723" marT="47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VN1203</a:t>
                      </a:r>
                    </a:p>
                  </a:txBody>
                  <a:tcPr marL="4723" marR="4723" marT="47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HAN-VCA</a:t>
                      </a:r>
                    </a:p>
                  </a:txBody>
                  <a:tcPr marL="4723" marR="4723" marT="47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HYD LEAK AT L/H MLG LOCKING ACTUATOR </a:t>
                      </a:r>
                    </a:p>
                  </a:txBody>
                  <a:tcPr marL="4723" marR="4723" marT="47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REPLACED L/H MLG LOCKING ACTUATOR, LEAK CHECK SATIS, OPS TEST OK</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endParaRPr lang="vi-VN"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723" marR="4723" marT="47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4723" marR="4723" marT="472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6952799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5</a:t>
            </a:fld>
            <a:endParaRPr/>
          </a:p>
        </p:txBody>
      </p:sp>
      <p:sp>
        <p:nvSpPr>
          <p:cNvPr id="4" name="Google Shape;82;p7">
            <a:extLst>
              <a:ext uri="{FF2B5EF4-FFF2-40B4-BE49-F238E27FC236}">
                <a16:creationId xmlns:a16="http://schemas.microsoft.com/office/drawing/2014/main" xmlns="" id="{E8C503CE-18C5-4A3D-AD46-240DA1F966DC}"/>
              </a:ext>
            </a:extLst>
          </p:cNvPr>
          <p:cNvSpPr txBox="1"/>
          <p:nvPr/>
        </p:nvSpPr>
        <p:spPr>
          <a:xfrm>
            <a:off x="301591" y="344299"/>
            <a:ext cx="11360820" cy="461624"/>
          </a:xfrm>
          <a:prstGeom prst="rect">
            <a:avLst/>
          </a:prstGeom>
          <a:noFill/>
          <a:ln>
            <a:noFill/>
          </a:ln>
        </p:spPr>
        <p:txBody>
          <a:bodyPr spcFirstLastPara="1" wrap="square" lIns="91433" tIns="45700" rIns="91433" bIns="45700" anchor="t" anchorCtr="0">
            <a:spAutoFit/>
          </a:bodyPr>
          <a:lstStyle/>
          <a:p>
            <a:pPr lvl="0"/>
            <a:r>
              <a:rPr lang="en-US" sz="2400" b="1" dirty="0">
                <a:solidFill>
                  <a:srgbClr val="DEA610"/>
                </a:solidFill>
                <a:latin typeface="Times New Roman" panose="02020603050405020304" pitchFamily="18" charset="0"/>
                <a:ea typeface="Montserrat SemiBold"/>
                <a:cs typeface="Times New Roman" panose="02020603050405020304" pitchFamily="18" charset="0"/>
                <a:sym typeface="Montserrat SemiBold"/>
              </a:rPr>
              <a:t>CÁC CHUYẾN BAY DELAY ĐẦU NGÀY VÀ DELAY DO THAY LỐP</a:t>
            </a:r>
            <a:endParaRPr sz="24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xmlns="" id="{2A0D8269-7016-40C9-871E-187A7FEACF1F}"/>
              </a:ext>
            </a:extLst>
          </p:cNvPr>
          <p:cNvSpPr txBox="1"/>
          <p:nvPr/>
        </p:nvSpPr>
        <p:spPr>
          <a:xfrm>
            <a:off x="302664" y="1053717"/>
            <a:ext cx="11171451" cy="338554"/>
          </a:xfrm>
          <a:prstGeom prst="rect">
            <a:avLst/>
          </a:prstGeom>
          <a:noFill/>
        </p:spPr>
        <p:txBody>
          <a:bodyPr wrap="square">
            <a:spAutoFit/>
          </a:bodyPr>
          <a:lstStyle/>
          <a:p>
            <a:pPr algn="just">
              <a:buClrTx/>
              <a:buFontTx/>
              <a:buNone/>
              <a:defRPr/>
            </a:pPr>
            <a:r>
              <a:rPr lang="en-US" sz="1600" b="1" dirty="0">
                <a:solidFill>
                  <a:prstClr val="black"/>
                </a:solidFill>
                <a:latin typeface="Times New Roman" panose="02020603050405020304" pitchFamily="18" charset="0"/>
                <a:cs typeface="Times New Roman" panose="02020603050405020304" pitchFamily="18" charset="0"/>
              </a:rPr>
              <a:t>CÁC CHUYẾN BAY DELAY ĐẦU NGÀY</a:t>
            </a:r>
          </a:p>
        </p:txBody>
      </p:sp>
      <p:sp>
        <p:nvSpPr>
          <p:cNvPr id="7" name="TextBox 6">
            <a:extLst>
              <a:ext uri="{FF2B5EF4-FFF2-40B4-BE49-F238E27FC236}">
                <a16:creationId xmlns:a16="http://schemas.microsoft.com/office/drawing/2014/main" xmlns="" id="{380D0EF5-CAED-4228-924A-DD9228564476}"/>
              </a:ext>
            </a:extLst>
          </p:cNvPr>
          <p:cNvSpPr txBox="1"/>
          <p:nvPr/>
        </p:nvSpPr>
        <p:spPr>
          <a:xfrm>
            <a:off x="301591" y="3528364"/>
            <a:ext cx="11171451" cy="338554"/>
          </a:xfrm>
          <a:prstGeom prst="rect">
            <a:avLst/>
          </a:prstGeom>
          <a:noFill/>
        </p:spPr>
        <p:txBody>
          <a:bodyPr wrap="square">
            <a:spAutoFit/>
          </a:bodyPr>
          <a:lstStyle/>
          <a:p>
            <a:pPr algn="just">
              <a:buClrTx/>
              <a:buFontTx/>
              <a:buNone/>
              <a:defRPr/>
            </a:pPr>
            <a:r>
              <a:rPr lang="en-US" sz="1600" b="1" dirty="0">
                <a:solidFill>
                  <a:prstClr val="black"/>
                </a:solidFill>
                <a:latin typeface="Times New Roman" panose="02020603050405020304" pitchFamily="18" charset="0"/>
                <a:cs typeface="Times New Roman" panose="02020603050405020304" pitchFamily="18" charset="0"/>
              </a:rPr>
              <a:t>CÁC CHUYẾN BAY DELAY DO THAY LỐP</a:t>
            </a:r>
          </a:p>
        </p:txBody>
      </p:sp>
      <p:graphicFrame>
        <p:nvGraphicFramePr>
          <p:cNvPr id="3" name="Table 2"/>
          <p:cNvGraphicFramePr>
            <a:graphicFrameLocks noGrp="1"/>
          </p:cNvGraphicFramePr>
          <p:nvPr>
            <p:extLst>
              <p:ext uri="{D42A27DB-BD31-4B8C-83A1-F6EECF244321}">
                <p14:modId xmlns:p14="http://schemas.microsoft.com/office/powerpoint/2010/main" val="2442240476"/>
              </p:ext>
            </p:extLst>
          </p:nvPr>
        </p:nvGraphicFramePr>
        <p:xfrm>
          <a:off x="301591" y="1389962"/>
          <a:ext cx="11463226" cy="1940242"/>
        </p:xfrm>
        <a:graphic>
          <a:graphicData uri="http://schemas.openxmlformats.org/drawingml/2006/table">
            <a:tbl>
              <a:tblPr/>
              <a:tblGrid>
                <a:gridCol w="427560">
                  <a:extLst>
                    <a:ext uri="{9D8B030D-6E8A-4147-A177-3AD203B41FA5}">
                      <a16:colId xmlns:a16="http://schemas.microsoft.com/office/drawing/2014/main" xmlns="" val="1400939127"/>
                    </a:ext>
                  </a:extLst>
                </a:gridCol>
                <a:gridCol w="531561">
                  <a:extLst>
                    <a:ext uri="{9D8B030D-6E8A-4147-A177-3AD203B41FA5}">
                      <a16:colId xmlns:a16="http://schemas.microsoft.com/office/drawing/2014/main" xmlns="" val="815328117"/>
                    </a:ext>
                  </a:extLst>
                </a:gridCol>
                <a:gridCol w="381337">
                  <a:extLst>
                    <a:ext uri="{9D8B030D-6E8A-4147-A177-3AD203B41FA5}">
                      <a16:colId xmlns:a16="http://schemas.microsoft.com/office/drawing/2014/main" xmlns="" val="1720360630"/>
                    </a:ext>
                  </a:extLst>
                </a:gridCol>
                <a:gridCol w="1155567">
                  <a:extLst>
                    <a:ext uri="{9D8B030D-6E8A-4147-A177-3AD203B41FA5}">
                      <a16:colId xmlns:a16="http://schemas.microsoft.com/office/drawing/2014/main" xmlns="" val="1684777201"/>
                    </a:ext>
                  </a:extLst>
                </a:gridCol>
                <a:gridCol w="392893">
                  <a:extLst>
                    <a:ext uri="{9D8B030D-6E8A-4147-A177-3AD203B41FA5}">
                      <a16:colId xmlns:a16="http://schemas.microsoft.com/office/drawing/2014/main" xmlns="" val="1451179484"/>
                    </a:ext>
                  </a:extLst>
                </a:gridCol>
                <a:gridCol w="751118">
                  <a:extLst>
                    <a:ext uri="{9D8B030D-6E8A-4147-A177-3AD203B41FA5}">
                      <a16:colId xmlns:a16="http://schemas.microsoft.com/office/drawing/2014/main" xmlns="" val="2273417757"/>
                    </a:ext>
                  </a:extLst>
                </a:gridCol>
                <a:gridCol w="658673">
                  <a:extLst>
                    <a:ext uri="{9D8B030D-6E8A-4147-A177-3AD203B41FA5}">
                      <a16:colId xmlns:a16="http://schemas.microsoft.com/office/drawing/2014/main" xmlns="" val="3922052826"/>
                    </a:ext>
                  </a:extLst>
                </a:gridCol>
                <a:gridCol w="774230">
                  <a:extLst>
                    <a:ext uri="{9D8B030D-6E8A-4147-A177-3AD203B41FA5}">
                      <a16:colId xmlns:a16="http://schemas.microsoft.com/office/drawing/2014/main" xmlns="" val="3029852354"/>
                    </a:ext>
                  </a:extLst>
                </a:gridCol>
                <a:gridCol w="2403580">
                  <a:extLst>
                    <a:ext uri="{9D8B030D-6E8A-4147-A177-3AD203B41FA5}">
                      <a16:colId xmlns:a16="http://schemas.microsoft.com/office/drawing/2014/main" xmlns="" val="2636508086"/>
                    </a:ext>
                  </a:extLst>
                </a:gridCol>
                <a:gridCol w="3986707">
                  <a:extLst>
                    <a:ext uri="{9D8B030D-6E8A-4147-A177-3AD203B41FA5}">
                      <a16:colId xmlns:a16="http://schemas.microsoft.com/office/drawing/2014/main" xmlns="" val="1882276902"/>
                    </a:ext>
                  </a:extLst>
                </a:gridCol>
              </a:tblGrid>
              <a:tr h="311652">
                <a:tc>
                  <a:txBody>
                    <a:bodyPr/>
                    <a:lstStyle/>
                    <a:p>
                      <a:pPr algn="ctr" fontAlgn="ctr"/>
                      <a:r>
                        <a:rPr lang="en-US" sz="1100" b="1" i="0" u="none" strike="noStrike" dirty="0">
                          <a:solidFill>
                            <a:srgbClr val="000000"/>
                          </a:solidFill>
                          <a:effectLst/>
                          <a:latin typeface="Times New Roman" panose="02020603050405020304" pitchFamily="18" charset="0"/>
                          <a:cs typeface="Times New Roman" panose="02020603050405020304" pitchFamily="18" charset="0"/>
                        </a:rPr>
                        <a:t>NO</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FLEET</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A/C</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STA</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FLIGHT NO</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ROUTINE</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xmlns="" val="1039288818"/>
                  </a:ext>
                </a:extLst>
              </a:tr>
              <a:tr h="585142">
                <a:tc>
                  <a:txBody>
                    <a:bodyPr/>
                    <a:lstStyle/>
                    <a:p>
                      <a:pPr algn="l" fontAlgn="t"/>
                      <a:r>
                        <a:rPr lang="en-US" sz="11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A321</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A602</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07:00 10/01/2025</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NRT</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58</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VN319</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NRT-DAD</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HOT AIR SYS INOP HOT AIR SYS INOP</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C/O RAISED ADD B1890 ACT EVENT CLOSED </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697811605"/>
                  </a:ext>
                </a:extLst>
              </a:tr>
              <a:tr h="877713">
                <a:tc>
                  <a:txBody>
                    <a:bodyPr/>
                    <a:lstStyle/>
                    <a:p>
                      <a:pPr algn="l" fontAlgn="t"/>
                      <a:r>
                        <a:rPr lang="en-US" sz="11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A350</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A899</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09:33 09/01/2025</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13</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VN240</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dirty="0">
                          <a:solidFill>
                            <a:srgbClr val="000000"/>
                          </a:solidFill>
                          <a:effectLst/>
                          <a:latin typeface="Times New Roman" panose="02020603050405020304" pitchFamily="18" charset="0"/>
                          <a:cs typeface="Times New Roman" panose="02020603050405020304" pitchFamily="18" charset="0"/>
                        </a:rPr>
                        <a:t>SGN-HAN</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DURING TAXI CAPT CALL VHF APPEAR MSG  "F/CTL STABILIZER" </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dirty="0">
                          <a:solidFill>
                            <a:srgbClr val="000000"/>
                          </a:solidFill>
                          <a:effectLst/>
                          <a:latin typeface="Times New Roman" panose="02020603050405020304" pitchFamily="18" charset="0"/>
                          <a:cs typeface="Times New Roman" panose="02020603050405020304" pitchFamily="18" charset="0"/>
                        </a:rPr>
                        <a:t>FINAL ACTION: C/O MAINTENANCE AND RAISED MEL STABILIZER ELECTRICAL MOTOR E3.</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 DURING TAXI CAPT CALL VHF APPEAR MSG  "F/CTL STABILIZER" EVENT CLOSED </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896431190"/>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1950990204"/>
              </p:ext>
            </p:extLst>
          </p:nvPr>
        </p:nvGraphicFramePr>
        <p:xfrm>
          <a:off x="301593" y="3866918"/>
          <a:ext cx="11509405" cy="2065020"/>
        </p:xfrm>
        <a:graphic>
          <a:graphicData uri="http://schemas.openxmlformats.org/drawingml/2006/table">
            <a:tbl>
              <a:tblPr/>
              <a:tblGrid>
                <a:gridCol w="384207"/>
                <a:gridCol w="609600"/>
                <a:gridCol w="381000"/>
                <a:gridCol w="1066800"/>
                <a:gridCol w="457200"/>
                <a:gridCol w="762000"/>
                <a:gridCol w="609600"/>
                <a:gridCol w="762000"/>
                <a:gridCol w="2438400"/>
                <a:gridCol w="4038598"/>
              </a:tblGrid>
              <a:tr h="198120">
                <a:tc>
                  <a:txBody>
                    <a:bodyPr/>
                    <a:lstStyle/>
                    <a:p>
                      <a:pPr algn="l" fontAlgn="t"/>
                      <a:r>
                        <a:rPr lang="en-US" sz="1200" b="1" i="0" u="none" strike="noStrike" dirty="0">
                          <a:solidFill>
                            <a:srgbClr val="000000"/>
                          </a:solidFill>
                          <a:effectLst/>
                          <a:latin typeface="Times New Roman" panose="02020603050405020304" pitchFamily="18" charset="0"/>
                          <a:cs typeface="Times New Roman" panose="02020603050405020304" pitchFamily="18" charset="0"/>
                        </a:rPr>
                        <a:t>NO</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FLEET</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A/C</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1200" b="1" i="0" u="none" strike="noStrike" dirty="0">
                          <a:solidFill>
                            <a:srgbClr val="000000"/>
                          </a:solidFill>
                          <a:effectLst/>
                          <a:latin typeface="Times New Roman" panose="02020603050405020304" pitchFamily="18" charset="0"/>
                          <a:cs typeface="Times New Roman" panose="02020603050405020304" pitchFamily="18" charset="0"/>
                        </a:rPr>
                        <a:t>DELAY DATE</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1200" b="1" i="0" u="none" strike="noStrike" dirty="0">
                          <a:solidFill>
                            <a:srgbClr val="000000"/>
                          </a:solidFill>
                          <a:effectLst/>
                          <a:latin typeface="Times New Roman" panose="02020603050405020304" pitchFamily="18" charset="0"/>
                          <a:cs typeface="Times New Roman" panose="02020603050405020304" pitchFamily="18" charset="0"/>
                        </a:rPr>
                        <a:t>STA</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FLIGHT NO</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ROUTINE</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r>
              <a:tr h="636502">
                <a:tc>
                  <a:txBody>
                    <a:bodyPr/>
                    <a:lstStyle/>
                    <a:p>
                      <a:pPr algn="l" fontAlgn="t"/>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1</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A321</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A602</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15:50 08/01/2025</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DAD</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27</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VN173</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DAD-HAN</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MW #4 SHOULDER WORN ABNORMAL TO LIMIT  AFTER VN173 HAN-DAD FOUND MW #4 SHOULDER WORN ABNORMAL TO LIMIT</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C/O REPLACED NEW MW. CHECK SATIS REPLACED NEW MW EVENT CLOSED </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838200">
                <a:tc>
                  <a:txBody>
                    <a:bodyPr/>
                    <a:lstStyle/>
                    <a:p>
                      <a:pPr algn="l" fontAlgn="t"/>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2</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dirty="0">
                          <a:solidFill>
                            <a:srgbClr val="000000"/>
                          </a:solidFill>
                          <a:effectLst/>
                          <a:latin typeface="Times New Roman" panose="02020603050405020304" pitchFamily="18" charset="0"/>
                          <a:cs typeface="Times New Roman" panose="02020603050405020304" pitchFamily="18" charset="0"/>
                        </a:rPr>
                        <a:t>B787</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A871</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dirty="0">
                          <a:solidFill>
                            <a:srgbClr val="000000"/>
                          </a:solidFill>
                          <a:effectLst/>
                          <a:latin typeface="Times New Roman" panose="02020603050405020304" pitchFamily="18" charset="0"/>
                          <a:cs typeface="Times New Roman" panose="02020603050405020304" pitchFamily="18" charset="0"/>
                        </a:rPr>
                        <a:t>22:50 08/01/2025</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VN51</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SGN-LHR</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TRANSIT CHECK FOUND MW #4 SHOULDER WORN TO LIMIT (ABNORMAL) TRANSIT CHECK FOUND MW #4 SHOULDER WORN TO LIMIT (ABNORMAL).</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dirty="0">
                          <a:solidFill>
                            <a:srgbClr val="000000"/>
                          </a:solidFill>
                          <a:effectLst/>
                          <a:latin typeface="Times New Roman" panose="02020603050405020304" pitchFamily="18" charset="0"/>
                          <a:cs typeface="Times New Roman" panose="02020603050405020304" pitchFamily="18" charset="0"/>
                        </a:rPr>
                        <a:t>C/O REPLACED NEW MW</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9280082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xmlns="" id="{0AA5D49C-15C9-37CE-7BA9-BE2BBFA9A454}"/>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xmlns="" id="{0D69D7C3-0595-0160-49CC-961C3B307824}"/>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xmlns="" id="{F0CA75EA-080A-64A9-246F-8C137B5AAA1A}"/>
              </a:ext>
            </a:extLst>
          </p:cNvPr>
          <p:cNvSpPr>
            <a:spLocks noGrp="1"/>
          </p:cNvSpPr>
          <p:nvPr>
            <p:ph type="title"/>
          </p:nvPr>
        </p:nvSpPr>
        <p:spPr>
          <a:xfrm>
            <a:off x="0" y="0"/>
            <a:ext cx="9155467" cy="551496"/>
          </a:xfrm>
        </p:spPr>
        <p:txBody>
          <a:bodyPr rtlCol="0">
            <a:normAutofit fontScale="90000"/>
          </a:bodyPr>
          <a:lstStyle/>
          <a:p>
            <a:pPr>
              <a:defRPr/>
            </a:pPr>
            <a:r>
              <a:rPr lang="en-US" sz="3733" dirty="0">
                <a:ln w="0"/>
                <a:solidFill>
                  <a:schemeClr val="accent4"/>
                </a:solidFill>
                <a:latin typeface="Times New Roman" panose="02020603050405020304" pitchFamily="18" charset="0"/>
                <a:cs typeface="Times New Roman" panose="02020603050405020304" pitchFamily="18" charset="0"/>
              </a:rPr>
              <a:t>TÌNH TRẠNG KỸ THUẬT ĐỘI BAY – A321</a:t>
            </a:r>
            <a:endParaRPr lang="vi-VN" sz="3733" dirty="0">
              <a:ln w="0"/>
              <a:solidFill>
                <a:schemeClr val="accent4"/>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xmlns="" id="{95B60134-59D7-B9ED-2806-C1F57EA05F77}"/>
              </a:ext>
            </a:extLst>
          </p:cNvPr>
          <p:cNvSpPr txBox="1"/>
          <p:nvPr/>
        </p:nvSpPr>
        <p:spPr>
          <a:xfrm>
            <a:off x="134290" y="107088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a:t>
            </a:r>
            <a:r>
              <a:rPr kumimoji="0" lang="en-US" sz="16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02</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7" name="Table 6">
            <a:extLst>
              <a:ext uri="{FF2B5EF4-FFF2-40B4-BE49-F238E27FC236}">
                <a16:creationId xmlns:a16="http://schemas.microsoft.com/office/drawing/2014/main" xmlns="" id="{603606F3-6ECC-428E-858B-04388F55FEE5}"/>
              </a:ext>
            </a:extLst>
          </p:cNvPr>
          <p:cNvGraphicFramePr>
            <a:graphicFrameLocks noGrp="1"/>
          </p:cNvGraphicFramePr>
          <p:nvPr>
            <p:extLst>
              <p:ext uri="{D42A27DB-BD31-4B8C-83A1-F6EECF244321}">
                <p14:modId xmlns:p14="http://schemas.microsoft.com/office/powerpoint/2010/main" val="1790124009"/>
              </p:ext>
            </p:extLst>
          </p:nvPr>
        </p:nvGraphicFramePr>
        <p:xfrm>
          <a:off x="134290" y="1557196"/>
          <a:ext cx="11829111" cy="4538804"/>
        </p:xfrm>
        <a:graphic>
          <a:graphicData uri="http://schemas.openxmlformats.org/drawingml/2006/table">
            <a:tbl>
              <a:tblPr/>
              <a:tblGrid>
                <a:gridCol w="295920">
                  <a:extLst>
                    <a:ext uri="{9D8B030D-6E8A-4147-A177-3AD203B41FA5}">
                      <a16:colId xmlns:a16="http://schemas.microsoft.com/office/drawing/2014/main" xmlns="" val="1125571995"/>
                    </a:ext>
                  </a:extLst>
                </a:gridCol>
                <a:gridCol w="405860">
                  <a:extLst>
                    <a:ext uri="{9D8B030D-6E8A-4147-A177-3AD203B41FA5}">
                      <a16:colId xmlns:a16="http://schemas.microsoft.com/office/drawing/2014/main" xmlns="" val="1437459373"/>
                    </a:ext>
                  </a:extLst>
                </a:gridCol>
                <a:gridCol w="360105">
                  <a:extLst>
                    <a:ext uri="{9D8B030D-6E8A-4147-A177-3AD203B41FA5}">
                      <a16:colId xmlns:a16="http://schemas.microsoft.com/office/drawing/2014/main" xmlns="" val="1415147268"/>
                    </a:ext>
                  </a:extLst>
                </a:gridCol>
                <a:gridCol w="537459">
                  <a:extLst>
                    <a:ext uri="{9D8B030D-6E8A-4147-A177-3AD203B41FA5}">
                      <a16:colId xmlns:a16="http://schemas.microsoft.com/office/drawing/2014/main" xmlns="" val="2415333753"/>
                    </a:ext>
                  </a:extLst>
                </a:gridCol>
                <a:gridCol w="618476">
                  <a:extLst>
                    <a:ext uri="{9D8B030D-6E8A-4147-A177-3AD203B41FA5}">
                      <a16:colId xmlns:a16="http://schemas.microsoft.com/office/drawing/2014/main" xmlns="" val="79825106"/>
                    </a:ext>
                  </a:extLst>
                </a:gridCol>
                <a:gridCol w="619690">
                  <a:extLst>
                    <a:ext uri="{9D8B030D-6E8A-4147-A177-3AD203B41FA5}">
                      <a16:colId xmlns:a16="http://schemas.microsoft.com/office/drawing/2014/main" xmlns="" val="1750991621"/>
                    </a:ext>
                  </a:extLst>
                </a:gridCol>
                <a:gridCol w="838200"/>
                <a:gridCol w="1618390">
                  <a:extLst>
                    <a:ext uri="{9D8B030D-6E8A-4147-A177-3AD203B41FA5}">
                      <a16:colId xmlns:a16="http://schemas.microsoft.com/office/drawing/2014/main" xmlns="" val="3848690044"/>
                    </a:ext>
                  </a:extLst>
                </a:gridCol>
                <a:gridCol w="2822677">
                  <a:extLst>
                    <a:ext uri="{9D8B030D-6E8A-4147-A177-3AD203B41FA5}">
                      <a16:colId xmlns:a16="http://schemas.microsoft.com/office/drawing/2014/main" xmlns="" val="384271565"/>
                    </a:ext>
                  </a:extLst>
                </a:gridCol>
                <a:gridCol w="403240">
                  <a:extLst>
                    <a:ext uri="{9D8B030D-6E8A-4147-A177-3AD203B41FA5}">
                      <a16:colId xmlns:a16="http://schemas.microsoft.com/office/drawing/2014/main" xmlns="" val="877501319"/>
                    </a:ext>
                  </a:extLst>
                </a:gridCol>
                <a:gridCol w="3309094">
                  <a:extLst>
                    <a:ext uri="{9D8B030D-6E8A-4147-A177-3AD203B41FA5}">
                      <a16:colId xmlns:a16="http://schemas.microsoft.com/office/drawing/2014/main" xmlns="" val="4043943319"/>
                    </a:ext>
                  </a:extLst>
                </a:gridCol>
              </a:tblGrid>
              <a:tr h="225287">
                <a:tc>
                  <a:txBody>
                    <a:bodyPr/>
                    <a:lstStyle/>
                    <a:p>
                      <a:pPr algn="ctr" fontAlgn="ctr"/>
                      <a:r>
                        <a:rPr lang="en-US" sz="1000" b="1" i="0" u="none" strike="noStrike" dirty="0">
                          <a:solidFill>
                            <a:srgbClr val="000000"/>
                          </a:solidFill>
                          <a:effectLst/>
                          <a:latin typeface="Times New Roman" panose="02020603050405020304" pitchFamily="18" charset="0"/>
                          <a:cs typeface="Times New Roman" panose="02020603050405020304" pitchFamily="18" charset="0"/>
                        </a:rPr>
                        <a:t>NO</a:t>
                      </a:r>
                    </a:p>
                  </a:txBody>
                  <a:tcPr marL="7042" marR="7042" marT="70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cs typeface="Times New Roman" panose="02020603050405020304" pitchFamily="18" charset="0"/>
                        </a:rPr>
                        <a:t>FLEET</a:t>
                      </a:r>
                    </a:p>
                  </a:txBody>
                  <a:tcPr marL="7042" marR="7042" marT="70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cs typeface="Times New Roman" panose="02020603050405020304" pitchFamily="18" charset="0"/>
                        </a:rPr>
                        <a:t>A/C</a:t>
                      </a:r>
                    </a:p>
                  </a:txBody>
                  <a:tcPr marL="7042" marR="7042" marT="70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cs typeface="Times New Roman" panose="02020603050405020304" pitchFamily="18" charset="0"/>
                        </a:rPr>
                        <a:t>OPEN DATE</a:t>
                      </a:r>
                    </a:p>
                  </a:txBody>
                  <a:tcPr marL="7042" marR="7042" marT="70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cs typeface="Times New Roman" panose="02020603050405020304" pitchFamily="18" charset="0"/>
                        </a:rPr>
                        <a:t>CLOSED DATE</a:t>
                      </a:r>
                    </a:p>
                  </a:txBody>
                  <a:tcPr marL="7042" marR="7042" marT="70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cs typeface="Times New Roman" panose="02020603050405020304" pitchFamily="18" charset="0"/>
                        </a:rPr>
                        <a:t>STA</a:t>
                      </a:r>
                    </a:p>
                  </a:txBody>
                  <a:tcPr marL="7042" marR="7042" marT="70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dirty="0" smtClean="0">
                          <a:solidFill>
                            <a:srgbClr val="000000"/>
                          </a:solidFill>
                          <a:effectLst/>
                          <a:latin typeface="Times New Roman" panose="02020603050405020304" pitchFamily="18" charset="0"/>
                          <a:cs typeface="Times New Roman" panose="02020603050405020304" pitchFamily="18" charset="0"/>
                        </a:rPr>
                        <a:t>Status</a:t>
                      </a:r>
                      <a:endParaRPr lang="en-US" sz="1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042" marR="7042" marT="70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dirty="0">
                          <a:solidFill>
                            <a:srgbClr val="000000"/>
                          </a:solidFill>
                          <a:effectLst/>
                          <a:latin typeface="Times New Roman" panose="02020603050405020304" pitchFamily="18" charset="0"/>
                          <a:cs typeface="Times New Roman" panose="02020603050405020304" pitchFamily="18" charset="0"/>
                        </a:rPr>
                        <a:t>DEFECT</a:t>
                      </a:r>
                    </a:p>
                  </a:txBody>
                  <a:tcPr marL="7042" marR="7042" marT="70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dirty="0">
                          <a:solidFill>
                            <a:srgbClr val="000000"/>
                          </a:solidFill>
                          <a:effectLst/>
                          <a:latin typeface="Times New Roman" panose="02020603050405020304" pitchFamily="18" charset="0"/>
                          <a:cs typeface="Times New Roman" panose="02020603050405020304" pitchFamily="18" charset="0"/>
                        </a:rPr>
                        <a:t>ACTION</a:t>
                      </a:r>
                    </a:p>
                  </a:txBody>
                  <a:tcPr marL="7042" marR="7042" marT="70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cs typeface="Times New Roman" panose="02020603050405020304" pitchFamily="18" charset="0"/>
                        </a:rPr>
                        <a:t>ATA</a:t>
                      </a:r>
                    </a:p>
                  </a:txBody>
                  <a:tcPr marL="7042" marR="7042" marT="70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7042" marR="7042" marT="70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xmlns="" val="34483240"/>
                  </a:ext>
                </a:extLst>
              </a:tr>
              <a:tr h="2478156">
                <a:tc>
                  <a:txBody>
                    <a:bodyPr/>
                    <a:lstStyle/>
                    <a:p>
                      <a:pPr algn="ctr" fontAlgn="b"/>
                      <a:r>
                        <a:rPr lang="en-US" sz="1000" b="0" i="0" u="none" strike="noStrike">
                          <a:solidFill>
                            <a:srgbClr val="000000"/>
                          </a:solidFill>
                          <a:effectLst/>
                          <a:latin typeface="Times New Roman" panose="02020603050405020304" pitchFamily="18" charset="0"/>
                          <a:cs typeface="Times New Roman" panose="02020603050405020304" pitchFamily="18" charset="0"/>
                        </a:rPr>
                        <a:t>1</a:t>
                      </a:r>
                    </a:p>
                  </a:txBody>
                  <a:tcPr marL="7042" marR="7042" marT="70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Times New Roman" panose="02020603050405020304" pitchFamily="18" charset="0"/>
                          <a:cs typeface="Times New Roman" panose="02020603050405020304" pitchFamily="18" charset="0"/>
                        </a:rPr>
                        <a:t>A321</a:t>
                      </a:r>
                    </a:p>
                  </a:txBody>
                  <a:tcPr marL="7042" marR="7042" marT="70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Times New Roman" panose="02020603050405020304" pitchFamily="18" charset="0"/>
                          <a:cs typeface="Times New Roman" panose="02020603050405020304" pitchFamily="18" charset="0"/>
                        </a:rPr>
                        <a:t>A392</a:t>
                      </a:r>
                    </a:p>
                  </a:txBody>
                  <a:tcPr marL="7042" marR="7042" marT="70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Times New Roman" panose="02020603050405020304" pitchFamily="18" charset="0"/>
                          <a:cs typeface="Times New Roman" panose="02020603050405020304" pitchFamily="18" charset="0"/>
                        </a:rPr>
                        <a:t>12:06 09/01/2025</a:t>
                      </a:r>
                    </a:p>
                  </a:txBody>
                  <a:tcPr marL="7042" marR="7042" marT="70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Times New Roman" panose="02020603050405020304" pitchFamily="18" charset="0"/>
                          <a:cs typeface="Times New Roman" panose="02020603050405020304" pitchFamily="18" charset="0"/>
                        </a:rPr>
                        <a:t>20:30 09/01/2025</a:t>
                      </a:r>
                    </a:p>
                  </a:txBody>
                  <a:tcPr marL="7042" marR="7042" marT="70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Times New Roman" panose="02020603050405020304" pitchFamily="18" charset="0"/>
                          <a:cs typeface="Times New Roman" panose="02020603050405020304" pitchFamily="18" charset="0"/>
                        </a:rPr>
                        <a:t>HAN</a:t>
                      </a:r>
                    </a:p>
                  </a:txBody>
                  <a:tcPr marL="7042" marR="7042" marT="70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1" i="0" u="none" strike="noStrike" dirty="0" err="1" smtClean="0">
                          <a:solidFill>
                            <a:srgbClr val="000000"/>
                          </a:solidFill>
                          <a:effectLst/>
                          <a:latin typeface="Times New Roman" panose="02020603050405020304" pitchFamily="18" charset="0"/>
                          <a:cs typeface="Times New Roman" panose="02020603050405020304" pitchFamily="18" charset="0"/>
                        </a:rPr>
                        <a:t>AOG&amp;Delay</a:t>
                      </a:r>
                      <a:endParaRPr lang="en-US" sz="1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042" marR="7042" marT="70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000" b="0" i="0" u="none" strike="noStrike" dirty="0">
                        <a:solidFill>
                          <a:srgbClr val="000000"/>
                        </a:solidFill>
                        <a:effectLst/>
                        <a:latin typeface="Times New Roman" panose="02020603050405020304" pitchFamily="18" charset="0"/>
                        <a:cs typeface="Times New Roman" panose="02020603050405020304" pitchFamily="18" charset="0"/>
                      </a:endParaRPr>
                    </a:p>
                    <a:p>
                      <a:pPr algn="ctr" fontAlgn="b"/>
                      <a:r>
                        <a:rPr lang="en-US" sz="1000" b="0" i="0" u="none" strike="noStrike" dirty="0">
                          <a:solidFill>
                            <a:srgbClr val="000000"/>
                          </a:solidFill>
                          <a:effectLst/>
                          <a:latin typeface="Times New Roman" panose="02020603050405020304" pitchFamily="18" charset="0"/>
                          <a:cs typeface="Times New Roman" panose="02020603050405020304" pitchFamily="18" charset="0"/>
                        </a:rPr>
                        <a:t>VN164-931 DAD-HAN-LPQ (11:45-12:50) </a:t>
                      </a:r>
                    </a:p>
                    <a:p>
                      <a:pPr algn="ctr" fontAlgn="b"/>
                      <a:endParaRPr lang="en-US" sz="1000" b="0" i="0" u="none" strike="noStrike" dirty="0">
                        <a:solidFill>
                          <a:srgbClr val="000000"/>
                        </a:solidFill>
                        <a:effectLst/>
                        <a:latin typeface="Times New Roman" panose="02020603050405020304" pitchFamily="18" charset="0"/>
                        <a:cs typeface="Times New Roman" panose="02020603050405020304" pitchFamily="18" charset="0"/>
                      </a:endParaRPr>
                    </a:p>
                    <a:p>
                      <a:pPr algn="l" fontAlgn="b"/>
                      <a:r>
                        <a:rPr lang="en-US" sz="1000" b="0" i="0" u="none" strike="noStrike" dirty="0">
                          <a:solidFill>
                            <a:srgbClr val="000000"/>
                          </a:solidFill>
                          <a:effectLst/>
                          <a:latin typeface="Times New Roman" panose="02020603050405020304" pitchFamily="18" charset="0"/>
                          <a:cs typeface="Times New Roman" panose="02020603050405020304" pitchFamily="18" charset="0"/>
                        </a:rPr>
                        <a:t>CAPT REPORT CABIN V/S UNSTABLE WITH BOTH SYS  DURING CLIMB AND CRZ</a:t>
                      </a:r>
                    </a:p>
                  </a:txBody>
                  <a:tcPr marL="7042" marR="7042" marT="70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50" b="0" i="0" u="none" strike="noStrike" dirty="0">
                          <a:solidFill>
                            <a:srgbClr val="000000"/>
                          </a:solidFill>
                          <a:effectLst/>
                          <a:latin typeface="Times New Roman" panose="02020603050405020304" pitchFamily="18" charset="0"/>
                          <a:cs typeface="Times New Roman" panose="02020603050405020304" pitchFamily="18" charset="0"/>
                        </a:rPr>
                        <a:t>C/O TSM TASK 21-31-00-810-868-A </a:t>
                      </a:r>
                    </a:p>
                    <a:p>
                      <a:pPr algn="l" fontAlgn="b"/>
                      <a:endParaRPr lang="en-US" sz="1050" b="0" i="0" u="none" strike="noStrike" dirty="0">
                        <a:solidFill>
                          <a:srgbClr val="000000"/>
                        </a:solidFill>
                        <a:effectLst/>
                        <a:latin typeface="Times New Roman" panose="02020603050405020304" pitchFamily="18" charset="0"/>
                        <a:cs typeface="Times New Roman" panose="02020603050405020304" pitchFamily="18" charset="0"/>
                      </a:endParaRPr>
                    </a:p>
                    <a:p>
                      <a:pPr algn="l" fontAlgn="b"/>
                      <a:r>
                        <a:rPr lang="en-US" sz="1050" b="0" i="0" u="none" strike="noStrike" dirty="0">
                          <a:solidFill>
                            <a:srgbClr val="000000"/>
                          </a:solidFill>
                          <a:effectLst/>
                          <a:latin typeface="Times New Roman" panose="02020603050405020304" pitchFamily="18" charset="0"/>
                          <a:cs typeface="Times New Roman" panose="02020603050405020304" pitchFamily="18" charset="0"/>
                        </a:rPr>
                        <a:t>- OPT the pressure control and monitoring. </a:t>
                      </a:r>
                    </a:p>
                    <a:p>
                      <a:pPr algn="l" fontAlgn="b"/>
                      <a:r>
                        <a:rPr lang="en-US" sz="1050" b="0" i="0" u="none" strike="noStrike" dirty="0">
                          <a:solidFill>
                            <a:srgbClr val="000000"/>
                          </a:solidFill>
                          <a:effectLst/>
                          <a:latin typeface="Times New Roman" panose="02020603050405020304" pitchFamily="18" charset="0"/>
                          <a:cs typeface="Times New Roman" panose="02020603050405020304" pitchFamily="18" charset="0"/>
                        </a:rPr>
                        <a:t>- Manual mode selection and manual mode pressure control and functional test of manual mode cabin altitude/outflow valve position indication </a:t>
                      </a:r>
                    </a:p>
                    <a:p>
                      <a:pPr algn="l" fontAlgn="b"/>
                      <a:r>
                        <a:rPr lang="en-US" sz="1050" b="0" i="0" u="none" strike="noStrike" dirty="0">
                          <a:solidFill>
                            <a:srgbClr val="000000"/>
                          </a:solidFill>
                          <a:effectLst/>
                          <a:latin typeface="Times New Roman" panose="02020603050405020304" pitchFamily="18" charset="0"/>
                          <a:cs typeface="Times New Roman" panose="02020603050405020304" pitchFamily="18" charset="0"/>
                        </a:rPr>
                        <a:t>- OPT flow control and indicating system </a:t>
                      </a:r>
                    </a:p>
                    <a:p>
                      <a:pPr algn="l" fontAlgn="b"/>
                      <a:r>
                        <a:rPr lang="en-US" sz="1050" b="0" i="0" u="none" strike="noStrike" dirty="0">
                          <a:solidFill>
                            <a:srgbClr val="000000"/>
                          </a:solidFill>
                          <a:effectLst/>
                          <a:latin typeface="Times New Roman" panose="02020603050405020304" pitchFamily="18" charset="0"/>
                          <a:cs typeface="Times New Roman" panose="02020603050405020304" pitchFamily="18" charset="0"/>
                        </a:rPr>
                        <a:t>- OPT flow control valves-closing;</a:t>
                      </a:r>
                    </a:p>
                    <a:p>
                      <a:pPr algn="l" fontAlgn="b"/>
                      <a:endParaRPr lang="en-US" sz="1050" b="0" i="0" u="none" strike="noStrike" dirty="0">
                        <a:solidFill>
                          <a:srgbClr val="000000"/>
                        </a:solidFill>
                        <a:effectLst/>
                        <a:latin typeface="Times New Roman" panose="02020603050405020304" pitchFamily="18" charset="0"/>
                        <a:cs typeface="Times New Roman" panose="02020603050405020304" pitchFamily="18" charset="0"/>
                      </a:endParaRPr>
                    </a:p>
                    <a:p>
                      <a:pPr algn="l" fontAlgn="b"/>
                      <a:r>
                        <a:rPr lang="en-US" sz="1050" b="0" i="0" u="none" strike="noStrike" dirty="0">
                          <a:solidFill>
                            <a:srgbClr val="000000"/>
                          </a:solidFill>
                          <a:effectLst/>
                          <a:latin typeface="Times New Roman" panose="02020603050405020304" pitchFamily="18" charset="0"/>
                          <a:cs typeface="Times New Roman" panose="02020603050405020304" pitchFamily="18" charset="0"/>
                        </a:rPr>
                        <a:t>FOUND ALL SATIS</a:t>
                      </a:r>
                      <a:br>
                        <a:rPr lang="en-US" sz="1050" b="0" i="0" u="none" strike="noStrike" dirty="0">
                          <a:solidFill>
                            <a:srgbClr val="000000"/>
                          </a:solidFill>
                          <a:effectLst/>
                          <a:latin typeface="Times New Roman" panose="02020603050405020304" pitchFamily="18" charset="0"/>
                          <a:cs typeface="Times New Roman" panose="02020603050405020304" pitchFamily="18" charset="0"/>
                        </a:rPr>
                      </a:br>
                      <a:r>
                        <a:rPr lang="en-US" sz="1050" b="0" i="0" u="none" strike="noStrike" dirty="0">
                          <a:solidFill>
                            <a:srgbClr val="000000"/>
                          </a:solidFill>
                          <a:effectLst/>
                          <a:latin typeface="Times New Roman" panose="02020603050405020304" pitchFamily="18" charset="0"/>
                          <a:cs typeface="Times New Roman" panose="02020603050405020304" pitchFamily="18" charset="0"/>
                        </a:rPr>
                        <a:t/>
                      </a:r>
                      <a:br>
                        <a:rPr lang="en-US" sz="1050" b="0" i="0" u="none" strike="noStrike" dirty="0">
                          <a:solidFill>
                            <a:srgbClr val="000000"/>
                          </a:solidFill>
                          <a:effectLst/>
                          <a:latin typeface="Times New Roman" panose="02020603050405020304" pitchFamily="18" charset="0"/>
                          <a:cs typeface="Times New Roman" panose="02020603050405020304" pitchFamily="18" charset="0"/>
                        </a:rPr>
                      </a:br>
                      <a:r>
                        <a:rPr lang="en-US" sz="1050" b="0" i="0" u="none" strike="noStrike" dirty="0">
                          <a:solidFill>
                            <a:srgbClr val="000000"/>
                          </a:solidFill>
                          <a:effectLst/>
                          <a:latin typeface="Times New Roman" panose="02020603050405020304" pitchFamily="18" charset="0"/>
                          <a:cs typeface="Times New Roman" panose="02020603050405020304" pitchFamily="18" charset="0"/>
                        </a:rPr>
                        <a:t>Ref TR 81523427/008, AB recommendation return the A392 to service and continues monitor. C/O TSM TASK 21-31-00-810-868-A EVENT CLOSED </a:t>
                      </a:r>
                    </a:p>
                  </a:txBody>
                  <a:tcPr marL="7042" marR="7042" marT="70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50" b="0" i="0" u="none" strike="noStrike">
                          <a:solidFill>
                            <a:srgbClr val="000000"/>
                          </a:solidFill>
                          <a:effectLst/>
                          <a:latin typeface="Times New Roman" panose="02020603050405020304" pitchFamily="18" charset="0"/>
                          <a:cs typeface="Times New Roman" panose="02020603050405020304" pitchFamily="18" charset="0"/>
                        </a:rPr>
                        <a:t>21-00</a:t>
                      </a:r>
                    </a:p>
                  </a:txBody>
                  <a:tcPr marL="7042" marR="7042" marT="70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vi-VN" sz="1050" b="0" i="0" u="none" strike="noStrike">
                          <a:solidFill>
                            <a:srgbClr val="000000"/>
                          </a:solidFill>
                          <a:effectLst/>
                          <a:latin typeface="Times New Roman" panose="02020603050405020304" pitchFamily="18" charset="0"/>
                          <a:cs typeface="Times New Roman" panose="02020603050405020304" pitchFamily="18" charset="0"/>
                        </a:rPr>
                        <a:t>Theo đánh giá của AIB thì hệ thống máy tính điều khiển CPC sẽ cố gắng duy trì cabin V/S trong khoảng -300/+500 SLft/min và trong một vài trường hợp thì có thể vượt cao hơn mức này, tuy nhiên việc này hoàn toàn là bình thường. Do đó nếu không có cảnh báo E/W thì sẽ không đến mức critical: In case the cabin rate is above these limits, it might be less comfortable but not necessarily critical. </a:t>
                      </a:r>
                      <a:endParaRPr lang="en-US" sz="1050" b="0" i="0" u="none" strike="noStrike">
                        <a:solidFill>
                          <a:srgbClr val="000000"/>
                        </a:solidFill>
                        <a:effectLst/>
                        <a:latin typeface="Times New Roman" panose="02020603050405020304" pitchFamily="18" charset="0"/>
                        <a:cs typeface="Times New Roman" panose="02020603050405020304" pitchFamily="18" charset="0"/>
                      </a:endParaRPr>
                    </a:p>
                    <a:p>
                      <a:pPr algn="l" fontAlgn="b"/>
                      <a:endParaRPr lang="en-US" sz="1050" b="0" i="0" u="none" strike="noStrike">
                        <a:solidFill>
                          <a:srgbClr val="000000"/>
                        </a:solidFill>
                        <a:effectLst/>
                        <a:latin typeface="Times New Roman" panose="02020603050405020304" pitchFamily="18" charset="0"/>
                        <a:cs typeface="Times New Roman" panose="02020603050405020304" pitchFamily="18" charset="0"/>
                      </a:endParaRPr>
                    </a:p>
                    <a:p>
                      <a:pPr algn="l" fontAlgn="b"/>
                      <a:r>
                        <a:rPr lang="vi-VN" sz="1050" b="1" i="0" u="none" strike="noStrike">
                          <a:solidFill>
                            <a:srgbClr val="000000"/>
                          </a:solidFill>
                          <a:effectLst/>
                          <a:latin typeface="Times New Roman" panose="02020603050405020304" pitchFamily="18" charset="0"/>
                          <a:cs typeface="Times New Roman" panose="02020603050405020304" pitchFamily="18" charset="0"/>
                        </a:rPr>
                        <a:t>Trường hợp tàu A392 hôm qua, sau khi thực hiện TS thì không phát hiện bất thường và AIB cũng cfm là V/S khi climb như vậy là bình thường. </a:t>
                      </a:r>
                      <a:endParaRPr lang="en-US" sz="1050" b="1" i="0" u="none" strike="noStrike">
                        <a:solidFill>
                          <a:srgbClr val="000000"/>
                        </a:solidFill>
                        <a:effectLst/>
                        <a:latin typeface="Times New Roman" panose="02020603050405020304" pitchFamily="18" charset="0"/>
                        <a:cs typeface="Times New Roman" panose="02020603050405020304" pitchFamily="18" charset="0"/>
                      </a:endParaRPr>
                    </a:p>
                    <a:p>
                      <a:pPr algn="l" fontAlgn="b"/>
                      <a:endParaRPr lang="en-US" sz="1050" b="1" i="0" u="none" strike="noStrike">
                        <a:solidFill>
                          <a:srgbClr val="000000"/>
                        </a:solidFill>
                        <a:effectLst/>
                        <a:latin typeface="Times New Roman" panose="02020603050405020304" pitchFamily="18" charset="0"/>
                        <a:cs typeface="Times New Roman" panose="02020603050405020304" pitchFamily="18" charset="0"/>
                      </a:endParaRPr>
                    </a:p>
                    <a:p>
                      <a:pPr algn="l" fontAlgn="b"/>
                      <a:r>
                        <a:rPr lang="vi-VN" sz="1050" b="1" i="0" u="none" strike="noStrike">
                          <a:solidFill>
                            <a:srgbClr val="000000"/>
                          </a:solidFill>
                          <a:effectLst/>
                          <a:latin typeface="Times New Roman" panose="02020603050405020304" pitchFamily="18" charset="0"/>
                          <a:cs typeface="Times New Roman" panose="02020603050405020304" pitchFamily="18" charset="0"/>
                        </a:rPr>
                        <a:t>Ban KT đã thông báo cho ĐB để theo dõi thêm.</a:t>
                      </a:r>
                    </a:p>
                  </a:txBody>
                  <a:tcPr marL="7042" marR="7042" marT="70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773541567"/>
                  </a:ext>
                </a:extLst>
              </a:tr>
              <a:tr h="1748806">
                <a:tc>
                  <a:txBody>
                    <a:bodyPr/>
                    <a:lstStyle/>
                    <a:p>
                      <a:pPr algn="ctr" fontAlgn="b"/>
                      <a:r>
                        <a:rPr lang="en-US" sz="1000" b="0" i="0" u="none" strike="noStrike">
                          <a:solidFill>
                            <a:srgbClr val="000000"/>
                          </a:solidFill>
                          <a:effectLst/>
                          <a:latin typeface="Times New Roman" panose="02020603050405020304" pitchFamily="18" charset="0"/>
                          <a:cs typeface="Times New Roman" panose="02020603050405020304" pitchFamily="18" charset="0"/>
                        </a:rPr>
                        <a:t>2</a:t>
                      </a:r>
                    </a:p>
                  </a:txBody>
                  <a:tcPr marL="7042" marR="7042" marT="70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Times New Roman" panose="02020603050405020304" pitchFamily="18" charset="0"/>
                          <a:cs typeface="Times New Roman" panose="02020603050405020304" pitchFamily="18" charset="0"/>
                        </a:rPr>
                        <a:t>A321</a:t>
                      </a:r>
                    </a:p>
                  </a:txBody>
                  <a:tcPr marL="7042" marR="7042" marT="70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Times New Roman" panose="02020603050405020304" pitchFamily="18" charset="0"/>
                          <a:cs typeface="Times New Roman" panose="02020603050405020304" pitchFamily="18" charset="0"/>
                        </a:rPr>
                        <a:t>A327</a:t>
                      </a:r>
                    </a:p>
                  </a:txBody>
                  <a:tcPr marL="7042" marR="7042" marT="70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Times New Roman" panose="02020603050405020304" pitchFamily="18" charset="0"/>
                          <a:cs typeface="Times New Roman" panose="02020603050405020304" pitchFamily="18" charset="0"/>
                        </a:rPr>
                        <a:t>11:03 08/01/2025</a:t>
                      </a:r>
                    </a:p>
                  </a:txBody>
                  <a:tcPr marL="7042" marR="7042" marT="70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Times New Roman" panose="02020603050405020304" pitchFamily="18" charset="0"/>
                          <a:cs typeface="Times New Roman" panose="02020603050405020304" pitchFamily="18" charset="0"/>
                        </a:rPr>
                        <a:t>18:00 08/01/2025</a:t>
                      </a:r>
                    </a:p>
                  </a:txBody>
                  <a:tcPr marL="7042" marR="7042" marT="70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Times New Roman" panose="02020603050405020304" pitchFamily="18" charset="0"/>
                          <a:cs typeface="Times New Roman" panose="02020603050405020304" pitchFamily="18" charset="0"/>
                        </a:rPr>
                        <a:t>HAN</a:t>
                      </a:r>
                    </a:p>
                  </a:txBody>
                  <a:tcPr marL="7042" marR="7042" marT="70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sz="1000" b="1" i="0" u="none" strike="noStrike" dirty="0" err="1" smtClean="0">
                          <a:solidFill>
                            <a:srgbClr val="000000"/>
                          </a:solidFill>
                          <a:effectLst/>
                          <a:latin typeface="Times New Roman" panose="02020603050405020304" pitchFamily="18" charset="0"/>
                          <a:cs typeface="Times New Roman" panose="02020603050405020304" pitchFamily="18" charset="0"/>
                        </a:rPr>
                        <a:t>AOG&amp;Delay</a:t>
                      </a:r>
                      <a:endParaRPr lang="en-US" sz="1000" b="1" i="0" u="none" strike="noStrike" dirty="0" smtClean="0">
                        <a:solidFill>
                          <a:srgbClr val="000000"/>
                        </a:solidFill>
                        <a:effectLst/>
                        <a:latin typeface="Times New Roman" panose="02020603050405020304" pitchFamily="18" charset="0"/>
                        <a:cs typeface="Times New Roman" panose="02020603050405020304" pitchFamily="18" charset="0"/>
                      </a:endParaRPr>
                    </a:p>
                    <a:p>
                      <a:pPr algn="ctr" fontAlgn="b"/>
                      <a:endParaRPr lang="en-US" sz="1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042" marR="7042" marT="70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dirty="0">
                          <a:solidFill>
                            <a:srgbClr val="000000"/>
                          </a:solidFill>
                          <a:effectLst/>
                          <a:latin typeface="Times New Roman" panose="02020603050405020304" pitchFamily="18" charset="0"/>
                          <a:cs typeface="Times New Roman" panose="02020603050405020304" pitchFamily="18" charset="0"/>
                        </a:rPr>
                        <a:t>HYD LEAK AT L/H MLG LOCKING ACTUATOR </a:t>
                      </a:r>
                    </a:p>
                  </a:txBody>
                  <a:tcPr marL="7042" marR="7042" marT="70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vi-VN" sz="1050" b="0" i="0" u="none" strike="noStrike" dirty="0">
                          <a:solidFill>
                            <a:srgbClr val="000000"/>
                          </a:solidFill>
                          <a:effectLst/>
                          <a:latin typeface="Times New Roman" panose="02020603050405020304" pitchFamily="18" charset="0"/>
                          <a:cs typeface="Times New Roman" panose="02020603050405020304" pitchFamily="18" charset="0"/>
                        </a:rPr>
                        <a:t>REPLACED L/H MLG LOCKING ACTUATOR, LEAK CHECK SATIS, OPS TEST OK</a:t>
                      </a:r>
                      <a:br>
                        <a:rPr lang="vi-VN" sz="1050" b="0" i="0" u="none" strike="noStrike" dirty="0">
                          <a:solidFill>
                            <a:srgbClr val="000000"/>
                          </a:solidFill>
                          <a:effectLst/>
                          <a:latin typeface="Times New Roman" panose="02020603050405020304" pitchFamily="18" charset="0"/>
                          <a:cs typeface="Times New Roman" panose="02020603050405020304" pitchFamily="18" charset="0"/>
                        </a:rPr>
                      </a:br>
                      <a:r>
                        <a:rPr lang="vi-VN" sz="1050" b="0" i="0" u="none" strike="noStrike" dirty="0">
                          <a:solidFill>
                            <a:srgbClr val="000000"/>
                          </a:solidFill>
                          <a:effectLst/>
                          <a:latin typeface="Times New Roman" panose="02020603050405020304" pitchFamily="18" charset="0"/>
                          <a:cs typeface="Times New Roman" panose="02020603050405020304" pitchFamily="18" charset="0"/>
                        </a:rPr>
                        <a:t/>
                      </a:r>
                      <a:br>
                        <a:rPr lang="vi-VN" sz="1050" b="0" i="0" u="none" strike="noStrike" dirty="0">
                          <a:solidFill>
                            <a:srgbClr val="000000"/>
                          </a:solidFill>
                          <a:effectLst/>
                          <a:latin typeface="Times New Roman" panose="02020603050405020304" pitchFamily="18" charset="0"/>
                          <a:cs typeface="Times New Roman" panose="02020603050405020304" pitchFamily="18" charset="0"/>
                        </a:rPr>
                      </a:br>
                      <a:r>
                        <a:rPr lang="vi-VN" sz="1050" b="0" i="0" u="none" strike="noStrike" dirty="0">
                          <a:solidFill>
                            <a:srgbClr val="000000"/>
                          </a:solidFill>
                          <a:effectLst/>
                          <a:latin typeface="Times New Roman" panose="02020603050405020304" pitchFamily="18" charset="0"/>
                          <a:cs typeface="Times New Roman" panose="02020603050405020304" pitchFamily="18" charset="0"/>
                        </a:rPr>
                        <a:t/>
                      </a:r>
                      <a:br>
                        <a:rPr lang="vi-VN" sz="1050" b="0" i="0" u="none" strike="noStrike" dirty="0">
                          <a:solidFill>
                            <a:srgbClr val="000000"/>
                          </a:solidFill>
                          <a:effectLst/>
                          <a:latin typeface="Times New Roman" panose="02020603050405020304" pitchFamily="18" charset="0"/>
                          <a:cs typeface="Times New Roman" panose="02020603050405020304" pitchFamily="18" charset="0"/>
                        </a:rPr>
                      </a:br>
                      <a:endParaRPr lang="vi-VN" sz="105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042" marR="7042" marT="70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50" b="0" i="0" u="none" strike="noStrike">
                          <a:solidFill>
                            <a:srgbClr val="000000"/>
                          </a:solidFill>
                          <a:effectLst/>
                          <a:latin typeface="Times New Roman" panose="02020603050405020304" pitchFamily="18" charset="0"/>
                          <a:cs typeface="Times New Roman" panose="02020603050405020304" pitchFamily="18" charset="0"/>
                        </a:rPr>
                        <a:t> </a:t>
                      </a:r>
                    </a:p>
                  </a:txBody>
                  <a:tcPr marL="7042" marR="7042" marT="70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vi-VN" sz="1050" b="0" i="0" u="none" strike="noStrike" dirty="0">
                          <a:solidFill>
                            <a:srgbClr val="000000"/>
                          </a:solidFill>
                          <a:effectLst/>
                          <a:latin typeface="Times New Roman" panose="02020603050405020304" pitchFamily="18" charset="0"/>
                          <a:cs typeface="Times New Roman" panose="02020603050405020304" pitchFamily="18" charset="0"/>
                        </a:rPr>
                        <a:t>Tau A327 đã thực hiện clean locking actuator trong tháng 12/2024. </a:t>
                      </a:r>
                      <a:endParaRPr lang="en-US" sz="1050" b="0" i="0" u="none" strike="noStrike" dirty="0">
                        <a:solidFill>
                          <a:srgbClr val="000000"/>
                        </a:solidFill>
                        <a:effectLst/>
                        <a:latin typeface="Times New Roman" panose="02020603050405020304" pitchFamily="18" charset="0"/>
                        <a:cs typeface="Times New Roman" panose="02020603050405020304" pitchFamily="18" charset="0"/>
                      </a:endParaRPr>
                    </a:p>
                    <a:p>
                      <a:pPr algn="l" fontAlgn="b"/>
                      <a:endParaRPr lang="en-US" sz="1050" b="1" i="0" u="none" strike="noStrike" dirty="0">
                        <a:solidFill>
                          <a:srgbClr val="000000"/>
                        </a:solidFill>
                        <a:effectLst/>
                        <a:latin typeface="Times New Roman" panose="02020603050405020304" pitchFamily="18" charset="0"/>
                        <a:cs typeface="Times New Roman" panose="02020603050405020304" pitchFamily="18" charset="0"/>
                      </a:endParaRPr>
                    </a:p>
                    <a:p>
                      <a:pPr algn="l" fontAlgn="b"/>
                      <a:r>
                        <a:rPr lang="vi-VN" sz="1050" b="1" i="0" u="none" strike="noStrike" dirty="0">
                          <a:solidFill>
                            <a:srgbClr val="000000"/>
                          </a:solidFill>
                          <a:effectLst/>
                          <a:latin typeface="Times New Roman" panose="02020603050405020304" pitchFamily="18" charset="0"/>
                          <a:cs typeface="Times New Roman" panose="02020603050405020304" pitchFamily="18" charset="0"/>
                        </a:rPr>
                        <a:t>Hiện tượng leak tại vị trí này đã được ghi nhận và triển khai EO clean theo tần suất 30 days theo khuyến cáo cửa AIB do lo ngại bui bẩn bám trên mặt actuator sẽ làm hỏng seal trong quá trình hoạt động. Ngoài ra AIB chưa có thêm khuyến cáo gì đối với vị trí này. </a:t>
                      </a:r>
                      <a:endParaRPr lang="en-US" sz="1050" b="1" i="0" u="none" strike="noStrike" dirty="0">
                        <a:solidFill>
                          <a:srgbClr val="000000"/>
                        </a:solidFill>
                        <a:effectLst/>
                        <a:latin typeface="Times New Roman" panose="02020603050405020304" pitchFamily="18" charset="0"/>
                        <a:cs typeface="Times New Roman" panose="02020603050405020304" pitchFamily="18" charset="0"/>
                      </a:endParaRPr>
                    </a:p>
                    <a:p>
                      <a:pPr algn="l" fontAlgn="b"/>
                      <a:endParaRPr lang="en-US" sz="1050" b="0" i="0" u="none" strike="noStrike" dirty="0">
                        <a:solidFill>
                          <a:srgbClr val="000000"/>
                        </a:solidFill>
                        <a:effectLst/>
                        <a:latin typeface="Times New Roman" panose="02020603050405020304" pitchFamily="18" charset="0"/>
                        <a:cs typeface="Times New Roman" panose="02020603050405020304" pitchFamily="18" charset="0"/>
                      </a:endParaRPr>
                    </a:p>
                    <a:p>
                      <a:pPr algn="l" fontAlgn="b"/>
                      <a:r>
                        <a:rPr lang="vi-VN" sz="1050" b="0" i="0" u="none" strike="noStrike" dirty="0">
                          <a:solidFill>
                            <a:srgbClr val="000000"/>
                          </a:solidFill>
                          <a:effectLst/>
                          <a:latin typeface="Times New Roman" panose="02020603050405020304" pitchFamily="18" charset="0"/>
                          <a:cs typeface="Times New Roman" panose="02020603050405020304" pitchFamily="18" charset="0"/>
                        </a:rPr>
                        <a:t>Tiết tục theo dõi thêm</a:t>
                      </a:r>
                    </a:p>
                  </a:txBody>
                  <a:tcPr marL="7042" marR="7042" marT="70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061618358"/>
                  </a:ext>
                </a:extLst>
              </a:tr>
            </a:tbl>
          </a:graphicData>
        </a:graphic>
      </p:graphicFrame>
      <p:sp>
        <p:nvSpPr>
          <p:cNvPr id="9" name="TextBox 8">
            <a:extLst>
              <a:ext uri="{FF2B5EF4-FFF2-40B4-BE49-F238E27FC236}">
                <a16:creationId xmlns:a16="http://schemas.microsoft.com/office/drawing/2014/main" xmlns="" id="{5FE3B712-9690-42A3-A50E-24E99475755A}"/>
              </a:ext>
            </a:extLst>
          </p:cNvPr>
          <p:cNvSpPr txBox="1"/>
          <p:nvPr/>
        </p:nvSpPr>
        <p:spPr>
          <a:xfrm>
            <a:off x="152399" y="69925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2</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Delay: 04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p>
        </p:txBody>
      </p:sp>
    </p:spTree>
    <p:extLst>
      <p:ext uri="{BB962C8B-B14F-4D97-AF65-F5344CB8AC3E}">
        <p14:creationId xmlns:p14="http://schemas.microsoft.com/office/powerpoint/2010/main" val="29431756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xmlns="" id="{81F898FE-1C23-3C3A-4EC0-D12C3C12D8E6}"/>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xmlns="" id="{98D5E2B8-A451-64AB-368F-F51890140E17}"/>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xmlns="" id="{277A20DB-6B9C-2BCB-67C1-A7901B4C6C83}"/>
              </a:ext>
            </a:extLst>
          </p:cNvPr>
          <p:cNvSpPr>
            <a:spLocks noGrp="1"/>
          </p:cNvSpPr>
          <p:nvPr>
            <p:ph type="title"/>
          </p:nvPr>
        </p:nvSpPr>
        <p:spPr>
          <a:xfrm>
            <a:off x="0" y="0"/>
            <a:ext cx="9155467" cy="551496"/>
          </a:xfrm>
        </p:spPr>
        <p:txBody>
          <a:bodyPr rtlCol="0">
            <a:normAutofit fontScale="90000"/>
          </a:bodyPr>
          <a:lstStyle/>
          <a:p>
            <a:pPr>
              <a:defRPr/>
            </a:pPr>
            <a:r>
              <a:rPr lang="en-US" sz="3733" dirty="0">
                <a:ln w="0"/>
                <a:solidFill>
                  <a:schemeClr val="accent4"/>
                </a:solidFill>
                <a:latin typeface="Times New Roman" panose="02020603050405020304" pitchFamily="18" charset="0"/>
                <a:cs typeface="Times New Roman" panose="02020603050405020304" pitchFamily="18" charset="0"/>
              </a:rPr>
              <a:t>TÌNH TRẠNG KỸ THUẬT ĐỘI BAY – A321</a:t>
            </a:r>
            <a:endParaRPr lang="vi-VN" sz="3733" dirty="0">
              <a:ln w="0"/>
              <a:solidFill>
                <a:schemeClr val="accent4"/>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xmlns="" id="{6BD16072-5F16-ABB3-FE39-D6FB0C869166}"/>
              </a:ext>
            </a:extLst>
          </p:cNvPr>
          <p:cNvSpPr txBox="1"/>
          <p:nvPr/>
        </p:nvSpPr>
        <p:spPr>
          <a:xfrm>
            <a:off x="152399" y="1066800"/>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Delay</a:t>
            </a:r>
            <a:r>
              <a:rPr kumimoji="0" lang="en-US" sz="16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04</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xmlns="" id="{353477E9-F575-446F-8DA2-A01DEF869A22}"/>
              </a:ext>
            </a:extLst>
          </p:cNvPr>
          <p:cNvSpPr txBox="1"/>
          <p:nvPr/>
        </p:nvSpPr>
        <p:spPr>
          <a:xfrm>
            <a:off x="152399" y="69925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2</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Delay: 04 </a:t>
            </a:r>
            <a:r>
              <a:rPr lang="en-US" sz="1600" b="1" dirty="0" smtClean="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p>
        </p:txBody>
      </p:sp>
      <p:graphicFrame>
        <p:nvGraphicFramePr>
          <p:cNvPr id="3" name="Table 2">
            <a:extLst>
              <a:ext uri="{FF2B5EF4-FFF2-40B4-BE49-F238E27FC236}">
                <a16:creationId xmlns:a16="http://schemas.microsoft.com/office/drawing/2014/main" xmlns="" id="{1150C78F-FE7A-4313-AD71-E24805C2C188}"/>
              </a:ext>
            </a:extLst>
          </p:cNvPr>
          <p:cNvGraphicFramePr>
            <a:graphicFrameLocks noGrp="1"/>
          </p:cNvGraphicFramePr>
          <p:nvPr>
            <p:extLst>
              <p:ext uri="{D42A27DB-BD31-4B8C-83A1-F6EECF244321}">
                <p14:modId xmlns:p14="http://schemas.microsoft.com/office/powerpoint/2010/main" val="3185934607"/>
              </p:ext>
            </p:extLst>
          </p:nvPr>
        </p:nvGraphicFramePr>
        <p:xfrm>
          <a:off x="162206" y="1451701"/>
          <a:ext cx="11525120" cy="3196499"/>
        </p:xfrm>
        <a:graphic>
          <a:graphicData uri="http://schemas.openxmlformats.org/drawingml/2006/table">
            <a:tbl>
              <a:tblPr/>
              <a:tblGrid>
                <a:gridCol w="353913"/>
                <a:gridCol w="353913">
                  <a:extLst>
                    <a:ext uri="{9D8B030D-6E8A-4147-A177-3AD203B41FA5}">
                      <a16:colId xmlns:a16="http://schemas.microsoft.com/office/drawing/2014/main" xmlns="" val="451209908"/>
                    </a:ext>
                  </a:extLst>
                </a:gridCol>
                <a:gridCol w="744483">
                  <a:extLst>
                    <a:ext uri="{9D8B030D-6E8A-4147-A177-3AD203B41FA5}">
                      <a16:colId xmlns:a16="http://schemas.microsoft.com/office/drawing/2014/main" xmlns="" val="3499067613"/>
                    </a:ext>
                  </a:extLst>
                </a:gridCol>
                <a:gridCol w="324677">
                  <a:extLst>
                    <a:ext uri="{9D8B030D-6E8A-4147-A177-3AD203B41FA5}">
                      <a16:colId xmlns:a16="http://schemas.microsoft.com/office/drawing/2014/main" xmlns="" val="1121215593"/>
                    </a:ext>
                  </a:extLst>
                </a:gridCol>
                <a:gridCol w="501941">
                  <a:extLst>
                    <a:ext uri="{9D8B030D-6E8A-4147-A177-3AD203B41FA5}">
                      <a16:colId xmlns:a16="http://schemas.microsoft.com/office/drawing/2014/main" xmlns="" val="1714519150"/>
                    </a:ext>
                  </a:extLst>
                </a:gridCol>
                <a:gridCol w="443160">
                  <a:extLst>
                    <a:ext uri="{9D8B030D-6E8A-4147-A177-3AD203B41FA5}">
                      <a16:colId xmlns:a16="http://schemas.microsoft.com/office/drawing/2014/main" xmlns="" val="2415225292"/>
                    </a:ext>
                  </a:extLst>
                </a:gridCol>
                <a:gridCol w="429003">
                  <a:extLst>
                    <a:ext uri="{9D8B030D-6E8A-4147-A177-3AD203B41FA5}">
                      <a16:colId xmlns:a16="http://schemas.microsoft.com/office/drawing/2014/main" xmlns="" val="2236556562"/>
                    </a:ext>
                  </a:extLst>
                </a:gridCol>
                <a:gridCol w="1403341">
                  <a:extLst>
                    <a:ext uri="{9D8B030D-6E8A-4147-A177-3AD203B41FA5}">
                      <a16:colId xmlns:a16="http://schemas.microsoft.com/office/drawing/2014/main" xmlns="" val="1473398694"/>
                    </a:ext>
                  </a:extLst>
                </a:gridCol>
                <a:gridCol w="3513321">
                  <a:extLst>
                    <a:ext uri="{9D8B030D-6E8A-4147-A177-3AD203B41FA5}">
                      <a16:colId xmlns:a16="http://schemas.microsoft.com/office/drawing/2014/main" xmlns="" val="1833080073"/>
                    </a:ext>
                  </a:extLst>
                </a:gridCol>
                <a:gridCol w="266464">
                  <a:extLst>
                    <a:ext uri="{9D8B030D-6E8A-4147-A177-3AD203B41FA5}">
                      <a16:colId xmlns:a16="http://schemas.microsoft.com/office/drawing/2014/main" xmlns="" val="4129607796"/>
                    </a:ext>
                  </a:extLst>
                </a:gridCol>
                <a:gridCol w="3190904">
                  <a:extLst>
                    <a:ext uri="{9D8B030D-6E8A-4147-A177-3AD203B41FA5}">
                      <a16:colId xmlns:a16="http://schemas.microsoft.com/office/drawing/2014/main" xmlns="" val="1714432138"/>
                    </a:ext>
                  </a:extLst>
                </a:gridCol>
              </a:tblGrid>
              <a:tr h="394064">
                <a:tc>
                  <a:txBody>
                    <a:bodyPr/>
                    <a:lstStyle/>
                    <a:p>
                      <a:pPr algn="ctr" fontAlgn="ctr"/>
                      <a:r>
                        <a:rPr lang="en-US" sz="1000" b="1" i="0" u="none" strike="noStrike" dirty="0" smtClean="0">
                          <a:solidFill>
                            <a:srgbClr val="000000"/>
                          </a:solidFill>
                          <a:effectLst/>
                          <a:latin typeface="Times New Roman" panose="02020603050405020304" pitchFamily="18" charset="0"/>
                          <a:cs typeface="Times New Roman" panose="02020603050405020304" pitchFamily="18" charset="0"/>
                        </a:rPr>
                        <a:t>STT</a:t>
                      </a:r>
                      <a:endParaRPr lang="en-US" sz="1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6191" marR="6191" marT="61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dirty="0">
                          <a:solidFill>
                            <a:srgbClr val="000000"/>
                          </a:solidFill>
                          <a:effectLst/>
                          <a:latin typeface="Times New Roman" panose="02020603050405020304" pitchFamily="18" charset="0"/>
                          <a:cs typeface="Times New Roman" panose="02020603050405020304" pitchFamily="18" charset="0"/>
                        </a:rPr>
                        <a:t>A/C</a:t>
                      </a:r>
                    </a:p>
                  </a:txBody>
                  <a:tcPr marL="6191" marR="6191" marT="61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6191" marR="6191" marT="61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cs typeface="Times New Roman" panose="02020603050405020304" pitchFamily="18" charset="0"/>
                        </a:rPr>
                        <a:t>STA</a:t>
                      </a:r>
                    </a:p>
                  </a:txBody>
                  <a:tcPr marL="6191" marR="6191" marT="61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6191" marR="6191" marT="61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cs typeface="Times New Roman" panose="02020603050405020304" pitchFamily="18" charset="0"/>
                        </a:rPr>
                        <a:t>FLIGHT NO</a:t>
                      </a:r>
                    </a:p>
                  </a:txBody>
                  <a:tcPr marL="6191" marR="6191" marT="61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cs typeface="Times New Roman" panose="02020603050405020304" pitchFamily="18" charset="0"/>
                        </a:rPr>
                        <a:t>ROUTE</a:t>
                      </a:r>
                    </a:p>
                  </a:txBody>
                  <a:tcPr marL="6191" marR="6191" marT="61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6191" marR="6191" marT="61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6191" marR="6191" marT="61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cs typeface="Times New Roman" panose="02020603050405020304" pitchFamily="18" charset="0"/>
                        </a:rPr>
                        <a:t>ATA</a:t>
                      </a:r>
                    </a:p>
                  </a:txBody>
                  <a:tcPr marL="6191" marR="6191" marT="61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6191" marR="6191" marT="61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xmlns="" val="2690458182"/>
                  </a:ext>
                </a:extLst>
              </a:tr>
              <a:tr h="543433">
                <a:tc>
                  <a:txBody>
                    <a:bodyPr/>
                    <a:lstStyle/>
                    <a:p>
                      <a:pPr algn="l" fontAlgn="b"/>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3</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A602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07:00 10/01/2025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NRT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Times New Roman" panose="02020603050405020304" pitchFamily="18" charset="0"/>
                          <a:cs typeface="Times New Roman" panose="02020603050405020304" pitchFamily="18" charset="0"/>
                        </a:rPr>
                        <a:t>58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VN319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NRT-DAD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HOT AIR SYS INOP</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C/O RAISED ADD B1890 ACT EVENT CLOSED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21-00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1" i="0" u="none" strike="noStrike">
                          <a:solidFill>
                            <a:srgbClr val="000000"/>
                          </a:solidFill>
                          <a:effectLst/>
                          <a:latin typeface="Times New Roman" panose="02020603050405020304" pitchFamily="18" charset="0"/>
                          <a:cs typeface="Times New Roman" panose="02020603050405020304" pitchFamily="18" charset="0"/>
                        </a:rPr>
                        <a:t>ADD vẫn đang mở, Vaeco đang xin lịch dừng để TS. </a:t>
                      </a:r>
                      <a:r>
                        <a:rPr lang="en-US" sz="1100" b="0" i="0" u="none" strike="noStrike">
                          <a:solidFill>
                            <a:srgbClr val="000000"/>
                          </a:solidFill>
                          <a:effectLst/>
                          <a:latin typeface="Times New Roman" panose="02020603050405020304" pitchFamily="18" charset="0"/>
                          <a:cs typeface="Times New Roman" panose="02020603050405020304" pitchFamily="18" charset="0"/>
                        </a:rPr>
                        <a:t>Theo dõi thêm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809468994"/>
                  </a:ext>
                </a:extLst>
              </a:tr>
              <a:tr h="2189675">
                <a:tc>
                  <a:txBody>
                    <a:bodyPr/>
                    <a:lstStyle/>
                    <a:p>
                      <a:pPr algn="l" fontAlgn="b"/>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4</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A393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15:30 07/01/2025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1" i="0" u="none" strike="noStrike">
                          <a:solidFill>
                            <a:srgbClr val="000000"/>
                          </a:solidFill>
                          <a:effectLst/>
                          <a:latin typeface="Times New Roman" panose="02020603050405020304" pitchFamily="18" charset="0"/>
                          <a:cs typeface="Times New Roman" panose="02020603050405020304" pitchFamily="18" charset="0"/>
                        </a:rPr>
                        <a:t>45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VN920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SGN-PNH</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ENG 2 COMPRESSOR VANE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C/O </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GROUND SCAN FADEC, ERU AT IDLE FOUND SATIS.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72-00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Động cơ V16538 có TSN/CSN = 22352.50/14609, TSO/CSO = 10182.50/7427. Hỏng hóc COMPRESSOR VANE do hệ thống LPC 2.5 Bleed  bị kẹt là hỏng hóc thường xuyên xảy ra đối với động cơ V2500. Hỏng hóc này chủ yếu </a:t>
                      </a:r>
                      <a:r>
                        <a:rPr lang="vi-VN" sz="1100" b="1" i="0" u="none" strike="noStrike" dirty="0">
                          <a:solidFill>
                            <a:srgbClr val="000000"/>
                          </a:solidFill>
                          <a:effectLst/>
                          <a:latin typeface="Times New Roman" panose="02020603050405020304" pitchFamily="18" charset="0"/>
                          <a:cs typeface="Times New Roman" panose="02020603050405020304" pitchFamily="18" charset="0"/>
                        </a:rPr>
                        <a:t>do LPC 2.5 Bleed Valve bị kẹt tạm thời lúc cất cánh, sau đó tự hồi phục. PW chưa có giải pháp triệt để. Hiện chỉ có giải pháp tạm thời là bôi trơn hệ thống </a:t>
                      </a:r>
                      <a:r>
                        <a:rPr lang="vi-VN" sz="1100" b="0" i="0" u="none" strike="noStrike" dirty="0">
                          <a:solidFill>
                            <a:srgbClr val="000000"/>
                          </a:solidFill>
                          <a:effectLst/>
                          <a:latin typeface="Times New Roman" panose="02020603050405020304" pitchFamily="18" charset="0"/>
                          <a:cs typeface="Times New Roman" panose="02020603050405020304" pitchFamily="18" charset="0"/>
                        </a:rPr>
                        <a:t>LPC 2.5 Bleed tuy nhiên sau một thời gian có thể bị lại. Ban KT đã ban hành chương trình bôi trơn chủ động tần suất 120 ngày đối với các động cơ có lịch sử hỏng hóc lặp lại. </a:t>
                      </a:r>
                      <a:r>
                        <a:rPr lang="vi-VN" sz="1100" b="1" i="0" u="none" strike="noStrike" dirty="0">
                          <a:solidFill>
                            <a:srgbClr val="000000"/>
                          </a:solidFill>
                          <a:effectLst/>
                          <a:latin typeface="+mn-lt"/>
                          <a:cs typeface="Times New Roman" panose="02020603050405020304" pitchFamily="18" charset="0"/>
                        </a:rPr>
                        <a:t>Động cơ V16538 bị lặp lại, sẽ cho bôi trơn chủ động tần suất 120 ngày và tiếp tục theo dõi.</a:t>
                      </a:r>
                      <a:endParaRPr lang="vi-VN"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414767023"/>
                  </a:ext>
                </a:extLst>
              </a:tr>
            </a:tbl>
          </a:graphicData>
        </a:graphic>
      </p:graphicFrame>
    </p:spTree>
    <p:extLst>
      <p:ext uri="{BB962C8B-B14F-4D97-AF65-F5344CB8AC3E}">
        <p14:creationId xmlns:p14="http://schemas.microsoft.com/office/powerpoint/2010/main" val="41486363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Slide Number Placeholder 3"/>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C4F79AF3-24C5-47EC-8B09-710ADAA97244}" type="slidenum">
              <a:rPr lang="en-US" altLang="en-US" sz="1200" smtClean="0">
                <a:solidFill>
                  <a:srgbClr val="D2A43B"/>
                </a:solidFill>
                <a:latin typeface="Montserrat"/>
              </a:rPr>
              <a:pPr fontAlgn="base">
                <a:lnSpc>
                  <a:spcPct val="100000"/>
                </a:lnSpc>
                <a:spcBef>
                  <a:spcPct val="0"/>
                </a:spcBef>
                <a:spcAft>
                  <a:spcPct val="0"/>
                </a:spcAft>
                <a:buFontTx/>
                <a:buNone/>
              </a:pPr>
              <a:t>8</a:t>
            </a:fld>
            <a:endParaRPr lang="en-US" altLang="en-US" sz="1200">
              <a:solidFill>
                <a:srgbClr val="D2A43B"/>
              </a:solidFill>
              <a:latin typeface="Montserrat"/>
            </a:endParaRPr>
          </a:p>
        </p:txBody>
      </p:sp>
      <p:sp>
        <p:nvSpPr>
          <p:cNvPr id="1048638" name="Title 4"/>
          <p:cNvSpPr>
            <a:spLocks noGrp="1"/>
          </p:cNvSpPr>
          <p:nvPr>
            <p:ph type="title"/>
          </p:nvPr>
        </p:nvSpPr>
        <p:spPr>
          <a:xfrm>
            <a:off x="228600" y="251600"/>
            <a:ext cx="8686799" cy="815200"/>
          </a:xfrm>
        </p:spPr>
        <p:txBody>
          <a:bodyPr rtlCol="0">
            <a:normAutofit/>
          </a:bodyPr>
          <a:lstStyle/>
          <a:p>
            <a:pPr eaLnBrk="1" fontAlgn="auto" hangingPunct="1">
              <a:spcAft>
                <a:spcPts val="0"/>
              </a:spcAft>
              <a:defRPr/>
            </a:pPr>
            <a:r>
              <a:rPr lang="en-US" sz="2800" dirty="0">
                <a:ln w="0"/>
                <a:solidFill>
                  <a:schemeClr val="accent4"/>
                </a:solidFill>
                <a:latin typeface="Times New Roman" panose="02020603050405020304" pitchFamily="18" charset="0"/>
                <a:cs typeface="Times New Roman" panose="02020603050405020304" pitchFamily="18" charset="0"/>
              </a:rPr>
              <a:t>TÌNH TRẠNG KỸ THUẬT ĐỘI BAY A320/ A321 </a:t>
            </a:r>
            <a:endParaRPr lang="vi-VN" sz="2800" dirty="0">
              <a:ln w="0"/>
              <a:solidFill>
                <a:schemeClr val="accent4"/>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xmlns="" id="{4311CC99-42A4-BD10-390B-EE6B3A4DC329}"/>
              </a:ext>
            </a:extLst>
          </p:cNvPr>
          <p:cNvSpPr txBox="1"/>
          <p:nvPr/>
        </p:nvSpPr>
        <p:spPr>
          <a:xfrm>
            <a:off x="304800" y="1066800"/>
            <a:ext cx="10287000" cy="3046988"/>
          </a:xfrm>
          <a:prstGeom prst="rect">
            <a:avLst/>
          </a:prstGeom>
          <a:noFill/>
        </p:spPr>
        <p:txBody>
          <a:bodyPr wrap="square">
            <a:spAutoFit/>
          </a:bodyPr>
          <a:lstStyle/>
          <a:p>
            <a:pPr lvl="0" algn="just">
              <a:defRPr/>
            </a:pPr>
            <a:r>
              <a:rPr lang="en-US" sz="1600" b="1" dirty="0" err="1">
                <a:latin typeface="Times New Roman" panose="02020603050405020304" pitchFamily="18" charset="0"/>
                <a:cs typeface="Times New Roman" panose="02020603050405020304" pitchFamily="18" charset="0"/>
              </a:rPr>
              <a:t>Nhận</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xét</a:t>
            </a:r>
            <a:r>
              <a:rPr lang="en-US" sz="1600" b="1" dirty="0">
                <a:latin typeface="Times New Roman" panose="02020603050405020304" pitchFamily="18" charset="0"/>
                <a:cs typeface="Times New Roman" panose="02020603050405020304" pitchFamily="18" charset="0"/>
              </a:rPr>
              <a:t>: </a:t>
            </a:r>
            <a:r>
              <a:rPr lang="vi-VN" sz="1600" dirty="0">
                <a:latin typeface="Times New Roman" panose="02020603050405020304" pitchFamily="18" charset="0"/>
                <a:cs typeface="Times New Roman" panose="02020603050405020304" pitchFamily="18" charset="0"/>
              </a:rPr>
              <a:t>Một số hỏng hóc nổi cộm đội bay A321 trong tuần</a:t>
            </a:r>
            <a:r>
              <a:rPr lang="vi-VN" sz="1600" dirty="0" smtClean="0">
                <a:latin typeface="Times New Roman" panose="02020603050405020304" pitchFamily="18" charset="0"/>
                <a:cs typeface="Times New Roman" panose="02020603050405020304" pitchFamily="18" charset="0"/>
              </a:rPr>
              <a:t>:</a:t>
            </a:r>
            <a:endParaRPr lang="en-US" sz="1600"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A327 AGO do HYD LEAK AT L/H MLG LOCKING ACTUATOR </a:t>
            </a:r>
            <a:r>
              <a:rPr lang="en-US" sz="1600" dirty="0" err="1">
                <a:latin typeface="Times New Roman" panose="02020603050405020304" pitchFamily="18" charset="0"/>
                <a:cs typeface="Times New Roman" panose="02020603050405020304" pitchFamily="18" charset="0"/>
              </a:rPr>
              <a:t>phả</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thay</a:t>
            </a:r>
            <a:r>
              <a:rPr lang="en-US" sz="1600" dirty="0">
                <a:latin typeface="Times New Roman" panose="02020603050405020304" pitchFamily="18" charset="0"/>
                <a:cs typeface="Times New Roman" panose="02020603050405020304" pitchFamily="18" charset="0"/>
              </a:rPr>
              <a:t> lock actuator. (</a:t>
            </a:r>
            <a:r>
              <a:rPr lang="en-US" sz="1600" dirty="0" err="1">
                <a:latin typeface="Times New Roman" panose="02020603050405020304" pitchFamily="18" charset="0"/>
                <a:cs typeface="Times New Roman" panose="02020603050405020304" pitchFamily="18" charset="0"/>
              </a:rPr>
              <a:t>Tàu</a:t>
            </a:r>
            <a:r>
              <a:rPr lang="en-US" sz="1600" dirty="0">
                <a:latin typeface="Times New Roman" panose="02020603050405020304" pitchFamily="18" charset="0"/>
                <a:cs typeface="Times New Roman" panose="02020603050405020304" pitchFamily="18" charset="0"/>
              </a:rPr>
              <a:t> A327 </a:t>
            </a:r>
            <a:r>
              <a:rPr lang="en-US" sz="1600" dirty="0" err="1">
                <a:latin typeface="Times New Roman" panose="02020603050405020304" pitchFamily="18" charset="0"/>
                <a:cs typeface="Times New Roman" panose="02020603050405020304" pitchFamily="18" charset="0"/>
              </a:rPr>
              <a:t>đã</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thực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hiện</a:t>
            </a:r>
            <a:r>
              <a:rPr lang="en-US" sz="1600" dirty="0">
                <a:latin typeface="Times New Roman" panose="02020603050405020304" pitchFamily="18" charset="0"/>
                <a:cs typeface="Times New Roman" panose="02020603050405020304" pitchFamily="18" charset="0"/>
              </a:rPr>
              <a:t> clean locking actuator </a:t>
            </a:r>
            <a:r>
              <a:rPr lang="en-US" sz="1600" dirty="0" err="1">
                <a:latin typeface="Times New Roman" panose="02020603050405020304" pitchFamily="18" charset="0"/>
                <a:cs typeface="Times New Roman" panose="02020603050405020304" pitchFamily="18" charset="0"/>
              </a:rPr>
              <a:t>trong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tháng</a:t>
            </a:r>
            <a:r>
              <a:rPr lang="en-US" sz="1600" dirty="0">
                <a:latin typeface="Times New Roman" panose="02020603050405020304" pitchFamily="18" charset="0"/>
                <a:cs typeface="Times New Roman" panose="02020603050405020304" pitchFamily="18" charset="0"/>
              </a:rPr>
              <a:t> 12/2024. </a:t>
            </a:r>
            <a:r>
              <a:rPr lang="en-US" sz="1600" dirty="0" err="1">
                <a:latin typeface="Times New Roman" panose="02020603050405020304" pitchFamily="18" charset="0"/>
                <a:cs typeface="Times New Roman" panose="02020603050405020304" pitchFamily="18" charset="0"/>
              </a:rPr>
              <a:t>Hiện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tượng</a:t>
            </a:r>
            <a:r>
              <a:rPr lang="en-US" sz="1600" dirty="0">
                <a:latin typeface="Times New Roman" panose="02020603050405020304" pitchFamily="18" charset="0"/>
                <a:cs typeface="Times New Roman" panose="02020603050405020304" pitchFamily="18" charset="0"/>
              </a:rPr>
              <a:t> leak </a:t>
            </a:r>
            <a:r>
              <a:rPr lang="en-US" sz="1600" dirty="0" err="1">
                <a:latin typeface="Times New Roman" panose="02020603050405020304" pitchFamily="18" charset="0"/>
                <a:cs typeface="Times New Roman" panose="02020603050405020304" pitchFamily="18" charset="0"/>
              </a:rPr>
              <a:t>tại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vị</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trí</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này</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đã</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được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ghi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nhận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và</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triển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khai</a:t>
            </a:r>
            <a:r>
              <a:rPr lang="en-US" sz="1600" dirty="0">
                <a:latin typeface="Times New Roman" panose="02020603050405020304" pitchFamily="18" charset="0"/>
                <a:cs typeface="Times New Roman" panose="02020603050405020304" pitchFamily="18" charset="0"/>
              </a:rPr>
              <a:t> EO clean </a:t>
            </a:r>
            <a:r>
              <a:rPr lang="en-US" sz="1600" dirty="0" err="1">
                <a:latin typeface="Times New Roman" panose="02020603050405020304" pitchFamily="18" charset="0"/>
                <a:cs typeface="Times New Roman" panose="02020603050405020304" pitchFamily="18" charset="0"/>
              </a:rPr>
              <a:t>theo</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tần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suất</a:t>
            </a:r>
            <a:r>
              <a:rPr lang="en-US" sz="1600" dirty="0">
                <a:latin typeface="Times New Roman" panose="02020603050405020304" pitchFamily="18" charset="0"/>
                <a:cs typeface="Times New Roman" panose="02020603050405020304" pitchFamily="18" charset="0"/>
              </a:rPr>
              <a:t> 30 days </a:t>
            </a:r>
            <a:r>
              <a:rPr lang="en-US" sz="1600" dirty="0" err="1">
                <a:latin typeface="Times New Roman" panose="02020603050405020304" pitchFamily="18" charset="0"/>
                <a:cs typeface="Times New Roman" panose="02020603050405020304" pitchFamily="18" charset="0"/>
              </a:rPr>
              <a:t>theo</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khuyến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cáo</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cửa</a:t>
            </a:r>
            <a:r>
              <a:rPr lang="en-US" sz="1600" dirty="0">
                <a:latin typeface="Times New Roman" panose="02020603050405020304" pitchFamily="18" charset="0"/>
                <a:cs typeface="Times New Roman" panose="02020603050405020304" pitchFamily="18" charset="0"/>
              </a:rPr>
              <a:t> AIB do lo </a:t>
            </a:r>
            <a:r>
              <a:rPr lang="en-US" sz="1600" dirty="0" err="1">
                <a:latin typeface="Times New Roman" panose="02020603050405020304" pitchFamily="18" charset="0"/>
                <a:cs typeface="Times New Roman" panose="02020603050405020304" pitchFamily="18" charset="0"/>
              </a:rPr>
              <a:t>ngại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bui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bẩn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bám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trên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mặt</a:t>
            </a:r>
            <a:r>
              <a:rPr lang="en-US" sz="1600" dirty="0">
                <a:latin typeface="Times New Roman" panose="02020603050405020304" pitchFamily="18" charset="0"/>
                <a:cs typeface="Times New Roman" panose="02020603050405020304" pitchFamily="18" charset="0"/>
              </a:rPr>
              <a:t> actuator </a:t>
            </a:r>
            <a:r>
              <a:rPr lang="en-US" sz="1600" dirty="0" err="1">
                <a:latin typeface="Times New Roman" panose="02020603050405020304" pitchFamily="18" charset="0"/>
                <a:cs typeface="Times New Roman" panose="02020603050405020304" pitchFamily="18" charset="0"/>
              </a:rPr>
              <a:t>sẽ</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làm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hỏng</a:t>
            </a:r>
            <a:r>
              <a:rPr lang="en-US" sz="1600" dirty="0">
                <a:latin typeface="Times New Roman" panose="02020603050405020304" pitchFamily="18" charset="0"/>
                <a:cs typeface="Times New Roman" panose="02020603050405020304" pitchFamily="18" charset="0"/>
              </a:rPr>
              <a:t> seal </a:t>
            </a:r>
            <a:r>
              <a:rPr lang="en-US" sz="1600" dirty="0" err="1">
                <a:latin typeface="Times New Roman" panose="02020603050405020304" pitchFamily="18" charset="0"/>
                <a:cs typeface="Times New Roman" panose="02020603050405020304" pitchFamily="18" charset="0"/>
              </a:rPr>
              <a:t>trong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quá</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trình</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hoạt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động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Tính</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trong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năm</a:t>
            </a:r>
            <a:r>
              <a:rPr lang="en-US" sz="1600" dirty="0">
                <a:latin typeface="Times New Roman" panose="02020603050405020304" pitchFamily="18" charset="0"/>
                <a:cs typeface="Times New Roman" panose="02020603050405020304" pitchFamily="18" charset="0"/>
              </a:rPr>
              <a:t> 2024 </a:t>
            </a:r>
            <a:r>
              <a:rPr lang="en-US" sz="1600" dirty="0" err="1">
                <a:latin typeface="Times New Roman" panose="02020603050405020304" pitchFamily="18" charset="0"/>
                <a:cs typeface="Times New Roman" panose="02020603050405020304" pitchFamily="18" charset="0"/>
              </a:rPr>
              <a:t>chỉ</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có</a:t>
            </a:r>
            <a:r>
              <a:rPr lang="en-US" sz="1600" dirty="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2 </a:t>
            </a:r>
            <a:r>
              <a:rPr lang="en-US" sz="1600" dirty="0" err="1">
                <a:latin typeface="Times New Roman" panose="02020603050405020304" pitchFamily="18" charset="0"/>
                <a:cs typeface="Times New Roman" panose="02020603050405020304" pitchFamily="18" charset="0"/>
              </a:rPr>
              <a:t>trường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hợp</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phải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thay</a:t>
            </a:r>
            <a:r>
              <a:rPr lang="en-US" sz="1600" dirty="0">
                <a:latin typeface="Times New Roman" panose="02020603050405020304" pitchFamily="18" charset="0"/>
                <a:cs typeface="Times New Roman" panose="02020603050405020304" pitchFamily="18" charset="0"/>
              </a:rPr>
              <a:t> lock actuator do </a:t>
            </a:r>
            <a:r>
              <a:rPr lang="en-US" sz="1600" dirty="0" err="1">
                <a:latin typeface="Times New Roman" panose="02020603050405020304" pitchFamily="18" charset="0"/>
                <a:cs typeface="Times New Roman" panose="02020603050405020304" pitchFamily="18" charset="0"/>
              </a:rPr>
              <a:t>phát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hiện</a:t>
            </a:r>
            <a:r>
              <a:rPr lang="en-US" sz="1600" dirty="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leak </a:t>
            </a:r>
            <a:r>
              <a:rPr lang="en-US" sz="1600" dirty="0" err="1" smtClean="0">
                <a:latin typeface="Times New Roman" panose="02020603050405020304" pitchFamily="18" charset="0"/>
                <a:cs typeface="Times New Roman" panose="02020603050405020304" pitchFamily="18" charset="0"/>
              </a:rPr>
              <a:t>đều</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phát</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hiện</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trong</a:t>
            </a:r>
            <a:r>
              <a:rPr lang="en-US" sz="1600" dirty="0" smtClean="0">
                <a:latin typeface="Times New Roman" panose="02020603050405020304" pitchFamily="18" charset="0"/>
                <a:cs typeface="Times New Roman" panose="02020603050405020304" pitchFamily="18" charset="0"/>
              </a:rPr>
              <a:t> check.</a:t>
            </a:r>
          </a:p>
          <a:p>
            <a:pPr marL="285750" indent="-285750">
              <a:buFont typeface="Arial" panose="020B0604020202020204" pitchFamily="34" charset="0"/>
              <a:buChar char="•"/>
            </a:pPr>
            <a:r>
              <a:rPr lang="en-US" sz="1600" dirty="0" smtClean="0">
                <a:latin typeface="Times New Roman" panose="02020603050405020304" pitchFamily="18" charset="0"/>
                <a:cs typeface="Times New Roman" panose="02020603050405020304" pitchFamily="18" charset="0"/>
              </a:rPr>
              <a:t>A392 </a:t>
            </a:r>
            <a:r>
              <a:rPr lang="en-US" sz="1600" dirty="0">
                <a:latin typeface="Times New Roman" panose="02020603050405020304" pitchFamily="18" charset="0"/>
                <a:cs typeface="Times New Roman" panose="02020603050405020304" pitchFamily="18" charset="0"/>
              </a:rPr>
              <a:t>AGO do CAPT REPORT CABIN V/S UNSTABLE WITH BOTH SYS 12 DURING CLIMB AND CRZ. Theo </a:t>
            </a:r>
            <a:r>
              <a:rPr lang="en-US" sz="1600" dirty="0" err="1">
                <a:latin typeface="Times New Roman" panose="02020603050405020304" pitchFamily="18" charset="0"/>
                <a:cs typeface="Times New Roman" panose="02020603050405020304" pitchFamily="18" charset="0"/>
              </a:rPr>
              <a:t>đánh</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giá</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của</a:t>
            </a:r>
            <a:r>
              <a:rPr lang="en-US" sz="1600" dirty="0">
                <a:latin typeface="Times New Roman" panose="02020603050405020304" pitchFamily="18" charset="0"/>
                <a:cs typeface="Times New Roman" panose="02020603050405020304" pitchFamily="18" charset="0"/>
              </a:rPr>
              <a:t> AIB </a:t>
            </a:r>
            <a:r>
              <a:rPr lang="en-US" sz="1600" dirty="0" err="1">
                <a:latin typeface="Times New Roman" panose="02020603050405020304" pitchFamily="18" charset="0"/>
                <a:cs typeface="Times New Roman" panose="02020603050405020304" pitchFamily="18" charset="0"/>
              </a:rPr>
              <a:t>thì</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hệ</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thống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máy</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tính</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điều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khiển</a:t>
            </a:r>
            <a:r>
              <a:rPr lang="en-US" sz="1600" dirty="0">
                <a:latin typeface="Times New Roman" panose="02020603050405020304" pitchFamily="18" charset="0"/>
                <a:cs typeface="Times New Roman" panose="02020603050405020304" pitchFamily="18" charset="0"/>
              </a:rPr>
              <a:t> CPC </a:t>
            </a:r>
            <a:r>
              <a:rPr lang="en-US" sz="1600" dirty="0" err="1">
                <a:latin typeface="Times New Roman" panose="02020603050405020304" pitchFamily="18" charset="0"/>
                <a:cs typeface="Times New Roman" panose="02020603050405020304" pitchFamily="18" charset="0"/>
              </a:rPr>
              <a:t>sẽ</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cố</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gắng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duy</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trì</a:t>
            </a:r>
            <a:r>
              <a:rPr lang="en-US" sz="1600" dirty="0">
                <a:latin typeface="Times New Roman" panose="02020603050405020304" pitchFamily="18" charset="0"/>
                <a:cs typeface="Times New Roman" panose="02020603050405020304" pitchFamily="18" charset="0"/>
              </a:rPr>
              <a:t> cabin V/S </a:t>
            </a:r>
            <a:r>
              <a:rPr lang="en-US" sz="1600" dirty="0" err="1">
                <a:latin typeface="Times New Roman" panose="02020603050405020304" pitchFamily="18" charset="0"/>
                <a:cs typeface="Times New Roman" panose="02020603050405020304" pitchFamily="18" charset="0"/>
              </a:rPr>
              <a:t>trong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khoảng</a:t>
            </a:r>
            <a:r>
              <a:rPr lang="en-US" sz="1600" dirty="0">
                <a:latin typeface="Times New Roman" panose="02020603050405020304" pitchFamily="18" charset="0"/>
                <a:cs typeface="Times New Roman" panose="02020603050405020304" pitchFamily="18" charset="0"/>
              </a:rPr>
              <a:t> -300/+500 </a:t>
            </a:r>
            <a:r>
              <a:rPr lang="en-US" sz="1600" dirty="0" err="1">
                <a:latin typeface="Times New Roman" panose="02020603050405020304" pitchFamily="18" charset="0"/>
                <a:cs typeface="Times New Roman" panose="02020603050405020304" pitchFamily="18" charset="0"/>
              </a:rPr>
              <a:t>SLft</a:t>
            </a:r>
            <a:r>
              <a:rPr lang="en-US" sz="1600" dirty="0">
                <a:latin typeface="Times New Roman" panose="02020603050405020304" pitchFamily="18" charset="0"/>
                <a:cs typeface="Times New Roman" panose="02020603050405020304" pitchFamily="18" charset="0"/>
              </a:rPr>
              <a:t>/min </a:t>
            </a:r>
            <a:r>
              <a:rPr lang="en-US" sz="1600" dirty="0" err="1">
                <a:latin typeface="Times New Roman" panose="02020603050405020304" pitchFamily="18" charset="0"/>
                <a:cs typeface="Times New Roman" panose="02020603050405020304" pitchFamily="18" charset="0"/>
              </a:rPr>
              <a:t>và</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trong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một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vài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trường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hợp</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thì</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có</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thể</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vượt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cao</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hơn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mức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này</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tuy</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nhiên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việc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này</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hoàn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toàn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là</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bình</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thường</a:t>
            </a:r>
            <a:r>
              <a:rPr lang="en-US" sz="1600" dirty="0">
                <a:latin typeface="Times New Roman" panose="02020603050405020304" pitchFamily="18" charset="0"/>
                <a:cs typeface="Times New Roman" panose="02020603050405020304" pitchFamily="18" charset="0"/>
              </a:rPr>
              <a:t>. Do </a:t>
            </a:r>
            <a:r>
              <a:rPr lang="en-US" sz="1600" dirty="0" err="1">
                <a:latin typeface="Times New Roman" panose="02020603050405020304" pitchFamily="18" charset="0"/>
                <a:cs typeface="Times New Roman" panose="02020603050405020304" pitchFamily="18" charset="0"/>
              </a:rPr>
              <a:t>đó</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nếu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không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có</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cảnh</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báo</a:t>
            </a:r>
            <a:r>
              <a:rPr lang="en-US" sz="1600" dirty="0">
                <a:latin typeface="Times New Roman" panose="02020603050405020304" pitchFamily="18" charset="0"/>
                <a:cs typeface="Times New Roman" panose="02020603050405020304" pitchFamily="18" charset="0"/>
              </a:rPr>
              <a:t> E/W </a:t>
            </a:r>
            <a:r>
              <a:rPr lang="en-US" sz="1600" dirty="0" err="1">
                <a:latin typeface="Times New Roman" panose="02020603050405020304" pitchFamily="18" charset="0"/>
                <a:cs typeface="Times New Roman" panose="02020603050405020304" pitchFamily="18" charset="0"/>
              </a:rPr>
              <a:t>thì</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sẽ</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không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đến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mức</a:t>
            </a:r>
            <a:r>
              <a:rPr lang="en-US" sz="1600" dirty="0">
                <a:latin typeface="Times New Roman" panose="02020603050405020304" pitchFamily="18" charset="0"/>
                <a:cs typeface="Times New Roman" panose="02020603050405020304" pitchFamily="18" charset="0"/>
              </a:rPr>
              <a:t> critical. </a:t>
            </a:r>
            <a:r>
              <a:rPr lang="en-US" sz="1600" dirty="0" err="1">
                <a:latin typeface="Times New Roman" panose="02020603050405020304" pitchFamily="18" charset="0"/>
                <a:cs typeface="Times New Roman" panose="02020603050405020304" pitchFamily="18" charset="0"/>
              </a:rPr>
              <a:t>Sau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khi</a:t>
            </a:r>
            <a:r>
              <a:rPr lang="en-US" sz="1600" dirty="0">
                <a:latin typeface="Times New Roman" panose="02020603050405020304" pitchFamily="18" charset="0"/>
                <a:cs typeface="Times New Roman" panose="02020603050405020304" pitchFamily="18" charset="0"/>
              </a:rPr>
              <a:t> bay </a:t>
            </a:r>
            <a:r>
              <a:rPr lang="en-US" sz="1600" dirty="0" err="1">
                <a:latin typeface="Times New Roman" panose="02020603050405020304" pitchFamily="18" charset="0"/>
                <a:cs typeface="Times New Roman" panose="02020603050405020304" pitchFamily="18" charset="0"/>
              </a:rPr>
              <a:t>theo</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dõi</a:t>
            </a:r>
            <a:r>
              <a:rPr lang="en-US" sz="1600" dirty="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01 </a:t>
            </a:r>
            <a:r>
              <a:rPr lang="en-US" sz="1600" dirty="0" err="1" smtClean="0">
                <a:latin typeface="Times New Roman" panose="02020603050405020304" pitchFamily="18" charset="0"/>
                <a:cs typeface="Times New Roman" panose="02020603050405020304" pitchFamily="18" charset="0"/>
              </a:rPr>
              <a:t>chuyến</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tàu</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đã</a:t>
            </a:r>
            <a:r>
              <a:rPr lang="en-US" sz="1600" dirty="0" smtClean="0">
                <a:latin typeface="Times New Roman" panose="02020603050405020304" pitchFamily="18" charset="0"/>
                <a:cs typeface="Times New Roman" panose="02020603050405020304" pitchFamily="18" charset="0"/>
              </a:rPr>
              <a:t> quay </a:t>
            </a:r>
            <a:r>
              <a:rPr lang="en-US" sz="1600" dirty="0" err="1" smtClean="0">
                <a:latin typeface="Times New Roman" panose="02020603050405020304" pitchFamily="18" charset="0"/>
                <a:cs typeface="Times New Roman" panose="02020603050405020304" pitchFamily="18" charset="0"/>
              </a:rPr>
              <a:t>lại</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khai</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thác</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bình</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thường</a:t>
            </a:r>
            <a:r>
              <a:rPr lang="en-US" sz="1600" dirty="0" smtClean="0">
                <a:latin typeface="Times New Roman" panose="02020603050405020304" pitchFamily="18" charset="0"/>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a:p>
            <a:pPr marL="285750" lvl="0" indent="-285750" algn="just">
              <a:buFont typeface="Arial" panose="020B0604020202020204" pitchFamily="34" charset="0"/>
              <a:buChar char="•"/>
              <a:defRPr/>
            </a:pPr>
            <a:endParaRPr lang="vi-V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22508908"/>
      </p:ext>
    </p:extLst>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xmlns="" id="{79E8391B-7B1B-9518-4216-BB3E79E0AEA3}"/>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xmlns="" id="{92B986BE-F1F9-839F-5AB3-0E3AFE71F6B7}"/>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xmlns="" id="{FE2E0F42-602D-EFC6-677B-6FED8C5260AA}"/>
              </a:ext>
            </a:extLst>
          </p:cNvPr>
          <p:cNvSpPr>
            <a:spLocks noGrp="1"/>
          </p:cNvSpPr>
          <p:nvPr>
            <p:ph type="title"/>
          </p:nvPr>
        </p:nvSpPr>
        <p:spPr>
          <a:xfrm>
            <a:off x="917620" y="381000"/>
            <a:ext cx="9155467" cy="551496"/>
          </a:xfrm>
        </p:spPr>
        <p:txBody>
          <a:bodyPr rtlCol="0">
            <a:normAutofit fontScale="90000"/>
          </a:bodyPr>
          <a:lstStyle/>
          <a:p>
            <a:pPr>
              <a:defRPr/>
            </a:pPr>
            <a:r>
              <a:rPr lang="en-US" sz="3733" dirty="0">
                <a:ln w="0"/>
                <a:solidFill>
                  <a:schemeClr val="accent4"/>
                </a:solidFill>
                <a:latin typeface="Times New Roman" panose="02020603050405020304" pitchFamily="18" charset="0"/>
                <a:cs typeface="Times New Roman" panose="02020603050405020304" pitchFamily="18" charset="0"/>
              </a:rPr>
              <a:t>TÌNH TRẠNG KỸ THUẬT ĐỘI BAY – </a:t>
            </a:r>
            <a:r>
              <a:rPr lang="vi-VN" sz="3733" dirty="0">
                <a:ln w="0"/>
                <a:solidFill>
                  <a:schemeClr val="accent4"/>
                </a:solidFill>
                <a:latin typeface="Times New Roman" panose="02020603050405020304" pitchFamily="18" charset="0"/>
                <a:cs typeface="Times New Roman" panose="02020603050405020304" pitchFamily="18" charset="0"/>
              </a:rPr>
              <a:t>A350</a:t>
            </a:r>
          </a:p>
        </p:txBody>
      </p:sp>
      <p:sp>
        <p:nvSpPr>
          <p:cNvPr id="4" name="TextBox 3">
            <a:extLst>
              <a:ext uri="{FF2B5EF4-FFF2-40B4-BE49-F238E27FC236}">
                <a16:creationId xmlns:a16="http://schemas.microsoft.com/office/drawing/2014/main" xmlns="" id="{F2F29800-2D85-BB73-F094-9BFD6867E529}"/>
              </a:ext>
            </a:extLst>
          </p:cNvPr>
          <p:cNvSpPr txBox="1"/>
          <p:nvPr/>
        </p:nvSpPr>
        <p:spPr>
          <a:xfrm>
            <a:off x="152398" y="1673935"/>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DELAY: 04</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8" name="TextBox 7">
            <a:extLst>
              <a:ext uri="{FF2B5EF4-FFF2-40B4-BE49-F238E27FC236}">
                <a16:creationId xmlns:a16="http://schemas.microsoft.com/office/drawing/2014/main" xmlns="" id="{88C5C370-206D-49FE-840E-3FF9FBBE828C}"/>
              </a:ext>
            </a:extLst>
          </p:cNvPr>
          <p:cNvSpPr txBox="1"/>
          <p:nvPr/>
        </p:nvSpPr>
        <p:spPr>
          <a:xfrm>
            <a:off x="152399" y="1225344"/>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04</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RTO/ATB/GTB/DIV</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2</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5" name="Table 4">
            <a:extLst>
              <a:ext uri="{FF2B5EF4-FFF2-40B4-BE49-F238E27FC236}">
                <a16:creationId xmlns:a16="http://schemas.microsoft.com/office/drawing/2014/main" xmlns="" id="{77040682-8AD1-4585-9D2B-09651F182BB1}"/>
              </a:ext>
            </a:extLst>
          </p:cNvPr>
          <p:cNvGraphicFramePr>
            <a:graphicFrameLocks noGrp="1"/>
          </p:cNvGraphicFramePr>
          <p:nvPr>
            <p:extLst>
              <p:ext uri="{D42A27DB-BD31-4B8C-83A1-F6EECF244321}">
                <p14:modId xmlns:p14="http://schemas.microsoft.com/office/powerpoint/2010/main" val="491090369"/>
              </p:ext>
            </p:extLst>
          </p:nvPr>
        </p:nvGraphicFramePr>
        <p:xfrm>
          <a:off x="152398" y="2122527"/>
          <a:ext cx="11477408" cy="4155640"/>
        </p:xfrm>
        <a:graphic>
          <a:graphicData uri="http://schemas.openxmlformats.org/drawingml/2006/table">
            <a:tbl>
              <a:tblPr/>
              <a:tblGrid>
                <a:gridCol w="330165">
                  <a:extLst>
                    <a:ext uri="{9D8B030D-6E8A-4147-A177-3AD203B41FA5}">
                      <a16:colId xmlns:a16="http://schemas.microsoft.com/office/drawing/2014/main" xmlns="" val="795188192"/>
                    </a:ext>
                  </a:extLst>
                </a:gridCol>
                <a:gridCol w="584237">
                  <a:extLst>
                    <a:ext uri="{9D8B030D-6E8A-4147-A177-3AD203B41FA5}">
                      <a16:colId xmlns:a16="http://schemas.microsoft.com/office/drawing/2014/main" xmlns="" val="640419386"/>
                    </a:ext>
                  </a:extLst>
                </a:gridCol>
                <a:gridCol w="288172">
                  <a:extLst>
                    <a:ext uri="{9D8B030D-6E8A-4147-A177-3AD203B41FA5}">
                      <a16:colId xmlns:a16="http://schemas.microsoft.com/office/drawing/2014/main" xmlns="" val="975359439"/>
                    </a:ext>
                  </a:extLst>
                </a:gridCol>
                <a:gridCol w="473828">
                  <a:extLst>
                    <a:ext uri="{9D8B030D-6E8A-4147-A177-3AD203B41FA5}">
                      <a16:colId xmlns:a16="http://schemas.microsoft.com/office/drawing/2014/main" xmlns="" val="3162092879"/>
                    </a:ext>
                  </a:extLst>
                </a:gridCol>
                <a:gridCol w="685800">
                  <a:extLst>
                    <a:ext uri="{9D8B030D-6E8A-4147-A177-3AD203B41FA5}">
                      <a16:colId xmlns:a16="http://schemas.microsoft.com/office/drawing/2014/main" xmlns="" val="3785498653"/>
                    </a:ext>
                  </a:extLst>
                </a:gridCol>
                <a:gridCol w="762000">
                  <a:extLst>
                    <a:ext uri="{9D8B030D-6E8A-4147-A177-3AD203B41FA5}">
                      <a16:colId xmlns:a16="http://schemas.microsoft.com/office/drawing/2014/main" xmlns="" val="333518330"/>
                    </a:ext>
                  </a:extLst>
                </a:gridCol>
                <a:gridCol w="1752600">
                  <a:extLst>
                    <a:ext uri="{9D8B030D-6E8A-4147-A177-3AD203B41FA5}">
                      <a16:colId xmlns:a16="http://schemas.microsoft.com/office/drawing/2014/main" xmlns="" val="1073465732"/>
                    </a:ext>
                  </a:extLst>
                </a:gridCol>
                <a:gridCol w="1066800">
                  <a:extLst>
                    <a:ext uri="{9D8B030D-6E8A-4147-A177-3AD203B41FA5}">
                      <a16:colId xmlns:a16="http://schemas.microsoft.com/office/drawing/2014/main" xmlns="" val="2427652061"/>
                    </a:ext>
                  </a:extLst>
                </a:gridCol>
                <a:gridCol w="457200">
                  <a:extLst>
                    <a:ext uri="{9D8B030D-6E8A-4147-A177-3AD203B41FA5}">
                      <a16:colId xmlns:a16="http://schemas.microsoft.com/office/drawing/2014/main" xmlns="" val="2382048829"/>
                    </a:ext>
                  </a:extLst>
                </a:gridCol>
                <a:gridCol w="5076606">
                  <a:extLst>
                    <a:ext uri="{9D8B030D-6E8A-4147-A177-3AD203B41FA5}">
                      <a16:colId xmlns:a16="http://schemas.microsoft.com/office/drawing/2014/main" xmlns="" val="493547461"/>
                    </a:ext>
                  </a:extLst>
                </a:gridCol>
              </a:tblGrid>
              <a:tr h="107077">
                <a:tc>
                  <a:txBody>
                    <a:bodyPr/>
                    <a:lstStyle/>
                    <a:p>
                      <a:pPr algn="ctr" fontAlgn="ctr"/>
                      <a:r>
                        <a:rPr lang="en-US" sz="1000" b="1" i="0" u="none" strike="noStrike" dirty="0">
                          <a:solidFill>
                            <a:srgbClr val="000000"/>
                          </a:solidFill>
                          <a:effectLst/>
                          <a:latin typeface="Times New Roman" panose="02020603050405020304" pitchFamily="18" charset="0"/>
                          <a:cs typeface="Times New Roman" panose="02020603050405020304" pitchFamily="18" charset="0"/>
                        </a:rPr>
                        <a:t>A/C</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cs typeface="Times New Roman" panose="02020603050405020304" pitchFamily="18" charset="0"/>
                        </a:rPr>
                        <a:t>STA</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cs typeface="Times New Roman" panose="02020603050405020304" pitchFamily="18" charset="0"/>
                        </a:rPr>
                        <a:t>DELAY MIN</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cs typeface="Times New Roman" panose="02020603050405020304" pitchFamily="18" charset="0"/>
                        </a:rPr>
                        <a:t>FLIGHT NO</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cs typeface="Times New Roman" panose="02020603050405020304" pitchFamily="18" charset="0"/>
                        </a:rPr>
                        <a:t>ROUTINE</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cs typeface="Times New Roman" panose="02020603050405020304" pitchFamily="18" charset="0"/>
                        </a:rPr>
                        <a:t>ATA</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xmlns="" val="287520525"/>
                  </a:ext>
                </a:extLst>
              </a:tr>
              <a:tr h="2891097">
                <a:tc>
                  <a:txBody>
                    <a:bodyPr/>
                    <a:lstStyle/>
                    <a:p>
                      <a:pPr algn="ctr" fontAlgn="b"/>
                      <a:r>
                        <a:rPr lang="en-US" sz="900" b="0" i="0" u="none" strike="noStrike">
                          <a:solidFill>
                            <a:srgbClr val="000000"/>
                          </a:solidFill>
                          <a:effectLst/>
                          <a:latin typeface="Times New Roman" panose="02020603050405020304" pitchFamily="18" charset="0"/>
                          <a:cs typeface="Times New Roman" panose="02020603050405020304" pitchFamily="18" charset="0"/>
                        </a:rPr>
                        <a:t>A896</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Times New Roman" panose="02020603050405020304" pitchFamily="18" charset="0"/>
                          <a:cs typeface="Times New Roman" panose="02020603050405020304" pitchFamily="18" charset="0"/>
                        </a:rPr>
                        <a:t>13:25 08/01/2025</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Times New Roman" panose="02020603050405020304" pitchFamily="18" charset="0"/>
                          <a:cs typeface="Times New Roman" panose="02020603050405020304" pitchFamily="18" charset="0"/>
                        </a:rPr>
                        <a:t>SGN</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Times New Roman" panose="02020603050405020304" pitchFamily="18" charset="0"/>
                          <a:cs typeface="Times New Roman" panose="02020603050405020304" pitchFamily="18" charset="0"/>
                        </a:rPr>
                        <a:t>21</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Times New Roman" panose="02020603050405020304" pitchFamily="18" charset="0"/>
                          <a:cs typeface="Times New Roman" panose="02020603050405020304" pitchFamily="18" charset="0"/>
                        </a:rPr>
                        <a:t>VN212</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Times New Roman" panose="02020603050405020304" pitchFamily="18" charset="0"/>
                          <a:cs typeface="Times New Roman" panose="02020603050405020304" pitchFamily="18" charset="0"/>
                        </a:rPr>
                        <a:t>SGN-HAN</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effectLst/>
                          <a:latin typeface="Times New Roman" panose="02020603050405020304" pitchFamily="18" charset="0"/>
                          <a:cs typeface="Times New Roman" panose="02020603050405020304" pitchFamily="18" charset="0"/>
                        </a:rPr>
                        <a:t>VN209 HAN-SGN, CAPT REPORT</a:t>
                      </a:r>
                      <a:br>
                        <a:rPr lang="en-US" sz="900" b="0" i="0" u="none" strike="noStrike" dirty="0">
                          <a:solidFill>
                            <a:srgbClr val="000000"/>
                          </a:solidFill>
                          <a:effectLst/>
                          <a:latin typeface="Times New Roman" panose="02020603050405020304" pitchFamily="18" charset="0"/>
                          <a:cs typeface="Times New Roman" panose="02020603050405020304" pitchFamily="18" charset="0"/>
                        </a:rPr>
                      </a:br>
                      <a:r>
                        <a:rPr lang="en-US" sz="900" b="0" i="0" u="none" strike="noStrike" dirty="0">
                          <a:solidFill>
                            <a:srgbClr val="000000"/>
                          </a:solidFill>
                          <a:effectLst/>
                          <a:latin typeface="Times New Roman" panose="02020603050405020304" pitchFamily="18" charset="0"/>
                          <a:cs typeface="Times New Roman" panose="02020603050405020304" pitchFamily="18" charset="0"/>
                        </a:rPr>
                        <a:t>1. F/CTL L SPLR 7</a:t>
                      </a:r>
                      <a:br>
                        <a:rPr lang="en-US" sz="900" b="0" i="0" u="none" strike="noStrike" dirty="0">
                          <a:solidFill>
                            <a:srgbClr val="000000"/>
                          </a:solidFill>
                          <a:effectLst/>
                          <a:latin typeface="Times New Roman" panose="02020603050405020304" pitchFamily="18" charset="0"/>
                          <a:cs typeface="Times New Roman" panose="02020603050405020304" pitchFamily="18" charset="0"/>
                        </a:rPr>
                      </a:br>
                      <a:r>
                        <a:rPr lang="en-US" sz="900" b="0" i="0" u="none" strike="noStrike" dirty="0">
                          <a:solidFill>
                            <a:srgbClr val="000000"/>
                          </a:solidFill>
                          <a:effectLst/>
                          <a:latin typeface="Times New Roman" panose="02020603050405020304" pitchFamily="18" charset="0"/>
                          <a:cs typeface="Times New Roman" panose="02020603050405020304" pitchFamily="18" charset="0"/>
                        </a:rPr>
                        <a:t>2. BRAKE ALT; EMER BRAKE</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9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900" dirty="0" smtClean="0">
                          <a:latin typeface="Times New Roman" panose="02020603050405020304" pitchFamily="18" charset="0"/>
                          <a:cs typeface="Times New Roman" panose="02020603050405020304" pitchFamily="18" charset="0"/>
                        </a:rPr>
                        <a:t>FINAL ACTION:</a:t>
                      </a:r>
                      <a:br>
                        <a:rPr lang="en-US" sz="900" dirty="0" smtClean="0">
                          <a:latin typeface="Times New Roman" panose="02020603050405020304" pitchFamily="18" charset="0"/>
                          <a:cs typeface="Times New Roman" panose="02020603050405020304" pitchFamily="18" charset="0"/>
                        </a:rPr>
                      </a:br>
                      <a:r>
                        <a:rPr lang="en-US" sz="900" dirty="0" smtClean="0">
                          <a:latin typeface="Times New Roman" panose="02020603050405020304" pitchFamily="18" charset="0"/>
                          <a:cs typeface="Times New Roman" panose="02020603050405020304" pitchFamily="18" charset="0"/>
                        </a:rPr>
                        <a:t>1. DEACTIVATED SPOILER # 7 AND RAISED MEL.</a:t>
                      </a:r>
                      <a:r>
                        <a:rPr lang="en-US" sz="900" baseline="0" dirty="0" smtClean="0">
                          <a:latin typeface="Times New Roman" panose="02020603050405020304" pitchFamily="18" charset="0"/>
                          <a:cs typeface="Times New Roman" panose="02020603050405020304" pitchFamily="18" charset="0"/>
                        </a:rPr>
                        <a:t> Replace</a:t>
                      </a:r>
                      <a:r>
                        <a:rPr lang="en-US" sz="900" dirty="0" smtClean="0">
                          <a:latin typeface="Times New Roman" panose="02020603050405020304" pitchFamily="18" charset="0"/>
                          <a:cs typeface="Times New Roman" panose="02020603050405020304" pitchFamily="18" charset="0"/>
                        </a:rPr>
                        <a:t/>
                      </a:r>
                      <a:br>
                        <a:rPr lang="en-US" sz="900" dirty="0" smtClean="0">
                          <a:latin typeface="Times New Roman" panose="02020603050405020304" pitchFamily="18" charset="0"/>
                          <a:cs typeface="Times New Roman" panose="02020603050405020304" pitchFamily="18" charset="0"/>
                        </a:rPr>
                      </a:br>
                      <a:r>
                        <a:rPr lang="vi-VN" sz="900" b="0" i="0" u="none" strike="noStrike" dirty="0" smtClean="0">
                          <a:solidFill>
                            <a:srgbClr val="000000"/>
                          </a:solidFill>
                          <a:effectLst/>
                          <a:latin typeface="+mn-lt"/>
                          <a:cs typeface="Times New Roman" panose="02020603050405020304" pitchFamily="18" charset="0"/>
                        </a:rPr>
                        <a:t>Servo-control SPRL#7 P/N:CA67003-025</a:t>
                      </a:r>
                      <a:endParaRPr lang="en-US" sz="9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Times New Roman" panose="02020603050405020304" pitchFamily="18" charset="0"/>
                          <a:cs typeface="Times New Roman" panose="02020603050405020304" pitchFamily="18" charset="0"/>
                        </a:rPr>
                        <a:t> </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vi-VN" sz="1050" b="1" i="0" u="none" strike="noStrike" dirty="0">
                          <a:solidFill>
                            <a:srgbClr val="000000"/>
                          </a:solidFill>
                          <a:effectLst/>
                          <a:latin typeface="Times New Roman" panose="02020603050405020304" pitchFamily="18" charset="0"/>
                          <a:cs typeface="Times New Roman" panose="02020603050405020304" pitchFamily="18" charset="0"/>
                        </a:rPr>
                        <a:t>Hỏng hóc lặp lại nguyên nhân do FCRM</a:t>
                      </a:r>
                      <a:endParaRPr lang="en-US" sz="1050" b="1" i="0" u="none" strike="noStrike" dirty="0">
                        <a:solidFill>
                          <a:srgbClr val="000000"/>
                        </a:solidFill>
                        <a:effectLst/>
                        <a:latin typeface="Times New Roman" panose="02020603050405020304" pitchFamily="18" charset="0"/>
                        <a:cs typeface="Times New Roman" panose="02020603050405020304" pitchFamily="18" charset="0"/>
                      </a:endParaRPr>
                    </a:p>
                    <a:p>
                      <a:pPr algn="l" fontAlgn="b"/>
                      <a:r>
                        <a:rPr lang="vi-VN" sz="1050" b="0" i="0" u="none" strike="noStrike" dirty="0">
                          <a:solidFill>
                            <a:srgbClr val="000000"/>
                          </a:solidFill>
                          <a:effectLst/>
                          <a:latin typeface="Times New Roman" panose="02020603050405020304" pitchFamily="18" charset="0"/>
                          <a:cs typeface="Times New Roman" panose="02020603050405020304" pitchFamily="18" charset="0"/>
                        </a:rPr>
                        <a:t/>
                      </a:r>
                      <a:br>
                        <a:rPr lang="vi-VN" sz="1050" b="0" i="0" u="none" strike="noStrike" dirty="0">
                          <a:solidFill>
                            <a:srgbClr val="000000"/>
                          </a:solidFill>
                          <a:effectLst/>
                          <a:latin typeface="Times New Roman" panose="02020603050405020304" pitchFamily="18" charset="0"/>
                          <a:cs typeface="Times New Roman" panose="02020603050405020304" pitchFamily="18" charset="0"/>
                        </a:rPr>
                      </a:br>
                      <a:r>
                        <a:rPr lang="vi-VN" sz="1050" b="0" i="0" u="none" strike="noStrike" dirty="0">
                          <a:solidFill>
                            <a:srgbClr val="000000"/>
                          </a:solidFill>
                          <a:effectLst/>
                          <a:latin typeface="Times New Roman" panose="02020603050405020304" pitchFamily="18" charset="0"/>
                          <a:cs typeface="Times New Roman" panose="02020603050405020304" pitchFamily="18" charset="0"/>
                        </a:rPr>
                        <a:t>- Ngày 29/12/2024, xuất hiện cảnh báo DM &gt; F/CTL L SPLR 7, thực hiện thay FCRM SPLR 7,Y (207CL1): FCRM P/N ON:CA71323-016, S/N 04492;  P/N OFF:CA71323-016, S/N 05025 =&gt; Khối FCRM S/N 04492 lắp lên được nhận từ FHS, tuy nhiên, lần đi shop gần nhất  được tháo từ một Airlines khác do hỏng vị trí SPRL#4, có SFR là NFF =&gt; Nghi ngờ khối FCRM nhận từ FHS có vấn đề, shop không phát hiện được hỏng hóc.</a:t>
                      </a:r>
                      <a:br>
                        <a:rPr lang="vi-VN" sz="1050" b="0" i="0" u="none" strike="noStrike" dirty="0">
                          <a:solidFill>
                            <a:srgbClr val="000000"/>
                          </a:solidFill>
                          <a:effectLst/>
                          <a:latin typeface="Times New Roman" panose="02020603050405020304" pitchFamily="18" charset="0"/>
                          <a:cs typeface="Times New Roman" panose="02020603050405020304" pitchFamily="18" charset="0"/>
                        </a:rPr>
                      </a:br>
                      <a:r>
                        <a:rPr lang="vi-VN" sz="1050" b="0" i="0" u="none" strike="noStrike" dirty="0">
                          <a:solidFill>
                            <a:srgbClr val="000000"/>
                          </a:solidFill>
                          <a:effectLst/>
                          <a:latin typeface="Times New Roman" panose="02020603050405020304" pitchFamily="18" charset="0"/>
                          <a:cs typeface="Times New Roman" panose="02020603050405020304" pitchFamily="18" charset="0"/>
                        </a:rPr>
                        <a:t/>
                      </a:r>
                      <a:br>
                        <a:rPr lang="vi-VN" sz="1050" b="0" i="0" u="none" strike="noStrike" dirty="0">
                          <a:solidFill>
                            <a:srgbClr val="000000"/>
                          </a:solidFill>
                          <a:effectLst/>
                          <a:latin typeface="Times New Roman" panose="02020603050405020304" pitchFamily="18" charset="0"/>
                          <a:cs typeface="Times New Roman" panose="02020603050405020304" pitchFamily="18" charset="0"/>
                        </a:rPr>
                      </a:br>
                      <a:r>
                        <a:rPr lang="vi-VN" sz="1050" b="0" i="0" u="none" strike="noStrike" dirty="0">
                          <a:solidFill>
                            <a:srgbClr val="000000"/>
                          </a:solidFill>
                          <a:effectLst/>
                          <a:latin typeface="Times New Roman" panose="02020603050405020304" pitchFamily="18" charset="0"/>
                          <a:cs typeface="Times New Roman" panose="02020603050405020304" pitchFamily="18" charset="0"/>
                        </a:rPr>
                        <a:t>- Ngày 31/12/2024, Airbus gửi khuyến cáo thay FCRM tiếp, P/N ON:CA71323-016, S/N 06889; P/N OFF:CA71323-016, S/N 04492 =&gt; Khối FCRM S/N 06889 lắp lên được nhận từ FHS, tuy nhiên, lần đi shop gần nhất  được tháo từ một Airlines khác do hỏng vị trí SPRL#4, có SFR là NFF =&gt; Nghi ngờ khối FCRM nhận từ FHS có vấn đề, shop không phát hiện được hỏng hóc</a:t>
                      </a:r>
                      <a:br>
                        <a:rPr lang="vi-VN" sz="1050" b="0" i="0" u="none" strike="noStrike" dirty="0">
                          <a:solidFill>
                            <a:srgbClr val="000000"/>
                          </a:solidFill>
                          <a:effectLst/>
                          <a:latin typeface="Times New Roman" panose="02020603050405020304" pitchFamily="18" charset="0"/>
                          <a:cs typeface="Times New Roman" panose="02020603050405020304" pitchFamily="18" charset="0"/>
                        </a:rPr>
                      </a:br>
                      <a:r>
                        <a:rPr lang="vi-VN" sz="1050" b="0" i="0" u="none" strike="noStrike" dirty="0">
                          <a:solidFill>
                            <a:srgbClr val="000000"/>
                          </a:solidFill>
                          <a:effectLst/>
                          <a:latin typeface="Times New Roman" panose="02020603050405020304" pitchFamily="18" charset="0"/>
                          <a:cs typeface="Times New Roman" panose="02020603050405020304" pitchFamily="18" charset="0"/>
                        </a:rPr>
                        <a:t/>
                      </a:r>
                      <a:br>
                        <a:rPr lang="vi-VN" sz="1050" b="0" i="0" u="none" strike="noStrike" dirty="0">
                          <a:solidFill>
                            <a:srgbClr val="000000"/>
                          </a:solidFill>
                          <a:effectLst/>
                          <a:latin typeface="Times New Roman" panose="02020603050405020304" pitchFamily="18" charset="0"/>
                          <a:cs typeface="Times New Roman" panose="02020603050405020304" pitchFamily="18" charset="0"/>
                        </a:rPr>
                      </a:br>
                      <a:r>
                        <a:rPr lang="vi-VN" sz="1050" b="0" i="0" u="none" strike="noStrike" dirty="0">
                          <a:solidFill>
                            <a:srgbClr val="000000"/>
                          </a:solidFill>
                          <a:effectLst/>
                          <a:latin typeface="Times New Roman" panose="02020603050405020304" pitchFamily="18" charset="0"/>
                          <a:cs typeface="Times New Roman" panose="02020603050405020304" pitchFamily="18" charset="0"/>
                        </a:rPr>
                        <a:t>- Ngày 04/01/2025: Xuất hiện cảnh báo lặp lại. Thực hiện thay FCRM P/N ON: CA71323-016 S/N 04355, P/N OFF:CA71323-016 06889 =&gt; Khối FCRM lắp lên cũng nhận từ FHS, nhưng lần đi Shop gần nhất do tháo từ Airlines khác là NFF.</a:t>
                      </a:r>
                      <a:br>
                        <a:rPr lang="vi-VN" sz="1050" b="0" i="0" u="none" strike="noStrike" dirty="0">
                          <a:solidFill>
                            <a:srgbClr val="000000"/>
                          </a:solidFill>
                          <a:effectLst/>
                          <a:latin typeface="Times New Roman" panose="02020603050405020304" pitchFamily="18" charset="0"/>
                          <a:cs typeface="Times New Roman" panose="02020603050405020304" pitchFamily="18" charset="0"/>
                        </a:rPr>
                      </a:br>
                      <a:r>
                        <a:rPr lang="vi-VN" sz="1050" b="0" i="0" u="none" strike="noStrike" dirty="0">
                          <a:solidFill>
                            <a:srgbClr val="000000"/>
                          </a:solidFill>
                          <a:effectLst/>
                          <a:latin typeface="Times New Roman" panose="02020603050405020304" pitchFamily="18" charset="0"/>
                          <a:cs typeface="Times New Roman" panose="02020603050405020304" pitchFamily="18" charset="0"/>
                        </a:rPr>
                        <a:t/>
                      </a:r>
                      <a:br>
                        <a:rPr lang="vi-VN" sz="1050" b="0" i="0" u="none" strike="noStrike" dirty="0">
                          <a:solidFill>
                            <a:srgbClr val="000000"/>
                          </a:solidFill>
                          <a:effectLst/>
                          <a:latin typeface="Times New Roman" panose="02020603050405020304" pitchFamily="18" charset="0"/>
                          <a:cs typeface="Times New Roman" panose="02020603050405020304" pitchFamily="18" charset="0"/>
                        </a:rPr>
                      </a:br>
                      <a:r>
                        <a:rPr lang="vi-VN" sz="1050" b="0" i="0" u="none" strike="noStrike" dirty="0">
                          <a:solidFill>
                            <a:srgbClr val="000000"/>
                          </a:solidFill>
                          <a:effectLst/>
                          <a:latin typeface="Times New Roman" panose="02020603050405020304" pitchFamily="18" charset="0"/>
                          <a:cs typeface="Times New Roman" panose="02020603050405020304" pitchFamily="18" charset="0"/>
                        </a:rPr>
                        <a:t>- Ngày 08/01/2025, Cảnh báo xuất hiện lại. Đã thực hiện thay cả khối Servo-control SPRL#7 P/N ON:CA67003-025, S/N 00802525, P/N OFF:CA67003-025, S/N 00802489</a:t>
                      </a:r>
                      <a:br>
                        <a:rPr lang="vi-VN" sz="1050" b="0" i="0" u="none" strike="noStrike" dirty="0">
                          <a:solidFill>
                            <a:srgbClr val="000000"/>
                          </a:solidFill>
                          <a:effectLst/>
                          <a:latin typeface="Times New Roman" panose="02020603050405020304" pitchFamily="18" charset="0"/>
                          <a:cs typeface="Times New Roman" panose="02020603050405020304" pitchFamily="18" charset="0"/>
                        </a:rPr>
                      </a:br>
                      <a:r>
                        <a:rPr lang="vi-VN" sz="1050" b="0" i="0" u="none" strike="noStrike" dirty="0">
                          <a:solidFill>
                            <a:srgbClr val="000000"/>
                          </a:solidFill>
                          <a:effectLst/>
                          <a:latin typeface="Times New Roman" panose="02020603050405020304" pitchFamily="18" charset="0"/>
                          <a:cs typeface="Times New Roman" panose="02020603050405020304" pitchFamily="18" charset="0"/>
                        </a:rPr>
                        <a:t/>
                      </a:r>
                      <a:br>
                        <a:rPr lang="vi-VN" sz="1050" b="0" i="0" u="none" strike="noStrike" dirty="0">
                          <a:solidFill>
                            <a:srgbClr val="000000"/>
                          </a:solidFill>
                          <a:effectLst/>
                          <a:latin typeface="Times New Roman" panose="02020603050405020304" pitchFamily="18" charset="0"/>
                          <a:cs typeface="Times New Roman" panose="02020603050405020304" pitchFamily="18" charset="0"/>
                        </a:rPr>
                      </a:br>
                      <a:r>
                        <a:rPr lang="vi-VN" sz="1050" b="1" i="0" u="none" strike="noStrike" dirty="0">
                          <a:solidFill>
                            <a:srgbClr val="000000"/>
                          </a:solidFill>
                          <a:effectLst/>
                          <a:latin typeface="Times New Roman" panose="02020603050405020304" pitchFamily="18" charset="0"/>
                          <a:cs typeface="Times New Roman" panose="02020603050405020304" pitchFamily="18" charset="0"/>
                        </a:rPr>
                        <a:t>Đánh giá: Nguyên nhân hỏng hóc lặp lại nghi ngờ do chất lượng FCRM khi đi shop không phát hiện ra lỗi. </a:t>
                      </a:r>
                      <a:br>
                        <a:rPr lang="vi-VN" sz="1050" b="1" i="0" u="none" strike="noStrike" dirty="0">
                          <a:solidFill>
                            <a:srgbClr val="000000"/>
                          </a:solidFill>
                          <a:effectLst/>
                          <a:latin typeface="Times New Roman" panose="02020603050405020304" pitchFamily="18" charset="0"/>
                          <a:cs typeface="Times New Roman" panose="02020603050405020304" pitchFamily="18" charset="0"/>
                        </a:rPr>
                      </a:br>
                      <a:r>
                        <a:rPr lang="vi-VN" sz="1050" b="1" i="0" u="none" strike="noStrike" dirty="0">
                          <a:solidFill>
                            <a:srgbClr val="000000"/>
                          </a:solidFill>
                          <a:effectLst/>
                          <a:latin typeface="Times New Roman" panose="02020603050405020304" pitchFamily="18" charset="0"/>
                          <a:cs typeface="Times New Roman" panose="02020603050405020304" pitchFamily="18" charset="0"/>
                        </a:rPr>
                        <a:t>=&gt; Đã gửi thông tin cho Ban QLVT để làm việc với FHS</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905088722"/>
                  </a:ext>
                </a:extLst>
              </a:tr>
            </a:tbl>
          </a:graphicData>
        </a:graphic>
      </p:graphicFrame>
    </p:spTree>
    <p:extLst>
      <p:ext uri="{BB962C8B-B14F-4D97-AF65-F5344CB8AC3E}">
        <p14:creationId xmlns:p14="http://schemas.microsoft.com/office/powerpoint/2010/main" val="37434975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xmlns="" id="{79E8391B-7B1B-9518-4216-BB3E79E0AEA3}"/>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xmlns="" id="{92B986BE-F1F9-839F-5AB3-0E3AFE71F6B7}"/>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xmlns="" id="{FE2E0F42-602D-EFC6-677B-6FED8C5260AA}"/>
              </a:ext>
            </a:extLst>
          </p:cNvPr>
          <p:cNvSpPr>
            <a:spLocks noGrp="1"/>
          </p:cNvSpPr>
          <p:nvPr>
            <p:ph type="title"/>
          </p:nvPr>
        </p:nvSpPr>
        <p:spPr>
          <a:xfrm>
            <a:off x="917620" y="381000"/>
            <a:ext cx="9155467" cy="551496"/>
          </a:xfrm>
        </p:spPr>
        <p:txBody>
          <a:bodyPr rtlCol="0">
            <a:normAutofit fontScale="90000"/>
          </a:bodyPr>
          <a:lstStyle/>
          <a:p>
            <a:pPr>
              <a:defRPr/>
            </a:pPr>
            <a:r>
              <a:rPr lang="en-US" sz="3733" dirty="0">
                <a:ln w="0"/>
                <a:solidFill>
                  <a:schemeClr val="accent4"/>
                </a:solidFill>
                <a:latin typeface="Times New Roman" panose="02020603050405020304" pitchFamily="18" charset="0"/>
                <a:cs typeface="Times New Roman" panose="02020603050405020304" pitchFamily="18" charset="0"/>
              </a:rPr>
              <a:t>TÌNH TRẠNG KỸ THUẬT ĐỘI BAY – </a:t>
            </a:r>
            <a:r>
              <a:rPr lang="vi-VN" sz="3733" dirty="0">
                <a:ln w="0"/>
                <a:solidFill>
                  <a:schemeClr val="accent4"/>
                </a:solidFill>
                <a:latin typeface="Times New Roman" panose="02020603050405020304" pitchFamily="18" charset="0"/>
                <a:cs typeface="Times New Roman" panose="02020603050405020304" pitchFamily="18" charset="0"/>
              </a:rPr>
              <a:t>A350</a:t>
            </a:r>
          </a:p>
        </p:txBody>
      </p:sp>
      <p:sp>
        <p:nvSpPr>
          <p:cNvPr id="4" name="TextBox 3">
            <a:extLst>
              <a:ext uri="{FF2B5EF4-FFF2-40B4-BE49-F238E27FC236}">
                <a16:creationId xmlns:a16="http://schemas.microsoft.com/office/drawing/2014/main" xmlns="" id="{F2F29800-2D85-BB73-F094-9BFD6867E529}"/>
              </a:ext>
            </a:extLst>
          </p:cNvPr>
          <p:cNvSpPr txBox="1"/>
          <p:nvPr/>
        </p:nvSpPr>
        <p:spPr>
          <a:xfrm>
            <a:off x="152398" y="1673935"/>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DELAY: 04</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8" name="TextBox 7">
            <a:extLst>
              <a:ext uri="{FF2B5EF4-FFF2-40B4-BE49-F238E27FC236}">
                <a16:creationId xmlns:a16="http://schemas.microsoft.com/office/drawing/2014/main" xmlns="" id="{88C5C370-206D-49FE-840E-3FF9FBBE828C}"/>
              </a:ext>
            </a:extLst>
          </p:cNvPr>
          <p:cNvSpPr txBox="1"/>
          <p:nvPr/>
        </p:nvSpPr>
        <p:spPr>
          <a:xfrm>
            <a:off x="152399" y="1225344"/>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04</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RTO/ATB/GTB/DIV</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2</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5" name="Table 4">
            <a:extLst>
              <a:ext uri="{FF2B5EF4-FFF2-40B4-BE49-F238E27FC236}">
                <a16:creationId xmlns:a16="http://schemas.microsoft.com/office/drawing/2014/main" xmlns="" id="{77040682-8AD1-4585-9D2B-09651F182BB1}"/>
              </a:ext>
            </a:extLst>
          </p:cNvPr>
          <p:cNvGraphicFramePr>
            <a:graphicFrameLocks noGrp="1"/>
          </p:cNvGraphicFramePr>
          <p:nvPr>
            <p:extLst>
              <p:ext uri="{D42A27DB-BD31-4B8C-83A1-F6EECF244321}">
                <p14:modId xmlns:p14="http://schemas.microsoft.com/office/powerpoint/2010/main" val="2983930551"/>
              </p:ext>
            </p:extLst>
          </p:nvPr>
        </p:nvGraphicFramePr>
        <p:xfrm>
          <a:off x="152398" y="2122527"/>
          <a:ext cx="11688712" cy="4678145"/>
        </p:xfrm>
        <a:graphic>
          <a:graphicData uri="http://schemas.openxmlformats.org/drawingml/2006/table">
            <a:tbl>
              <a:tblPr/>
              <a:tblGrid>
                <a:gridCol w="336244">
                  <a:extLst>
                    <a:ext uri="{9D8B030D-6E8A-4147-A177-3AD203B41FA5}">
                      <a16:colId xmlns:a16="http://schemas.microsoft.com/office/drawing/2014/main" xmlns="" val="795188192"/>
                    </a:ext>
                  </a:extLst>
                </a:gridCol>
                <a:gridCol w="594993">
                  <a:extLst>
                    <a:ext uri="{9D8B030D-6E8A-4147-A177-3AD203B41FA5}">
                      <a16:colId xmlns:a16="http://schemas.microsoft.com/office/drawing/2014/main" xmlns="" val="640419386"/>
                    </a:ext>
                  </a:extLst>
                </a:gridCol>
                <a:gridCol w="364165">
                  <a:extLst>
                    <a:ext uri="{9D8B030D-6E8A-4147-A177-3AD203B41FA5}">
                      <a16:colId xmlns:a16="http://schemas.microsoft.com/office/drawing/2014/main" xmlns="" val="975359439"/>
                    </a:ext>
                  </a:extLst>
                </a:gridCol>
                <a:gridCol w="411863">
                  <a:extLst>
                    <a:ext uri="{9D8B030D-6E8A-4147-A177-3AD203B41FA5}">
                      <a16:colId xmlns:a16="http://schemas.microsoft.com/office/drawing/2014/main" xmlns="" val="3162092879"/>
                    </a:ext>
                  </a:extLst>
                </a:gridCol>
                <a:gridCol w="698426">
                  <a:extLst>
                    <a:ext uri="{9D8B030D-6E8A-4147-A177-3AD203B41FA5}">
                      <a16:colId xmlns:a16="http://schemas.microsoft.com/office/drawing/2014/main" xmlns="" val="3785498653"/>
                    </a:ext>
                  </a:extLst>
                </a:gridCol>
                <a:gridCol w="776029">
                  <a:extLst>
                    <a:ext uri="{9D8B030D-6E8A-4147-A177-3AD203B41FA5}">
                      <a16:colId xmlns:a16="http://schemas.microsoft.com/office/drawing/2014/main" xmlns="" val="333518330"/>
                    </a:ext>
                  </a:extLst>
                </a:gridCol>
                <a:gridCol w="1237882">
                  <a:extLst>
                    <a:ext uri="{9D8B030D-6E8A-4147-A177-3AD203B41FA5}">
                      <a16:colId xmlns:a16="http://schemas.microsoft.com/office/drawing/2014/main" xmlns="" val="1073465732"/>
                    </a:ext>
                  </a:extLst>
                </a:gridCol>
                <a:gridCol w="1828800">
                  <a:extLst>
                    <a:ext uri="{9D8B030D-6E8A-4147-A177-3AD203B41FA5}">
                      <a16:colId xmlns:a16="http://schemas.microsoft.com/office/drawing/2014/main" xmlns="" val="2427652061"/>
                    </a:ext>
                  </a:extLst>
                </a:gridCol>
                <a:gridCol w="270241">
                  <a:extLst>
                    <a:ext uri="{9D8B030D-6E8A-4147-A177-3AD203B41FA5}">
                      <a16:colId xmlns:a16="http://schemas.microsoft.com/office/drawing/2014/main" xmlns="" val="2382048829"/>
                    </a:ext>
                  </a:extLst>
                </a:gridCol>
                <a:gridCol w="5170069">
                  <a:extLst>
                    <a:ext uri="{9D8B030D-6E8A-4147-A177-3AD203B41FA5}">
                      <a16:colId xmlns:a16="http://schemas.microsoft.com/office/drawing/2014/main" xmlns="" val="493547461"/>
                    </a:ext>
                  </a:extLst>
                </a:gridCol>
              </a:tblGrid>
              <a:tr h="107077">
                <a:tc>
                  <a:txBody>
                    <a:bodyPr/>
                    <a:lstStyle/>
                    <a:p>
                      <a:pPr algn="ctr" fontAlgn="ctr"/>
                      <a:r>
                        <a:rPr lang="en-US" sz="1000" b="1" i="0" u="none" strike="noStrike" dirty="0">
                          <a:solidFill>
                            <a:srgbClr val="000000"/>
                          </a:solidFill>
                          <a:effectLst/>
                          <a:latin typeface="Times New Roman" panose="02020603050405020304" pitchFamily="18" charset="0"/>
                          <a:cs typeface="Times New Roman" panose="02020603050405020304" pitchFamily="18" charset="0"/>
                        </a:rPr>
                        <a:t>A/C</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cs typeface="Times New Roman" panose="02020603050405020304" pitchFamily="18" charset="0"/>
                        </a:rPr>
                        <a:t>STA</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cs typeface="Times New Roman" panose="02020603050405020304" pitchFamily="18" charset="0"/>
                        </a:rPr>
                        <a:t>DELAY MIN</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cs typeface="Times New Roman" panose="02020603050405020304" pitchFamily="18" charset="0"/>
                        </a:rPr>
                        <a:t>FLIGHT NO</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cs typeface="Times New Roman" panose="02020603050405020304" pitchFamily="18" charset="0"/>
                        </a:rPr>
                        <a:t>ROUTINE</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cs typeface="Times New Roman" panose="02020603050405020304" pitchFamily="18" charset="0"/>
                        </a:rPr>
                        <a:t>ATA</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xmlns="" val="287520525"/>
                  </a:ext>
                </a:extLst>
              </a:tr>
              <a:tr h="2891097">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A893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21:50 06/01/2025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VN781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SGN-MEL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CAPT REPORT VIA VHF: </a:t>
                      </a:r>
                    </a:p>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FUEL CTR TK L PMP RUN CONTINOUSLY DURING TAXI </a:t>
                      </a:r>
                    </a:p>
                    <a:p>
                      <a:pPr algn="l" fontAlgn="b"/>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CAPT DECIED A/C GTB FOR CHECK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C/O </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RPLD PRESS_SWITCH - STR TK PUMP 1. SATIS. DM </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GONE</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vi-VN" sz="1100" b="0" i="0" u="none" strike="noStrike">
                          <a:solidFill>
                            <a:srgbClr val="000000"/>
                          </a:solidFill>
                          <a:effectLst/>
                          <a:latin typeface="+mn-lt"/>
                          <a:cs typeface="Times New Roman" panose="02020603050405020304" pitchFamily="18" charset="0"/>
                        </a:rPr>
                        <a:t>Hỏng hóc FUEL CTR TK L PMP RUN CONTINOUSLY, có FM:  PRESS SW -CTR TK PMP (105QA1)</a:t>
                      </a:r>
                      <a:r>
                        <a:rPr lang="en-US" sz="1100" b="0" i="0" u="none" strike="noStrike">
                          <a:solidFill>
                            <a:srgbClr val="000000"/>
                          </a:solidFill>
                          <a:effectLst/>
                          <a:latin typeface="Times New Roman" panose="02020603050405020304" pitchFamily="18" charset="0"/>
                          <a:cs typeface="Times New Roman" panose="02020603050405020304" pitchFamily="18" charset="0"/>
                        </a:rPr>
                        <a:t> </a:t>
                      </a:r>
                      <a:r>
                        <a:rPr lang="en-US" sz="1100" b="1" i="0" u="none" strike="noStrike">
                          <a:solidFill>
                            <a:srgbClr val="000000"/>
                          </a:solidFill>
                          <a:effectLst/>
                          <a:latin typeface="Times New Roman" panose="02020603050405020304" pitchFamily="18" charset="0"/>
                          <a:cs typeface="Times New Roman" panose="02020603050405020304" pitchFamily="18" charset="0"/>
                        </a:rPr>
                        <a:t>d</a:t>
                      </a:r>
                      <a:r>
                        <a:rPr lang="vi-VN" sz="1100" b="1" i="0" u="none" strike="noStrike">
                          <a:solidFill>
                            <a:srgbClr val="000000"/>
                          </a:solidFill>
                          <a:effectLst/>
                          <a:latin typeface="+mn-lt"/>
                          <a:cs typeface="Times New Roman" panose="02020603050405020304" pitchFamily="18" charset="0"/>
                        </a:rPr>
                        <a:t>o Pressure switch (105QA1) P/N F7-1170-1. Đây là thiết bị cảm biến áp suất nhiên liệu</a:t>
                      </a:r>
                      <a:r>
                        <a:rPr lang="en-US" sz="1100" b="1" i="0" u="none" strike="noStrike">
                          <a:solidFill>
                            <a:srgbClr val="000000"/>
                          </a:solidFill>
                          <a:effectLst/>
                          <a:latin typeface="Times New Roman" panose="02020603050405020304" pitchFamily="18" charset="0"/>
                          <a:cs typeface="Times New Roman" panose="02020603050405020304" pitchFamily="18" charset="0"/>
                        </a:rPr>
                        <a:t>. </a:t>
                      </a:r>
                      <a:r>
                        <a:rPr lang="vi-VN" sz="1100" b="1" i="0" u="none" strike="noStrike">
                          <a:solidFill>
                            <a:srgbClr val="000000"/>
                          </a:solidFill>
                          <a:effectLst/>
                          <a:latin typeface="+mn-lt"/>
                          <a:cs typeface="Times New Roman" panose="02020603050405020304" pitchFamily="18" charset="0"/>
                        </a:rPr>
                        <a:t/>
                      </a:r>
                      <a:br>
                        <a:rPr lang="vi-VN" sz="1100" b="1" i="0" u="none" strike="noStrike">
                          <a:solidFill>
                            <a:srgbClr val="000000"/>
                          </a:solidFill>
                          <a:effectLst/>
                          <a:latin typeface="+mn-lt"/>
                          <a:cs typeface="Times New Roman" panose="02020603050405020304" pitchFamily="18" charset="0"/>
                        </a:rPr>
                      </a:br>
                      <a:r>
                        <a:rPr lang="vi-VN" sz="1100" b="1" i="0" u="none" strike="noStrike">
                          <a:solidFill>
                            <a:srgbClr val="000000"/>
                          </a:solidFill>
                          <a:effectLst/>
                          <a:latin typeface="+mn-lt"/>
                          <a:cs typeface="Times New Roman" panose="02020603050405020304" pitchFamily="18" charset="0"/>
                        </a:rPr>
                        <a:t>Đây là lẩn đầu tiên xảy ra trên đội tàu bay A350 của VNA</a:t>
                      </a:r>
                      <a:r>
                        <a:rPr lang="vi-VN" sz="1100" b="0" i="0" u="none" strike="noStrike">
                          <a:solidFill>
                            <a:srgbClr val="000000"/>
                          </a:solidFill>
                          <a:effectLst/>
                          <a:latin typeface="+mn-lt"/>
                          <a:cs typeface="Times New Roman" panose="02020603050405020304" pitchFamily="18" charset="0"/>
                        </a:rPr>
                        <a:t>. Tuy nhiên, trên worldwide, một số operator có ghi nhận cảnh báo Fuel Pump dẫn đến thay thế Pressure SW P/N F7-1170-1 này nhưng hầu hết đều là NFF khi gửi đi Shop.</a:t>
                      </a:r>
                      <a:br>
                        <a:rPr lang="vi-VN" sz="1100" b="0" i="0" u="none" strike="noStrike">
                          <a:solidFill>
                            <a:srgbClr val="000000"/>
                          </a:solidFill>
                          <a:effectLst/>
                          <a:latin typeface="+mn-lt"/>
                          <a:cs typeface="Times New Roman" panose="02020603050405020304" pitchFamily="18" charset="0"/>
                        </a:rPr>
                      </a:b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p>
                      <a:pPr algn="l" fontAlgn="b"/>
                      <a:r>
                        <a:rPr lang="vi-VN" sz="1100" b="0" i="0" u="none" strike="noStrike">
                          <a:solidFill>
                            <a:srgbClr val="000000"/>
                          </a:solidFill>
                          <a:effectLst/>
                          <a:latin typeface="+mn-lt"/>
                          <a:cs typeface="Times New Roman" panose="02020603050405020304" pitchFamily="18" charset="0"/>
                        </a:rPr>
                        <a:t>Airbus có ban hành TFU 28.21.00047 đề cập đến Pressure SW P/N F7-1170-1. Với thông tin như sau:</a:t>
                      </a:r>
                      <a:br>
                        <a:rPr lang="vi-VN" sz="1100" b="0" i="0" u="none" strike="noStrike">
                          <a:solidFill>
                            <a:srgbClr val="000000"/>
                          </a:solidFill>
                          <a:effectLst/>
                          <a:latin typeface="+mn-lt"/>
                          <a:cs typeface="Times New Roman" panose="02020603050405020304" pitchFamily="18" charset="0"/>
                        </a:rPr>
                      </a:br>
                      <a:r>
                        <a:rPr lang="vi-VN" sz="1100" b="0" i="1" u="none" strike="noStrike">
                          <a:solidFill>
                            <a:srgbClr val="000000"/>
                          </a:solidFill>
                          <a:effectLst/>
                          <a:latin typeface="+mn-lt"/>
                          <a:cs typeface="Times New Roman" panose="02020603050405020304" pitchFamily="18" charset="0"/>
                        </a:rPr>
                        <a:t>Airbus suspects freezing of the pressure switch to be causing the fault as a result of environmental factors (flight duration, outside air temperature, humidity). The fault disappearing on ground would be explained by the warming of the system.</a:t>
                      </a:r>
                      <a:br>
                        <a:rPr lang="vi-VN" sz="1100" b="0" i="1" u="none" strike="noStrike">
                          <a:solidFill>
                            <a:srgbClr val="000000"/>
                          </a:solidFill>
                          <a:effectLst/>
                          <a:latin typeface="+mn-lt"/>
                          <a:cs typeface="Times New Roman" panose="02020603050405020304" pitchFamily="18" charset="0"/>
                        </a:rPr>
                      </a:br>
                      <a:r>
                        <a:rPr lang="vi-VN" sz="1100" b="0" i="1" u="none" strike="noStrike">
                          <a:solidFill>
                            <a:srgbClr val="000000"/>
                          </a:solidFill>
                          <a:effectLst/>
                          <a:latin typeface="+mn-lt"/>
                          <a:cs typeface="Times New Roman" panose="02020603050405020304" pitchFamily="18" charset="0"/>
                        </a:rPr>
                        <a:t>Freezing may be occurring on the wet or dry side of the pressure switch, lab testing has proven that water accumulation on either side of the pressure switch is sufficient to replicate the fault. It was not possible to conclude if the wet or dry side is more affected in-service, but removed pressure switches showed signs of moisture on both the wet and dry side of the pressure switch.</a:t>
                      </a:r>
                      <a:r>
                        <a:rPr lang="vi-VN" sz="1100" b="0" i="0" u="none" strike="noStrike">
                          <a:solidFill>
                            <a:srgbClr val="000000"/>
                          </a:solidFill>
                          <a:effectLst/>
                          <a:latin typeface="+mn-lt"/>
                          <a:cs typeface="Times New Roman" panose="02020603050405020304" pitchFamily="18" charset="0"/>
                        </a:rPr>
                        <a:t/>
                      </a:r>
                      <a:br>
                        <a:rPr lang="vi-VN" sz="1100" b="0" i="0" u="none" strike="noStrike">
                          <a:solidFill>
                            <a:srgbClr val="000000"/>
                          </a:solidFill>
                          <a:effectLst/>
                          <a:latin typeface="+mn-lt"/>
                          <a:cs typeface="Times New Roman" panose="02020603050405020304" pitchFamily="18" charset="0"/>
                        </a:rPr>
                      </a:br>
                      <a:r>
                        <a:rPr lang="vi-VN" sz="1100" b="0" i="0" u="none" strike="noStrike">
                          <a:solidFill>
                            <a:srgbClr val="000000"/>
                          </a:solidFill>
                          <a:effectLst/>
                          <a:latin typeface="+mn-lt"/>
                          <a:cs typeface="Times New Roman" panose="02020603050405020304" pitchFamily="18" charset="0"/>
                        </a:rPr>
                        <a:t/>
                      </a:r>
                      <a:br>
                        <a:rPr lang="vi-VN" sz="1100" b="0" i="0" u="none" strike="noStrike">
                          <a:solidFill>
                            <a:srgbClr val="000000"/>
                          </a:solidFill>
                          <a:effectLst/>
                          <a:latin typeface="+mn-lt"/>
                          <a:cs typeface="Times New Roman" panose="02020603050405020304" pitchFamily="18" charset="0"/>
                        </a:rPr>
                      </a:br>
                      <a:r>
                        <a:rPr lang="vi-VN" sz="1100" b="1" i="0" u="none" strike="noStrike">
                          <a:solidFill>
                            <a:srgbClr val="000000"/>
                          </a:solidFill>
                          <a:effectLst/>
                          <a:latin typeface="+mn-lt"/>
                          <a:cs typeface="Times New Roman" panose="02020603050405020304" pitchFamily="18" charset="0"/>
                        </a:rPr>
                        <a:t>Hiện tại, Airbus và Parker chưa có giải pháp nào cho hỏng hóc này. Chỉ khuyến cáo dự phòng</a:t>
                      </a:r>
                      <a:r>
                        <a:rPr lang="vi-VN" sz="1100" b="0" i="0" u="none" strike="noStrike">
                          <a:solidFill>
                            <a:srgbClr val="000000"/>
                          </a:solidFill>
                          <a:effectLst/>
                          <a:latin typeface="+mn-lt"/>
                          <a:cs typeface="Times New Roman" panose="02020603050405020304" pitchFamily="18" charset="0"/>
                        </a:rPr>
                        <a:t>.</a:t>
                      </a:r>
                      <a:br>
                        <a:rPr lang="vi-VN" sz="1100" b="0" i="0" u="none" strike="noStrike">
                          <a:solidFill>
                            <a:srgbClr val="000000"/>
                          </a:solidFill>
                          <a:effectLst/>
                          <a:latin typeface="+mn-lt"/>
                          <a:cs typeface="Times New Roman" panose="02020603050405020304" pitchFamily="18" charset="0"/>
                        </a:rPr>
                      </a:br>
                      <a:r>
                        <a:rPr lang="vi-VN" sz="1100" b="0" i="1" u="none" strike="noStrike">
                          <a:solidFill>
                            <a:srgbClr val="000000"/>
                          </a:solidFill>
                          <a:effectLst/>
                          <a:latin typeface="+mn-lt"/>
                          <a:cs typeface="Times New Roman" panose="02020603050405020304" pitchFamily="18" charset="0"/>
                        </a:rPr>
                        <a:t>Mitigation actions are being studied to alleviate this issue at all pump positions. Currently an in-service evaluation is being carried out, updates will be shared here. These may be</a:t>
                      </a:r>
                      <a:r>
                        <a:rPr lang="en-US" sz="1100" b="0" i="1" u="none" strike="noStrike">
                          <a:solidFill>
                            <a:srgbClr val="000000"/>
                          </a:solidFill>
                          <a:effectLst/>
                          <a:latin typeface="Times New Roman" panose="02020603050405020304" pitchFamily="18" charset="0"/>
                          <a:cs typeface="Times New Roman" panose="02020603050405020304" pitchFamily="18" charset="0"/>
                        </a:rPr>
                        <a:t> similar.</a:t>
                      </a:r>
                      <a:r>
                        <a:rPr lang="vi-VN" sz="1100" b="0" i="1" u="none" strike="noStrike">
                          <a:solidFill>
                            <a:srgbClr val="000000"/>
                          </a:solidFill>
                          <a:effectLst/>
                          <a:latin typeface="+mn-lt"/>
                          <a:cs typeface="Times New Roman" panose="02020603050405020304" pitchFamily="18" charset="0"/>
                        </a:rPr>
                        <a:t/>
                      </a:r>
                      <a:br>
                        <a:rPr lang="vi-VN" sz="1100" b="0" i="1" u="none" strike="noStrike">
                          <a:solidFill>
                            <a:srgbClr val="000000"/>
                          </a:solidFill>
                          <a:effectLst/>
                          <a:latin typeface="+mn-lt"/>
                          <a:cs typeface="Times New Roman" panose="02020603050405020304" pitchFamily="18" charset="0"/>
                        </a:rPr>
                      </a:br>
                      <a:r>
                        <a:rPr lang="vi-VN" sz="1100" b="0" i="1" u="none" strike="noStrike">
                          <a:solidFill>
                            <a:srgbClr val="000000"/>
                          </a:solidFill>
                          <a:effectLst/>
                          <a:latin typeface="+mn-lt"/>
                          <a:cs typeface="Times New Roman" panose="02020603050405020304" pitchFamily="18" charset="0"/>
                        </a:rPr>
                        <a:t>The solution will be a change of the pump operation logic to be implemented in FQMS v7, which is expected in 2026.</a:t>
                      </a:r>
                    </a:p>
                    <a:p>
                      <a:pPr algn="l" fontAlgn="b"/>
                      <a:endParaRPr lang="vi-V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905088722"/>
                  </a:ext>
                </a:extLst>
              </a:tr>
            </a:tbl>
          </a:graphicData>
        </a:graphic>
      </p:graphicFrame>
    </p:spTree>
    <p:extLst>
      <p:ext uri="{BB962C8B-B14F-4D97-AF65-F5344CB8AC3E}">
        <p14:creationId xmlns:p14="http://schemas.microsoft.com/office/powerpoint/2010/main" val="9723982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xmlns="" id="{79E8391B-7B1B-9518-4216-BB3E79E0AEA3}"/>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xmlns="" id="{92B986BE-F1F9-839F-5AB3-0E3AFE71F6B7}"/>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xmlns="" id="{FE2E0F42-602D-EFC6-677B-6FED8C5260AA}"/>
              </a:ext>
            </a:extLst>
          </p:cNvPr>
          <p:cNvSpPr>
            <a:spLocks noGrp="1"/>
          </p:cNvSpPr>
          <p:nvPr>
            <p:ph type="title"/>
          </p:nvPr>
        </p:nvSpPr>
        <p:spPr>
          <a:xfrm>
            <a:off x="917620" y="381000"/>
            <a:ext cx="9155467" cy="551496"/>
          </a:xfrm>
        </p:spPr>
        <p:txBody>
          <a:bodyPr rtlCol="0">
            <a:normAutofit fontScale="90000"/>
          </a:bodyPr>
          <a:lstStyle/>
          <a:p>
            <a:pPr>
              <a:defRPr/>
            </a:pPr>
            <a:r>
              <a:rPr lang="en-US" sz="3733" dirty="0">
                <a:ln w="0"/>
                <a:solidFill>
                  <a:schemeClr val="accent4"/>
                </a:solidFill>
                <a:latin typeface="Times New Roman" panose="02020603050405020304" pitchFamily="18" charset="0"/>
                <a:cs typeface="Times New Roman" panose="02020603050405020304" pitchFamily="18" charset="0"/>
              </a:rPr>
              <a:t>TÌNH TRẠNG KỸ THUẬT ĐỘI BAY – </a:t>
            </a:r>
            <a:r>
              <a:rPr lang="vi-VN" sz="3733" dirty="0">
                <a:ln w="0"/>
                <a:solidFill>
                  <a:schemeClr val="accent4"/>
                </a:solidFill>
                <a:latin typeface="Times New Roman" panose="02020603050405020304" pitchFamily="18" charset="0"/>
                <a:cs typeface="Times New Roman" panose="02020603050405020304" pitchFamily="18" charset="0"/>
              </a:rPr>
              <a:t>A350</a:t>
            </a:r>
          </a:p>
        </p:txBody>
      </p:sp>
      <p:sp>
        <p:nvSpPr>
          <p:cNvPr id="4" name="TextBox 3">
            <a:extLst>
              <a:ext uri="{FF2B5EF4-FFF2-40B4-BE49-F238E27FC236}">
                <a16:creationId xmlns:a16="http://schemas.microsoft.com/office/drawing/2014/main" xmlns="" id="{F2F29800-2D85-BB73-F094-9BFD6867E529}"/>
              </a:ext>
            </a:extLst>
          </p:cNvPr>
          <p:cNvSpPr txBox="1"/>
          <p:nvPr/>
        </p:nvSpPr>
        <p:spPr>
          <a:xfrm>
            <a:off x="152398" y="1673935"/>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DELAY: 04</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8" name="TextBox 7">
            <a:extLst>
              <a:ext uri="{FF2B5EF4-FFF2-40B4-BE49-F238E27FC236}">
                <a16:creationId xmlns:a16="http://schemas.microsoft.com/office/drawing/2014/main" xmlns="" id="{88C5C370-206D-49FE-840E-3FF9FBBE828C}"/>
              </a:ext>
            </a:extLst>
          </p:cNvPr>
          <p:cNvSpPr txBox="1"/>
          <p:nvPr/>
        </p:nvSpPr>
        <p:spPr>
          <a:xfrm>
            <a:off x="152399" y="1225344"/>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04</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RTO/ATB/GTB/DIV</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2</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5" name="Table 4">
            <a:extLst>
              <a:ext uri="{FF2B5EF4-FFF2-40B4-BE49-F238E27FC236}">
                <a16:creationId xmlns:a16="http://schemas.microsoft.com/office/drawing/2014/main" xmlns="" id="{77040682-8AD1-4585-9D2B-09651F182BB1}"/>
              </a:ext>
            </a:extLst>
          </p:cNvPr>
          <p:cNvGraphicFramePr>
            <a:graphicFrameLocks noGrp="1"/>
          </p:cNvGraphicFramePr>
          <p:nvPr>
            <p:extLst>
              <p:ext uri="{D42A27DB-BD31-4B8C-83A1-F6EECF244321}">
                <p14:modId xmlns:p14="http://schemas.microsoft.com/office/powerpoint/2010/main" val="683483852"/>
              </p:ext>
            </p:extLst>
          </p:nvPr>
        </p:nvGraphicFramePr>
        <p:xfrm>
          <a:off x="152398" y="2122528"/>
          <a:ext cx="11688712" cy="4326744"/>
        </p:xfrm>
        <a:graphic>
          <a:graphicData uri="http://schemas.openxmlformats.org/drawingml/2006/table">
            <a:tbl>
              <a:tblPr/>
              <a:tblGrid>
                <a:gridCol w="336244">
                  <a:extLst>
                    <a:ext uri="{9D8B030D-6E8A-4147-A177-3AD203B41FA5}">
                      <a16:colId xmlns:a16="http://schemas.microsoft.com/office/drawing/2014/main" xmlns="" val="795188192"/>
                    </a:ext>
                  </a:extLst>
                </a:gridCol>
                <a:gridCol w="730558">
                  <a:extLst>
                    <a:ext uri="{9D8B030D-6E8A-4147-A177-3AD203B41FA5}">
                      <a16:colId xmlns:a16="http://schemas.microsoft.com/office/drawing/2014/main" xmlns="" val="640419386"/>
                    </a:ext>
                  </a:extLst>
                </a:gridCol>
                <a:gridCol w="304800">
                  <a:extLst>
                    <a:ext uri="{9D8B030D-6E8A-4147-A177-3AD203B41FA5}">
                      <a16:colId xmlns:a16="http://schemas.microsoft.com/office/drawing/2014/main" xmlns="" val="975359439"/>
                    </a:ext>
                  </a:extLst>
                </a:gridCol>
                <a:gridCol w="335663">
                  <a:extLst>
                    <a:ext uri="{9D8B030D-6E8A-4147-A177-3AD203B41FA5}">
                      <a16:colId xmlns:a16="http://schemas.microsoft.com/office/drawing/2014/main" xmlns="" val="3162092879"/>
                    </a:ext>
                  </a:extLst>
                </a:gridCol>
                <a:gridCol w="698426">
                  <a:extLst>
                    <a:ext uri="{9D8B030D-6E8A-4147-A177-3AD203B41FA5}">
                      <a16:colId xmlns:a16="http://schemas.microsoft.com/office/drawing/2014/main" xmlns="" val="3785498653"/>
                    </a:ext>
                  </a:extLst>
                </a:gridCol>
                <a:gridCol w="776029">
                  <a:extLst>
                    <a:ext uri="{9D8B030D-6E8A-4147-A177-3AD203B41FA5}">
                      <a16:colId xmlns:a16="http://schemas.microsoft.com/office/drawing/2014/main" xmlns="" val="333518330"/>
                    </a:ext>
                  </a:extLst>
                </a:gridCol>
                <a:gridCol w="1314082">
                  <a:extLst>
                    <a:ext uri="{9D8B030D-6E8A-4147-A177-3AD203B41FA5}">
                      <a16:colId xmlns:a16="http://schemas.microsoft.com/office/drawing/2014/main" xmlns="" val="1073465732"/>
                    </a:ext>
                  </a:extLst>
                </a:gridCol>
                <a:gridCol w="1752600">
                  <a:extLst>
                    <a:ext uri="{9D8B030D-6E8A-4147-A177-3AD203B41FA5}">
                      <a16:colId xmlns:a16="http://schemas.microsoft.com/office/drawing/2014/main" xmlns="" val="2427652061"/>
                    </a:ext>
                  </a:extLst>
                </a:gridCol>
                <a:gridCol w="381000">
                  <a:extLst>
                    <a:ext uri="{9D8B030D-6E8A-4147-A177-3AD203B41FA5}">
                      <a16:colId xmlns:a16="http://schemas.microsoft.com/office/drawing/2014/main" xmlns="" val="2382048829"/>
                    </a:ext>
                  </a:extLst>
                </a:gridCol>
                <a:gridCol w="5059310">
                  <a:extLst>
                    <a:ext uri="{9D8B030D-6E8A-4147-A177-3AD203B41FA5}">
                      <a16:colId xmlns:a16="http://schemas.microsoft.com/office/drawing/2014/main" xmlns="" val="493547461"/>
                    </a:ext>
                  </a:extLst>
                </a:gridCol>
              </a:tblGrid>
              <a:tr h="416131">
                <a:tc>
                  <a:txBody>
                    <a:bodyPr/>
                    <a:lstStyle/>
                    <a:p>
                      <a:pPr algn="ctr" fontAlgn="ctr"/>
                      <a:r>
                        <a:rPr lang="en-US" sz="1000" b="1" i="0" u="none" strike="noStrike" dirty="0">
                          <a:solidFill>
                            <a:srgbClr val="000000"/>
                          </a:solidFill>
                          <a:effectLst/>
                          <a:latin typeface="Times New Roman" panose="02020603050405020304" pitchFamily="18" charset="0"/>
                          <a:cs typeface="Times New Roman" panose="02020603050405020304" pitchFamily="18" charset="0"/>
                        </a:rPr>
                        <a:t>A/C</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cs typeface="Times New Roman" panose="02020603050405020304" pitchFamily="18" charset="0"/>
                        </a:rPr>
                        <a:t>STA</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cs typeface="Times New Roman" panose="02020603050405020304" pitchFamily="18" charset="0"/>
                        </a:rPr>
                        <a:t>DELAY MIN</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cs typeface="Times New Roman" panose="02020603050405020304" pitchFamily="18" charset="0"/>
                        </a:rPr>
                        <a:t>FLIGHT NO</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cs typeface="Times New Roman" panose="02020603050405020304" pitchFamily="18" charset="0"/>
                        </a:rPr>
                        <a:t>ROUTINE</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cs typeface="Times New Roman" panose="02020603050405020304" pitchFamily="18" charset="0"/>
                        </a:rPr>
                        <a:t>ATA</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5180" marR="5180" marT="51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xmlns="" val="287520525"/>
                  </a:ext>
                </a:extLst>
              </a:tr>
              <a:tr h="1668166">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A893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07:50 06/01/2025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SYD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69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VN772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SYD-SGN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AFTER VN773 SGN-SYD, D/M: ENG 1 REVERSER CTL AND ENG 1 VIB MONITORING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1"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ADD B1278 RAISED FOR ENG 1 REVERRSER</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 SWAPPED PCB 4101XW WITH 4230XZ D/M ENG 1 VIB MONITORING CLEARED ACT EVENT CLOSED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70-00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Hỏng hóc liên quan đến SSPC (Solid state power control module) PN 222CE06L13Y10, đã được đề cập trong TFU 24.70.00.002.</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Nguyên nhân: Lỗi internal communication</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Giải pháp tạm thời: raise MEL hoặc swap vị trí SSPC để raise MEL. Trong trường hợp này, thợ máy tại SYD xử lý chậm mặc dù MCC có hướng dẫn, nên dẫn đến delay (bình thường chỉ mất 15 phút để swap SSPC và raise MEL)</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Giải pháp triệt để: nâng cấp SSPCM lên 222CE06L15Y12 theo chương trình on attrition (vật tư FHS cung cấp).</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905088722"/>
                  </a:ext>
                </a:extLst>
              </a:tr>
              <a:tr h="2010799">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A896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00:01 06/01/2025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VN19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HAN-CDG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IFE SYS NOT WORKING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Sau</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khi</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Reset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các</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màn</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hình</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giải</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trí</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hoạt</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động</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đủ</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Function,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Màn</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hình</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điều</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khiển</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trung</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tâm</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hỏng</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thực</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hiện</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Raised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sổ</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C763 IFE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Inop</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và</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Briefing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với</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tổ</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bay,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Tiếp</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Viên</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và</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Đại</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Diện</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hãng</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tổ</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bay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và</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ĐD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Hãng</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đồng</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ý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khai</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thác</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RAISED C763 "IFE INOP" EVENT CLOSED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ADD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đã</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khắc</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phục</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sau</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khi</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thay</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màn</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hình</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điều</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khiển</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iCMT</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Tiếp</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tục</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theo</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dõi</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975417386"/>
                  </a:ext>
                </a:extLst>
              </a:tr>
            </a:tbl>
          </a:graphicData>
        </a:graphic>
      </p:graphicFrame>
    </p:spTree>
    <p:extLst>
      <p:ext uri="{BB962C8B-B14F-4D97-AF65-F5344CB8AC3E}">
        <p14:creationId xmlns:p14="http://schemas.microsoft.com/office/powerpoint/2010/main" val="16158804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cs typeface="Times New Roman" panose="02020603050405020304" pitchFamily="18" charset="0"/>
              </a:rPr>
              <a:pPr/>
              <a:t>12</a:t>
            </a:fld>
            <a:endParaRPr lang="en-US">
              <a:cs typeface="Times New Roman" panose="02020603050405020304" pitchFamily="18" charset="0"/>
            </a:endParaRPr>
          </a:p>
        </p:txBody>
      </p:sp>
      <p:sp>
        <p:nvSpPr>
          <p:cNvPr id="3" name="Title 2">
            <a:extLst>
              <a:ext uri="{FF2B5EF4-FFF2-40B4-BE49-F238E27FC236}">
                <a16:creationId xmlns:a16="http://schemas.microsoft.com/office/drawing/2014/main" xmlns="" id="{A11DC031-BEAC-4998-AC8D-45E1D40101ED}"/>
              </a:ext>
            </a:extLst>
          </p:cNvPr>
          <p:cNvSpPr>
            <a:spLocks noGrp="1"/>
          </p:cNvSpPr>
          <p:nvPr>
            <p:ph type="title"/>
          </p:nvPr>
        </p:nvSpPr>
        <p:spPr>
          <a:xfrm>
            <a:off x="304800" y="115577"/>
            <a:ext cx="11519044" cy="815200"/>
          </a:xfrm>
        </p:spPr>
        <p:txBody>
          <a:bodyPr/>
          <a:lstStyle/>
          <a:p>
            <a:r>
              <a:rPr lang="en-US" dirty="0">
                <a:latin typeface="Times New Roman" panose="02020603050405020304" pitchFamily="18" charset="0"/>
                <a:cs typeface="Times New Roman" panose="02020603050405020304" pitchFamily="18" charset="0"/>
              </a:rPr>
              <a:t>A893- GTB DUE TO FUEL CTR TK L PMP RUN CONTINOUSLY</a:t>
            </a:r>
          </a:p>
        </p:txBody>
      </p:sp>
      <p:grpSp>
        <p:nvGrpSpPr>
          <p:cNvPr id="33" name="Group 32">
            <a:extLst>
              <a:ext uri="{FF2B5EF4-FFF2-40B4-BE49-F238E27FC236}">
                <a16:creationId xmlns:a16="http://schemas.microsoft.com/office/drawing/2014/main" xmlns="" id="{34209925-6D27-4640-822C-43AD4A9C4CC4}"/>
              </a:ext>
            </a:extLst>
          </p:cNvPr>
          <p:cNvGrpSpPr/>
          <p:nvPr/>
        </p:nvGrpSpPr>
        <p:grpSpPr>
          <a:xfrm>
            <a:off x="434478" y="868423"/>
            <a:ext cx="8938121" cy="710636"/>
            <a:chOff x="709283" y="790590"/>
            <a:chExt cx="11134842" cy="569669"/>
          </a:xfrm>
        </p:grpSpPr>
        <p:sp>
          <p:nvSpPr>
            <p:cNvPr id="34" name="Rectangle: Single Corner Rounded 33">
              <a:extLst>
                <a:ext uri="{FF2B5EF4-FFF2-40B4-BE49-F238E27FC236}">
                  <a16:creationId xmlns:a16="http://schemas.microsoft.com/office/drawing/2014/main" xmlns="" id="{C6532922-BE89-4477-9DF9-A3314A3FECFA}"/>
                </a:ext>
              </a:extLst>
            </p:cNvPr>
            <p:cNvSpPr/>
            <p:nvPr/>
          </p:nvSpPr>
          <p:spPr>
            <a:xfrm flipH="1" flipV="1">
              <a:off x="709283" y="790590"/>
              <a:ext cx="11134842" cy="569669"/>
            </a:xfrm>
            <a:prstGeom prst="round1Rect">
              <a:avLst/>
            </a:prstGeom>
            <a:pattFill prst="lgGrid">
              <a:fgClr>
                <a:srgbClr val="5B9BD5">
                  <a:lumMod val="40000"/>
                  <a:lumOff val="60000"/>
                </a:srgbClr>
              </a:fgClr>
              <a:bgClr>
                <a:srgbClr val="4472C4">
                  <a:lumMod val="20000"/>
                  <a:lumOff val="80000"/>
                </a:srgbClr>
              </a:bgClr>
            </a:pattFill>
            <a:ln w="12700" cap="flat" cmpd="sng" algn="ctr">
              <a:solidFill>
                <a:schemeClr val="bg1">
                  <a:lumMod val="75000"/>
                </a:scheme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5" name="Rectangle 34">
              <a:extLst>
                <a:ext uri="{FF2B5EF4-FFF2-40B4-BE49-F238E27FC236}">
                  <a16:creationId xmlns:a16="http://schemas.microsoft.com/office/drawing/2014/main" xmlns="" id="{6E9B656D-206A-421D-8940-F6F4D81064E6}"/>
                </a:ext>
              </a:extLst>
            </p:cNvPr>
            <p:cNvSpPr/>
            <p:nvPr/>
          </p:nvSpPr>
          <p:spPr>
            <a:xfrm>
              <a:off x="818875" y="840925"/>
              <a:ext cx="10445095" cy="468775"/>
            </a:xfrm>
            <a:prstGeom prst="rect">
              <a:avLst/>
            </a:prstGeom>
          </p:spPr>
          <p:txBody>
            <a:bodyPr wrap="square">
              <a:spAutoFit/>
            </a:bodyPr>
            <a:lstStyle/>
            <a:p>
              <a:pPr indent="114300">
                <a:defRPr/>
              </a:pPr>
              <a:r>
                <a:rPr lang="en-US" sz="1600" b="1" dirty="0">
                  <a:solidFill>
                    <a:srgbClr val="002060"/>
                  </a:solidFill>
                  <a:latin typeface="Arial" panose="020B0604020202020204" pitchFamily="34" charset="0"/>
                  <a:cs typeface="Arial" panose="020B0604020202020204" pitchFamily="34" charset="0"/>
                </a:rPr>
                <a:t>MSG: FUEL CTR TK L PMP RUN CONTINOUSLY, </a:t>
              </a:r>
            </a:p>
            <a:p>
              <a:pPr indent="114300">
                <a:defRPr/>
              </a:pPr>
              <a:r>
                <a:rPr lang="en-US" sz="1600" b="1" dirty="0">
                  <a:solidFill>
                    <a:srgbClr val="002060"/>
                  </a:solidFill>
                  <a:latin typeface="Arial" panose="020B0604020202020204" pitchFamily="34" charset="0"/>
                  <a:cs typeface="Arial" panose="020B0604020202020204" pitchFamily="34" charset="0"/>
                </a:rPr>
                <a:t>FM:    PRESS SW -CTR TK PMP (105QA1).</a:t>
              </a:r>
            </a:p>
          </p:txBody>
        </p:sp>
      </p:grpSp>
      <p:sp>
        <p:nvSpPr>
          <p:cNvPr id="36" name="TextBox 35">
            <a:extLst>
              <a:ext uri="{FF2B5EF4-FFF2-40B4-BE49-F238E27FC236}">
                <a16:creationId xmlns:a16="http://schemas.microsoft.com/office/drawing/2014/main" xmlns="" id="{21024902-508D-489B-B691-B2BB6C90C51F}"/>
              </a:ext>
            </a:extLst>
          </p:cNvPr>
          <p:cNvSpPr txBox="1"/>
          <p:nvPr/>
        </p:nvSpPr>
        <p:spPr>
          <a:xfrm>
            <a:off x="1090183" y="1828102"/>
            <a:ext cx="2662062" cy="369332"/>
          </a:xfrm>
          <a:prstGeom prst="rect">
            <a:avLst/>
          </a:prstGeom>
          <a:noFill/>
        </p:spPr>
        <p:txBody>
          <a:bodyPr wrap="square" rtlCol="0">
            <a:spAutoFit/>
          </a:bodyPr>
          <a:lstStyle/>
          <a:p>
            <a:pPr lvl="0" algn="just">
              <a:spcBef>
                <a:spcPts val="600"/>
              </a:spcBef>
              <a:defRPr/>
            </a:pPr>
            <a:r>
              <a:rPr lang="en-US" b="1">
                <a:solidFill>
                  <a:srgbClr val="006885"/>
                </a:solidFill>
                <a:latin typeface="Montserrat SemiBold"/>
                <a:ea typeface="Cambria" panose="02040503050406030204" pitchFamily="18" charset="0"/>
                <a:cs typeface="Times New Roman" panose="02020603050405020304" pitchFamily="18" charset="0"/>
              </a:rPr>
              <a:t>Phân tích/Đánh giá</a:t>
            </a:r>
          </a:p>
        </p:txBody>
      </p:sp>
      <p:pic>
        <p:nvPicPr>
          <p:cNvPr id="37" name="Picture 36">
            <a:extLst>
              <a:ext uri="{FF2B5EF4-FFF2-40B4-BE49-F238E27FC236}">
                <a16:creationId xmlns:a16="http://schemas.microsoft.com/office/drawing/2014/main" xmlns="" id="{1C56202B-007D-4D30-905C-A82013C0CC56}"/>
              </a:ext>
            </a:extLst>
          </p:cNvPr>
          <p:cNvPicPr>
            <a:picLocks noChangeAspect="1"/>
          </p:cNvPicPr>
          <p:nvPr/>
        </p:nvPicPr>
        <p:blipFill>
          <a:blip r:embed="rId3"/>
          <a:stretch>
            <a:fillRect/>
          </a:stretch>
        </p:blipFill>
        <p:spPr>
          <a:xfrm>
            <a:off x="660399" y="1769611"/>
            <a:ext cx="510877" cy="512345"/>
          </a:xfrm>
          <a:prstGeom prst="rect">
            <a:avLst/>
          </a:prstGeom>
        </p:spPr>
      </p:pic>
      <p:sp>
        <p:nvSpPr>
          <p:cNvPr id="5" name="TextBox 4">
            <a:extLst>
              <a:ext uri="{FF2B5EF4-FFF2-40B4-BE49-F238E27FC236}">
                <a16:creationId xmlns:a16="http://schemas.microsoft.com/office/drawing/2014/main" xmlns="" id="{26C94D4A-9243-442C-A754-5627E7B43863}"/>
              </a:ext>
            </a:extLst>
          </p:cNvPr>
          <p:cNvSpPr txBox="1"/>
          <p:nvPr/>
        </p:nvSpPr>
        <p:spPr>
          <a:xfrm>
            <a:off x="516756" y="2344248"/>
            <a:ext cx="10209363" cy="307777"/>
          </a:xfrm>
          <a:prstGeom prst="rect">
            <a:avLst/>
          </a:prstGeom>
          <a:noFill/>
        </p:spPr>
        <p:txBody>
          <a:bodyPr wrap="square" rtlCol="0">
            <a:spAutoFit/>
          </a:bodyPr>
          <a:lstStyle/>
          <a:p>
            <a:r>
              <a:rPr lang="en-US" sz="1400" dirty="0" err="1">
                <a:solidFill>
                  <a:srgbClr val="002060"/>
                </a:solidFill>
                <a:latin typeface="Arial" panose="020B0604020202020204" pitchFamily="34" charset="0"/>
                <a:cs typeface="Arial" panose="020B0604020202020204" pitchFamily="34" charset="0"/>
              </a:rPr>
              <a:t>Hỏng</a:t>
            </a:r>
            <a:r>
              <a:rPr lang="en-US" sz="1400" dirty="0">
                <a:solidFill>
                  <a:srgbClr val="002060"/>
                </a:solidFill>
                <a:latin typeface="Arial" panose="020B0604020202020204" pitchFamily="34" charset="0"/>
                <a:cs typeface="Arial" panose="020B0604020202020204" pitchFamily="34" charset="0"/>
              </a:rPr>
              <a:t> </a:t>
            </a:r>
            <a:r>
              <a:rPr lang="en-US" sz="1400" dirty="0" err="1">
                <a:solidFill>
                  <a:srgbClr val="002060"/>
                </a:solidFill>
                <a:latin typeface="Arial" panose="020B0604020202020204" pitchFamily="34" charset="0"/>
                <a:cs typeface="Arial" panose="020B0604020202020204" pitchFamily="34" charset="0"/>
              </a:rPr>
              <a:t>hóc</a:t>
            </a:r>
            <a:r>
              <a:rPr lang="en-US" sz="1400" dirty="0">
                <a:solidFill>
                  <a:srgbClr val="002060"/>
                </a:solidFill>
                <a:latin typeface="Arial" panose="020B0604020202020204" pitchFamily="34" charset="0"/>
                <a:cs typeface="Arial" panose="020B0604020202020204" pitchFamily="34" charset="0"/>
              </a:rPr>
              <a:t> do Pressure Switch P/N F7-1170-1. Refer TFU 28.21.00047, </a:t>
            </a:r>
            <a:r>
              <a:rPr lang="en-US" sz="1400" dirty="0" err="1">
                <a:solidFill>
                  <a:srgbClr val="002060"/>
                </a:solidFill>
                <a:latin typeface="Arial" panose="020B0604020202020204" pitchFamily="34" charset="0"/>
                <a:cs typeface="Arial" panose="020B0604020202020204" pitchFamily="34" charset="0"/>
              </a:rPr>
              <a:t>nguyên</a:t>
            </a:r>
            <a:r>
              <a:rPr lang="en-US" sz="1400" dirty="0">
                <a:solidFill>
                  <a:srgbClr val="002060"/>
                </a:solidFill>
                <a:latin typeface="Arial" panose="020B0604020202020204" pitchFamily="34" charset="0"/>
                <a:cs typeface="Arial" panose="020B0604020202020204" pitchFamily="34" charset="0"/>
              </a:rPr>
              <a:t> </a:t>
            </a:r>
            <a:r>
              <a:rPr lang="en-US" sz="1400" dirty="0" err="1">
                <a:solidFill>
                  <a:srgbClr val="002060"/>
                </a:solidFill>
                <a:latin typeface="Arial" panose="020B0604020202020204" pitchFamily="34" charset="0"/>
                <a:cs typeface="Arial" panose="020B0604020202020204" pitchFamily="34" charset="0"/>
              </a:rPr>
              <a:t>nhân</a:t>
            </a:r>
            <a:r>
              <a:rPr lang="en-US" sz="1400" dirty="0">
                <a:solidFill>
                  <a:srgbClr val="002060"/>
                </a:solidFill>
                <a:latin typeface="Arial" panose="020B0604020202020204" pitchFamily="34" charset="0"/>
                <a:cs typeface="Arial" panose="020B0604020202020204" pitchFamily="34" charset="0"/>
              </a:rPr>
              <a:t> do h</a:t>
            </a:r>
            <a:r>
              <a:rPr lang="vi-VN" sz="1400" dirty="0">
                <a:solidFill>
                  <a:srgbClr val="002060"/>
                </a:solidFill>
                <a:latin typeface="Arial" panose="020B0604020202020204" pitchFamily="34" charset="0"/>
                <a:cs typeface="Arial" panose="020B0604020202020204" pitchFamily="34" charset="0"/>
              </a:rPr>
              <a:t>ơ</a:t>
            </a:r>
            <a:r>
              <a:rPr lang="en-US" sz="1400" dirty="0" err="1">
                <a:solidFill>
                  <a:srgbClr val="002060"/>
                </a:solidFill>
                <a:latin typeface="Arial" panose="020B0604020202020204" pitchFamily="34" charset="0"/>
                <a:cs typeface="Arial" panose="020B0604020202020204" pitchFamily="34" charset="0"/>
              </a:rPr>
              <a:t>i</a:t>
            </a:r>
            <a:r>
              <a:rPr lang="en-US" sz="1400" dirty="0">
                <a:solidFill>
                  <a:srgbClr val="002060"/>
                </a:solidFill>
                <a:latin typeface="Arial" panose="020B0604020202020204" pitchFamily="34" charset="0"/>
                <a:cs typeface="Arial" panose="020B0604020202020204" pitchFamily="34" charset="0"/>
              </a:rPr>
              <a:t> </a:t>
            </a:r>
            <a:r>
              <a:rPr lang="en-US" sz="1400" dirty="0" err="1">
                <a:solidFill>
                  <a:srgbClr val="002060"/>
                </a:solidFill>
                <a:latin typeface="Arial" panose="020B0604020202020204" pitchFamily="34" charset="0"/>
                <a:cs typeface="Arial" panose="020B0604020202020204" pitchFamily="34" charset="0"/>
              </a:rPr>
              <a:t>ẩm</a:t>
            </a:r>
            <a:r>
              <a:rPr lang="en-US" sz="1400" dirty="0">
                <a:solidFill>
                  <a:srgbClr val="002060"/>
                </a:solidFill>
                <a:latin typeface="Arial" panose="020B0604020202020204" pitchFamily="34" charset="0"/>
                <a:cs typeface="Arial" panose="020B0604020202020204" pitchFamily="34" charset="0"/>
              </a:rPr>
              <a:t> </a:t>
            </a:r>
            <a:r>
              <a:rPr lang="en-US" sz="1400" dirty="0" err="1">
                <a:solidFill>
                  <a:srgbClr val="002060"/>
                </a:solidFill>
                <a:latin typeface="Arial" panose="020B0604020202020204" pitchFamily="34" charset="0"/>
                <a:cs typeface="Arial" panose="020B0604020202020204" pitchFamily="34" charset="0"/>
              </a:rPr>
              <a:t>xâm</a:t>
            </a:r>
            <a:r>
              <a:rPr lang="en-US" sz="1400" dirty="0">
                <a:solidFill>
                  <a:srgbClr val="002060"/>
                </a:solidFill>
                <a:latin typeface="Arial" panose="020B0604020202020204" pitchFamily="34" charset="0"/>
                <a:cs typeface="Arial" panose="020B0604020202020204" pitchFamily="34" charset="0"/>
              </a:rPr>
              <a:t> </a:t>
            </a:r>
            <a:r>
              <a:rPr lang="en-US" sz="1400" dirty="0" err="1">
                <a:solidFill>
                  <a:srgbClr val="002060"/>
                </a:solidFill>
                <a:latin typeface="Arial" panose="020B0604020202020204" pitchFamily="34" charset="0"/>
                <a:cs typeface="Arial" panose="020B0604020202020204" pitchFamily="34" charset="0"/>
              </a:rPr>
              <a:t>nhập</a:t>
            </a:r>
            <a:r>
              <a:rPr lang="en-US" sz="1400" dirty="0">
                <a:solidFill>
                  <a:srgbClr val="002060"/>
                </a:solidFill>
                <a:latin typeface="Arial" panose="020B0604020202020204" pitchFamily="34" charset="0"/>
                <a:cs typeface="Arial" panose="020B0604020202020204" pitchFamily="34" charset="0"/>
              </a:rPr>
              <a:t> </a:t>
            </a:r>
            <a:r>
              <a:rPr lang="en-US" sz="1400" dirty="0" err="1">
                <a:solidFill>
                  <a:srgbClr val="002060"/>
                </a:solidFill>
                <a:latin typeface="Arial" panose="020B0604020202020204" pitchFamily="34" charset="0"/>
                <a:cs typeface="Arial" panose="020B0604020202020204" pitchFamily="34" charset="0"/>
              </a:rPr>
              <a:t>vào</a:t>
            </a:r>
            <a:endParaRPr lang="en-US" sz="1200" b="1" dirty="0">
              <a:solidFill>
                <a:srgbClr val="002060"/>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xmlns="" id="{F1753D6A-4D78-4121-8332-E67F101747D0}"/>
              </a:ext>
            </a:extLst>
          </p:cNvPr>
          <p:cNvPicPr>
            <a:picLocks noChangeAspect="1"/>
          </p:cNvPicPr>
          <p:nvPr/>
        </p:nvPicPr>
        <p:blipFill>
          <a:blip r:embed="rId4"/>
          <a:stretch>
            <a:fillRect/>
          </a:stretch>
        </p:blipFill>
        <p:spPr>
          <a:xfrm>
            <a:off x="516756" y="2864052"/>
            <a:ext cx="8991600" cy="1700205"/>
          </a:xfrm>
          <a:prstGeom prst="rect">
            <a:avLst/>
          </a:prstGeom>
        </p:spPr>
      </p:pic>
      <p:sp>
        <p:nvSpPr>
          <p:cNvPr id="28" name="TextBox 27">
            <a:extLst>
              <a:ext uri="{FF2B5EF4-FFF2-40B4-BE49-F238E27FC236}">
                <a16:creationId xmlns:a16="http://schemas.microsoft.com/office/drawing/2014/main" xmlns="" id="{82BE00C8-9DC2-42D8-BA88-09D10753D984}"/>
              </a:ext>
            </a:extLst>
          </p:cNvPr>
          <p:cNvSpPr txBox="1"/>
          <p:nvPr/>
        </p:nvSpPr>
        <p:spPr>
          <a:xfrm>
            <a:off x="609600" y="4724400"/>
            <a:ext cx="8839200" cy="738664"/>
          </a:xfrm>
          <a:prstGeom prst="rect">
            <a:avLst/>
          </a:prstGeom>
          <a:noFill/>
        </p:spPr>
        <p:txBody>
          <a:bodyPr wrap="square" rtlCol="0">
            <a:spAutoFit/>
          </a:bodyPr>
          <a:lstStyle/>
          <a:p>
            <a:r>
              <a:rPr lang="vi-VN" sz="1400" dirty="0">
                <a:solidFill>
                  <a:srgbClr val="002060"/>
                </a:solidFill>
                <a:latin typeface="Arial" panose="020B0604020202020204" pitchFamily="34" charset="0"/>
                <a:cs typeface="Arial" panose="020B0604020202020204" pitchFamily="34" charset="0"/>
              </a:rPr>
              <a:t>Đây là l</a:t>
            </a:r>
            <a:r>
              <a:rPr lang="en-US" sz="1400" dirty="0">
                <a:solidFill>
                  <a:srgbClr val="002060"/>
                </a:solidFill>
                <a:latin typeface="Arial" panose="020B0604020202020204" pitchFamily="34" charset="0"/>
                <a:cs typeface="Arial" panose="020B0604020202020204" pitchFamily="34" charset="0"/>
              </a:rPr>
              <a:t>ầ</a:t>
            </a:r>
            <a:r>
              <a:rPr lang="vi-VN" sz="1400" dirty="0">
                <a:solidFill>
                  <a:srgbClr val="002060"/>
                </a:solidFill>
                <a:latin typeface="Arial" panose="020B0604020202020204" pitchFamily="34" charset="0"/>
                <a:cs typeface="Arial" panose="020B0604020202020204" pitchFamily="34" charset="0"/>
              </a:rPr>
              <a:t>n đầu tiên xảy ra trên đội tàu bay A350 của VNA. Tuy nhiên, trên worldwide, một số operator có ghi nhận cảnh báo Fuel Pump dẫn đến thay thế Pressure SW P/N F7-1170-1 này nhưng hầu hết đều là NFF khi gửi đi Shop.</a:t>
            </a:r>
            <a:endParaRPr lang="en-US" sz="1400" dirty="0">
              <a:solidFill>
                <a:srgbClr val="002060"/>
              </a:solidFill>
              <a:latin typeface="Arial" panose="020B0604020202020204" pitchFamily="34" charset="0"/>
              <a:cs typeface="Arial" panose="020B0604020202020204" pitchFamily="34" charset="0"/>
            </a:endParaRPr>
          </a:p>
        </p:txBody>
      </p:sp>
      <p:pic>
        <p:nvPicPr>
          <p:cNvPr id="39" name="Picture 38">
            <a:extLst>
              <a:ext uri="{FF2B5EF4-FFF2-40B4-BE49-F238E27FC236}">
                <a16:creationId xmlns:a16="http://schemas.microsoft.com/office/drawing/2014/main" xmlns="" id="{1D9D105B-56FC-4479-95F1-941A47E05D47}"/>
              </a:ext>
            </a:extLst>
          </p:cNvPr>
          <p:cNvPicPr>
            <a:picLocks noChangeAspect="1"/>
          </p:cNvPicPr>
          <p:nvPr/>
        </p:nvPicPr>
        <p:blipFill>
          <a:blip r:embed="rId5"/>
          <a:stretch>
            <a:fillRect/>
          </a:stretch>
        </p:blipFill>
        <p:spPr>
          <a:xfrm>
            <a:off x="9791858" y="3821051"/>
            <a:ext cx="2157412" cy="2732722"/>
          </a:xfrm>
          <a:prstGeom prst="rect">
            <a:avLst/>
          </a:prstGeom>
        </p:spPr>
      </p:pic>
      <p:pic>
        <p:nvPicPr>
          <p:cNvPr id="40" name="Picture 39">
            <a:extLst>
              <a:ext uri="{FF2B5EF4-FFF2-40B4-BE49-F238E27FC236}">
                <a16:creationId xmlns:a16="http://schemas.microsoft.com/office/drawing/2014/main" xmlns="" id="{F700049B-74EB-4972-80D6-64D853600EC3}"/>
              </a:ext>
            </a:extLst>
          </p:cNvPr>
          <p:cNvPicPr>
            <a:picLocks noChangeAspect="1"/>
          </p:cNvPicPr>
          <p:nvPr/>
        </p:nvPicPr>
        <p:blipFill>
          <a:blip r:embed="rId6"/>
          <a:stretch>
            <a:fillRect/>
          </a:stretch>
        </p:blipFill>
        <p:spPr>
          <a:xfrm>
            <a:off x="9640203" y="1138936"/>
            <a:ext cx="2225532" cy="2322823"/>
          </a:xfrm>
          <a:prstGeom prst="rect">
            <a:avLst/>
          </a:prstGeom>
        </p:spPr>
      </p:pic>
      <p:sp>
        <p:nvSpPr>
          <p:cNvPr id="41" name="TextBox 40">
            <a:extLst>
              <a:ext uri="{FF2B5EF4-FFF2-40B4-BE49-F238E27FC236}">
                <a16:creationId xmlns:a16="http://schemas.microsoft.com/office/drawing/2014/main" xmlns="" id="{EE4AE8CD-A563-4C28-9FAD-B5F42B5F200F}"/>
              </a:ext>
            </a:extLst>
          </p:cNvPr>
          <p:cNvSpPr txBox="1"/>
          <p:nvPr/>
        </p:nvSpPr>
        <p:spPr>
          <a:xfrm>
            <a:off x="516756" y="5835688"/>
            <a:ext cx="8211735" cy="307777"/>
          </a:xfrm>
          <a:prstGeom prst="rect">
            <a:avLst/>
          </a:prstGeom>
          <a:noFill/>
        </p:spPr>
        <p:txBody>
          <a:bodyPr wrap="none" rtlCol="0">
            <a:spAutoFit/>
          </a:bodyPr>
          <a:lstStyle/>
          <a:p>
            <a:r>
              <a:rPr lang="vi-VN" sz="1400" b="1" dirty="0">
                <a:solidFill>
                  <a:srgbClr val="002060"/>
                </a:solidFill>
                <a:latin typeface="Arial" panose="020B0604020202020204" pitchFamily="34" charset="0"/>
                <a:cs typeface="Arial" panose="020B0604020202020204" pitchFamily="34" charset="0"/>
              </a:rPr>
              <a:t>Hiện tại, Airbus và Parker chưa có giải pháp nào cho hỏng hóc này. Chỉ khuyến cáo dự phòng.</a:t>
            </a:r>
            <a:endParaRPr lang="en-US" sz="1400" b="1" dirty="0">
              <a:solidFill>
                <a:srgbClr val="002060"/>
              </a:solidFill>
              <a:latin typeface="Arial" panose="020B0604020202020204" pitchFamily="34" charset="0"/>
              <a:cs typeface="Arial" panose="020B0604020202020204" pitchFamily="34" charset="0"/>
            </a:endParaRPr>
          </a:p>
        </p:txBody>
      </p:sp>
      <p:cxnSp>
        <p:nvCxnSpPr>
          <p:cNvPr id="43" name="Straight Arrow Connector 42">
            <a:extLst>
              <a:ext uri="{FF2B5EF4-FFF2-40B4-BE49-F238E27FC236}">
                <a16:creationId xmlns:a16="http://schemas.microsoft.com/office/drawing/2014/main" xmlns="" id="{2AE3C498-FD06-40CE-ABE4-928B18C44402}"/>
              </a:ext>
            </a:extLst>
          </p:cNvPr>
          <p:cNvCxnSpPr>
            <a:cxnSpLocks/>
          </p:cNvCxnSpPr>
          <p:nvPr/>
        </p:nvCxnSpPr>
        <p:spPr>
          <a:xfrm flipV="1">
            <a:off x="10363200" y="3352800"/>
            <a:ext cx="152400" cy="80510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239775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cs typeface="Times New Roman" panose="02020603050405020304" pitchFamily="18" charset="0"/>
              </a:rPr>
              <a:pPr/>
              <a:t>13</a:t>
            </a:fld>
            <a:endParaRPr lang="en-US">
              <a:cs typeface="Times New Roman" panose="02020603050405020304" pitchFamily="18" charset="0"/>
            </a:endParaRPr>
          </a:p>
        </p:txBody>
      </p:sp>
      <p:sp>
        <p:nvSpPr>
          <p:cNvPr id="3" name="Title 2">
            <a:extLst>
              <a:ext uri="{FF2B5EF4-FFF2-40B4-BE49-F238E27FC236}">
                <a16:creationId xmlns:a16="http://schemas.microsoft.com/office/drawing/2014/main" xmlns="" id="{A11DC031-BEAC-4998-AC8D-45E1D40101ED}"/>
              </a:ext>
            </a:extLst>
          </p:cNvPr>
          <p:cNvSpPr>
            <a:spLocks noGrp="1"/>
          </p:cNvSpPr>
          <p:nvPr>
            <p:ph type="title"/>
          </p:nvPr>
        </p:nvSpPr>
        <p:spPr>
          <a:xfrm>
            <a:off x="304800" y="115577"/>
            <a:ext cx="11519044" cy="815200"/>
          </a:xfrm>
        </p:spPr>
        <p:txBody>
          <a:bodyPr>
            <a:normAutofit fontScale="90000"/>
          </a:bodyPr>
          <a:lstStyle/>
          <a:p>
            <a:r>
              <a:rPr lang="en-US" dirty="0">
                <a:latin typeface="Times New Roman" panose="02020603050405020304" pitchFamily="18" charset="0"/>
                <a:cs typeface="Times New Roman" panose="02020603050405020304" pitchFamily="18" charset="0"/>
              </a:rPr>
              <a:t>A899- GTB, </a:t>
            </a:r>
            <a:r>
              <a:rPr lang="pt-BR" dirty="0">
                <a:latin typeface="Times New Roman" panose="02020603050405020304" pitchFamily="18" charset="0"/>
                <a:cs typeface="Times New Roman" panose="02020603050405020304" pitchFamily="18" charset="0"/>
              </a:rPr>
              <a:t>DM F/CTL STABILIZER E3 ACTUATOR </a:t>
            </a:r>
            <a:r>
              <a:rPr lang="pt-BR" dirty="0"/>
              <a:t/>
            </a:r>
            <a:br>
              <a:rPr lang="pt-BR" dirty="0"/>
            </a:br>
            <a:endParaRPr lang="en-US" dirty="0">
              <a:latin typeface="Times New Roman" panose="02020603050405020304" pitchFamily="18" charset="0"/>
              <a:cs typeface="Times New Roman" panose="02020603050405020304" pitchFamily="18" charset="0"/>
            </a:endParaRPr>
          </a:p>
        </p:txBody>
      </p:sp>
      <p:sp>
        <p:nvSpPr>
          <p:cNvPr id="36" name="TextBox 35">
            <a:extLst>
              <a:ext uri="{FF2B5EF4-FFF2-40B4-BE49-F238E27FC236}">
                <a16:creationId xmlns:a16="http://schemas.microsoft.com/office/drawing/2014/main" xmlns="" id="{21024902-508D-489B-B691-B2BB6C90C51F}"/>
              </a:ext>
            </a:extLst>
          </p:cNvPr>
          <p:cNvSpPr txBox="1"/>
          <p:nvPr/>
        </p:nvSpPr>
        <p:spPr>
          <a:xfrm>
            <a:off x="1295400" y="2197331"/>
            <a:ext cx="2662062" cy="369332"/>
          </a:xfrm>
          <a:prstGeom prst="rect">
            <a:avLst/>
          </a:prstGeom>
          <a:noFill/>
        </p:spPr>
        <p:txBody>
          <a:bodyPr wrap="square" rtlCol="0">
            <a:spAutoFit/>
          </a:bodyPr>
          <a:lstStyle/>
          <a:p>
            <a:pPr lvl="0" algn="just">
              <a:spcBef>
                <a:spcPts val="600"/>
              </a:spcBef>
              <a:defRPr/>
            </a:pPr>
            <a:r>
              <a:rPr lang="en-US" b="1" dirty="0" err="1">
                <a:solidFill>
                  <a:srgbClr val="006885"/>
                </a:solidFill>
                <a:latin typeface="Montserrat SemiBold"/>
                <a:ea typeface="Cambria" panose="02040503050406030204" pitchFamily="18" charset="0"/>
                <a:cs typeface="Times New Roman" panose="02020603050405020304" pitchFamily="18" charset="0"/>
              </a:rPr>
              <a:t>Phân</a:t>
            </a:r>
            <a:r>
              <a:rPr lang="en-US" b="1" dirty="0">
                <a:solidFill>
                  <a:srgbClr val="006885"/>
                </a:solidFill>
                <a:latin typeface="Montserrat SemiBold"/>
                <a:ea typeface="Cambria" panose="02040503050406030204" pitchFamily="18" charset="0"/>
                <a:cs typeface="Times New Roman" panose="02020603050405020304" pitchFamily="18" charset="0"/>
              </a:rPr>
              <a:t> </a:t>
            </a:r>
            <a:r>
              <a:rPr lang="en-US" b="1" dirty="0" err="1">
                <a:solidFill>
                  <a:srgbClr val="006885"/>
                </a:solidFill>
                <a:latin typeface="Montserrat SemiBold"/>
                <a:ea typeface="Cambria" panose="02040503050406030204" pitchFamily="18" charset="0"/>
                <a:cs typeface="Times New Roman" panose="02020603050405020304" pitchFamily="18" charset="0"/>
              </a:rPr>
              <a:t>tích</a:t>
            </a:r>
            <a:r>
              <a:rPr lang="en-US" b="1" dirty="0">
                <a:solidFill>
                  <a:srgbClr val="006885"/>
                </a:solidFill>
                <a:latin typeface="Montserrat SemiBold"/>
                <a:ea typeface="Cambria" panose="02040503050406030204" pitchFamily="18" charset="0"/>
                <a:cs typeface="Times New Roman" panose="02020603050405020304" pitchFamily="18" charset="0"/>
              </a:rPr>
              <a:t>/</a:t>
            </a:r>
            <a:r>
              <a:rPr lang="en-US" b="1" dirty="0" err="1">
                <a:solidFill>
                  <a:srgbClr val="006885"/>
                </a:solidFill>
                <a:latin typeface="Montserrat SemiBold"/>
                <a:ea typeface="Cambria" panose="02040503050406030204" pitchFamily="18" charset="0"/>
                <a:cs typeface="Times New Roman" panose="02020603050405020304" pitchFamily="18" charset="0"/>
              </a:rPr>
              <a:t>Đánh</a:t>
            </a:r>
            <a:r>
              <a:rPr lang="en-US" b="1" dirty="0">
                <a:solidFill>
                  <a:srgbClr val="006885"/>
                </a:solidFill>
                <a:latin typeface="Montserrat SemiBold"/>
                <a:ea typeface="Cambria" panose="02040503050406030204" pitchFamily="18" charset="0"/>
                <a:cs typeface="Times New Roman" panose="02020603050405020304" pitchFamily="18" charset="0"/>
              </a:rPr>
              <a:t> </a:t>
            </a:r>
            <a:r>
              <a:rPr lang="en-US" b="1" dirty="0" err="1">
                <a:solidFill>
                  <a:srgbClr val="006885"/>
                </a:solidFill>
                <a:latin typeface="Montserrat SemiBold"/>
                <a:ea typeface="Cambria" panose="02040503050406030204" pitchFamily="18" charset="0"/>
                <a:cs typeface="Times New Roman" panose="02020603050405020304" pitchFamily="18" charset="0"/>
              </a:rPr>
              <a:t>giá</a:t>
            </a:r>
            <a:endParaRPr lang="en-US" b="1" dirty="0">
              <a:solidFill>
                <a:srgbClr val="006885"/>
              </a:solidFill>
              <a:latin typeface="Montserrat SemiBold"/>
              <a:ea typeface="Cambria" panose="02040503050406030204" pitchFamily="18" charset="0"/>
              <a:cs typeface="Times New Roman" panose="02020603050405020304" pitchFamily="18" charset="0"/>
            </a:endParaRPr>
          </a:p>
        </p:txBody>
      </p:sp>
      <p:pic>
        <p:nvPicPr>
          <p:cNvPr id="37" name="Picture 36">
            <a:extLst>
              <a:ext uri="{FF2B5EF4-FFF2-40B4-BE49-F238E27FC236}">
                <a16:creationId xmlns:a16="http://schemas.microsoft.com/office/drawing/2014/main" xmlns="" id="{1C56202B-007D-4D30-905C-A82013C0CC56}"/>
              </a:ext>
            </a:extLst>
          </p:cNvPr>
          <p:cNvPicPr>
            <a:picLocks noChangeAspect="1"/>
          </p:cNvPicPr>
          <p:nvPr/>
        </p:nvPicPr>
        <p:blipFill>
          <a:blip r:embed="rId3"/>
          <a:stretch>
            <a:fillRect/>
          </a:stretch>
        </p:blipFill>
        <p:spPr>
          <a:xfrm>
            <a:off x="685800" y="2054318"/>
            <a:ext cx="510877" cy="512345"/>
          </a:xfrm>
          <a:prstGeom prst="rect">
            <a:avLst/>
          </a:prstGeom>
        </p:spPr>
      </p:pic>
      <p:sp>
        <p:nvSpPr>
          <p:cNvPr id="2" name="Rectangle 1">
            <a:extLst>
              <a:ext uri="{FF2B5EF4-FFF2-40B4-BE49-F238E27FC236}">
                <a16:creationId xmlns:a16="http://schemas.microsoft.com/office/drawing/2014/main" xmlns="" id="{1A28BE17-FFA0-43FD-89E6-74A8D814EE75}"/>
              </a:ext>
            </a:extLst>
          </p:cNvPr>
          <p:cNvSpPr/>
          <p:nvPr/>
        </p:nvSpPr>
        <p:spPr>
          <a:xfrm>
            <a:off x="763290" y="2780639"/>
            <a:ext cx="10819110" cy="2246769"/>
          </a:xfrm>
          <a:prstGeom prst="rect">
            <a:avLst/>
          </a:prstGeom>
        </p:spPr>
        <p:txBody>
          <a:bodyPr wrap="square">
            <a:spAutoFit/>
          </a:bodyPr>
          <a:lstStyle/>
          <a:p>
            <a:r>
              <a:rPr lang="en-US" sz="1400" dirty="0" err="1"/>
              <a:t>Hỏng</a:t>
            </a:r>
            <a:r>
              <a:rPr lang="en-US" sz="1400" dirty="0"/>
              <a:t> </a:t>
            </a:r>
            <a:r>
              <a:rPr lang="en-US" sz="1400" dirty="0" err="1"/>
              <a:t>hóc</a:t>
            </a:r>
            <a:r>
              <a:rPr lang="en-US" sz="1400" dirty="0"/>
              <a:t> </a:t>
            </a:r>
            <a:r>
              <a:rPr lang="en-US" sz="1400" dirty="0" err="1"/>
              <a:t>này</a:t>
            </a:r>
            <a:r>
              <a:rPr lang="en-US" sz="1400" dirty="0"/>
              <a:t> </a:t>
            </a:r>
            <a:r>
              <a:rPr lang="en-US" sz="1400" dirty="0" err="1"/>
              <a:t>xuất</a:t>
            </a:r>
            <a:r>
              <a:rPr lang="en-US" sz="1400" dirty="0"/>
              <a:t> </a:t>
            </a:r>
            <a:r>
              <a:rPr lang="en-US" sz="1400" dirty="0" err="1"/>
              <a:t>hiện</a:t>
            </a:r>
            <a:r>
              <a:rPr lang="en-US" sz="1400" dirty="0"/>
              <a:t> </a:t>
            </a:r>
            <a:r>
              <a:rPr lang="en-US" sz="1400" dirty="0" err="1"/>
              <a:t>lặp</a:t>
            </a:r>
            <a:r>
              <a:rPr lang="en-US" sz="1400" dirty="0"/>
              <a:t> </a:t>
            </a:r>
            <a:r>
              <a:rPr lang="en-US" sz="1400" dirty="0" err="1"/>
              <a:t>lại</a:t>
            </a:r>
            <a:r>
              <a:rPr lang="en-US" sz="1400" dirty="0"/>
              <a:t>, </a:t>
            </a:r>
            <a:r>
              <a:rPr lang="en-US" sz="1400" dirty="0" err="1"/>
              <a:t>nhưng</a:t>
            </a:r>
            <a:r>
              <a:rPr lang="en-US" sz="1400" dirty="0"/>
              <a:t> </a:t>
            </a:r>
            <a:r>
              <a:rPr lang="en-US" sz="1400" dirty="0" err="1"/>
              <a:t>chưa</a:t>
            </a:r>
            <a:r>
              <a:rPr lang="en-US" sz="1400" dirty="0"/>
              <a:t> </a:t>
            </a:r>
            <a:r>
              <a:rPr lang="en-US" sz="1400" dirty="0" err="1"/>
              <a:t>khắc</a:t>
            </a:r>
            <a:r>
              <a:rPr lang="en-US" sz="1400" dirty="0"/>
              <a:t> </a:t>
            </a:r>
            <a:r>
              <a:rPr lang="en-US" sz="1400" dirty="0" err="1"/>
              <a:t>phục</a:t>
            </a:r>
            <a:r>
              <a:rPr lang="en-US" sz="1400" dirty="0"/>
              <a:t> </a:t>
            </a:r>
            <a:r>
              <a:rPr lang="en-US" sz="1400" dirty="0" err="1"/>
              <a:t>triệt</a:t>
            </a:r>
            <a:r>
              <a:rPr lang="en-US" sz="1400" dirty="0"/>
              <a:t> </a:t>
            </a:r>
            <a:r>
              <a:rPr lang="en-US" sz="1400" dirty="0" err="1"/>
              <a:t>để</a:t>
            </a:r>
            <a:r>
              <a:rPr lang="en-US" sz="1400" dirty="0"/>
              <a:t>.</a:t>
            </a:r>
          </a:p>
          <a:p>
            <a:pPr marL="171450" indent="-171450">
              <a:buFont typeface="Wingdings" panose="05000000000000000000" pitchFamily="2" charset="2"/>
              <a:buChar char="§"/>
            </a:pPr>
            <a:r>
              <a:rPr lang="en-US" sz="1400" dirty="0" err="1"/>
              <a:t>Ngày</a:t>
            </a:r>
            <a:r>
              <a:rPr lang="en-US" sz="1400" dirty="0"/>
              <a:t> 07.Dec.2024 =&gt; Do system test, MSG clear</a:t>
            </a:r>
          </a:p>
          <a:p>
            <a:pPr marL="171450" indent="-171450">
              <a:buFont typeface="Wingdings" panose="05000000000000000000" pitchFamily="2" charset="2"/>
              <a:buChar char="§"/>
            </a:pPr>
            <a:r>
              <a:rPr lang="en-US" sz="1400" dirty="0" err="1"/>
              <a:t>Ngày</a:t>
            </a:r>
            <a:r>
              <a:rPr lang="en-US" sz="1400" dirty="0"/>
              <a:t> 10.Dec.2024 =&gt; </a:t>
            </a:r>
            <a:r>
              <a:rPr lang="en-US" sz="1400" dirty="0" err="1"/>
              <a:t>Hỏng</a:t>
            </a:r>
            <a:r>
              <a:rPr lang="en-US" sz="1400" dirty="0"/>
              <a:t> </a:t>
            </a:r>
            <a:r>
              <a:rPr lang="en-US" sz="1400" dirty="0" err="1"/>
              <a:t>hóc</a:t>
            </a:r>
            <a:r>
              <a:rPr lang="en-US" sz="1400" dirty="0"/>
              <a:t> </a:t>
            </a:r>
            <a:r>
              <a:rPr lang="en-US" sz="1400" dirty="0" err="1"/>
              <a:t>xuất</a:t>
            </a:r>
            <a:r>
              <a:rPr lang="en-US" sz="1400" dirty="0"/>
              <a:t> </a:t>
            </a:r>
            <a:r>
              <a:rPr lang="en-US" sz="1400" dirty="0" err="1"/>
              <a:t>hiện</a:t>
            </a:r>
            <a:r>
              <a:rPr lang="en-US" sz="1400" dirty="0"/>
              <a:t> </a:t>
            </a:r>
            <a:r>
              <a:rPr lang="en-US" sz="1400" dirty="0" err="1"/>
              <a:t>lại</a:t>
            </a:r>
            <a:r>
              <a:rPr lang="en-US" sz="1400" dirty="0"/>
              <a:t>, raise ADD B960. </a:t>
            </a:r>
            <a:r>
              <a:rPr lang="en-US" sz="1400" dirty="0" err="1"/>
              <a:t>Ngày</a:t>
            </a:r>
            <a:r>
              <a:rPr lang="en-US" sz="1400" dirty="0"/>
              <a:t> - </a:t>
            </a:r>
            <a:r>
              <a:rPr lang="en-US" sz="1400" dirty="0" err="1"/>
              <a:t>Ngày</a:t>
            </a:r>
            <a:r>
              <a:rPr lang="en-US" sz="1400" dirty="0"/>
              <a:t> 13.Dec.2024,  REPLACE EMCU-THS ACTR,3 (101CH3), </a:t>
            </a:r>
            <a:r>
              <a:rPr lang="en-US" sz="1400" dirty="0">
                <a:solidFill>
                  <a:srgbClr val="FF0000"/>
                </a:solidFill>
              </a:rPr>
              <a:t>spare rob from A895 (BQDB)</a:t>
            </a:r>
          </a:p>
          <a:p>
            <a:pPr marL="171450" indent="-171450">
              <a:buFont typeface="Wingdings" panose="05000000000000000000" pitchFamily="2" charset="2"/>
              <a:buChar char="§"/>
            </a:pPr>
            <a:r>
              <a:rPr lang="en-US" sz="1400" dirty="0" err="1"/>
              <a:t>Ngày</a:t>
            </a:r>
            <a:r>
              <a:rPr lang="en-US" sz="1400" dirty="0"/>
              <a:t> 16.Dec.2024, </a:t>
            </a:r>
            <a:r>
              <a:rPr lang="en-US" sz="1400" dirty="0" err="1"/>
              <a:t>Hỏng</a:t>
            </a:r>
            <a:r>
              <a:rPr lang="en-US" sz="1400" dirty="0"/>
              <a:t> </a:t>
            </a:r>
            <a:r>
              <a:rPr lang="en-US" sz="1400" dirty="0" err="1"/>
              <a:t>hóc</a:t>
            </a:r>
            <a:r>
              <a:rPr lang="en-US" sz="1400" dirty="0"/>
              <a:t> </a:t>
            </a:r>
            <a:r>
              <a:rPr lang="en-US" sz="1400" dirty="0" err="1"/>
              <a:t>xuất</a:t>
            </a:r>
            <a:r>
              <a:rPr lang="en-US" sz="1400" dirty="0"/>
              <a:t> </a:t>
            </a:r>
            <a:r>
              <a:rPr lang="en-US" sz="1400" dirty="0" err="1"/>
              <a:t>hiện</a:t>
            </a:r>
            <a:r>
              <a:rPr lang="en-US" sz="1400" dirty="0"/>
              <a:t> </a:t>
            </a:r>
            <a:r>
              <a:rPr lang="en-US" sz="1400" dirty="0" err="1"/>
              <a:t>lại</a:t>
            </a:r>
            <a:r>
              <a:rPr lang="en-US" sz="1400" dirty="0"/>
              <a:t> raise ADD B963. Clean and check all connector of Harness 411CH FOUND OK. REPLACE EMCU-THS ACTR,3 (101CH3). </a:t>
            </a:r>
            <a:r>
              <a:rPr lang="en-US" sz="1400" dirty="0">
                <a:solidFill>
                  <a:srgbClr val="FF0000"/>
                </a:solidFill>
              </a:rPr>
              <a:t>Rob </a:t>
            </a:r>
            <a:r>
              <a:rPr lang="en-US" sz="1400" dirty="0" err="1">
                <a:solidFill>
                  <a:srgbClr val="FF0000"/>
                </a:solidFill>
              </a:rPr>
              <a:t>từ</a:t>
            </a:r>
            <a:r>
              <a:rPr lang="en-US" sz="1400" dirty="0">
                <a:solidFill>
                  <a:srgbClr val="FF0000"/>
                </a:solidFill>
              </a:rPr>
              <a:t> A898(BQDB)</a:t>
            </a:r>
          </a:p>
          <a:p>
            <a:pPr marL="171450" indent="-171450">
              <a:buFont typeface="Wingdings" panose="05000000000000000000" pitchFamily="2" charset="2"/>
              <a:buChar char="§"/>
            </a:pPr>
            <a:r>
              <a:rPr lang="en-US" sz="1400" dirty="0" err="1"/>
              <a:t>Ngày</a:t>
            </a:r>
            <a:r>
              <a:rPr lang="en-US" sz="1400" dirty="0"/>
              <a:t> 26.Dec.2024, </a:t>
            </a:r>
            <a:r>
              <a:rPr lang="en-US" sz="1400" dirty="0" err="1"/>
              <a:t>Hỏng</a:t>
            </a:r>
            <a:r>
              <a:rPr lang="en-US" sz="1400" dirty="0"/>
              <a:t> </a:t>
            </a:r>
            <a:r>
              <a:rPr lang="en-US" sz="1400" dirty="0" err="1"/>
              <a:t>hóc</a:t>
            </a:r>
            <a:r>
              <a:rPr lang="en-US" sz="1400" dirty="0"/>
              <a:t> </a:t>
            </a:r>
            <a:r>
              <a:rPr lang="en-US" sz="1400" dirty="0" err="1"/>
              <a:t>xuất</a:t>
            </a:r>
            <a:r>
              <a:rPr lang="en-US" sz="1400" dirty="0"/>
              <a:t> </a:t>
            </a:r>
            <a:r>
              <a:rPr lang="en-US" sz="1400" dirty="0" err="1"/>
              <a:t>hiện</a:t>
            </a:r>
            <a:r>
              <a:rPr lang="en-US" sz="1400" dirty="0"/>
              <a:t> </a:t>
            </a:r>
            <a:r>
              <a:rPr lang="en-US" sz="1400" dirty="0" err="1"/>
              <a:t>lại</a:t>
            </a:r>
            <a:r>
              <a:rPr lang="en-US" sz="1400" dirty="0"/>
              <a:t> raise ADD B969,  REPLACED THE ELECTRICAL HARNESS-THS ACTR,3(411CH) TO RECTIFY ADD </a:t>
            </a:r>
          </a:p>
          <a:p>
            <a:pPr marL="171450" indent="-171450">
              <a:buFont typeface="Wingdings" panose="05000000000000000000" pitchFamily="2" charset="2"/>
              <a:buChar char="§"/>
            </a:pPr>
            <a:r>
              <a:rPr lang="en-US" sz="1400" dirty="0" err="1"/>
              <a:t>Ngày</a:t>
            </a:r>
            <a:r>
              <a:rPr lang="en-US" sz="1400" dirty="0"/>
              <a:t> 09.Jan.2025, </a:t>
            </a:r>
            <a:r>
              <a:rPr lang="en-US" sz="1400" dirty="0" err="1"/>
              <a:t>Hỏng</a:t>
            </a:r>
            <a:r>
              <a:rPr lang="en-US" sz="1400" dirty="0"/>
              <a:t> </a:t>
            </a:r>
            <a:r>
              <a:rPr lang="en-US" sz="1400" dirty="0" err="1"/>
              <a:t>hóc</a:t>
            </a:r>
            <a:r>
              <a:rPr lang="en-US" sz="1400" dirty="0"/>
              <a:t> </a:t>
            </a:r>
            <a:r>
              <a:rPr lang="en-US" sz="1400" dirty="0" err="1"/>
              <a:t>xuất</a:t>
            </a:r>
            <a:r>
              <a:rPr lang="en-US" sz="1400" dirty="0"/>
              <a:t> </a:t>
            </a:r>
            <a:r>
              <a:rPr lang="en-US" sz="1400" dirty="0" err="1"/>
              <a:t>hiện</a:t>
            </a:r>
            <a:r>
              <a:rPr lang="en-US" sz="1400" dirty="0"/>
              <a:t> </a:t>
            </a:r>
            <a:r>
              <a:rPr lang="en-US" sz="1400" dirty="0" err="1"/>
              <a:t>lại</a:t>
            </a:r>
            <a:r>
              <a:rPr lang="en-US" sz="1400" dirty="0"/>
              <a:t>. raise ADD B797</a:t>
            </a:r>
          </a:p>
          <a:p>
            <a:endParaRPr lang="en-US" sz="1400" dirty="0"/>
          </a:p>
          <a:p>
            <a:r>
              <a:rPr lang="en-US" sz="1400" dirty="0"/>
              <a:t>=&gt; </a:t>
            </a:r>
            <a:r>
              <a:rPr lang="en-US" sz="1400" dirty="0" err="1"/>
              <a:t>Đang</a:t>
            </a:r>
            <a:r>
              <a:rPr lang="en-US" sz="1400" dirty="0"/>
              <a:t> </a:t>
            </a:r>
            <a:r>
              <a:rPr lang="en-US" sz="1400" dirty="0" err="1"/>
              <a:t>dự</a:t>
            </a:r>
            <a:r>
              <a:rPr lang="en-US" sz="1400" dirty="0"/>
              <a:t> </a:t>
            </a:r>
            <a:r>
              <a:rPr lang="en-US" sz="1400" dirty="0" err="1"/>
              <a:t>kiến</a:t>
            </a:r>
            <a:r>
              <a:rPr lang="en-US" sz="1400" dirty="0"/>
              <a:t> </a:t>
            </a:r>
            <a:r>
              <a:rPr lang="en-US" sz="1400" dirty="0" err="1"/>
              <a:t>thay</a:t>
            </a:r>
            <a:r>
              <a:rPr lang="en-US" sz="1400" dirty="0"/>
              <a:t> MOTOR/BRAKE ASSY-THS ACTR, 201CH1, </a:t>
            </a:r>
            <a:r>
              <a:rPr lang="en-US" sz="1400" dirty="0" err="1"/>
              <a:t>theo</a:t>
            </a:r>
            <a:r>
              <a:rPr lang="en-US" sz="1400" dirty="0"/>
              <a:t> </a:t>
            </a:r>
            <a:r>
              <a:rPr lang="en-US" sz="1400" dirty="0" err="1"/>
              <a:t>nh</a:t>
            </a:r>
            <a:r>
              <a:rPr lang="vi-VN" sz="1400" dirty="0"/>
              <a:t>ư</a:t>
            </a:r>
            <a:r>
              <a:rPr lang="en-US" sz="1400" dirty="0"/>
              <a:t> h</a:t>
            </a:r>
            <a:r>
              <a:rPr lang="vi-VN" sz="1400" dirty="0"/>
              <a:t>ư</a:t>
            </a:r>
            <a:r>
              <a:rPr lang="en-US" sz="1400" dirty="0" err="1"/>
              <a:t>ớng</a:t>
            </a:r>
            <a:r>
              <a:rPr lang="en-US" sz="1400" dirty="0"/>
              <a:t> </a:t>
            </a:r>
            <a:r>
              <a:rPr lang="en-US" sz="1400" dirty="0" err="1"/>
              <a:t>dẫn</a:t>
            </a:r>
            <a:r>
              <a:rPr lang="en-US" sz="1400" dirty="0"/>
              <a:t> </a:t>
            </a:r>
            <a:r>
              <a:rPr lang="en-US" sz="1400" dirty="0" err="1"/>
              <a:t>của</a:t>
            </a:r>
            <a:r>
              <a:rPr lang="en-US" sz="1400" dirty="0"/>
              <a:t> AFI task</a:t>
            </a:r>
            <a:r>
              <a:rPr lang="vi-VN" sz="1400" dirty="0"/>
              <a:t> </a:t>
            </a:r>
            <a:r>
              <a:rPr lang="vi-VN" sz="1400" dirty="0" err="1"/>
              <a:t>và</a:t>
            </a:r>
            <a:r>
              <a:rPr lang="vi-VN" sz="1400" dirty="0"/>
              <a:t> AIB theo TR 81512902</a:t>
            </a:r>
          </a:p>
        </p:txBody>
      </p:sp>
      <p:pic>
        <p:nvPicPr>
          <p:cNvPr id="6" name="Picture 5">
            <a:extLst>
              <a:ext uri="{FF2B5EF4-FFF2-40B4-BE49-F238E27FC236}">
                <a16:creationId xmlns:a16="http://schemas.microsoft.com/office/drawing/2014/main" xmlns="" id="{1ECD2368-7F86-4654-80D0-05BFF7B0BD0F}"/>
              </a:ext>
            </a:extLst>
          </p:cNvPr>
          <p:cNvPicPr>
            <a:picLocks noChangeAspect="1"/>
          </p:cNvPicPr>
          <p:nvPr/>
        </p:nvPicPr>
        <p:blipFill>
          <a:blip r:embed="rId4"/>
          <a:stretch>
            <a:fillRect/>
          </a:stretch>
        </p:blipFill>
        <p:spPr>
          <a:xfrm>
            <a:off x="685800" y="612722"/>
            <a:ext cx="8173577" cy="1441596"/>
          </a:xfrm>
          <a:prstGeom prst="rect">
            <a:avLst/>
          </a:prstGeom>
        </p:spPr>
      </p:pic>
      <p:pic>
        <p:nvPicPr>
          <p:cNvPr id="7" name="Picture 6">
            <a:extLst>
              <a:ext uri="{FF2B5EF4-FFF2-40B4-BE49-F238E27FC236}">
                <a16:creationId xmlns:a16="http://schemas.microsoft.com/office/drawing/2014/main" xmlns="" id="{3B723461-E7FC-4333-9035-3DA075EDED32}"/>
              </a:ext>
            </a:extLst>
          </p:cNvPr>
          <p:cNvPicPr>
            <a:picLocks noChangeAspect="1"/>
          </p:cNvPicPr>
          <p:nvPr/>
        </p:nvPicPr>
        <p:blipFill>
          <a:blip r:embed="rId5"/>
          <a:stretch>
            <a:fillRect/>
          </a:stretch>
        </p:blipFill>
        <p:spPr>
          <a:xfrm>
            <a:off x="8959914" y="700977"/>
            <a:ext cx="3240475" cy="1397455"/>
          </a:xfrm>
          <a:prstGeom prst="rect">
            <a:avLst/>
          </a:prstGeom>
        </p:spPr>
      </p:pic>
      <p:sp>
        <p:nvSpPr>
          <p:cNvPr id="8" name="TextBox 7">
            <a:extLst>
              <a:ext uri="{FF2B5EF4-FFF2-40B4-BE49-F238E27FC236}">
                <a16:creationId xmlns:a16="http://schemas.microsoft.com/office/drawing/2014/main" xmlns="" id="{F3CCCDE3-FDFC-47C8-926A-929A233E15C2}"/>
              </a:ext>
            </a:extLst>
          </p:cNvPr>
          <p:cNvSpPr txBox="1"/>
          <p:nvPr/>
        </p:nvSpPr>
        <p:spPr>
          <a:xfrm>
            <a:off x="609600" y="5956013"/>
            <a:ext cx="11342411" cy="523220"/>
          </a:xfrm>
          <a:prstGeom prst="rect">
            <a:avLst/>
          </a:prstGeom>
          <a:noFill/>
        </p:spPr>
        <p:txBody>
          <a:bodyPr wrap="square" rtlCol="0">
            <a:spAutoFit/>
          </a:bodyPr>
          <a:lstStyle/>
          <a:p>
            <a:r>
              <a:rPr lang="en-US" sz="1400" dirty="0" err="1">
                <a:latin typeface="Times New Roman" panose="02020603050405020304" pitchFamily="18" charset="0"/>
                <a:cs typeface="Times New Roman" panose="02020603050405020304" pitchFamily="18" charset="0"/>
              </a:rPr>
              <a:t>Với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cảnh</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báo</a:t>
            </a:r>
            <a:r>
              <a:rPr lang="en-US" sz="1400" dirty="0">
                <a:latin typeface="Times New Roman" panose="02020603050405020304" pitchFamily="18" charset="0"/>
                <a:cs typeface="Times New Roman" panose="02020603050405020304" pitchFamily="18" charset="0"/>
              </a:rPr>
              <a:t> </a:t>
            </a:r>
            <a:r>
              <a:rPr lang="pt-BR" sz="1400" dirty="0">
                <a:latin typeface="Times New Roman" panose="02020603050405020304" pitchFamily="18" charset="0"/>
                <a:cs typeface="Times New Roman" panose="02020603050405020304" pitchFamily="18" charset="0"/>
              </a:rPr>
              <a:t>F/CTL STABILIZER E3 ACTUATOR, Airbus có TFU </a:t>
            </a:r>
            <a:r>
              <a:rPr lang="en-US" sz="1400" dirty="0">
                <a:latin typeface="Times New Roman" panose="02020603050405020304" pitchFamily="18" charset="0"/>
                <a:cs typeface="Times New Roman" panose="02020603050405020304" pitchFamily="18" charset="0"/>
              </a:rPr>
              <a:t>27.44.00.023 </a:t>
            </a:r>
            <a:r>
              <a:rPr lang="en-US" sz="1400" dirty="0" err="1">
                <a:latin typeface="Times New Roman" panose="02020603050405020304" pitchFamily="18" charset="0"/>
                <a:cs typeface="Times New Roman" panose="02020603050405020304" pitchFamily="18" charset="0"/>
              </a:rPr>
              <a:t>đề</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cập</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đến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hỏng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hóc</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của</a:t>
            </a:r>
            <a:r>
              <a:rPr lang="en-US" sz="1400" dirty="0">
                <a:latin typeface="Times New Roman" panose="02020603050405020304" pitchFamily="18" charset="0"/>
                <a:cs typeface="Times New Roman" panose="02020603050405020304" pitchFamily="18" charset="0"/>
              </a:rPr>
              <a:t> EMCU - Internal short circuit in the HPE (High Power Electronic). </a:t>
            </a:r>
            <a:r>
              <a:rPr lang="en-US" sz="1400" dirty="0" err="1">
                <a:latin typeface="Times New Roman" panose="02020603050405020304" pitchFamily="18" charset="0"/>
                <a:cs typeface="Times New Roman" panose="02020603050405020304" pitchFamily="18" charset="0"/>
              </a:rPr>
              <a:t>Tuy</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nhiên</a:t>
            </a:r>
            <a:r>
              <a:rPr lang="en-US" sz="1400" dirty="0">
                <a:latin typeface="Times New Roman" panose="02020603050405020304" pitchFamily="18" charset="0"/>
                <a:cs typeface="Times New Roman" panose="02020603050405020304" pitchFamily="18" charset="0"/>
              </a:rPr>
              <a:t>, tr</a:t>
            </a:r>
            <a:r>
              <a:rPr lang="vi-VN" sz="1400" dirty="0">
                <a:latin typeface="Times New Roman" panose="02020603050405020304" pitchFamily="18" charset="0"/>
                <a:cs typeface="Times New Roman" panose="02020603050405020304" pitchFamily="18" charset="0"/>
              </a:rPr>
              <a:t>ư</a:t>
            </a:r>
            <a:r>
              <a:rPr lang="en-US" sz="1400" dirty="0" err="1">
                <a:latin typeface="Times New Roman" panose="02020603050405020304" pitchFamily="18" charset="0"/>
                <a:cs typeface="Times New Roman" panose="02020603050405020304" pitchFamily="18" charset="0"/>
              </a:rPr>
              <a:t>ờng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hợp</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này</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đã</a:t>
            </a:r>
            <a:r>
              <a:rPr lang="en-US" sz="1400" dirty="0">
                <a:latin typeface="Times New Roman" panose="02020603050405020304" pitchFamily="18" charset="0"/>
                <a:cs typeface="Times New Roman" panose="02020603050405020304" pitchFamily="18" charset="0"/>
              </a:rPr>
              <a:t> 2 </a:t>
            </a:r>
            <a:r>
              <a:rPr lang="en-US" sz="1400" dirty="0" err="1">
                <a:latin typeface="Times New Roman" panose="02020603050405020304" pitchFamily="18" charset="0"/>
                <a:cs typeface="Times New Roman" panose="02020603050405020304" pitchFamily="18" charset="0"/>
              </a:rPr>
              <a:t>lần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thay</a:t>
            </a:r>
            <a:r>
              <a:rPr lang="en-US" sz="1400" dirty="0">
                <a:latin typeface="Times New Roman" panose="02020603050405020304" pitchFamily="18" charset="0"/>
                <a:cs typeface="Times New Roman" panose="02020603050405020304" pitchFamily="18" charset="0"/>
              </a:rPr>
              <a:t> EMCU.</a:t>
            </a:r>
          </a:p>
        </p:txBody>
      </p:sp>
    </p:spTree>
    <p:extLst>
      <p:ext uri="{BB962C8B-B14F-4D97-AF65-F5344CB8AC3E}">
        <p14:creationId xmlns:p14="http://schemas.microsoft.com/office/powerpoint/2010/main" val="25188094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14</a:t>
            </a:fld>
            <a:endParaRPr/>
          </a:p>
        </p:txBody>
      </p:sp>
      <p:sp>
        <p:nvSpPr>
          <p:cNvPr id="4" name="Google Shape;82;p7">
            <a:extLst>
              <a:ext uri="{FF2B5EF4-FFF2-40B4-BE49-F238E27FC236}">
                <a16:creationId xmlns="" xmlns:a16="http://schemas.microsoft.com/office/drawing/2014/main" id="{E8C503CE-18C5-4A3D-AD46-240DA1F966DC}"/>
              </a:ext>
            </a:extLst>
          </p:cNvPr>
          <p:cNvSpPr txBox="1"/>
          <p:nvPr/>
        </p:nvSpPr>
        <p:spPr>
          <a:xfrm>
            <a:off x="257576" y="66595"/>
            <a:ext cx="7860513"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dirty="0">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A350</a:t>
            </a:r>
            <a:endParaRPr lang="en-US" sz="2933" b="1" dirty="0">
              <a:ln w="0"/>
              <a:solidFill>
                <a:schemeClr val="accent4"/>
              </a:solidFill>
              <a:latin typeface="Times New Roman" panose="02020603050405020304" pitchFamily="18" charset="0"/>
              <a:cs typeface="Times New Roman" panose="02020603050405020304" pitchFamily="18" charset="0"/>
              <a:sym typeface="Montserrat"/>
            </a:endParaRPr>
          </a:p>
        </p:txBody>
      </p:sp>
      <p:graphicFrame>
        <p:nvGraphicFramePr>
          <p:cNvPr id="2" name="Table 1">
            <a:extLst>
              <a:ext uri="{FF2B5EF4-FFF2-40B4-BE49-F238E27FC236}">
                <a16:creationId xmlns="" xmlns:a16="http://schemas.microsoft.com/office/drawing/2014/main" id="{5504B01C-4760-2BAB-1D3C-7F09595C336A}"/>
              </a:ext>
            </a:extLst>
          </p:cNvPr>
          <p:cNvGraphicFramePr>
            <a:graphicFrameLocks noGrp="1"/>
          </p:cNvGraphicFramePr>
          <p:nvPr>
            <p:extLst>
              <p:ext uri="{D42A27DB-BD31-4B8C-83A1-F6EECF244321}">
                <p14:modId xmlns:p14="http://schemas.microsoft.com/office/powerpoint/2010/main" val="2822472985"/>
              </p:ext>
            </p:extLst>
          </p:nvPr>
        </p:nvGraphicFramePr>
        <p:xfrm>
          <a:off x="257576" y="457200"/>
          <a:ext cx="11676851" cy="6444585"/>
        </p:xfrm>
        <a:graphic>
          <a:graphicData uri="http://schemas.openxmlformats.org/drawingml/2006/table">
            <a:tbl>
              <a:tblPr/>
              <a:tblGrid>
                <a:gridCol w="366893">
                  <a:extLst>
                    <a:ext uri="{9D8B030D-6E8A-4147-A177-3AD203B41FA5}">
                      <a16:colId xmlns="" xmlns:a16="http://schemas.microsoft.com/office/drawing/2014/main" val="4180435946"/>
                    </a:ext>
                  </a:extLst>
                </a:gridCol>
                <a:gridCol w="495611">
                  <a:extLst>
                    <a:ext uri="{9D8B030D-6E8A-4147-A177-3AD203B41FA5}">
                      <a16:colId xmlns="" xmlns:a16="http://schemas.microsoft.com/office/drawing/2014/main" val="225782390"/>
                    </a:ext>
                  </a:extLst>
                </a:gridCol>
                <a:gridCol w="545171">
                  <a:extLst>
                    <a:ext uri="{9D8B030D-6E8A-4147-A177-3AD203B41FA5}">
                      <a16:colId xmlns="" xmlns:a16="http://schemas.microsoft.com/office/drawing/2014/main" val="3946631556"/>
                    </a:ext>
                  </a:extLst>
                </a:gridCol>
                <a:gridCol w="1189463">
                  <a:extLst>
                    <a:ext uri="{9D8B030D-6E8A-4147-A177-3AD203B41FA5}">
                      <a16:colId xmlns="" xmlns:a16="http://schemas.microsoft.com/office/drawing/2014/main" val="1553539348"/>
                    </a:ext>
                  </a:extLst>
                </a:gridCol>
                <a:gridCol w="1011044">
                  <a:extLst>
                    <a:ext uri="{9D8B030D-6E8A-4147-A177-3AD203B41FA5}">
                      <a16:colId xmlns="" xmlns:a16="http://schemas.microsoft.com/office/drawing/2014/main" val="1949151123"/>
                    </a:ext>
                  </a:extLst>
                </a:gridCol>
                <a:gridCol w="1278673">
                  <a:extLst>
                    <a:ext uri="{9D8B030D-6E8A-4147-A177-3AD203B41FA5}">
                      <a16:colId xmlns="" xmlns:a16="http://schemas.microsoft.com/office/drawing/2014/main" val="3576365213"/>
                    </a:ext>
                  </a:extLst>
                </a:gridCol>
                <a:gridCol w="6789996">
                  <a:extLst>
                    <a:ext uri="{9D8B030D-6E8A-4147-A177-3AD203B41FA5}">
                      <a16:colId xmlns="" xmlns:a16="http://schemas.microsoft.com/office/drawing/2014/main" val="2838512126"/>
                    </a:ext>
                  </a:extLst>
                </a:gridCol>
              </a:tblGrid>
              <a:tr h="185799">
                <a:tc>
                  <a:txBody>
                    <a:bodyPr/>
                    <a:lstStyle/>
                    <a:p>
                      <a:pPr algn="ctr"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No</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Fleet</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A/C</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Tình trạng tàu bay</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Tình trạng KT</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1200" b="0" i="0" u="none" strike="noStrike">
                          <a:solidFill>
                            <a:srgbClr val="000000"/>
                          </a:solidFill>
                          <a:effectLst/>
                          <a:latin typeface="Times New Roman" panose="02020603050405020304" pitchFamily="18" charset="0"/>
                          <a:cs typeface="Times New Roman" panose="02020603050405020304" pitchFamily="18" charset="0"/>
                        </a:rPr>
                        <a:t>Điều kiện chuyên cơ</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Ghi chú</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2187768977"/>
                  </a:ext>
                </a:extLst>
              </a:tr>
              <a:tr h="551559">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A350</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A886</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BQDB</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 ADD B1372 RAISED DM AIR REDUNDANCY LOSS ON FUEL INERTING</a:t>
                      </a:r>
                      <a:br>
                        <a:rPr lang="en-US" sz="1200" b="0" i="0" u="none" strike="noStrike">
                          <a:solidFill>
                            <a:srgbClr val="000000"/>
                          </a:solidFill>
                          <a:effectLst/>
                          <a:latin typeface="Times New Roman" panose="02020603050405020304" pitchFamily="18" charset="0"/>
                          <a:cs typeface="Times New Roman" panose="02020603050405020304" pitchFamily="18" charset="0"/>
                        </a:rPr>
                      </a:br>
                      <a:r>
                        <a:rPr lang="en-US" sz="1200" b="0" i="0" u="none" strike="noStrike">
                          <a:solidFill>
                            <a:srgbClr val="000000"/>
                          </a:solidFill>
                          <a:effectLst/>
                          <a:latin typeface="Times New Roman" panose="02020603050405020304" pitchFamily="18" charset="0"/>
                          <a:cs typeface="Times New Roman" panose="02020603050405020304" pitchFamily="18" charset="0"/>
                        </a:rPr>
                        <a:t>2. ADD B1379 RAISED PACK 1 REGULATION REDUNDANCY</a:t>
                      </a:r>
                      <a:br>
                        <a:rPr lang="en-US" sz="1200" b="0" i="0" u="none" strike="noStrike">
                          <a:solidFill>
                            <a:srgbClr val="000000"/>
                          </a:solidFill>
                          <a:effectLst/>
                          <a:latin typeface="Times New Roman" panose="02020603050405020304" pitchFamily="18" charset="0"/>
                          <a:cs typeface="Times New Roman" panose="02020603050405020304" pitchFamily="18" charset="0"/>
                        </a:rPr>
                      </a:br>
                      <a:r>
                        <a:rPr lang="en-US" sz="1200" b="0" i="0" u="none" strike="noStrike">
                          <a:solidFill>
                            <a:srgbClr val="000000"/>
                          </a:solidFill>
                          <a:effectLst/>
                          <a:latin typeface="Times New Roman" panose="02020603050405020304" pitchFamily="18" charset="0"/>
                          <a:cs typeface="Times New Roman" panose="02020603050405020304" pitchFamily="18" charset="0"/>
                        </a:rPr>
                        <a:t>3. ADD B1381 RAISED F/CTL R OUT R AILERON G ACTUATOR</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2912794160"/>
                  </a:ext>
                </a:extLst>
              </a:tr>
              <a:tr h="185799">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A350</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A887</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BQDB</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dirty="0" err="1">
                          <a:solidFill>
                            <a:srgbClr val="000000"/>
                          </a:solidFill>
                          <a:effectLst/>
                          <a:latin typeface="Times New Roman" panose="02020603050405020304" pitchFamily="18" charset="0"/>
                          <a:cs typeface="Times New Roman" panose="02020603050405020304" pitchFamily="18" charset="0"/>
                        </a:rPr>
                        <a:t>Tốt</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200" b="0" i="0" u="none" strike="noStrike">
                          <a:solidFill>
                            <a:srgbClr val="000000"/>
                          </a:solidFill>
                          <a:effectLst/>
                          <a:latin typeface="Times New Roman" panose="02020603050405020304" pitchFamily="18" charset="0"/>
                          <a:cs typeface="Times New Roman" panose="02020603050405020304" pitchFamily="18" charset="0"/>
                        </a:rPr>
                        <a:t>1. ADD B1246 RAISED AIR PACK 2 REGUL REDUNDANCY</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2905603519"/>
                  </a:ext>
                </a:extLst>
              </a:tr>
              <a:tr h="185799">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A350</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A888</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 FM: PROBE 1-N1 TURBINE SPEED,ENG2(4088KS12) + PROBE 3-N1 TURBINE SPEED,ENG2(4088KS32)</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3118008509"/>
                  </a:ext>
                </a:extLst>
              </a:tr>
              <a:tr h="734439">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A350</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A889</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200" b="0" i="0" u="none" strike="noStrike">
                          <a:solidFill>
                            <a:srgbClr val="000000"/>
                          </a:solidFill>
                          <a:effectLst/>
                          <a:latin typeface="Times New Roman" panose="02020603050405020304" pitchFamily="18" charset="0"/>
                          <a:cs typeface="Times New Roman" panose="02020603050405020304" pitchFamily="18" charset="0"/>
                        </a:rPr>
                        <a:t>1. Cabin báo: Ghế 1A có vết xước lớn ở bên hông, ảnh hưởng thẩm mỹ khi VIP ngồi (có thể chọn bay VIP nếu cần gấp ko có tàu thay)</a:t>
                      </a:r>
                      <a:br>
                        <a:rPr lang="vi-VN" sz="1200" b="0" i="0" u="none" strike="noStrike">
                          <a:solidFill>
                            <a:srgbClr val="000000"/>
                          </a:solidFill>
                          <a:effectLst/>
                          <a:latin typeface="Times New Roman" panose="02020603050405020304" pitchFamily="18" charset="0"/>
                          <a:cs typeface="Times New Roman" panose="02020603050405020304" pitchFamily="18" charset="0"/>
                        </a:rPr>
                      </a:br>
                      <a:r>
                        <a:rPr lang="vi-VN" sz="1200" b="0" i="0" u="none" strike="noStrike">
                          <a:solidFill>
                            <a:srgbClr val="000000"/>
                          </a:solidFill>
                          <a:effectLst/>
                          <a:latin typeface="Times New Roman" panose="02020603050405020304" pitchFamily="18" charset="0"/>
                          <a:cs typeface="Times New Roman" panose="02020603050405020304" pitchFamily="18" charset="0"/>
                        </a:rPr>
                        <a:t>2. Eng 1 21088 giảm tần suất soi HPT blade 1200FH/150FC</a:t>
                      </a:r>
                      <a:br>
                        <a:rPr lang="vi-VN" sz="1200" b="0" i="0" u="none" strike="noStrike">
                          <a:solidFill>
                            <a:srgbClr val="000000"/>
                          </a:solidFill>
                          <a:effectLst/>
                          <a:latin typeface="Times New Roman" panose="02020603050405020304" pitchFamily="18" charset="0"/>
                          <a:cs typeface="Times New Roman" panose="02020603050405020304" pitchFamily="18" charset="0"/>
                        </a:rPr>
                      </a:br>
                      <a:r>
                        <a:rPr lang="vi-VN" sz="1200" b="0" i="0" u="none" strike="noStrike">
                          <a:solidFill>
                            <a:srgbClr val="000000"/>
                          </a:solidFill>
                          <a:effectLst/>
                          <a:latin typeface="Times New Roman" panose="02020603050405020304" pitchFamily="18" charset="0"/>
                          <a:cs typeface="Times New Roman" panose="02020603050405020304" pitchFamily="18" charset="0"/>
                        </a:rPr>
                        <a:t>3. Door 3R noisy</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4276760543"/>
                  </a:ext>
                </a:extLst>
              </a:tr>
              <a:tr h="185799">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A350</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A890</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Đạt</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 TR 81489576: PREVENTIVE RECOMMENDATION PACK 2 INTERNAL LEAKAGE</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3774646240"/>
                  </a:ext>
                </a:extLst>
              </a:tr>
              <a:tr h="185799">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6</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A350</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A891</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Đạt</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 </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4024967417"/>
                  </a:ext>
                </a:extLst>
              </a:tr>
              <a:tr h="185799">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7</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A350</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A892</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Đạt</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200" b="0" i="0" u="none" strike="noStrike">
                          <a:solidFill>
                            <a:srgbClr val="000000"/>
                          </a:solidFill>
                          <a:effectLst/>
                          <a:latin typeface="Times New Roman" panose="02020603050405020304" pitchFamily="18" charset="0"/>
                          <a:cs typeface="Times New Roman" panose="02020603050405020304" pitchFamily="18" charset="0"/>
                        </a:rPr>
                        <a:t>1. ADD B1455 RAISED THE DROOP-NOSE END-FILLING PANEL AT R/H MISSING</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3557073271"/>
                  </a:ext>
                </a:extLst>
              </a:tr>
              <a:tr h="734439">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8</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A350</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A893</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200" b="0" i="0" u="none" strike="noStrike">
                          <a:solidFill>
                            <a:srgbClr val="000000"/>
                          </a:solidFill>
                          <a:effectLst/>
                          <a:latin typeface="Times New Roman" panose="02020603050405020304" pitchFamily="18" charset="0"/>
                          <a:cs typeface="Times New Roman" panose="02020603050405020304" pitchFamily="18" charset="0"/>
                        </a:rPr>
                        <a:t>1. Không chọn chuyên cơ do hỏng hóc Fan Track Liner đã thực hiện phương án sửa permanent nhưng vẫn phát sinh hỏng hóc</a:t>
                      </a:r>
                      <a:br>
                        <a:rPr lang="vi-VN" sz="1200" b="0" i="0" u="none" strike="noStrike">
                          <a:solidFill>
                            <a:srgbClr val="000000"/>
                          </a:solidFill>
                          <a:effectLst/>
                          <a:latin typeface="Times New Roman" panose="02020603050405020304" pitchFamily="18" charset="0"/>
                          <a:cs typeface="Times New Roman" panose="02020603050405020304" pitchFamily="18" charset="0"/>
                        </a:rPr>
                      </a:br>
                      <a:r>
                        <a:rPr lang="vi-VN" sz="1200" b="0" i="0" u="none" strike="noStrike">
                          <a:solidFill>
                            <a:srgbClr val="000000"/>
                          </a:solidFill>
                          <a:effectLst/>
                          <a:latin typeface="Times New Roman" panose="02020603050405020304" pitchFamily="18" charset="0"/>
                          <a:cs typeface="Times New Roman" panose="02020603050405020304" pitchFamily="18" charset="0"/>
                        </a:rPr>
                        <a:t>2. ENG#2 HIGH OIL CONSUMPTION</a:t>
                      </a:r>
                      <a:br>
                        <a:rPr lang="vi-VN" sz="1200" b="0" i="0" u="none" strike="noStrike">
                          <a:solidFill>
                            <a:srgbClr val="000000"/>
                          </a:solidFill>
                          <a:effectLst/>
                          <a:latin typeface="Times New Roman" panose="02020603050405020304" pitchFamily="18" charset="0"/>
                          <a:cs typeface="Times New Roman" panose="02020603050405020304" pitchFamily="18" charset="0"/>
                        </a:rPr>
                      </a:br>
                      <a:r>
                        <a:rPr lang="vi-VN" sz="1200" b="0" i="0" u="none" strike="noStrike">
                          <a:solidFill>
                            <a:srgbClr val="000000"/>
                          </a:solidFill>
                          <a:effectLst/>
                          <a:latin typeface="Times New Roman" panose="02020603050405020304" pitchFamily="18" charset="0"/>
                          <a:cs typeface="Times New Roman" panose="02020603050405020304" pitchFamily="18" charset="0"/>
                        </a:rPr>
                        <a:t>3. ADD B1261 RAISED REPLACE FAN TRACK LINER OF ENG1 IN 100 FC</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493881468"/>
                  </a:ext>
                </a:extLst>
              </a:tr>
              <a:tr h="551559">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9</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A350</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A894</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Đạt</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 Eng 2 21425 giảm tần suất soi HPT blade 800FH/100FC</a:t>
                      </a:r>
                      <a:br>
                        <a:rPr lang="en-US" sz="1200" b="0" i="0" u="none" strike="noStrike">
                          <a:solidFill>
                            <a:srgbClr val="000000"/>
                          </a:solidFill>
                          <a:effectLst/>
                          <a:latin typeface="Times New Roman" panose="02020603050405020304" pitchFamily="18" charset="0"/>
                          <a:cs typeface="Times New Roman" panose="02020603050405020304" pitchFamily="18" charset="0"/>
                        </a:rPr>
                      </a:br>
                      <a:r>
                        <a:rPr lang="en-US" sz="1200" b="0" i="0" u="none" strike="noStrike">
                          <a:solidFill>
                            <a:srgbClr val="000000"/>
                          </a:solidFill>
                          <a:effectLst/>
                          <a:latin typeface="Times New Roman" panose="02020603050405020304" pitchFamily="18" charset="0"/>
                          <a:cs typeface="Times New Roman" panose="02020603050405020304" pitchFamily="18" charset="0"/>
                        </a:rPr>
                        <a:t>2. TR 81449512/009: DEGRADATION STILL ONGOING FOR PACK 1</a:t>
                      </a:r>
                      <a:br>
                        <a:rPr lang="en-US" sz="1200" b="0" i="0" u="none" strike="noStrike">
                          <a:solidFill>
                            <a:srgbClr val="000000"/>
                          </a:solidFill>
                          <a:effectLst/>
                          <a:latin typeface="Times New Roman" panose="02020603050405020304" pitchFamily="18" charset="0"/>
                          <a:cs typeface="Times New Roman" panose="02020603050405020304" pitchFamily="18" charset="0"/>
                        </a:rPr>
                      </a:br>
                      <a:r>
                        <a:rPr lang="en-US" sz="1200" b="0" i="0" u="none" strike="noStrike">
                          <a:solidFill>
                            <a:srgbClr val="000000"/>
                          </a:solidFill>
                          <a:effectLst/>
                          <a:latin typeface="Times New Roman" panose="02020603050405020304" pitchFamily="18" charset="0"/>
                          <a:cs typeface="Times New Roman" panose="02020603050405020304" pitchFamily="18" charset="0"/>
                        </a:rPr>
                        <a:t>3. ADD C943: CHILLER OUTLET SYSTEM OF ALL GALLEYS NOT WORKING</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2567650027"/>
                  </a:ext>
                </a:extLst>
              </a:tr>
              <a:tr h="368679">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A350</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A895</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BQDB</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200" b="0" i="0" u="none" strike="noStrike">
                          <a:solidFill>
                            <a:srgbClr val="000000"/>
                          </a:solidFill>
                          <a:effectLst/>
                          <a:latin typeface="Times New Roman" panose="02020603050405020304" pitchFamily="18" charset="0"/>
                          <a:cs typeface="Times New Roman" panose="02020603050405020304" pitchFamily="18" charset="0"/>
                        </a:rPr>
                        <a:t>1. ADD B995 RAISED ENGINE #1 SN 21604 HAVE LOW LIFE TIME </a:t>
                      </a:r>
                      <a:br>
                        <a:rPr lang="en-SG" sz="1200" b="0" i="0" u="none" strike="noStrike">
                          <a:solidFill>
                            <a:srgbClr val="000000"/>
                          </a:solidFill>
                          <a:effectLst/>
                          <a:latin typeface="Times New Roman" panose="02020603050405020304" pitchFamily="18" charset="0"/>
                          <a:cs typeface="Times New Roman" panose="02020603050405020304" pitchFamily="18" charset="0"/>
                        </a:rPr>
                      </a:br>
                      <a:r>
                        <a:rPr lang="en-SG" sz="1200" b="0" i="0" u="none" strike="noStrike">
                          <a:solidFill>
                            <a:srgbClr val="000000"/>
                          </a:solidFill>
                          <a:effectLst/>
                          <a:latin typeface="Times New Roman" panose="02020603050405020304" pitchFamily="18" charset="0"/>
                          <a:cs typeface="Times New Roman" panose="02020603050405020304" pitchFamily="18" charset="0"/>
                        </a:rPr>
                        <a:t>2. ADD B996 RAISED ENGINE #2 SN 21414 HAVE LOW LIFE TIME</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2636311469"/>
                  </a:ext>
                </a:extLst>
              </a:tr>
              <a:tr h="185799">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11</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A350</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A896</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Đạt</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 </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278937639"/>
                  </a:ext>
                </a:extLst>
              </a:tr>
              <a:tr h="185799">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12</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A350</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A897</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 Logo Skyteam</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3197826581"/>
                  </a:ext>
                </a:extLst>
              </a:tr>
              <a:tr h="1283079">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13</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A350</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A898</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BQDB</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 Eng 1 21214 giảm tần suất soi heatshield 2400FH/400FC. Eng 2 21268 giảm tần suất soi HPT blade 800FH/100FC</a:t>
                      </a:r>
                      <a:br>
                        <a:rPr lang="en-US" sz="1200" b="0" i="0" u="none" strike="noStrike">
                          <a:solidFill>
                            <a:srgbClr val="000000"/>
                          </a:solidFill>
                          <a:effectLst/>
                          <a:latin typeface="Times New Roman" panose="02020603050405020304" pitchFamily="18" charset="0"/>
                          <a:cs typeface="Times New Roman" panose="02020603050405020304" pitchFamily="18" charset="0"/>
                        </a:rPr>
                      </a:br>
                      <a:r>
                        <a:rPr lang="en-US" sz="1200" b="0" i="0" u="none" strike="noStrike">
                          <a:solidFill>
                            <a:srgbClr val="000000"/>
                          </a:solidFill>
                          <a:effectLst/>
                          <a:latin typeface="Times New Roman" panose="02020603050405020304" pitchFamily="18" charset="0"/>
                          <a:cs typeface="Times New Roman" panose="02020603050405020304" pitchFamily="18" charset="0"/>
                        </a:rPr>
                        <a:t>2. CABIN tồn đọng hỏng hóc MID SCS CHILLER, cân nhắc chọn tầu VIP chỉ bay nội địa</a:t>
                      </a:r>
                      <a:br>
                        <a:rPr lang="en-US" sz="1200" b="0" i="0" u="none" strike="noStrike">
                          <a:solidFill>
                            <a:srgbClr val="000000"/>
                          </a:solidFill>
                          <a:effectLst/>
                          <a:latin typeface="Times New Roman" panose="02020603050405020304" pitchFamily="18" charset="0"/>
                          <a:cs typeface="Times New Roman" panose="02020603050405020304" pitchFamily="18" charset="0"/>
                        </a:rPr>
                      </a:br>
                      <a:r>
                        <a:rPr lang="en-US" sz="1200" b="0" i="0" u="none" strike="noStrike">
                          <a:solidFill>
                            <a:srgbClr val="000000"/>
                          </a:solidFill>
                          <a:effectLst/>
                          <a:latin typeface="Times New Roman" panose="02020603050405020304" pitchFamily="18" charset="0"/>
                          <a:cs typeface="Times New Roman" panose="02020603050405020304" pitchFamily="18" charset="0"/>
                        </a:rPr>
                        <a:t>3. ADD B1134 RAISED FOR REPAIR OF DENT L/H DROOP NOSE WITHIN 350FC OR 150 DAYS WHICHEVER COME FIRST</a:t>
                      </a:r>
                      <a:br>
                        <a:rPr lang="en-US" sz="1200" b="0" i="0" u="none" strike="noStrike">
                          <a:solidFill>
                            <a:srgbClr val="000000"/>
                          </a:solidFill>
                          <a:effectLst/>
                          <a:latin typeface="Times New Roman" panose="02020603050405020304" pitchFamily="18" charset="0"/>
                          <a:cs typeface="Times New Roman" panose="02020603050405020304" pitchFamily="18" charset="0"/>
                        </a:rPr>
                      </a:br>
                      <a:r>
                        <a:rPr lang="en-US" sz="1200" b="0" i="0" u="none" strike="noStrike">
                          <a:solidFill>
                            <a:srgbClr val="000000"/>
                          </a:solidFill>
                          <a:effectLst/>
                          <a:latin typeface="Times New Roman" panose="02020603050405020304" pitchFamily="18" charset="0"/>
                          <a:cs typeface="Times New Roman" panose="02020603050405020304" pitchFamily="18" charset="0"/>
                        </a:rPr>
                        <a:t>4. ADD B1137 RAISED BRAKE FAN #8 INOP</a:t>
                      </a:r>
                      <a:br>
                        <a:rPr lang="en-US" sz="1200" b="0" i="0" u="none" strike="noStrike">
                          <a:solidFill>
                            <a:srgbClr val="000000"/>
                          </a:solidFill>
                          <a:effectLst/>
                          <a:latin typeface="Times New Roman" panose="02020603050405020304" pitchFamily="18" charset="0"/>
                          <a:cs typeface="Times New Roman" panose="02020603050405020304" pitchFamily="18" charset="0"/>
                        </a:rPr>
                      </a:br>
                      <a:r>
                        <a:rPr lang="en-US" sz="1200" b="0" i="0" u="none" strike="noStrike">
                          <a:solidFill>
                            <a:srgbClr val="000000"/>
                          </a:solidFill>
                          <a:effectLst/>
                          <a:latin typeface="Times New Roman" panose="02020603050405020304" pitchFamily="18" charset="0"/>
                          <a:cs typeface="Times New Roman" panose="02020603050405020304" pitchFamily="18" charset="0"/>
                        </a:rPr>
                        <a:t>5. CAPT OXYGEN CYLINDER (11HT1) PRESSURE IS LOW NEAR LIMIT (&lt;1200 PSI)</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3535796657"/>
                  </a:ext>
                </a:extLst>
              </a:tr>
              <a:tr h="551559">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14</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A350</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A899</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 </a:t>
                      </a:r>
                      <a:r>
                        <a:rPr lang="en-US" sz="1200" b="0" i="0" u="none" strike="noStrike" dirty="0" err="1">
                          <a:solidFill>
                            <a:srgbClr val="000000"/>
                          </a:solidFill>
                          <a:effectLst/>
                          <a:latin typeface="Times New Roman" panose="02020603050405020304" pitchFamily="18" charset="0"/>
                          <a:cs typeface="Times New Roman" panose="02020603050405020304" pitchFamily="18" charset="0"/>
                        </a:rPr>
                        <a:t>Eng</a:t>
                      </a:r>
                      <a:r>
                        <a:rPr lang="en-US" sz="1200" b="0" i="0" u="none" strike="noStrike" dirty="0">
                          <a:solidFill>
                            <a:srgbClr val="000000"/>
                          </a:solidFill>
                          <a:effectLst/>
                          <a:latin typeface="Times New Roman" panose="02020603050405020304" pitchFamily="18" charset="0"/>
                          <a:cs typeface="Times New Roman" panose="02020603050405020304" pitchFamily="18" charset="0"/>
                        </a:rPr>
                        <a:t> 1 21048 </a:t>
                      </a:r>
                      <a:r>
                        <a:rPr lang="en-US" sz="1200" b="0" i="0" u="none" strike="noStrike" dirty="0" err="1">
                          <a:solidFill>
                            <a:srgbClr val="000000"/>
                          </a:solidFill>
                          <a:effectLst/>
                          <a:latin typeface="Times New Roman" panose="02020603050405020304" pitchFamily="18" charset="0"/>
                          <a:cs typeface="Times New Roman" panose="02020603050405020304" pitchFamily="18" charset="0"/>
                        </a:rPr>
                        <a:t>giảm</a:t>
                      </a:r>
                      <a:r>
                        <a:rPr lang="en-US" sz="12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cs typeface="Times New Roman" panose="02020603050405020304" pitchFamily="18" charset="0"/>
                        </a:rPr>
                        <a:t>tần</a:t>
                      </a:r>
                      <a:r>
                        <a:rPr lang="en-US" sz="12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cs typeface="Times New Roman" panose="02020603050405020304" pitchFamily="18" charset="0"/>
                        </a:rPr>
                        <a:t>suất</a:t>
                      </a:r>
                      <a:r>
                        <a:rPr lang="en-US" sz="12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cs typeface="Times New Roman" panose="02020603050405020304" pitchFamily="18" charset="0"/>
                        </a:rPr>
                        <a:t>soi</a:t>
                      </a:r>
                      <a:r>
                        <a:rPr lang="en-US" sz="1200" b="0" i="0" u="none" strike="noStrike" dirty="0">
                          <a:solidFill>
                            <a:srgbClr val="000000"/>
                          </a:solidFill>
                          <a:effectLst/>
                          <a:latin typeface="Times New Roman" panose="02020603050405020304" pitchFamily="18" charset="0"/>
                          <a:cs typeface="Times New Roman" panose="02020603050405020304" pitchFamily="18" charset="0"/>
                        </a:rPr>
                        <a:t> HPT blade 1200FH/150FC</a:t>
                      </a:r>
                      <a:br>
                        <a:rPr lang="en-US" sz="1200" b="0" i="0" u="none" strike="noStrike" dirty="0">
                          <a:solidFill>
                            <a:srgbClr val="000000"/>
                          </a:solidFill>
                          <a:effectLst/>
                          <a:latin typeface="Times New Roman" panose="02020603050405020304" pitchFamily="18" charset="0"/>
                          <a:cs typeface="Times New Roman" panose="02020603050405020304" pitchFamily="18" charset="0"/>
                        </a:rPr>
                      </a:br>
                      <a:r>
                        <a:rPr lang="en-US" sz="1200" b="0" i="0" u="none" strike="noStrike" dirty="0">
                          <a:solidFill>
                            <a:srgbClr val="000000"/>
                          </a:solidFill>
                          <a:effectLst/>
                          <a:latin typeface="Times New Roman" panose="02020603050405020304" pitchFamily="18" charset="0"/>
                          <a:cs typeface="Times New Roman" panose="02020603050405020304" pitchFamily="18" charset="0"/>
                        </a:rPr>
                        <a:t>2. DM: F/CTL STABILIZER E3 ACTUATOR INTM (ADD B979)</a:t>
                      </a:r>
                      <a:br>
                        <a:rPr lang="en-US" sz="1200" b="0" i="0" u="none" strike="noStrike" dirty="0">
                          <a:solidFill>
                            <a:srgbClr val="000000"/>
                          </a:solidFill>
                          <a:effectLst/>
                          <a:latin typeface="Times New Roman" panose="02020603050405020304" pitchFamily="18" charset="0"/>
                          <a:cs typeface="Times New Roman" panose="02020603050405020304" pitchFamily="18" charset="0"/>
                        </a:rPr>
                      </a:br>
                      <a:r>
                        <a:rPr lang="en-US" sz="1200" b="0" i="0" u="none" strike="noStrike" dirty="0">
                          <a:solidFill>
                            <a:srgbClr val="000000"/>
                          </a:solidFill>
                          <a:effectLst/>
                          <a:latin typeface="Times New Roman" panose="02020603050405020304" pitchFamily="18" charset="0"/>
                          <a:cs typeface="Times New Roman" panose="02020603050405020304" pitchFamily="18" charset="0"/>
                        </a:rPr>
                        <a:t>3. ADD B977:FUEL INERTING SYS </a:t>
                      </a:r>
                    </a:p>
                  </a:txBody>
                  <a:tcPr marL="2919" marR="2919" marT="291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141125400"/>
                  </a:ext>
                </a:extLst>
              </a:tr>
            </a:tbl>
          </a:graphicData>
        </a:graphic>
      </p:graphicFrame>
    </p:spTree>
    <p:extLst>
      <p:ext uri="{BB962C8B-B14F-4D97-AF65-F5344CB8AC3E}">
        <p14:creationId xmlns:p14="http://schemas.microsoft.com/office/powerpoint/2010/main" val="26621103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15</a:t>
            </a:fld>
            <a:endParaRPr/>
          </a:p>
        </p:txBody>
      </p:sp>
      <p:sp>
        <p:nvSpPr>
          <p:cNvPr id="4" name="Google Shape;82;p7">
            <a:extLst>
              <a:ext uri="{FF2B5EF4-FFF2-40B4-BE49-F238E27FC236}">
                <a16:creationId xmlns="" xmlns:a16="http://schemas.microsoft.com/office/drawing/2014/main" id="{E8C503CE-18C5-4A3D-AD46-240DA1F966DC}"/>
              </a:ext>
            </a:extLst>
          </p:cNvPr>
          <p:cNvSpPr txBox="1"/>
          <p:nvPr/>
        </p:nvSpPr>
        <p:spPr>
          <a:xfrm>
            <a:off x="212083" y="107143"/>
            <a:ext cx="8438437"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dirty="0">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A350</a:t>
            </a:r>
            <a:endParaRPr sz="2933" b="1" dirty="0">
              <a:ln w="0"/>
              <a:solidFill>
                <a:schemeClr val="accent4"/>
              </a:solidFill>
              <a:latin typeface="Times New Roman" panose="02020603050405020304" pitchFamily="18" charset="0"/>
              <a:cs typeface="Times New Roman" panose="02020603050405020304" pitchFamily="18" charset="0"/>
              <a:sym typeface="Montserrat"/>
            </a:endParaRPr>
          </a:p>
        </p:txBody>
      </p:sp>
      <p:sp>
        <p:nvSpPr>
          <p:cNvPr id="7" name="Rectangle 6">
            <a:extLst>
              <a:ext uri="{FF2B5EF4-FFF2-40B4-BE49-F238E27FC236}">
                <a16:creationId xmlns="" xmlns:a16="http://schemas.microsoft.com/office/drawing/2014/main" id="{5914447B-A879-4C97-AD62-7AFABAF9410A}"/>
              </a:ext>
            </a:extLst>
          </p:cNvPr>
          <p:cNvSpPr/>
          <p:nvPr/>
        </p:nvSpPr>
        <p:spPr>
          <a:xfrm>
            <a:off x="337534" y="730407"/>
            <a:ext cx="11516933" cy="4031873"/>
          </a:xfrm>
          <a:prstGeom prst="rect">
            <a:avLst/>
          </a:prstGeom>
        </p:spPr>
        <p:txBody>
          <a:bodyPr wrap="square">
            <a:spAutoFit/>
          </a:bodyPr>
          <a:lstStyle/>
          <a:p>
            <a:pPr algn="just">
              <a:buClrTx/>
              <a:buFontTx/>
              <a:buNone/>
            </a:pPr>
            <a:r>
              <a:rPr lang="en-US" sz="1600" b="1" dirty="0" err="1">
                <a:solidFill>
                  <a:prstClr val="black"/>
                </a:solidFill>
                <a:latin typeface="Times New Roman" panose="02020603050405020304" pitchFamily="18" charset="0"/>
                <a:cs typeface="Times New Roman" panose="02020603050405020304" pitchFamily="18" charset="0"/>
              </a:rPr>
              <a:t>Nhận</a:t>
            </a:r>
            <a:r>
              <a:rPr lang="en-US" sz="1600" b="1" dirty="0">
                <a:solidFill>
                  <a:prstClr val="black"/>
                </a:solidFill>
                <a:latin typeface="Times New Roman" panose="02020603050405020304" pitchFamily="18" charset="0"/>
                <a:cs typeface="Times New Roman" panose="02020603050405020304" pitchFamily="18" charset="0"/>
              </a:rPr>
              <a:t> </a:t>
            </a:r>
            <a:r>
              <a:rPr lang="en-US" sz="1600" b="1" dirty="0" err="1">
                <a:solidFill>
                  <a:prstClr val="black"/>
                </a:solidFill>
                <a:latin typeface="Times New Roman" panose="02020603050405020304" pitchFamily="18" charset="0"/>
                <a:cs typeface="Times New Roman" panose="02020603050405020304" pitchFamily="18" charset="0"/>
              </a:rPr>
              <a:t>xét</a:t>
            </a:r>
            <a:r>
              <a:rPr lang="en-US" sz="1600" b="1" dirty="0">
                <a:solidFill>
                  <a:prstClr val="black"/>
                </a:solidFill>
                <a:latin typeface="Times New Roman" panose="02020603050405020304" pitchFamily="18" charset="0"/>
                <a:cs typeface="Times New Roman" panose="02020603050405020304" pitchFamily="18" charset="0"/>
              </a:rPr>
              <a:t>: </a:t>
            </a:r>
          </a:p>
          <a:p>
            <a:pPr marL="380990" indent="-380990" algn="just">
              <a:buFontTx/>
              <a:buChar char="-"/>
            </a:pPr>
            <a:r>
              <a:rPr lang="vi-VN" sz="1600" dirty="0">
                <a:solidFill>
                  <a:prstClr val="black"/>
                </a:solidFill>
                <a:latin typeface="Times New Roman" panose="02020603050405020304" pitchFamily="18" charset="0"/>
                <a:cs typeface="Times New Roman" panose="02020603050405020304" pitchFamily="18" charset="0"/>
              </a:rPr>
              <a:t>Tình hình kỹ thuật đội bay A3</a:t>
            </a:r>
            <a:r>
              <a:rPr lang="en-US" sz="1600" dirty="0">
                <a:solidFill>
                  <a:prstClr val="black"/>
                </a:solidFill>
                <a:latin typeface="Times New Roman" panose="02020603050405020304" pitchFamily="18" charset="0"/>
                <a:cs typeface="Times New Roman" panose="02020603050405020304" pitchFamily="18" charset="0"/>
              </a:rPr>
              <a:t>50 </a:t>
            </a:r>
            <a:r>
              <a:rPr lang="en-US" sz="1600" dirty="0" err="1">
                <a:solidFill>
                  <a:prstClr val="black"/>
                </a:solidFill>
                <a:latin typeface="Times New Roman" panose="02020603050405020304" pitchFamily="18" charset="0"/>
                <a:cs typeface="Times New Roman" panose="02020603050405020304" pitchFamily="18" charset="0"/>
              </a:rPr>
              <a:t>trong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tuần</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không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tốt</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với</a:t>
            </a:r>
            <a:r>
              <a:rPr lang="en-US" sz="1600" dirty="0">
                <a:solidFill>
                  <a:prstClr val="black"/>
                </a:solidFill>
                <a:latin typeface="Times New Roman" panose="02020603050405020304" pitchFamily="18" charset="0"/>
                <a:cs typeface="Times New Roman" panose="02020603050405020304" pitchFamily="18" charset="0"/>
              </a:rPr>
              <a:t> 02 TH GTB.</a:t>
            </a:r>
          </a:p>
          <a:p>
            <a:pPr marL="380990" indent="-380990" algn="just">
              <a:buFontTx/>
              <a:buChar char="-"/>
            </a:pPr>
            <a:r>
              <a:rPr lang="en-US" sz="1600" dirty="0" err="1">
                <a:solidFill>
                  <a:prstClr val="black"/>
                </a:solidFill>
                <a:latin typeface="Times New Roman" panose="02020603050405020304" pitchFamily="18" charset="0"/>
                <a:cs typeface="Times New Roman" panose="02020603050405020304" pitchFamily="18" charset="0"/>
              </a:rPr>
              <a:t>Hỏng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hóc</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nổi</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cộm</a:t>
            </a:r>
            <a:r>
              <a:rPr lang="en-US" sz="1600" dirty="0">
                <a:solidFill>
                  <a:prstClr val="black"/>
                </a:solidFill>
                <a:latin typeface="Times New Roman" panose="02020603050405020304" pitchFamily="18" charset="0"/>
                <a:cs typeface="Times New Roman" panose="02020603050405020304" pitchFamily="18" charset="0"/>
              </a:rPr>
              <a:t>: </a:t>
            </a:r>
          </a:p>
          <a:p>
            <a:pPr marL="609585" lvl="1" algn="just"/>
            <a:r>
              <a:rPr lang="en-US" sz="1600" dirty="0">
                <a:solidFill>
                  <a:prstClr val="black"/>
                </a:solidFill>
                <a:latin typeface="Times New Roman" panose="02020603050405020304" pitchFamily="18" charset="0"/>
                <a:cs typeface="Times New Roman" panose="02020603050405020304" pitchFamily="18" charset="0"/>
              </a:rPr>
              <a:t>+ A893 GTB VN781 SGN-MEL </a:t>
            </a:r>
            <a:r>
              <a:rPr lang="en-US" sz="1600" dirty="0" err="1">
                <a:solidFill>
                  <a:prstClr val="black"/>
                </a:solidFill>
                <a:latin typeface="Times New Roman" panose="02020603050405020304" pitchFamily="18" charset="0"/>
                <a:cs typeface="Times New Roman" panose="02020603050405020304" pitchFamily="18" charset="0"/>
              </a:rPr>
              <a:t>ngày</a:t>
            </a:r>
            <a:r>
              <a:rPr lang="en-US" sz="1600" dirty="0">
                <a:solidFill>
                  <a:prstClr val="black"/>
                </a:solidFill>
                <a:latin typeface="Times New Roman" panose="02020603050405020304" pitchFamily="18" charset="0"/>
                <a:cs typeface="Times New Roman" panose="02020603050405020304" pitchFamily="18" charset="0"/>
              </a:rPr>
              <a:t> 06/01 do </a:t>
            </a:r>
            <a:r>
              <a:rPr lang="en-US" sz="1600" dirty="0" err="1">
                <a:solidFill>
                  <a:prstClr val="black"/>
                </a:solidFill>
                <a:latin typeface="Times New Roman" panose="02020603050405020304" pitchFamily="18" charset="0"/>
                <a:cs typeface="Times New Roman" panose="02020603050405020304" pitchFamily="18" charset="0"/>
              </a:rPr>
              <a:t>phát</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sinh</a:t>
            </a:r>
            <a:r>
              <a:rPr lang="en-US" sz="1600" dirty="0">
                <a:solidFill>
                  <a:prstClr val="black"/>
                </a:solidFill>
                <a:latin typeface="Times New Roman" panose="02020603050405020304" pitchFamily="18" charset="0"/>
                <a:cs typeface="Times New Roman" panose="02020603050405020304" pitchFamily="18" charset="0"/>
              </a:rPr>
              <a:t> </a:t>
            </a:r>
            <a:r>
              <a:rPr lang="en-SG" sz="1600" dirty="0">
                <a:solidFill>
                  <a:prstClr val="black"/>
                </a:solidFill>
                <a:latin typeface="Times New Roman" panose="02020603050405020304" pitchFamily="18" charset="0"/>
                <a:cs typeface="Times New Roman" panose="02020603050405020304" pitchFamily="18" charset="0"/>
              </a:rPr>
              <a:t>FUEL CTR TK L PMP RUN CONTINOUSLY -&gt; RPLD PRESSURE SWITCH - STR TK PUMP 1. SATIS. DM GONE</a:t>
            </a:r>
            <a:r>
              <a:rPr lang="vi-VN" sz="1600" dirty="0">
                <a:solidFill>
                  <a:srgbClr val="FF0000"/>
                </a:solidFill>
                <a:latin typeface="Times New Roman" panose="02020603050405020304" pitchFamily="18" charset="0"/>
                <a:cs typeface="Times New Roman" panose="02020603050405020304" pitchFamily="18" charset="0"/>
              </a:rPr>
              <a:t> </a:t>
            </a:r>
          </a:p>
          <a:p>
            <a:pPr marL="609585" lvl="1" algn="just"/>
            <a:r>
              <a:rPr lang="vi-VN" sz="1600" dirty="0">
                <a:solidFill>
                  <a:srgbClr val="FF0000"/>
                </a:solidFill>
                <a:latin typeface="Times New Roman" panose="02020603050405020304" pitchFamily="18" charset="0"/>
                <a:cs typeface="Times New Roman" panose="02020603050405020304" pitchFamily="18" charset="0"/>
              </a:rPr>
              <a:t>Hỏng hóc FUEL CTR TK L PMP RUN CONTINOUSLY, có FM:  PRESS SW -CTR TK PMP (105QA1)</a:t>
            </a:r>
            <a:r>
              <a:rPr lang="en-US" sz="1600" dirty="0">
                <a:solidFill>
                  <a:srgbClr val="FF0000"/>
                </a:solidFill>
                <a:latin typeface="Times New Roman" panose="02020603050405020304" pitchFamily="18" charset="0"/>
                <a:cs typeface="Times New Roman" panose="02020603050405020304" pitchFamily="18" charset="0"/>
              </a:rPr>
              <a:t> d</a:t>
            </a:r>
            <a:r>
              <a:rPr lang="vi-VN" sz="1600" dirty="0">
                <a:solidFill>
                  <a:srgbClr val="FF0000"/>
                </a:solidFill>
                <a:latin typeface="Times New Roman" panose="02020603050405020304" pitchFamily="18" charset="0"/>
                <a:cs typeface="Times New Roman" panose="02020603050405020304" pitchFamily="18" charset="0"/>
              </a:rPr>
              <a:t>o Pressure switch (105QA1) P/N F7-1170-1</a:t>
            </a:r>
            <a:r>
              <a:rPr lang="en-US" sz="1600" dirty="0">
                <a:solidFill>
                  <a:srgbClr val="FF0000"/>
                </a:solidFill>
                <a:latin typeface="Times New Roman" panose="02020603050405020304" pitchFamily="18" charset="0"/>
                <a:cs typeface="Times New Roman" panose="02020603050405020304" pitchFamily="18" charset="0"/>
              </a:rPr>
              <a:t> (</a:t>
            </a:r>
            <a:r>
              <a:rPr lang="vi-VN" sz="1600" dirty="0">
                <a:solidFill>
                  <a:srgbClr val="FF0000"/>
                </a:solidFill>
                <a:latin typeface="Times New Roman" panose="02020603050405020304" pitchFamily="18" charset="0"/>
                <a:cs typeface="Times New Roman" panose="02020603050405020304" pitchFamily="18" charset="0"/>
              </a:rPr>
              <a:t>Đây là thiết bị cảm biến áp suất nhiên liệu</a:t>
            </a:r>
            <a:r>
              <a:rPr lang="en-US" sz="1600" dirty="0">
                <a:solidFill>
                  <a:srgbClr val="FF0000"/>
                </a:solidFill>
                <a:latin typeface="Times New Roman" panose="02020603050405020304" pitchFamily="18" charset="0"/>
                <a:cs typeface="Times New Roman" panose="02020603050405020304" pitchFamily="18" charset="0"/>
              </a:rPr>
              <a:t>). </a:t>
            </a:r>
            <a:r>
              <a:rPr lang="vi-VN" sz="1600" dirty="0">
                <a:solidFill>
                  <a:srgbClr val="FF0000"/>
                </a:solidFill>
                <a:latin typeface="Times New Roman" panose="02020603050405020304" pitchFamily="18" charset="0"/>
                <a:cs typeface="Times New Roman" panose="02020603050405020304" pitchFamily="18" charset="0"/>
              </a:rPr>
              <a:t>Đây là lẩn đầu tiên xảy ra trên đội tàu bay A350 của VNA. Tuy nhiên, trên worldwide, một số operator có ghi nhận cảnh báo Fuel Pump dẫn đến thay thế Pressure SW P/N F7-1170-1 này nhưng hầu hết đều là NFF khi gửi đi Shop.</a:t>
            </a:r>
          </a:p>
          <a:p>
            <a:pPr marL="609585" lvl="1" algn="just"/>
            <a:r>
              <a:rPr lang="vi-VN" sz="1600" dirty="0">
                <a:solidFill>
                  <a:srgbClr val="FF0000"/>
                </a:solidFill>
                <a:latin typeface="Times New Roman" panose="02020603050405020304" pitchFamily="18" charset="0"/>
                <a:cs typeface="Times New Roman" panose="02020603050405020304" pitchFamily="18" charset="0"/>
              </a:rPr>
              <a:t>Airbus có ban hành TFU 28.21.00047 đề cập đến Pressure SW P/N F7-1170-1. Với thông tin như sau:</a:t>
            </a:r>
          </a:p>
          <a:p>
            <a:pPr marL="609585" lvl="1" algn="just"/>
            <a:r>
              <a:rPr lang="vi-VN" sz="1600" dirty="0">
                <a:solidFill>
                  <a:srgbClr val="FF0000"/>
                </a:solidFill>
                <a:latin typeface="Times New Roman" panose="02020603050405020304" pitchFamily="18" charset="0"/>
                <a:cs typeface="Times New Roman" panose="02020603050405020304" pitchFamily="18" charset="0"/>
              </a:rPr>
              <a:t>Nguyên nhân:</a:t>
            </a:r>
            <a:r>
              <a:rPr lang="en-US" sz="1600" dirty="0">
                <a:solidFill>
                  <a:srgbClr val="FF0000"/>
                </a:solidFill>
                <a:latin typeface="Times New Roman" panose="02020603050405020304" pitchFamily="18" charset="0"/>
                <a:cs typeface="Times New Roman" panose="02020603050405020304" pitchFamily="18" charset="0"/>
              </a:rPr>
              <a:t> </a:t>
            </a:r>
            <a:r>
              <a:rPr lang="vi-VN" sz="1600" dirty="0">
                <a:solidFill>
                  <a:srgbClr val="FF0000"/>
                </a:solidFill>
                <a:latin typeface="Times New Roman" panose="02020603050405020304" pitchFamily="18" charset="0"/>
                <a:cs typeface="Times New Roman" panose="02020603050405020304" pitchFamily="18" charset="0"/>
              </a:rPr>
              <a:t>Airbus suspects freezing of the pressure switch to be causing the fault as a result of environmental factors (flight duration, outside air temperature, humidity). The fault disappearing on ground would be explained by the warming of the system.</a:t>
            </a:r>
          </a:p>
          <a:p>
            <a:pPr marL="609585" lvl="1" algn="just"/>
            <a:r>
              <a:rPr lang="vi-VN" sz="1600" dirty="0">
                <a:solidFill>
                  <a:srgbClr val="FF0000"/>
                </a:solidFill>
                <a:latin typeface="Times New Roman" panose="02020603050405020304" pitchFamily="18" charset="0"/>
                <a:cs typeface="Times New Roman" panose="02020603050405020304" pitchFamily="18" charset="0"/>
              </a:rPr>
              <a:t>Freezing may be occurring on the wet or dry side of the pressure switch, lab testing has proven that water accumulation on either side of the pressure switch is sufficient to replicate the fault. It was not possible to conclude if the wet or dry side is more affected in-service, but removed pressure switches showed signs of moisture on both the wet and dry side of the pressure switch.</a:t>
            </a:r>
          </a:p>
          <a:p>
            <a:pPr marL="609585" lvl="1" algn="just"/>
            <a:r>
              <a:rPr lang="vi-VN" sz="1600" dirty="0">
                <a:solidFill>
                  <a:srgbClr val="FF0000"/>
                </a:solidFill>
                <a:latin typeface="Times New Roman" panose="02020603050405020304" pitchFamily="18" charset="0"/>
                <a:cs typeface="Times New Roman" panose="02020603050405020304" pitchFamily="18" charset="0"/>
              </a:rPr>
              <a:t>Hiện tại, Airbus và Parker chưa có giải pháp nào cho hỏng hóc này. Chỉ khuyến cáo dự phòng.</a:t>
            </a:r>
          </a:p>
        </p:txBody>
      </p:sp>
    </p:spTree>
    <p:extLst>
      <p:ext uri="{BB962C8B-B14F-4D97-AF65-F5344CB8AC3E}">
        <p14:creationId xmlns:p14="http://schemas.microsoft.com/office/powerpoint/2010/main" val="5015252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16</a:t>
            </a:fld>
            <a:endParaRPr/>
          </a:p>
        </p:txBody>
      </p:sp>
      <p:sp>
        <p:nvSpPr>
          <p:cNvPr id="4" name="Google Shape;82;p7">
            <a:extLst>
              <a:ext uri="{FF2B5EF4-FFF2-40B4-BE49-F238E27FC236}">
                <a16:creationId xmlns="" xmlns:a16="http://schemas.microsoft.com/office/drawing/2014/main" id="{E8C503CE-18C5-4A3D-AD46-240DA1F966DC}"/>
              </a:ext>
            </a:extLst>
          </p:cNvPr>
          <p:cNvSpPr txBox="1"/>
          <p:nvPr/>
        </p:nvSpPr>
        <p:spPr>
          <a:xfrm>
            <a:off x="212083" y="107143"/>
            <a:ext cx="8438437"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dirty="0">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A350</a:t>
            </a:r>
            <a:endParaRPr sz="2933" b="1" dirty="0">
              <a:ln w="0"/>
              <a:solidFill>
                <a:schemeClr val="accent4"/>
              </a:solidFill>
              <a:latin typeface="Times New Roman" panose="02020603050405020304" pitchFamily="18" charset="0"/>
              <a:cs typeface="Times New Roman" panose="02020603050405020304" pitchFamily="18" charset="0"/>
              <a:sym typeface="Montserrat"/>
            </a:endParaRPr>
          </a:p>
        </p:txBody>
      </p:sp>
      <p:sp>
        <p:nvSpPr>
          <p:cNvPr id="7" name="Rectangle 6">
            <a:extLst>
              <a:ext uri="{FF2B5EF4-FFF2-40B4-BE49-F238E27FC236}">
                <a16:creationId xmlns="" xmlns:a16="http://schemas.microsoft.com/office/drawing/2014/main" id="{5914447B-A879-4C97-AD62-7AFABAF9410A}"/>
              </a:ext>
            </a:extLst>
          </p:cNvPr>
          <p:cNvSpPr/>
          <p:nvPr/>
        </p:nvSpPr>
        <p:spPr>
          <a:xfrm>
            <a:off x="337534" y="730407"/>
            <a:ext cx="11516933" cy="5016758"/>
          </a:xfrm>
          <a:prstGeom prst="rect">
            <a:avLst/>
          </a:prstGeom>
        </p:spPr>
        <p:txBody>
          <a:bodyPr wrap="square">
            <a:spAutoFit/>
          </a:bodyPr>
          <a:lstStyle/>
          <a:p>
            <a:pPr algn="just">
              <a:buClrTx/>
              <a:buFontTx/>
              <a:buNone/>
            </a:pPr>
            <a:r>
              <a:rPr lang="en-US" sz="1600" b="1" dirty="0" err="1">
                <a:solidFill>
                  <a:prstClr val="black"/>
                </a:solidFill>
                <a:latin typeface="Times New Roman" panose="02020603050405020304" pitchFamily="18" charset="0"/>
                <a:cs typeface="Times New Roman" panose="02020603050405020304" pitchFamily="18" charset="0"/>
              </a:rPr>
              <a:t>Nhận</a:t>
            </a:r>
            <a:r>
              <a:rPr lang="en-US" sz="1600" b="1" dirty="0">
                <a:solidFill>
                  <a:prstClr val="black"/>
                </a:solidFill>
                <a:latin typeface="Times New Roman" panose="02020603050405020304" pitchFamily="18" charset="0"/>
                <a:cs typeface="Times New Roman" panose="02020603050405020304" pitchFamily="18" charset="0"/>
              </a:rPr>
              <a:t> </a:t>
            </a:r>
            <a:r>
              <a:rPr lang="en-US" sz="1600" b="1" dirty="0" err="1">
                <a:solidFill>
                  <a:prstClr val="black"/>
                </a:solidFill>
                <a:latin typeface="Times New Roman" panose="02020603050405020304" pitchFamily="18" charset="0"/>
                <a:cs typeface="Times New Roman" panose="02020603050405020304" pitchFamily="18" charset="0"/>
              </a:rPr>
              <a:t>xét</a:t>
            </a:r>
            <a:r>
              <a:rPr lang="en-US" sz="1600" b="1" dirty="0">
                <a:solidFill>
                  <a:prstClr val="black"/>
                </a:solidFill>
                <a:latin typeface="Times New Roman" panose="02020603050405020304" pitchFamily="18" charset="0"/>
                <a:cs typeface="Times New Roman" panose="02020603050405020304" pitchFamily="18" charset="0"/>
              </a:rPr>
              <a:t>: </a:t>
            </a:r>
          </a:p>
          <a:p>
            <a:pPr marL="380990" indent="-380990" algn="just">
              <a:buFontTx/>
              <a:buChar char="-"/>
            </a:pPr>
            <a:r>
              <a:rPr lang="vi-VN" sz="1600" dirty="0">
                <a:solidFill>
                  <a:prstClr val="black"/>
                </a:solidFill>
                <a:latin typeface="Times New Roman" panose="02020603050405020304" pitchFamily="18" charset="0"/>
                <a:cs typeface="Times New Roman" panose="02020603050405020304" pitchFamily="18" charset="0"/>
              </a:rPr>
              <a:t>Tình hình kỹ thuật đội bay A3</a:t>
            </a:r>
            <a:r>
              <a:rPr lang="en-US" sz="1600" dirty="0">
                <a:solidFill>
                  <a:prstClr val="black"/>
                </a:solidFill>
                <a:latin typeface="Times New Roman" panose="02020603050405020304" pitchFamily="18" charset="0"/>
                <a:cs typeface="Times New Roman" panose="02020603050405020304" pitchFamily="18" charset="0"/>
              </a:rPr>
              <a:t>50 </a:t>
            </a:r>
            <a:r>
              <a:rPr lang="en-US" sz="1600" dirty="0" err="1">
                <a:solidFill>
                  <a:prstClr val="black"/>
                </a:solidFill>
                <a:latin typeface="Times New Roman" panose="02020603050405020304" pitchFamily="18" charset="0"/>
                <a:cs typeface="Times New Roman" panose="02020603050405020304" pitchFamily="18" charset="0"/>
              </a:rPr>
              <a:t>trong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tuần</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không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tốt</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với</a:t>
            </a:r>
            <a:r>
              <a:rPr lang="en-US" sz="1600" dirty="0">
                <a:solidFill>
                  <a:prstClr val="black"/>
                </a:solidFill>
                <a:latin typeface="Times New Roman" panose="02020603050405020304" pitchFamily="18" charset="0"/>
                <a:cs typeface="Times New Roman" panose="02020603050405020304" pitchFamily="18" charset="0"/>
              </a:rPr>
              <a:t> 02 TH GTB.</a:t>
            </a:r>
          </a:p>
          <a:p>
            <a:pPr marL="380990" indent="-380990" algn="just">
              <a:buFontTx/>
              <a:buChar char="-"/>
            </a:pPr>
            <a:r>
              <a:rPr lang="en-US" sz="1600" dirty="0" err="1">
                <a:solidFill>
                  <a:prstClr val="black"/>
                </a:solidFill>
                <a:latin typeface="Times New Roman" panose="02020603050405020304" pitchFamily="18" charset="0"/>
                <a:cs typeface="Times New Roman" panose="02020603050405020304" pitchFamily="18" charset="0"/>
              </a:rPr>
              <a:t>Hỏng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hóc</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nổi</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cộm</a:t>
            </a:r>
            <a:r>
              <a:rPr lang="en-US" sz="1600" dirty="0">
                <a:solidFill>
                  <a:prstClr val="black"/>
                </a:solidFill>
                <a:latin typeface="Times New Roman" panose="02020603050405020304" pitchFamily="18" charset="0"/>
                <a:cs typeface="Times New Roman" panose="02020603050405020304" pitchFamily="18" charset="0"/>
              </a:rPr>
              <a:t>: </a:t>
            </a:r>
          </a:p>
          <a:p>
            <a:pPr marL="609585" lvl="1" algn="just"/>
            <a:r>
              <a:rPr lang="en-US" sz="1600" dirty="0">
                <a:solidFill>
                  <a:prstClr val="black"/>
                </a:solidFill>
                <a:latin typeface="Times New Roman" panose="02020603050405020304" pitchFamily="18" charset="0"/>
                <a:cs typeface="Times New Roman" panose="02020603050405020304" pitchFamily="18" charset="0"/>
              </a:rPr>
              <a:t>+ A899 GTB VN240 SGN-HAN </a:t>
            </a:r>
            <a:r>
              <a:rPr lang="en-US" sz="1600" dirty="0" err="1">
                <a:solidFill>
                  <a:prstClr val="black"/>
                </a:solidFill>
                <a:latin typeface="Times New Roman" panose="02020603050405020304" pitchFamily="18" charset="0"/>
                <a:cs typeface="Times New Roman" panose="02020603050405020304" pitchFamily="18" charset="0"/>
              </a:rPr>
              <a:t>ngày</a:t>
            </a:r>
            <a:r>
              <a:rPr lang="en-US" sz="1600" dirty="0">
                <a:solidFill>
                  <a:prstClr val="black"/>
                </a:solidFill>
                <a:latin typeface="Times New Roman" panose="02020603050405020304" pitchFamily="18" charset="0"/>
                <a:cs typeface="Times New Roman" panose="02020603050405020304" pitchFamily="18" charset="0"/>
              </a:rPr>
              <a:t> 09/01 do </a:t>
            </a:r>
            <a:r>
              <a:rPr lang="en-US" sz="1600" dirty="0" err="1">
                <a:solidFill>
                  <a:prstClr val="black"/>
                </a:solidFill>
                <a:latin typeface="Times New Roman" panose="02020603050405020304" pitchFamily="18" charset="0"/>
                <a:cs typeface="Times New Roman" panose="02020603050405020304" pitchFamily="18" charset="0"/>
              </a:rPr>
              <a:t>phát</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sinh</a:t>
            </a:r>
            <a:r>
              <a:rPr lang="en-US" sz="1600" dirty="0">
                <a:solidFill>
                  <a:prstClr val="black"/>
                </a:solidFill>
                <a:latin typeface="Times New Roman" panose="02020603050405020304" pitchFamily="18" charset="0"/>
                <a:cs typeface="Times New Roman" panose="02020603050405020304" pitchFamily="18" charset="0"/>
              </a:rPr>
              <a:t> MSG "F/CTL STABILIZER“ -&gt; C/O MAINTENANCE AND RAISED MEL "STABILIZER ELECTRICAL MOTOR E3"</a:t>
            </a:r>
            <a:endParaRPr lang="vi-VN" sz="1600" dirty="0">
              <a:solidFill>
                <a:srgbClr val="FF0000"/>
              </a:solidFill>
              <a:latin typeface="Times New Roman" panose="02020603050405020304" pitchFamily="18" charset="0"/>
              <a:cs typeface="Times New Roman" panose="02020603050405020304" pitchFamily="18" charset="0"/>
            </a:endParaRPr>
          </a:p>
          <a:p>
            <a:pPr marL="609585" lvl="1" algn="just"/>
            <a:r>
              <a:rPr lang="vi-VN" sz="1600" dirty="0">
                <a:solidFill>
                  <a:srgbClr val="FF0000"/>
                </a:solidFill>
                <a:latin typeface="Times New Roman" panose="02020603050405020304" pitchFamily="18" charset="0"/>
                <a:cs typeface="Times New Roman" panose="02020603050405020304" pitchFamily="18" charset="0"/>
              </a:rPr>
              <a:t>Hỏng hóc này xuất hiện lặp lại, nhưng chưa khắc phục triệt để.</a:t>
            </a:r>
          </a:p>
          <a:p>
            <a:pPr marL="609585" lvl="1" algn="just"/>
            <a:r>
              <a:rPr lang="en-US" sz="1600" dirty="0">
                <a:solidFill>
                  <a:srgbClr val="FF0000"/>
                </a:solidFill>
                <a:latin typeface="Times New Roman" panose="02020603050405020304" pitchFamily="18" charset="0"/>
                <a:cs typeface="Times New Roman" panose="02020603050405020304" pitchFamily="18" charset="0"/>
              </a:rPr>
              <a:t>- </a:t>
            </a:r>
            <a:r>
              <a:rPr lang="vi-VN" sz="1600" dirty="0">
                <a:solidFill>
                  <a:srgbClr val="FF0000"/>
                </a:solidFill>
                <a:latin typeface="Times New Roman" panose="02020603050405020304" pitchFamily="18" charset="0"/>
                <a:cs typeface="Times New Roman" panose="02020603050405020304" pitchFamily="18" charset="0"/>
              </a:rPr>
              <a:t>Ngày 07.Dec.2024 =&gt; Do system test, MSG clear</a:t>
            </a:r>
          </a:p>
          <a:p>
            <a:pPr marL="609585" lvl="1" algn="just"/>
            <a:r>
              <a:rPr lang="en-US" sz="1600" dirty="0">
                <a:solidFill>
                  <a:srgbClr val="FF0000"/>
                </a:solidFill>
                <a:latin typeface="Times New Roman" panose="02020603050405020304" pitchFamily="18" charset="0"/>
                <a:cs typeface="Times New Roman" panose="02020603050405020304" pitchFamily="18" charset="0"/>
              </a:rPr>
              <a:t>- </a:t>
            </a:r>
            <a:r>
              <a:rPr lang="vi-VN" sz="1600" dirty="0">
                <a:solidFill>
                  <a:srgbClr val="FF0000"/>
                </a:solidFill>
                <a:latin typeface="Times New Roman" panose="02020603050405020304" pitchFamily="18" charset="0"/>
                <a:cs typeface="Times New Roman" panose="02020603050405020304" pitchFamily="18" charset="0"/>
              </a:rPr>
              <a:t>Ngày 10.Dec.2024 =&gt; Hỏng hóc xuất hiện lại, raise ADD B960. Ngày - Ngày 13.Dec.2024,  REPLACE EMCU-THS ACTR,3 (101CH3), spare rob from A895 (BQDB)</a:t>
            </a:r>
          </a:p>
          <a:p>
            <a:pPr marL="609585" lvl="1" algn="just"/>
            <a:r>
              <a:rPr lang="en-US" sz="1600" dirty="0">
                <a:solidFill>
                  <a:srgbClr val="FF0000"/>
                </a:solidFill>
                <a:latin typeface="Times New Roman" panose="02020603050405020304" pitchFamily="18" charset="0"/>
                <a:cs typeface="Times New Roman" panose="02020603050405020304" pitchFamily="18" charset="0"/>
              </a:rPr>
              <a:t>- </a:t>
            </a:r>
            <a:r>
              <a:rPr lang="vi-VN" sz="1600" dirty="0">
                <a:solidFill>
                  <a:srgbClr val="FF0000"/>
                </a:solidFill>
                <a:latin typeface="Times New Roman" panose="02020603050405020304" pitchFamily="18" charset="0"/>
                <a:cs typeface="Times New Roman" panose="02020603050405020304" pitchFamily="18" charset="0"/>
              </a:rPr>
              <a:t>Ngày 16.Dec.2024, Hỏng hóc xuất hiện lại raise ADD B963. Clean and check all connector of Harness 411CH FOUND OK. REPLACE EMCU-THS ACTR,3 (101CH3). Rob từ A898(BQDB)</a:t>
            </a:r>
          </a:p>
          <a:p>
            <a:pPr marL="609585" lvl="1" algn="just"/>
            <a:r>
              <a:rPr lang="en-US" sz="1600" dirty="0">
                <a:solidFill>
                  <a:srgbClr val="FF0000"/>
                </a:solidFill>
                <a:latin typeface="Times New Roman" panose="02020603050405020304" pitchFamily="18" charset="0"/>
                <a:cs typeface="Times New Roman" panose="02020603050405020304" pitchFamily="18" charset="0"/>
              </a:rPr>
              <a:t>- </a:t>
            </a:r>
            <a:r>
              <a:rPr lang="vi-VN" sz="1600" dirty="0">
                <a:solidFill>
                  <a:srgbClr val="FF0000"/>
                </a:solidFill>
                <a:latin typeface="Times New Roman" panose="02020603050405020304" pitchFamily="18" charset="0"/>
                <a:cs typeface="Times New Roman" panose="02020603050405020304" pitchFamily="18" charset="0"/>
              </a:rPr>
              <a:t>Ngày 26.Dec.2024, Hỏng hóc xuất hiện lại raise ADD B969,  REPLACED THE ELECTRICAL HARNESS-THS ACTR,3(411CH) TO RECTIFY ADD </a:t>
            </a:r>
          </a:p>
          <a:p>
            <a:pPr marL="609585" lvl="1" algn="just"/>
            <a:r>
              <a:rPr lang="en-US" sz="1600" dirty="0">
                <a:solidFill>
                  <a:srgbClr val="FF0000"/>
                </a:solidFill>
                <a:latin typeface="Times New Roman" panose="02020603050405020304" pitchFamily="18" charset="0"/>
                <a:cs typeface="Times New Roman" panose="02020603050405020304" pitchFamily="18" charset="0"/>
              </a:rPr>
              <a:t>- </a:t>
            </a:r>
            <a:r>
              <a:rPr lang="vi-VN" sz="1600" dirty="0">
                <a:solidFill>
                  <a:srgbClr val="FF0000"/>
                </a:solidFill>
                <a:latin typeface="Times New Roman" panose="02020603050405020304" pitchFamily="18" charset="0"/>
                <a:cs typeface="Times New Roman" panose="02020603050405020304" pitchFamily="18" charset="0"/>
              </a:rPr>
              <a:t>Ngày 09.Jan.2025, Hỏng hóc xuất hiện lại. raise ADD B</a:t>
            </a:r>
            <a:r>
              <a:rPr lang="en-US" sz="1600" dirty="0">
                <a:solidFill>
                  <a:srgbClr val="FF0000"/>
                </a:solidFill>
                <a:latin typeface="Times New Roman" panose="02020603050405020304" pitchFamily="18" charset="0"/>
                <a:cs typeface="Times New Roman" panose="02020603050405020304" pitchFamily="18" charset="0"/>
              </a:rPr>
              <a:t>979</a:t>
            </a:r>
            <a:endParaRPr lang="vi-VN" sz="1600" dirty="0">
              <a:solidFill>
                <a:srgbClr val="FF0000"/>
              </a:solidFill>
              <a:latin typeface="Times New Roman" panose="02020603050405020304" pitchFamily="18" charset="0"/>
              <a:cs typeface="Times New Roman" panose="02020603050405020304" pitchFamily="18" charset="0"/>
            </a:endParaRPr>
          </a:p>
          <a:p>
            <a:pPr marL="609585" lvl="1" algn="just"/>
            <a:endParaRPr lang="vi-VN" sz="1600" dirty="0">
              <a:solidFill>
                <a:srgbClr val="FF0000"/>
              </a:solidFill>
              <a:latin typeface="Times New Roman" panose="02020603050405020304" pitchFamily="18" charset="0"/>
              <a:cs typeface="Times New Roman" panose="02020603050405020304" pitchFamily="18" charset="0"/>
            </a:endParaRPr>
          </a:p>
          <a:p>
            <a:pPr marL="609585" lvl="1" algn="just"/>
            <a:r>
              <a:rPr lang="vi-VN" sz="1600" dirty="0">
                <a:solidFill>
                  <a:srgbClr val="FF0000"/>
                </a:solidFill>
                <a:latin typeface="Times New Roman" panose="02020603050405020304" pitchFamily="18" charset="0"/>
                <a:cs typeface="Times New Roman" panose="02020603050405020304" pitchFamily="18" charset="0"/>
              </a:rPr>
              <a:t>Đang bố trí kế hoạch để thay khối MOTOR/BRAKE ASSY-THS ACTR, 201CH1, theo như hướng dẫn của AFI task và khuyến cáo của AIB TR 81512902.</a:t>
            </a:r>
            <a:endParaRPr lang="en-US" sz="1600" dirty="0">
              <a:solidFill>
                <a:srgbClr val="FF0000"/>
              </a:solidFill>
              <a:latin typeface="Times New Roman" panose="02020603050405020304" pitchFamily="18" charset="0"/>
              <a:cs typeface="Times New Roman" panose="02020603050405020304" pitchFamily="18" charset="0"/>
            </a:endParaRPr>
          </a:p>
          <a:p>
            <a:pPr marL="609585" lvl="1" algn="just"/>
            <a:endParaRPr lang="en-US" sz="1600" dirty="0">
              <a:solidFill>
                <a:srgbClr val="FF0000"/>
              </a:solidFill>
              <a:latin typeface="Times New Roman" panose="02020603050405020304" pitchFamily="18" charset="0"/>
              <a:cs typeface="Times New Roman" panose="02020603050405020304" pitchFamily="18" charset="0"/>
            </a:endParaRPr>
          </a:p>
          <a:p>
            <a:pPr marL="609585" lvl="1" algn="just"/>
            <a:r>
              <a:rPr lang="vi-VN" sz="1600" dirty="0">
                <a:solidFill>
                  <a:srgbClr val="FF0000"/>
                </a:solidFill>
                <a:latin typeface="Times New Roman" panose="02020603050405020304" pitchFamily="18" charset="0"/>
                <a:cs typeface="Times New Roman" panose="02020603050405020304" pitchFamily="18" charset="0"/>
              </a:rPr>
              <a:t>Với cảnh báo F/CTL STABILIZER E3 ACTUATOR, Airbus có TFU 27.44.00.023 đề cập đến hỏng hóc của EMCU - Internal short circuit in the HPE (High Power Electronic). Tuy nhiên, trường hợp này đã 2 lần thay EMCU.</a:t>
            </a:r>
          </a:p>
        </p:txBody>
      </p:sp>
    </p:spTree>
    <p:extLst>
      <p:ext uri="{BB962C8B-B14F-4D97-AF65-F5344CB8AC3E}">
        <p14:creationId xmlns:p14="http://schemas.microsoft.com/office/powerpoint/2010/main" val="29192656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xmlns="" id="{2D70F59A-F75E-2F2B-E505-E3D07F7E24A1}"/>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xmlns="" id="{AEA3FCE7-A57A-5EAD-1892-C0E7A4FE0C3C}"/>
              </a:ext>
            </a:extLst>
          </p:cNvPr>
          <p:cNvSpPr txBox="1">
            <a:spLocks noGrp="1"/>
          </p:cNvSpPr>
          <p:nvPr>
            <p:ph type="sldNum" idx="12"/>
          </p:nvPr>
        </p:nvSpPr>
        <p:spPr>
          <a:xfrm>
            <a:off x="11484784" y="6310756"/>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xmlns="" id="{34276AA2-D940-E01C-D7BC-0F3A4DE83381}"/>
              </a:ext>
            </a:extLst>
          </p:cNvPr>
          <p:cNvSpPr>
            <a:spLocks noGrp="1"/>
          </p:cNvSpPr>
          <p:nvPr>
            <p:ph type="title"/>
          </p:nvPr>
        </p:nvSpPr>
        <p:spPr>
          <a:xfrm>
            <a:off x="228600" y="93133"/>
            <a:ext cx="9155467" cy="551496"/>
          </a:xfrm>
        </p:spPr>
        <p:txBody>
          <a:bodyPr rtlCol="0">
            <a:normAutofit fontScale="90000"/>
          </a:bodyPr>
          <a:lstStyle/>
          <a:p>
            <a:pPr>
              <a:defRPr/>
            </a:pPr>
            <a:r>
              <a:rPr lang="en-US" sz="3733" dirty="0">
                <a:ln w="0"/>
                <a:solidFill>
                  <a:schemeClr val="accent4"/>
                </a:solidFill>
                <a:latin typeface="Times New Roman" panose="02020603050405020304" pitchFamily="18" charset="0"/>
                <a:cs typeface="Times New Roman" panose="02020603050405020304" pitchFamily="18" charset="0"/>
              </a:rPr>
              <a:t>TÌNH TRẠNG KỸ THUẬT ĐỘI BAY – </a:t>
            </a:r>
            <a:r>
              <a:rPr lang="vi-VN" sz="3733" dirty="0">
                <a:ln w="0"/>
                <a:solidFill>
                  <a:schemeClr val="accent4"/>
                </a:solidFill>
                <a:latin typeface="Times New Roman" panose="02020603050405020304" pitchFamily="18" charset="0"/>
                <a:cs typeface="Times New Roman" panose="02020603050405020304" pitchFamily="18" charset="0"/>
              </a:rPr>
              <a:t>B787</a:t>
            </a:r>
          </a:p>
        </p:txBody>
      </p:sp>
      <p:sp>
        <p:nvSpPr>
          <p:cNvPr id="8" name="TextBox 7">
            <a:extLst>
              <a:ext uri="{FF2B5EF4-FFF2-40B4-BE49-F238E27FC236}">
                <a16:creationId xmlns:a16="http://schemas.microsoft.com/office/drawing/2014/main" xmlns="" id="{707FA246-4B8B-393F-FE30-333DDD45FBD4}"/>
              </a:ext>
            </a:extLst>
          </p:cNvPr>
          <p:cNvSpPr txBox="1"/>
          <p:nvPr/>
        </p:nvSpPr>
        <p:spPr>
          <a:xfrm>
            <a:off x="714892" y="699251"/>
            <a:ext cx="10943708"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kumimoji="0" lang="en-US"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00</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p>
        </p:txBody>
      </p:sp>
    </p:spTree>
    <p:extLst>
      <p:ext uri="{BB962C8B-B14F-4D97-AF65-F5344CB8AC3E}">
        <p14:creationId xmlns:p14="http://schemas.microsoft.com/office/powerpoint/2010/main" val="37415507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18</a:t>
            </a:fld>
            <a:endParaRPr/>
          </a:p>
        </p:txBody>
      </p:sp>
      <p:sp>
        <p:nvSpPr>
          <p:cNvPr id="4" name="Google Shape;82;p7">
            <a:extLst>
              <a:ext uri="{FF2B5EF4-FFF2-40B4-BE49-F238E27FC236}">
                <a16:creationId xmlns="" xmlns:a16="http://schemas.microsoft.com/office/drawing/2014/main" id="{E8C503CE-18C5-4A3D-AD46-240DA1F966DC}"/>
              </a:ext>
            </a:extLst>
          </p:cNvPr>
          <p:cNvSpPr txBox="1"/>
          <p:nvPr/>
        </p:nvSpPr>
        <p:spPr>
          <a:xfrm>
            <a:off x="175690" y="2906"/>
            <a:ext cx="8474831"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B787</a:t>
            </a:r>
            <a:endParaRPr lang="en-US" sz="2933" b="1">
              <a:ln w="0"/>
              <a:solidFill>
                <a:schemeClr val="accent4"/>
              </a:solidFill>
              <a:latin typeface="Times New Roman" panose="02020603050405020304" pitchFamily="18" charset="0"/>
              <a:cs typeface="Times New Roman" panose="02020603050405020304" pitchFamily="18" charset="0"/>
              <a:sym typeface="Montserrat"/>
            </a:endParaRPr>
          </a:p>
        </p:txBody>
      </p:sp>
      <p:graphicFrame>
        <p:nvGraphicFramePr>
          <p:cNvPr id="2" name="Table 1">
            <a:extLst>
              <a:ext uri="{FF2B5EF4-FFF2-40B4-BE49-F238E27FC236}">
                <a16:creationId xmlns="" xmlns:a16="http://schemas.microsoft.com/office/drawing/2014/main" id="{0A931BF2-B82F-A25A-AD3A-A755671CD72C}"/>
              </a:ext>
            </a:extLst>
          </p:cNvPr>
          <p:cNvGraphicFramePr>
            <a:graphicFrameLocks noGrp="1"/>
          </p:cNvGraphicFramePr>
          <p:nvPr>
            <p:extLst>
              <p:ext uri="{D42A27DB-BD31-4B8C-83A1-F6EECF244321}">
                <p14:modId xmlns:p14="http://schemas.microsoft.com/office/powerpoint/2010/main" val="618040631"/>
              </p:ext>
            </p:extLst>
          </p:nvPr>
        </p:nvGraphicFramePr>
        <p:xfrm>
          <a:off x="175690" y="526091"/>
          <a:ext cx="11728858" cy="6476064"/>
        </p:xfrm>
        <a:graphic>
          <a:graphicData uri="http://schemas.openxmlformats.org/drawingml/2006/table">
            <a:tbl>
              <a:tblPr/>
              <a:tblGrid>
                <a:gridCol w="428955">
                  <a:extLst>
                    <a:ext uri="{9D8B030D-6E8A-4147-A177-3AD203B41FA5}">
                      <a16:colId xmlns="" xmlns:a16="http://schemas.microsoft.com/office/drawing/2014/main" val="4253962319"/>
                    </a:ext>
                  </a:extLst>
                </a:gridCol>
                <a:gridCol w="674029">
                  <a:extLst>
                    <a:ext uri="{9D8B030D-6E8A-4147-A177-3AD203B41FA5}">
                      <a16:colId xmlns="" xmlns:a16="http://schemas.microsoft.com/office/drawing/2014/main" val="2478878888"/>
                    </a:ext>
                  </a:extLst>
                </a:gridCol>
                <a:gridCol w="614556">
                  <a:extLst>
                    <a:ext uri="{9D8B030D-6E8A-4147-A177-3AD203B41FA5}">
                      <a16:colId xmlns="" xmlns:a16="http://schemas.microsoft.com/office/drawing/2014/main" val="580730606"/>
                    </a:ext>
                  </a:extLst>
                </a:gridCol>
                <a:gridCol w="1348059">
                  <a:extLst>
                    <a:ext uri="{9D8B030D-6E8A-4147-A177-3AD203B41FA5}">
                      <a16:colId xmlns="" xmlns:a16="http://schemas.microsoft.com/office/drawing/2014/main" val="2448962897"/>
                    </a:ext>
                  </a:extLst>
                </a:gridCol>
                <a:gridCol w="1129991">
                  <a:extLst>
                    <a:ext uri="{9D8B030D-6E8A-4147-A177-3AD203B41FA5}">
                      <a16:colId xmlns="" xmlns:a16="http://schemas.microsoft.com/office/drawing/2014/main" val="3600975774"/>
                    </a:ext>
                  </a:extLst>
                </a:gridCol>
                <a:gridCol w="1397619">
                  <a:extLst>
                    <a:ext uri="{9D8B030D-6E8A-4147-A177-3AD203B41FA5}">
                      <a16:colId xmlns="" xmlns:a16="http://schemas.microsoft.com/office/drawing/2014/main" val="1813139787"/>
                    </a:ext>
                  </a:extLst>
                </a:gridCol>
                <a:gridCol w="6135649">
                  <a:extLst>
                    <a:ext uri="{9D8B030D-6E8A-4147-A177-3AD203B41FA5}">
                      <a16:colId xmlns="" xmlns:a16="http://schemas.microsoft.com/office/drawing/2014/main" val="1866353020"/>
                    </a:ext>
                  </a:extLst>
                </a:gridCol>
              </a:tblGrid>
              <a:tr h="186687">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No</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Fleet</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A/C</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Tình trạng tàu bay</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Tình trạng KT</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1200" b="0" i="0" u="none" strike="noStrike">
                          <a:solidFill>
                            <a:srgbClr val="000000"/>
                          </a:solidFill>
                          <a:effectLst/>
                          <a:latin typeface="Times New Roman" panose="02020603050405020304" pitchFamily="18" charset="0"/>
                          <a:cs typeface="Times New Roman" panose="02020603050405020304" pitchFamily="18" charset="0"/>
                        </a:rPr>
                        <a:t>Điều kiện chuyên cơ</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Ghi chú</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3179744658"/>
                  </a:ext>
                </a:extLst>
              </a:tr>
              <a:tr h="552447">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B787</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A861</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B1456 TAIL AIR FLOW SYS INOP</a:t>
                      </a:r>
                      <a:br>
                        <a:rPr lang="en-US" sz="1200" b="0" i="0" u="none" strike="noStrike">
                          <a:solidFill>
                            <a:srgbClr val="000000"/>
                          </a:solidFill>
                          <a:effectLst/>
                          <a:latin typeface="Times New Roman" panose="02020603050405020304" pitchFamily="18" charset="0"/>
                          <a:cs typeface="Times New Roman" panose="02020603050405020304" pitchFamily="18" charset="0"/>
                        </a:rPr>
                      </a:br>
                      <a:r>
                        <a:rPr lang="en-US" sz="1200" b="0" i="0" u="none" strike="noStrike">
                          <a:solidFill>
                            <a:srgbClr val="000000"/>
                          </a:solidFill>
                          <a:effectLst/>
                          <a:latin typeface="Times New Roman" panose="02020603050405020304" pitchFamily="18" charset="0"/>
                          <a:cs typeface="Times New Roman" panose="02020603050405020304" pitchFamily="18" charset="0"/>
                        </a:rPr>
                        <a:t>B1505 : STS MSG: CCR GPM 8L</a:t>
                      </a:r>
                      <a:br>
                        <a:rPr lang="en-US" sz="1200" b="0" i="0" u="none" strike="noStrike">
                          <a:solidFill>
                            <a:srgbClr val="000000"/>
                          </a:solidFill>
                          <a:effectLst/>
                          <a:latin typeface="Times New Roman" panose="02020603050405020304" pitchFamily="18" charset="0"/>
                          <a:cs typeface="Times New Roman" panose="02020603050405020304" pitchFamily="18" charset="0"/>
                        </a:rPr>
                      </a:br>
                      <a:r>
                        <a:rPr lang="en-US" sz="1200" b="0" i="0" u="none" strike="noStrike">
                          <a:solidFill>
                            <a:srgbClr val="000000"/>
                          </a:solidFill>
                          <a:effectLst/>
                          <a:latin typeface="Times New Roman" panose="02020603050405020304" pitchFamily="18" charset="0"/>
                          <a:cs typeface="Times New Roman" panose="02020603050405020304" pitchFamily="18" charset="0"/>
                        </a:rPr>
                        <a:t>B1508 STS MSG "NITROGEN GENERATION SYS"</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32319241"/>
                  </a:ext>
                </a:extLst>
              </a:tr>
              <a:tr h="186687">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B787</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A862</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Đạt</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 </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2482725611"/>
                  </a:ext>
                </a:extLst>
              </a:tr>
              <a:tr h="735327">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B787</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A863</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Engine 1 (958170) HPT 1B có hỏng hóc (giảm tần suất 50FC)</a:t>
                      </a:r>
                      <a:br>
                        <a:rPr lang="en-US" sz="1200" b="0" i="0" u="none" strike="noStrike">
                          <a:solidFill>
                            <a:srgbClr val="000000"/>
                          </a:solidFill>
                          <a:effectLst/>
                          <a:latin typeface="Times New Roman" panose="02020603050405020304" pitchFamily="18" charset="0"/>
                          <a:cs typeface="Times New Roman" panose="02020603050405020304" pitchFamily="18" charset="0"/>
                        </a:rPr>
                      </a:br>
                      <a:r>
                        <a:rPr lang="en-US" sz="1200" b="0" i="0" u="none" strike="noStrike">
                          <a:solidFill>
                            <a:srgbClr val="000000"/>
                          </a:solidFill>
                          <a:effectLst/>
                          <a:latin typeface="Times New Roman" panose="02020603050405020304" pitchFamily="18" charset="0"/>
                          <a:cs typeface="Times New Roman" panose="02020603050405020304" pitchFamily="18" charset="0"/>
                        </a:rPr>
                        <a:t>Possible leak detected in the crew oxygen system</a:t>
                      </a:r>
                      <a:br>
                        <a:rPr lang="en-US" sz="1200" b="0" i="0" u="none" strike="noStrike">
                          <a:solidFill>
                            <a:srgbClr val="000000"/>
                          </a:solidFill>
                          <a:effectLst/>
                          <a:latin typeface="Times New Roman" panose="02020603050405020304" pitchFamily="18" charset="0"/>
                          <a:cs typeface="Times New Roman" panose="02020603050405020304" pitchFamily="18" charset="0"/>
                        </a:rPr>
                      </a:br>
                      <a:r>
                        <a:rPr lang="en-US" sz="1200" b="0" i="0" u="none" strike="noStrike">
                          <a:solidFill>
                            <a:srgbClr val="000000"/>
                          </a:solidFill>
                          <a:effectLst/>
                          <a:latin typeface="Times New Roman" panose="02020603050405020304" pitchFamily="18" charset="0"/>
                          <a:cs typeface="Times New Roman" panose="02020603050405020304" pitchFamily="18" charset="0"/>
                        </a:rPr>
                        <a:t>B1601 STS TAIL AIRFLOW SYS</a:t>
                      </a:r>
                      <a:br>
                        <a:rPr lang="en-US" sz="1200" b="0" i="0" u="none" strike="noStrike">
                          <a:solidFill>
                            <a:srgbClr val="000000"/>
                          </a:solidFill>
                          <a:effectLst/>
                          <a:latin typeface="Times New Roman" panose="02020603050405020304" pitchFamily="18" charset="0"/>
                          <a:cs typeface="Times New Roman" panose="02020603050405020304" pitchFamily="18" charset="0"/>
                        </a:rPr>
                      </a:br>
                      <a:r>
                        <a:rPr lang="en-US" sz="1200" b="0" i="0" u="none" strike="noStrike">
                          <a:solidFill>
                            <a:srgbClr val="000000"/>
                          </a:solidFill>
                          <a:effectLst/>
                          <a:latin typeface="Times New Roman" panose="02020603050405020304" pitchFamily="18" charset="0"/>
                          <a:cs typeface="Times New Roman" panose="02020603050405020304" pitchFamily="18" charset="0"/>
                        </a:rPr>
                        <a:t>B1629: CABIN AIR CPRSR L2</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795146176"/>
                  </a:ext>
                </a:extLst>
              </a:tr>
              <a:tr h="369567">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B787</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A864</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Engine 2 (956577) HPT 1B có hỏng hóc (giảm tần suất 50FC)</a:t>
                      </a:r>
                      <a:br>
                        <a:rPr lang="en-US" sz="1200" b="0" i="0" u="none" strike="noStrike">
                          <a:solidFill>
                            <a:srgbClr val="000000"/>
                          </a:solidFill>
                          <a:effectLst/>
                          <a:latin typeface="Times New Roman" panose="02020603050405020304" pitchFamily="18" charset="0"/>
                          <a:cs typeface="Times New Roman" panose="02020603050405020304" pitchFamily="18" charset="0"/>
                        </a:rPr>
                      </a:br>
                      <a:r>
                        <a:rPr lang="en-US" sz="1200" b="0" i="0" u="none" strike="noStrike">
                          <a:solidFill>
                            <a:srgbClr val="000000"/>
                          </a:solidFill>
                          <a:effectLst/>
                          <a:latin typeface="Times New Roman" panose="02020603050405020304" pitchFamily="18" charset="0"/>
                          <a:cs typeface="Times New Roman" panose="02020603050405020304" pitchFamily="18" charset="0"/>
                        </a:rPr>
                        <a:t>B1205 WEATHER RADAR SYS R</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70352012"/>
                  </a:ext>
                </a:extLst>
              </a:tr>
              <a:tr h="186687">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B787</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A865</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Đạt</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 </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942858222"/>
                  </a:ext>
                </a:extLst>
              </a:tr>
              <a:tr h="193425">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6</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B787</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A866</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dirty="0" err="1">
                          <a:solidFill>
                            <a:srgbClr val="000000"/>
                          </a:solidFill>
                          <a:effectLst/>
                          <a:latin typeface="Times New Roman" panose="02020603050405020304" pitchFamily="18" charset="0"/>
                          <a:cs typeface="Times New Roman" panose="02020603050405020304" pitchFamily="18" charset="0"/>
                        </a:rPr>
                        <a:t>Đang</a:t>
                      </a:r>
                      <a:r>
                        <a:rPr lang="en-US" sz="12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cs typeface="Times New Roman" panose="02020603050405020304" pitchFamily="18" charset="0"/>
                        </a:rPr>
                        <a:t>định</a:t>
                      </a:r>
                      <a:r>
                        <a:rPr lang="en-US" sz="12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cs typeface="Times New Roman" panose="02020603050405020304" pitchFamily="18" charset="0"/>
                        </a:rPr>
                        <a:t>kỳ</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200" b="0" i="0" u="none" strike="noStrike">
                          <a:solidFill>
                            <a:srgbClr val="000000"/>
                          </a:solidFill>
                          <a:effectLst/>
                          <a:latin typeface="Times New Roman" panose="02020603050405020304" pitchFamily="18" charset="0"/>
                          <a:cs typeface="Times New Roman" panose="02020603050405020304" pitchFamily="18" charset="0"/>
                        </a:rPr>
                        <a:t>+ Động cơ số 2 giảm tần suất soi 100 FC HPTS1B missing material</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2464210318"/>
                  </a:ext>
                </a:extLst>
              </a:tr>
              <a:tr h="918207">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7</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B787</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A867</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200" b="0" i="0" u="none" strike="noStrike">
                          <a:solidFill>
                            <a:srgbClr val="000000"/>
                          </a:solidFill>
                          <a:effectLst/>
                          <a:latin typeface="Times New Roman" panose="02020603050405020304" pitchFamily="18" charset="0"/>
                          <a:cs typeface="Times New Roman" panose="02020603050405020304" pitchFamily="18" charset="0"/>
                        </a:rPr>
                        <a:t>+ Động cơ số 1 HPT STG 2 CRACK, giảm tần suất soi 250 FC</a:t>
                      </a:r>
                      <a:br>
                        <a:rPr lang="vi-VN" sz="1200" b="0" i="0" u="none" strike="noStrike">
                          <a:solidFill>
                            <a:srgbClr val="000000"/>
                          </a:solidFill>
                          <a:effectLst/>
                          <a:latin typeface="Times New Roman" panose="02020603050405020304" pitchFamily="18" charset="0"/>
                          <a:cs typeface="Times New Roman" panose="02020603050405020304" pitchFamily="18" charset="0"/>
                        </a:rPr>
                      </a:br>
                      <a:r>
                        <a:rPr lang="vi-VN" sz="1200" b="0" i="0" u="none" strike="noStrike">
                          <a:solidFill>
                            <a:srgbClr val="000000"/>
                          </a:solidFill>
                          <a:effectLst/>
                          <a:latin typeface="Times New Roman" panose="02020603050405020304" pitchFamily="18" charset="0"/>
                          <a:cs typeface="Times New Roman" panose="02020603050405020304" pitchFamily="18" charset="0"/>
                        </a:rPr>
                        <a:t>B1502 CCR GPM 8L</a:t>
                      </a:r>
                      <a:br>
                        <a:rPr lang="vi-VN" sz="1200" b="0" i="0" u="none" strike="noStrike">
                          <a:solidFill>
                            <a:srgbClr val="000000"/>
                          </a:solidFill>
                          <a:effectLst/>
                          <a:latin typeface="Times New Roman" panose="02020603050405020304" pitchFamily="18" charset="0"/>
                          <a:cs typeface="Times New Roman" panose="02020603050405020304" pitchFamily="18" charset="0"/>
                        </a:rPr>
                      </a:br>
                      <a:r>
                        <a:rPr lang="vi-VN" sz="1200" b="0" i="0" u="none" strike="noStrike">
                          <a:solidFill>
                            <a:srgbClr val="000000"/>
                          </a:solidFill>
                          <a:effectLst/>
                          <a:latin typeface="Times New Roman" panose="02020603050405020304" pitchFamily="18" charset="0"/>
                          <a:cs typeface="Times New Roman" panose="02020603050405020304" pitchFamily="18" charset="0"/>
                        </a:rPr>
                        <a:t>B1511: APU INOP</a:t>
                      </a:r>
                      <a:br>
                        <a:rPr lang="vi-VN" sz="1200" b="0" i="0" u="none" strike="noStrike">
                          <a:solidFill>
                            <a:srgbClr val="000000"/>
                          </a:solidFill>
                          <a:effectLst/>
                          <a:latin typeface="Times New Roman" panose="02020603050405020304" pitchFamily="18" charset="0"/>
                          <a:cs typeface="Times New Roman" panose="02020603050405020304" pitchFamily="18" charset="0"/>
                        </a:rPr>
                      </a:br>
                      <a:r>
                        <a:rPr lang="vi-VN" sz="1200" b="0" i="0" u="none" strike="noStrike">
                          <a:solidFill>
                            <a:srgbClr val="000000"/>
                          </a:solidFill>
                          <a:effectLst/>
                          <a:latin typeface="Times New Roman" panose="02020603050405020304" pitchFamily="18" charset="0"/>
                          <a:cs typeface="Times New Roman" panose="02020603050405020304" pitchFamily="18" charset="0"/>
                        </a:rPr>
                        <a:t>B1518: NITROGEN GENERATION SYS</a:t>
                      </a:r>
                      <a:br>
                        <a:rPr lang="vi-VN" sz="1200" b="0" i="0" u="none" strike="noStrike">
                          <a:solidFill>
                            <a:srgbClr val="000000"/>
                          </a:solidFill>
                          <a:effectLst/>
                          <a:latin typeface="Times New Roman" panose="02020603050405020304" pitchFamily="18" charset="0"/>
                          <a:cs typeface="Times New Roman" panose="02020603050405020304" pitchFamily="18" charset="0"/>
                        </a:rPr>
                      </a:br>
                      <a:r>
                        <a:rPr lang="vi-VN" sz="1200" b="0" i="0" u="none" strike="noStrike">
                          <a:solidFill>
                            <a:srgbClr val="000000"/>
                          </a:solidFill>
                          <a:effectLst/>
                          <a:latin typeface="Times New Roman" panose="02020603050405020304" pitchFamily="18" charset="0"/>
                          <a:cs typeface="Times New Roman" panose="02020603050405020304" pitchFamily="18" charset="0"/>
                        </a:rPr>
                        <a:t>ADD B1519 CABIN AIR CPRSR L1, </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980785169"/>
                  </a:ext>
                </a:extLst>
              </a:tr>
              <a:tr h="227243">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8</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B787</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A868</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200" b="0" i="0" u="none" strike="noStrike">
                          <a:solidFill>
                            <a:srgbClr val="000000"/>
                          </a:solidFill>
                          <a:effectLst/>
                          <a:latin typeface="Times New Roman" panose="02020603050405020304" pitchFamily="18" charset="0"/>
                          <a:cs typeface="Times New Roman" panose="02020603050405020304" pitchFamily="18" charset="0"/>
                        </a:rPr>
                        <a:t>B1061 RAISED: ENG#1 REPLACE OR RE-INSPECT NOT TO EXCEED 50 CYCLES, REF DR#02104796</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461625612"/>
                  </a:ext>
                </a:extLst>
              </a:tr>
              <a:tr h="552447">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9</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B787</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A869</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200" b="0" i="0" u="none" strike="noStrike">
                          <a:solidFill>
                            <a:srgbClr val="000000"/>
                          </a:solidFill>
                          <a:effectLst/>
                          <a:latin typeface="Times New Roman" panose="02020603050405020304" pitchFamily="18" charset="0"/>
                          <a:cs typeface="Times New Roman" panose="02020603050405020304" pitchFamily="18" charset="0"/>
                        </a:rPr>
                        <a:t>+ Động cơ số 1 giảm tần suất soi 250 FC (HPT S2 blade cracks) và soi giảm tần suất 250 FC (fuel nozzle cup missing materials)</a:t>
                      </a:r>
                      <a:br>
                        <a:rPr lang="vi-VN" sz="1200" b="0" i="0" u="none" strike="noStrike">
                          <a:solidFill>
                            <a:srgbClr val="000000"/>
                          </a:solidFill>
                          <a:effectLst/>
                          <a:latin typeface="Times New Roman" panose="02020603050405020304" pitchFamily="18" charset="0"/>
                          <a:cs typeface="Times New Roman" panose="02020603050405020304" pitchFamily="18" charset="0"/>
                        </a:rPr>
                      </a:br>
                      <a:r>
                        <a:rPr lang="vi-VN" sz="1200" b="0" i="0" u="none" strike="noStrike">
                          <a:solidFill>
                            <a:srgbClr val="000000"/>
                          </a:solidFill>
                          <a:effectLst/>
                          <a:latin typeface="Times New Roman" panose="02020603050405020304" pitchFamily="18" charset="0"/>
                          <a:cs typeface="Times New Roman" panose="02020603050405020304" pitchFamily="18" charset="0"/>
                        </a:rPr>
                        <a:t>ADD B988: EQUIP COOLING FWD FAN 2 </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2146197554"/>
                  </a:ext>
                </a:extLst>
              </a:tr>
              <a:tr h="186687">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B787</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A870</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Đạt</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 </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2682964170"/>
                  </a:ext>
                </a:extLst>
              </a:tr>
              <a:tr h="186687">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11</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B787</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A871</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Engine 1 (956913) HPT 1B có hỏng hóc (giảm tần suất 50FC)</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378292152"/>
                  </a:ext>
                </a:extLst>
              </a:tr>
              <a:tr h="552447">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12</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B787</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A872</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Đạt</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200" b="0" i="0" u="none" strike="noStrike">
                          <a:solidFill>
                            <a:srgbClr val="000000"/>
                          </a:solidFill>
                          <a:effectLst/>
                          <a:latin typeface="Times New Roman" panose="02020603050405020304" pitchFamily="18" charset="0"/>
                          <a:cs typeface="Times New Roman" panose="02020603050405020304" pitchFamily="18" charset="0"/>
                        </a:rPr>
                        <a:t>+ Động cơ số 1 HPT stage 1 cracked giảm tần suất soi 250 FC; Động cơ số 2 HPT stage 1 cracked giảm tần suất soi 250 FC;</a:t>
                      </a:r>
                      <a:br>
                        <a:rPr lang="vi-VN" sz="1200" b="0" i="0" u="none" strike="noStrike">
                          <a:solidFill>
                            <a:srgbClr val="000000"/>
                          </a:solidFill>
                          <a:effectLst/>
                          <a:latin typeface="Times New Roman" panose="02020603050405020304" pitchFamily="18" charset="0"/>
                          <a:cs typeface="Times New Roman" panose="02020603050405020304" pitchFamily="18" charset="0"/>
                        </a:rPr>
                      </a:br>
                      <a:r>
                        <a:rPr lang="vi-VN" sz="1200" b="0" i="0" u="none" strike="noStrike">
                          <a:solidFill>
                            <a:srgbClr val="000000"/>
                          </a:solidFill>
                          <a:effectLst/>
                          <a:latin typeface="Times New Roman" panose="02020603050405020304" pitchFamily="18" charset="0"/>
                          <a:cs typeface="Times New Roman" panose="02020603050405020304" pitchFamily="18" charset="0"/>
                        </a:rPr>
                        <a:t>B1137 LEFT VACUUM BLOWER INOP</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925203497"/>
                  </a:ext>
                </a:extLst>
              </a:tr>
              <a:tr h="186687">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13</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B787</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A873</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Đạt</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200" b="0" i="0" u="none" strike="noStrike">
                          <a:solidFill>
                            <a:srgbClr val="000000"/>
                          </a:solidFill>
                          <a:effectLst/>
                          <a:latin typeface="Times New Roman" panose="02020603050405020304" pitchFamily="18" charset="0"/>
                          <a:cs typeface="Times New Roman" panose="02020603050405020304" pitchFamily="18" charset="0"/>
                        </a:rPr>
                        <a:t>+ động cơ số 2 giảm tần suất soi HPT 1nd stage 100 FC</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3136694073"/>
                  </a:ext>
                </a:extLst>
              </a:tr>
              <a:tr h="186687">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14</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B787</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A874</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Đạt</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200" b="0" i="0" u="none" strike="noStrike">
                          <a:solidFill>
                            <a:srgbClr val="000000"/>
                          </a:solidFill>
                          <a:effectLst/>
                          <a:latin typeface="Times New Roman" panose="02020603050405020304" pitchFamily="18" charset="0"/>
                          <a:cs typeface="Times New Roman" panose="02020603050405020304" pitchFamily="18" charset="0"/>
                        </a:rPr>
                        <a:t>+ động cơ số 2 giảm tần suất soi HPT 1nd stage 100 FC</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4222496703"/>
                  </a:ext>
                </a:extLst>
              </a:tr>
              <a:tr h="186687">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15</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B787</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A877</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Đạt</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 </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509001756"/>
                  </a:ext>
                </a:extLst>
              </a:tr>
              <a:tr h="186687">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16</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B787</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A878</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Đạt</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 </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3849915883"/>
                  </a:ext>
                </a:extLst>
              </a:tr>
              <a:tr h="552447">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17</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B787</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A879</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200" b="0" i="0" u="none" strike="noStrike" dirty="0">
                          <a:solidFill>
                            <a:srgbClr val="000000"/>
                          </a:solidFill>
                          <a:effectLst/>
                          <a:latin typeface="Times New Roman" panose="02020603050405020304" pitchFamily="18" charset="0"/>
                          <a:cs typeface="Times New Roman" panose="02020603050405020304" pitchFamily="18" charset="0"/>
                        </a:rPr>
                        <a:t>+ Động cơ số 1 HPT blage stg 1 cracked giảm tần suất soi 250 FC; Động cơ số 2 HPT blage stg 1 cracked giảm tần suất soi 100 FCGE DR 01664320 Revision 0.0</a:t>
                      </a:r>
                      <a:br>
                        <a:rPr lang="vi-VN" sz="1200" b="0" i="0" u="none" strike="noStrike" dirty="0">
                          <a:solidFill>
                            <a:srgbClr val="000000"/>
                          </a:solidFill>
                          <a:effectLst/>
                          <a:latin typeface="Times New Roman" panose="02020603050405020304" pitchFamily="18" charset="0"/>
                          <a:cs typeface="Times New Roman" panose="02020603050405020304" pitchFamily="18" charset="0"/>
                        </a:rPr>
                      </a:br>
                      <a:r>
                        <a:rPr lang="vi-VN" sz="1200" b="0" i="0" u="none" strike="noStrike" dirty="0">
                          <a:solidFill>
                            <a:srgbClr val="000000"/>
                          </a:solidFill>
                          <a:effectLst/>
                          <a:latin typeface="Times New Roman" panose="02020603050405020304" pitchFamily="18" charset="0"/>
                          <a:cs typeface="Times New Roman" panose="02020603050405020304" pitchFamily="18" charset="0"/>
                        </a:rPr>
                        <a:t>B498 FWD CARGO HANDLING SYSTEM INOP (ELECTRICAL POWER NOT AVAIL)</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4124560783"/>
                  </a:ext>
                </a:extLst>
              </a:tr>
            </a:tbl>
          </a:graphicData>
        </a:graphic>
      </p:graphicFrame>
    </p:spTree>
    <p:extLst>
      <p:ext uri="{BB962C8B-B14F-4D97-AF65-F5344CB8AC3E}">
        <p14:creationId xmlns:p14="http://schemas.microsoft.com/office/powerpoint/2010/main" val="2463770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19</a:t>
            </a:fld>
            <a:endParaRPr/>
          </a:p>
        </p:txBody>
      </p:sp>
      <p:sp>
        <p:nvSpPr>
          <p:cNvPr id="4" name="Google Shape;82;p7">
            <a:extLst>
              <a:ext uri="{FF2B5EF4-FFF2-40B4-BE49-F238E27FC236}">
                <a16:creationId xmlns="" xmlns:a16="http://schemas.microsoft.com/office/drawing/2014/main" id="{E8C503CE-18C5-4A3D-AD46-240DA1F966DC}"/>
              </a:ext>
            </a:extLst>
          </p:cNvPr>
          <p:cNvSpPr txBox="1"/>
          <p:nvPr/>
        </p:nvSpPr>
        <p:spPr>
          <a:xfrm>
            <a:off x="239379" y="207227"/>
            <a:ext cx="8037304"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dirty="0">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B787</a:t>
            </a:r>
            <a:endParaRPr sz="2933" b="1" dirty="0">
              <a:ln w="0"/>
              <a:solidFill>
                <a:schemeClr val="accent4"/>
              </a:solidFill>
              <a:latin typeface="Times New Roman" panose="02020603050405020304" pitchFamily="18" charset="0"/>
              <a:cs typeface="Times New Roman" panose="02020603050405020304" pitchFamily="18" charset="0"/>
              <a:sym typeface="Montserrat"/>
            </a:endParaRPr>
          </a:p>
        </p:txBody>
      </p:sp>
      <p:sp>
        <p:nvSpPr>
          <p:cNvPr id="7" name="Rectangle 6">
            <a:extLst>
              <a:ext uri="{FF2B5EF4-FFF2-40B4-BE49-F238E27FC236}">
                <a16:creationId xmlns="" xmlns:a16="http://schemas.microsoft.com/office/drawing/2014/main" id="{795CC2F9-72E9-47BD-A040-3231760CEEDB}"/>
              </a:ext>
            </a:extLst>
          </p:cNvPr>
          <p:cNvSpPr/>
          <p:nvPr/>
        </p:nvSpPr>
        <p:spPr>
          <a:xfrm>
            <a:off x="410314" y="730407"/>
            <a:ext cx="11690701" cy="2554545"/>
          </a:xfrm>
          <a:prstGeom prst="rect">
            <a:avLst/>
          </a:prstGeom>
        </p:spPr>
        <p:txBody>
          <a:bodyPr wrap="square">
            <a:spAutoFit/>
          </a:bodyPr>
          <a:lstStyle/>
          <a:p>
            <a:pPr algn="just">
              <a:buClrTx/>
              <a:buFontTx/>
              <a:buNone/>
            </a:pPr>
            <a:r>
              <a:rPr lang="en-US" sz="1600" b="1" dirty="0" err="1">
                <a:solidFill>
                  <a:prstClr val="black"/>
                </a:solidFill>
                <a:latin typeface="Times New Roman" panose="02020603050405020304" pitchFamily="18" charset="0"/>
                <a:cs typeface="Times New Roman" panose="02020603050405020304" pitchFamily="18" charset="0"/>
              </a:rPr>
              <a:t>Nhận</a:t>
            </a:r>
            <a:r>
              <a:rPr lang="en-US" sz="1600" b="1" dirty="0">
                <a:solidFill>
                  <a:prstClr val="black"/>
                </a:solidFill>
                <a:latin typeface="Times New Roman" panose="02020603050405020304" pitchFamily="18" charset="0"/>
                <a:cs typeface="Times New Roman" panose="02020603050405020304" pitchFamily="18" charset="0"/>
              </a:rPr>
              <a:t> </a:t>
            </a:r>
            <a:r>
              <a:rPr lang="en-US" sz="1600" b="1" dirty="0" err="1">
                <a:solidFill>
                  <a:prstClr val="black"/>
                </a:solidFill>
                <a:latin typeface="Times New Roman" panose="02020603050405020304" pitchFamily="18" charset="0"/>
                <a:cs typeface="Times New Roman" panose="02020603050405020304" pitchFamily="18" charset="0"/>
              </a:rPr>
              <a:t>xét</a:t>
            </a:r>
            <a:r>
              <a:rPr lang="en-US" sz="1600" b="1" dirty="0">
                <a:solidFill>
                  <a:prstClr val="black"/>
                </a:solidFill>
                <a:latin typeface="Times New Roman" panose="02020603050405020304" pitchFamily="18" charset="0"/>
                <a:cs typeface="Times New Roman" panose="02020603050405020304" pitchFamily="18" charset="0"/>
              </a:rPr>
              <a:t>: </a:t>
            </a:r>
          </a:p>
          <a:p>
            <a:pPr marL="380990" indent="-380990" algn="just">
              <a:buFontTx/>
              <a:buChar char="-"/>
            </a:pPr>
            <a:r>
              <a:rPr lang="vi-VN" sz="1600" dirty="0">
                <a:solidFill>
                  <a:prstClr val="black"/>
                </a:solidFill>
                <a:latin typeface="Times New Roman" panose="02020603050405020304" pitchFamily="18" charset="0"/>
                <a:cs typeface="Times New Roman" panose="02020603050405020304" pitchFamily="18" charset="0"/>
              </a:rPr>
              <a:t>Tình hình kỹ thuật đội bay </a:t>
            </a:r>
            <a:r>
              <a:rPr lang="en-US" sz="1600" dirty="0">
                <a:solidFill>
                  <a:prstClr val="black"/>
                </a:solidFill>
                <a:latin typeface="Times New Roman" panose="02020603050405020304" pitchFamily="18" charset="0"/>
                <a:cs typeface="Times New Roman" panose="02020603050405020304" pitchFamily="18" charset="0"/>
              </a:rPr>
              <a:t>B787 </a:t>
            </a:r>
            <a:r>
              <a:rPr lang="en-US" sz="1600" dirty="0" err="1">
                <a:solidFill>
                  <a:prstClr val="black"/>
                </a:solidFill>
                <a:latin typeface="Times New Roman" panose="02020603050405020304" pitchFamily="18" charset="0"/>
                <a:cs typeface="Times New Roman" panose="02020603050405020304" pitchFamily="18" charset="0"/>
              </a:rPr>
              <a:t>trong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tuần</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tốt</a:t>
            </a:r>
            <a:r>
              <a:rPr lang="en-US" sz="1600" dirty="0">
                <a:solidFill>
                  <a:prstClr val="black"/>
                </a:solidFill>
                <a:latin typeface="Times New Roman" panose="02020603050405020304" pitchFamily="18" charset="0"/>
                <a:cs typeface="Times New Roman" panose="02020603050405020304" pitchFamily="18" charset="0"/>
              </a:rPr>
              <a:t>. </a:t>
            </a:r>
          </a:p>
          <a:p>
            <a:pPr marL="380990" indent="-380990" algn="just">
              <a:buFontTx/>
              <a:buChar char="-"/>
            </a:pPr>
            <a:r>
              <a:rPr lang="en-US" sz="1600" dirty="0" err="1">
                <a:solidFill>
                  <a:prstClr val="black"/>
                </a:solidFill>
                <a:latin typeface="Times New Roman" panose="02020603050405020304" pitchFamily="18" charset="0"/>
                <a:cs typeface="Times New Roman" panose="02020603050405020304" pitchFamily="18" charset="0"/>
              </a:rPr>
              <a:t>Hỏng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hóc</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nổi</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cộm</a:t>
            </a:r>
            <a:r>
              <a:rPr lang="en-US" sz="1600" dirty="0">
                <a:solidFill>
                  <a:prstClr val="black"/>
                </a:solidFill>
                <a:latin typeface="Times New Roman" panose="02020603050405020304" pitchFamily="18" charset="0"/>
                <a:cs typeface="Times New Roman" panose="02020603050405020304" pitchFamily="18" charset="0"/>
              </a:rPr>
              <a:t>: </a:t>
            </a:r>
          </a:p>
          <a:p>
            <a:pPr marL="609585" lvl="1" algn="just"/>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Trong</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tuần</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phát</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sinh</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một</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số</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động</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cơ</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soi</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giảm</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tần</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suất</a:t>
            </a:r>
            <a:r>
              <a:rPr lang="en-SG" sz="1600" dirty="0">
                <a:solidFill>
                  <a:prstClr val="black"/>
                </a:solidFill>
                <a:latin typeface="Times New Roman" panose="02020603050405020304" pitchFamily="18" charset="0"/>
                <a:cs typeface="Times New Roman" panose="02020603050405020304" pitchFamily="18" charset="0"/>
              </a:rPr>
              <a:t>: </a:t>
            </a:r>
          </a:p>
          <a:p>
            <a:pPr marL="609585" lvl="1" algn="just"/>
            <a:r>
              <a:rPr lang="en-SG" sz="1600" dirty="0">
                <a:solidFill>
                  <a:prstClr val="black"/>
                </a:solidFill>
                <a:latin typeface="Times New Roman" panose="02020603050405020304" pitchFamily="18" charset="0"/>
                <a:cs typeface="Times New Roman" panose="02020603050405020304" pitchFamily="18" charset="0"/>
              </a:rPr>
              <a:t>	- A872 ENG1 (958935) HPT STG1 </a:t>
            </a:r>
            <a:r>
              <a:rPr lang="en-SG" sz="1600" dirty="0" err="1">
                <a:solidFill>
                  <a:prstClr val="black"/>
                </a:solidFill>
                <a:latin typeface="Times New Roman" panose="02020603050405020304" pitchFamily="18" charset="0"/>
                <a:cs typeface="Times New Roman" panose="02020603050405020304" pitchFamily="18" charset="0"/>
              </a:rPr>
              <a:t>soi</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giảm</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tần</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suất</a:t>
            </a:r>
            <a:r>
              <a:rPr lang="en-SG" sz="1600" dirty="0">
                <a:solidFill>
                  <a:prstClr val="black"/>
                </a:solidFill>
                <a:latin typeface="Times New Roman" panose="02020603050405020304" pitchFamily="18" charset="0"/>
                <a:cs typeface="Times New Roman" panose="02020603050405020304" pitchFamily="18" charset="0"/>
              </a:rPr>
              <a:t> 250FC </a:t>
            </a:r>
            <a:r>
              <a:rPr lang="en-SG" sz="1600" dirty="0" err="1">
                <a:solidFill>
                  <a:prstClr val="black"/>
                </a:solidFill>
                <a:latin typeface="Times New Roman" panose="02020603050405020304" pitchFamily="18" charset="0"/>
                <a:cs typeface="Times New Roman" panose="02020603050405020304" pitchFamily="18" charset="0"/>
              </a:rPr>
              <a:t>ngày</a:t>
            </a:r>
            <a:r>
              <a:rPr lang="en-SG" sz="1600" dirty="0">
                <a:solidFill>
                  <a:prstClr val="black"/>
                </a:solidFill>
                <a:latin typeface="Times New Roman" panose="02020603050405020304" pitchFamily="18" charset="0"/>
                <a:cs typeface="Times New Roman" panose="02020603050405020304" pitchFamily="18" charset="0"/>
              </a:rPr>
              <a:t> 11/01 -&gt; </a:t>
            </a:r>
            <a:r>
              <a:rPr lang="en-SG" sz="1600" dirty="0" err="1">
                <a:solidFill>
                  <a:prstClr val="black"/>
                </a:solidFill>
                <a:latin typeface="Times New Roman" panose="02020603050405020304" pitchFamily="18" charset="0"/>
                <a:cs typeface="Times New Roman" panose="02020603050405020304" pitchFamily="18" charset="0"/>
              </a:rPr>
              <a:t>phát</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sinh</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hỏng</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hóc</a:t>
            </a:r>
            <a:r>
              <a:rPr lang="en-SG" sz="1600" dirty="0">
                <a:solidFill>
                  <a:prstClr val="black"/>
                </a:solidFill>
                <a:latin typeface="Times New Roman" panose="02020603050405020304" pitchFamily="18" charset="0"/>
                <a:cs typeface="Times New Roman" panose="02020603050405020304" pitchFamily="18" charset="0"/>
              </a:rPr>
              <a:t> remove </a:t>
            </a:r>
            <a:r>
              <a:rPr lang="en-SG" sz="1600" dirty="0" err="1">
                <a:solidFill>
                  <a:prstClr val="black"/>
                </a:solidFill>
                <a:latin typeface="Times New Roman" panose="02020603050405020304" pitchFamily="18" charset="0"/>
                <a:cs typeface="Times New Roman" panose="02020603050405020304" pitchFamily="18" charset="0"/>
              </a:rPr>
              <a:t>trong</a:t>
            </a:r>
            <a:r>
              <a:rPr lang="en-SG" sz="1600" dirty="0">
                <a:solidFill>
                  <a:prstClr val="black"/>
                </a:solidFill>
                <a:latin typeface="Times New Roman" panose="02020603050405020304" pitchFamily="18" charset="0"/>
                <a:cs typeface="Times New Roman" panose="02020603050405020304" pitchFamily="18" charset="0"/>
              </a:rPr>
              <a:t> 10FC, GE </a:t>
            </a:r>
            <a:r>
              <a:rPr lang="en-SG" sz="1600" dirty="0" err="1">
                <a:solidFill>
                  <a:prstClr val="black"/>
                </a:solidFill>
                <a:latin typeface="Times New Roman" panose="02020603050405020304" pitchFamily="18" charset="0"/>
                <a:cs typeface="Times New Roman" panose="02020603050405020304" pitchFamily="18" charset="0"/>
              </a:rPr>
              <a:t>cấp</a:t>
            </a:r>
            <a:r>
              <a:rPr lang="en-SG" sz="1600" dirty="0">
                <a:solidFill>
                  <a:prstClr val="black"/>
                </a:solidFill>
                <a:latin typeface="Times New Roman" panose="02020603050405020304" pitchFamily="18" charset="0"/>
                <a:cs typeface="Times New Roman" panose="02020603050405020304" pitchFamily="18" charset="0"/>
              </a:rPr>
              <a:t> DR </a:t>
            </a:r>
            <a:r>
              <a:rPr lang="en-SG" sz="1600" dirty="0" err="1">
                <a:solidFill>
                  <a:prstClr val="black"/>
                </a:solidFill>
                <a:latin typeface="Times New Roman" panose="02020603050405020304" pitchFamily="18" charset="0"/>
                <a:cs typeface="Times New Roman" panose="02020603050405020304" pitchFamily="18" charset="0"/>
              </a:rPr>
              <a:t>gia</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hạn</a:t>
            </a:r>
            <a:r>
              <a:rPr lang="en-SG" sz="1600" dirty="0">
                <a:solidFill>
                  <a:prstClr val="black"/>
                </a:solidFill>
                <a:latin typeface="Times New Roman" panose="02020603050405020304" pitchFamily="18" charset="0"/>
                <a:cs typeface="Times New Roman" panose="02020603050405020304" pitchFamily="18" charset="0"/>
              </a:rPr>
              <a:t> 50FC </a:t>
            </a:r>
            <a:r>
              <a:rPr lang="en-SG" sz="1600" dirty="0" err="1">
                <a:solidFill>
                  <a:prstClr val="black"/>
                </a:solidFill>
                <a:latin typeface="Times New Roman" panose="02020603050405020304" pitchFamily="18" charset="0"/>
                <a:cs typeface="Times New Roman" panose="02020603050405020304" pitchFamily="18" charset="0"/>
              </a:rPr>
              <a:t>soi</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lại</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và</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đánh</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giá</a:t>
            </a:r>
            <a:r>
              <a:rPr lang="en-SG" sz="1600" dirty="0">
                <a:solidFill>
                  <a:prstClr val="black"/>
                </a:solidFill>
                <a:latin typeface="Times New Roman" panose="02020603050405020304" pitchFamily="18" charset="0"/>
                <a:cs typeface="Times New Roman" panose="02020603050405020304" pitchFamily="18" charset="0"/>
              </a:rPr>
              <a:t>.</a:t>
            </a:r>
          </a:p>
          <a:p>
            <a:pPr marL="609585" lvl="1" algn="just"/>
            <a:r>
              <a:rPr lang="en-SG" sz="1600" dirty="0">
                <a:solidFill>
                  <a:prstClr val="black"/>
                </a:solidFill>
                <a:latin typeface="Times New Roman" panose="02020603050405020304" pitchFamily="18" charset="0"/>
                <a:cs typeface="Times New Roman" panose="02020603050405020304" pitchFamily="18" charset="0"/>
              </a:rPr>
              <a:t>	- A871 ENG1 (956913) HPT STG1 </a:t>
            </a:r>
            <a:r>
              <a:rPr lang="en-SG" sz="1600" dirty="0" err="1">
                <a:solidFill>
                  <a:prstClr val="black"/>
                </a:solidFill>
                <a:latin typeface="Times New Roman" panose="02020603050405020304" pitchFamily="18" charset="0"/>
                <a:cs typeface="Times New Roman" panose="02020603050405020304" pitchFamily="18" charset="0"/>
              </a:rPr>
              <a:t>soi</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giảm</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tần</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suất</a:t>
            </a:r>
            <a:r>
              <a:rPr lang="en-SG" sz="1600" dirty="0">
                <a:solidFill>
                  <a:prstClr val="black"/>
                </a:solidFill>
                <a:latin typeface="Times New Roman" panose="02020603050405020304" pitchFamily="18" charset="0"/>
                <a:cs typeface="Times New Roman" panose="02020603050405020304" pitchFamily="18" charset="0"/>
              </a:rPr>
              <a:t> 100FC </a:t>
            </a:r>
            <a:r>
              <a:rPr lang="en-SG" sz="1600" dirty="0" err="1">
                <a:solidFill>
                  <a:prstClr val="black"/>
                </a:solidFill>
                <a:latin typeface="Times New Roman" panose="02020603050405020304" pitchFamily="18" charset="0"/>
                <a:cs typeface="Times New Roman" panose="02020603050405020304" pitchFamily="18" charset="0"/>
              </a:rPr>
              <a:t>ngày</a:t>
            </a:r>
            <a:r>
              <a:rPr lang="en-SG" sz="1600" dirty="0">
                <a:solidFill>
                  <a:prstClr val="black"/>
                </a:solidFill>
                <a:latin typeface="Times New Roman" panose="02020603050405020304" pitchFamily="18" charset="0"/>
                <a:cs typeface="Times New Roman" panose="02020603050405020304" pitchFamily="18" charset="0"/>
              </a:rPr>
              <a:t> 10/01 -&gt; </a:t>
            </a:r>
            <a:r>
              <a:rPr lang="en-SG" sz="1600" dirty="0" err="1">
                <a:solidFill>
                  <a:prstClr val="black"/>
                </a:solidFill>
                <a:latin typeface="Times New Roman" panose="02020603050405020304" pitchFamily="18" charset="0"/>
                <a:cs typeface="Times New Roman" panose="02020603050405020304" pitchFamily="18" charset="0"/>
              </a:rPr>
              <a:t>phát</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sinh</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hỏng</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hóc</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soi</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giảm</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tần</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suất</a:t>
            </a:r>
            <a:r>
              <a:rPr lang="en-SG" sz="1600" dirty="0">
                <a:solidFill>
                  <a:prstClr val="black"/>
                </a:solidFill>
                <a:latin typeface="Times New Roman" panose="02020603050405020304" pitchFamily="18" charset="0"/>
                <a:cs typeface="Times New Roman" panose="02020603050405020304" pitchFamily="18" charset="0"/>
              </a:rPr>
              <a:t> ở 50FC.</a:t>
            </a:r>
          </a:p>
          <a:p>
            <a:pPr marL="609585" lvl="1" algn="just"/>
            <a:endParaRPr lang="en-SG" sz="1600" dirty="0">
              <a:solidFill>
                <a:prstClr val="black"/>
              </a:solidFill>
              <a:latin typeface="Times New Roman" panose="02020603050405020304" pitchFamily="18" charset="0"/>
              <a:cs typeface="Times New Roman" panose="02020603050405020304" pitchFamily="18" charset="0"/>
            </a:endParaRPr>
          </a:p>
          <a:p>
            <a:pPr marL="609585" lvl="1" algn="just"/>
            <a:r>
              <a:rPr lang="en-US" sz="1600" dirty="0" err="1">
                <a:solidFill>
                  <a:prstClr val="black"/>
                </a:solidFill>
                <a:latin typeface="Times New Roman" panose="02020603050405020304" pitchFamily="18" charset="0"/>
                <a:cs typeface="Times New Roman" panose="02020603050405020304" pitchFamily="18" charset="0"/>
              </a:rPr>
              <a:t>Hỏng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hóc</a:t>
            </a:r>
            <a:r>
              <a:rPr lang="en-US" sz="1600" dirty="0">
                <a:solidFill>
                  <a:prstClr val="black"/>
                </a:solidFill>
                <a:latin typeface="Times New Roman" panose="02020603050405020304" pitchFamily="18" charset="0"/>
                <a:cs typeface="Times New Roman" panose="02020603050405020304" pitchFamily="18" charset="0"/>
              </a:rPr>
              <a:t> APU: </a:t>
            </a:r>
          </a:p>
          <a:p>
            <a:pPr marL="609585" lvl="1" algn="just"/>
            <a:r>
              <a:rPr lang="en-US" sz="1600" dirty="0">
                <a:solidFill>
                  <a:prstClr val="black"/>
                </a:solidFill>
                <a:latin typeface="Times New Roman" panose="02020603050405020304" pitchFamily="18" charset="0"/>
                <a:cs typeface="Times New Roman" panose="02020603050405020304" pitchFamily="18" charset="0"/>
              </a:rPr>
              <a:t>+ A867 APU INOP (</a:t>
            </a:r>
            <a:r>
              <a:rPr lang="en-US" sz="1600" dirty="0" err="1">
                <a:solidFill>
                  <a:prstClr val="black"/>
                </a:solidFill>
                <a:latin typeface="Times New Roman" panose="02020603050405020304" pitchFamily="18" charset="0"/>
                <a:cs typeface="Times New Roman" panose="02020603050405020304" pitchFamily="18" charset="0"/>
              </a:rPr>
              <a:t>mở</a:t>
            </a:r>
            <a:r>
              <a:rPr lang="en-US" sz="1600" dirty="0">
                <a:solidFill>
                  <a:prstClr val="black"/>
                </a:solidFill>
                <a:latin typeface="Times New Roman" panose="02020603050405020304" pitchFamily="18" charset="0"/>
                <a:cs typeface="Times New Roman" panose="02020603050405020304" pitchFamily="18" charset="0"/>
              </a:rPr>
              <a:t> 31/12) </a:t>
            </a:r>
            <a:r>
              <a:rPr lang="en-US" sz="1600" dirty="0" err="1">
                <a:solidFill>
                  <a:prstClr val="black"/>
                </a:solidFill>
                <a:latin typeface="Times New Roman" panose="02020603050405020304" pitchFamily="18" charset="0"/>
                <a:cs typeface="Times New Roman" panose="02020603050405020304" pitchFamily="18" charset="0"/>
              </a:rPr>
              <a:t>chờ</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cung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ứng</a:t>
            </a:r>
            <a:r>
              <a:rPr lang="en-US" sz="1600" dirty="0">
                <a:solidFill>
                  <a:prstClr val="black"/>
                </a:solidFill>
                <a:latin typeface="Times New Roman" panose="02020603050405020304" pitchFamily="18" charset="0"/>
                <a:cs typeface="Times New Roman" panose="02020603050405020304" pitchFamily="18" charset="0"/>
              </a:rPr>
              <a:t> FMU </a:t>
            </a:r>
            <a:r>
              <a:rPr lang="en-US" sz="1600" dirty="0" err="1">
                <a:solidFill>
                  <a:prstClr val="black"/>
                </a:solidFill>
                <a:latin typeface="Times New Roman" panose="02020603050405020304" pitchFamily="18" charset="0"/>
                <a:cs typeface="Times New Roman" panose="02020603050405020304" pitchFamily="18" charset="0"/>
              </a:rPr>
              <a:t>nhưng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dự</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kiến</a:t>
            </a:r>
            <a:r>
              <a:rPr lang="en-US" sz="1600" dirty="0">
                <a:solidFill>
                  <a:prstClr val="black"/>
                </a:solidFill>
                <a:latin typeface="Times New Roman" panose="02020603050405020304" pitchFamily="18" charset="0"/>
                <a:cs typeface="Times New Roman" panose="02020603050405020304" pitchFamily="18" charset="0"/>
              </a:rPr>
              <a:t> 13/01 </a:t>
            </a:r>
            <a:r>
              <a:rPr lang="en-US" sz="1600" dirty="0" err="1">
                <a:solidFill>
                  <a:prstClr val="black"/>
                </a:solidFill>
                <a:latin typeface="Times New Roman" panose="02020603050405020304" pitchFamily="18" charset="0"/>
                <a:cs typeface="Times New Roman" panose="02020603050405020304" pitchFamily="18" charset="0"/>
              </a:rPr>
              <a:t>có</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hàng</a:t>
            </a:r>
            <a:r>
              <a:rPr lang="en-US" sz="1600" dirty="0">
                <a:solidFill>
                  <a:prstClr val="black"/>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4174893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xmlns="" id="{0554909D-4576-933D-CD81-4BA601F47856}"/>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xmlns="" id="{B0B05232-48BF-3B43-E8AE-43FA6A3D88AA}"/>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xmlns="" id="{84D028AA-A55C-EAF0-9D7C-9D32C1075691}"/>
              </a:ext>
            </a:extLst>
          </p:cNvPr>
          <p:cNvSpPr>
            <a:spLocks noGrp="1"/>
          </p:cNvSpPr>
          <p:nvPr>
            <p:ph type="title"/>
          </p:nvPr>
        </p:nvSpPr>
        <p:spPr>
          <a:xfrm>
            <a:off x="709994" y="202040"/>
            <a:ext cx="9155467" cy="551496"/>
          </a:xfrm>
        </p:spPr>
        <p:txBody>
          <a:bodyPr rtlCol="0">
            <a:normAutofit fontScale="90000"/>
          </a:bodyPr>
          <a:lstStyle/>
          <a:p>
            <a:pPr>
              <a:defRPr/>
            </a:pPr>
            <a:r>
              <a:rPr lang="en-US" sz="3733" dirty="0">
                <a:ln w="0"/>
                <a:solidFill>
                  <a:schemeClr val="accent4"/>
                </a:solidFill>
                <a:latin typeface="Times New Roman" panose="02020603050405020304" pitchFamily="18" charset="0"/>
                <a:cs typeface="Times New Roman" panose="02020603050405020304" pitchFamily="18" charset="0"/>
              </a:rPr>
              <a:t>TÌNH TRẠNG KỸ THUẬT ĐỘI BAY – ATR72</a:t>
            </a:r>
            <a:endParaRPr lang="vi-VN" sz="3733" dirty="0">
              <a:ln w="0"/>
              <a:solidFill>
                <a:schemeClr val="accent4"/>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xmlns="" id="{D6315A99-7C22-BCBB-51AE-B39776276C50}"/>
              </a:ext>
            </a:extLst>
          </p:cNvPr>
          <p:cNvSpPr txBox="1"/>
          <p:nvPr/>
        </p:nvSpPr>
        <p:spPr>
          <a:xfrm>
            <a:off x="457200" y="967685"/>
            <a:ext cx="11125200" cy="33855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01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Delay</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00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RTO/ATB/GTB/DIV</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3" name="TextBox 2">
            <a:extLst>
              <a:ext uri="{FF2B5EF4-FFF2-40B4-BE49-F238E27FC236}">
                <a16:creationId xmlns:a16="http://schemas.microsoft.com/office/drawing/2014/main" xmlns="" id="{6F27D0E6-6319-F9BB-EBF8-9A0BC977766E}"/>
              </a:ext>
            </a:extLst>
          </p:cNvPr>
          <p:cNvSpPr txBox="1"/>
          <p:nvPr/>
        </p:nvSpPr>
        <p:spPr>
          <a:xfrm>
            <a:off x="457200" y="1447800"/>
            <a:ext cx="11125200" cy="33855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01</a:t>
            </a:r>
          </a:p>
        </p:txBody>
      </p:sp>
      <p:graphicFrame>
        <p:nvGraphicFramePr>
          <p:cNvPr id="4" name="Table 3">
            <a:extLst>
              <a:ext uri="{FF2B5EF4-FFF2-40B4-BE49-F238E27FC236}">
                <a16:creationId xmlns:a16="http://schemas.microsoft.com/office/drawing/2014/main" xmlns="" id="{9EF188B3-B41C-5E4F-BFDA-EE22AAA2C1E2}"/>
              </a:ext>
            </a:extLst>
          </p:cNvPr>
          <p:cNvGraphicFramePr>
            <a:graphicFrameLocks noGrp="1"/>
          </p:cNvGraphicFramePr>
          <p:nvPr>
            <p:extLst>
              <p:ext uri="{D42A27DB-BD31-4B8C-83A1-F6EECF244321}">
                <p14:modId xmlns:p14="http://schemas.microsoft.com/office/powerpoint/2010/main" val="2355072206"/>
              </p:ext>
            </p:extLst>
          </p:nvPr>
        </p:nvGraphicFramePr>
        <p:xfrm>
          <a:off x="457200" y="1945297"/>
          <a:ext cx="11125201" cy="2487863"/>
        </p:xfrm>
        <a:graphic>
          <a:graphicData uri="http://schemas.openxmlformats.org/drawingml/2006/table">
            <a:tbl>
              <a:tblPr/>
              <a:tblGrid>
                <a:gridCol w="521044">
                  <a:extLst>
                    <a:ext uri="{9D8B030D-6E8A-4147-A177-3AD203B41FA5}">
                      <a16:colId xmlns:a16="http://schemas.microsoft.com/office/drawing/2014/main" xmlns="" val="1032415885"/>
                    </a:ext>
                  </a:extLst>
                </a:gridCol>
                <a:gridCol w="857689">
                  <a:extLst>
                    <a:ext uri="{9D8B030D-6E8A-4147-A177-3AD203B41FA5}">
                      <a16:colId xmlns:a16="http://schemas.microsoft.com/office/drawing/2014/main" xmlns="" val="3065496482"/>
                    </a:ext>
                  </a:extLst>
                </a:gridCol>
                <a:gridCol w="857689">
                  <a:extLst>
                    <a:ext uri="{9D8B030D-6E8A-4147-A177-3AD203B41FA5}">
                      <a16:colId xmlns:a16="http://schemas.microsoft.com/office/drawing/2014/main" xmlns="" val="24283298"/>
                    </a:ext>
                  </a:extLst>
                </a:gridCol>
                <a:gridCol w="545802">
                  <a:extLst>
                    <a:ext uri="{9D8B030D-6E8A-4147-A177-3AD203B41FA5}">
                      <a16:colId xmlns:a16="http://schemas.microsoft.com/office/drawing/2014/main" xmlns="" val="3805210507"/>
                    </a:ext>
                  </a:extLst>
                </a:gridCol>
                <a:gridCol w="2183209">
                  <a:extLst>
                    <a:ext uri="{9D8B030D-6E8A-4147-A177-3AD203B41FA5}">
                      <a16:colId xmlns:a16="http://schemas.microsoft.com/office/drawing/2014/main" xmlns="" val="651607691"/>
                    </a:ext>
                  </a:extLst>
                </a:gridCol>
                <a:gridCol w="2105237">
                  <a:extLst>
                    <a:ext uri="{9D8B030D-6E8A-4147-A177-3AD203B41FA5}">
                      <a16:colId xmlns:a16="http://schemas.microsoft.com/office/drawing/2014/main" xmlns="" val="3575735821"/>
                    </a:ext>
                  </a:extLst>
                </a:gridCol>
                <a:gridCol w="700344">
                  <a:extLst>
                    <a:ext uri="{9D8B030D-6E8A-4147-A177-3AD203B41FA5}">
                      <a16:colId xmlns:a16="http://schemas.microsoft.com/office/drawing/2014/main" xmlns="" val="4108026725"/>
                    </a:ext>
                  </a:extLst>
                </a:gridCol>
                <a:gridCol w="3354187">
                  <a:extLst>
                    <a:ext uri="{9D8B030D-6E8A-4147-A177-3AD203B41FA5}">
                      <a16:colId xmlns:a16="http://schemas.microsoft.com/office/drawing/2014/main" xmlns="" val="1539700478"/>
                    </a:ext>
                  </a:extLst>
                </a:gridCol>
              </a:tblGrid>
              <a:tr h="99075">
                <a:tc>
                  <a:txBody>
                    <a:bodyPr/>
                    <a:lstStyle/>
                    <a:p>
                      <a:pPr algn="ctr" fontAlgn="ctr"/>
                      <a:r>
                        <a:rPr lang="en-US" sz="1000" b="1" i="0" u="none" strike="noStrike" dirty="0">
                          <a:solidFill>
                            <a:srgbClr val="000000"/>
                          </a:solidFill>
                          <a:effectLst/>
                          <a:latin typeface="Times New Roman" panose="02020603050405020304" pitchFamily="18" charset="0"/>
                          <a:cs typeface="Times New Roman" panose="02020603050405020304" pitchFamily="18" charset="0"/>
                        </a:rPr>
                        <a:t>A/C</a:t>
                      </a:r>
                    </a:p>
                  </a:txBody>
                  <a:tcPr marL="3416" marR="3416" marT="34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cs typeface="Times New Roman" panose="02020603050405020304" pitchFamily="18" charset="0"/>
                        </a:rPr>
                        <a:t>OPEN DATE</a:t>
                      </a:r>
                    </a:p>
                  </a:txBody>
                  <a:tcPr marL="3416" marR="3416" marT="34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cs typeface="Times New Roman" panose="02020603050405020304" pitchFamily="18" charset="0"/>
                        </a:rPr>
                        <a:t>CLOSED DATE</a:t>
                      </a:r>
                    </a:p>
                  </a:txBody>
                  <a:tcPr marL="3416" marR="3416" marT="34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cs typeface="Times New Roman" panose="02020603050405020304" pitchFamily="18" charset="0"/>
                        </a:rPr>
                        <a:t>STA</a:t>
                      </a:r>
                    </a:p>
                  </a:txBody>
                  <a:tcPr marL="3416" marR="3416" marT="34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cs typeface="Times New Roman" panose="02020603050405020304" pitchFamily="18" charset="0"/>
                        </a:rPr>
                        <a:t>DEFECT</a:t>
                      </a:r>
                    </a:p>
                  </a:txBody>
                  <a:tcPr marL="3416" marR="3416" marT="34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cs typeface="Times New Roman" panose="02020603050405020304" pitchFamily="18" charset="0"/>
                        </a:rPr>
                        <a:t>ACTION</a:t>
                      </a:r>
                    </a:p>
                  </a:txBody>
                  <a:tcPr marL="3416" marR="3416" marT="34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cs typeface="Times New Roman" panose="02020603050405020304" pitchFamily="18" charset="0"/>
                        </a:rPr>
                        <a:t>ATA</a:t>
                      </a:r>
                    </a:p>
                  </a:txBody>
                  <a:tcPr marL="3416" marR="3416" marT="34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3416" marR="3416" marT="34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xmlns="" val="2073915896"/>
                  </a:ext>
                </a:extLst>
              </a:tr>
              <a:tr h="2179647">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B223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07:25 08/01/2025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10:00 08/01/2025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VCS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AFTER VN8053 SGN-VCS, CAPT REPORTED "TCAS MODE FAILS"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FINAL ACTION: C/O RPLD ATC CONTROL PANEL, TEST PASS, A/C SERV</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34-00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Hỏng hóc liên quan đến khối ATC Control Panel PN 822-1807-004, khối này có độ tin cậy cao, từ 2018 đến nay chỉ hỏng 2 lần (01 lần năm 2024 và lần này). ATR không có TPS liên quan đến hỏng hóc này.</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Khối hỏng 2024 là khối hỏng lần đầu, đã khai thác được hơn 14 năm, nguyên nhân có thể do tuổi đời cao, hiện chưa có SFR của cả 2 khối hỏng tháo xuống này, Ban KT sẽ thu thập SFR để phân tích và theo dõi thêm.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3896216601"/>
                  </a:ext>
                </a:extLst>
              </a:tr>
            </a:tbl>
          </a:graphicData>
        </a:graphic>
      </p:graphicFrame>
    </p:spTree>
    <p:extLst>
      <p:ext uri="{BB962C8B-B14F-4D97-AF65-F5344CB8AC3E}">
        <p14:creationId xmlns:p14="http://schemas.microsoft.com/office/powerpoint/2010/main" val="15663887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Slide Number Placeholder 3"/>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C4F79AF3-24C5-47EC-8B09-710ADAA97244}" type="slidenum">
              <a:rPr lang="en-US" altLang="en-US" sz="1200" smtClean="0">
                <a:solidFill>
                  <a:srgbClr val="D2A43B"/>
                </a:solidFill>
                <a:latin typeface="Montserrat"/>
              </a:rPr>
              <a:pPr fontAlgn="base">
                <a:lnSpc>
                  <a:spcPct val="100000"/>
                </a:lnSpc>
                <a:spcBef>
                  <a:spcPct val="0"/>
                </a:spcBef>
                <a:spcAft>
                  <a:spcPct val="0"/>
                </a:spcAft>
                <a:buFontTx/>
                <a:buNone/>
              </a:pPr>
              <a:t>21</a:t>
            </a:fld>
            <a:endParaRPr lang="en-US" altLang="en-US" sz="1200">
              <a:solidFill>
                <a:srgbClr val="D2A43B"/>
              </a:solidFill>
              <a:latin typeface="Montserrat"/>
            </a:endParaRPr>
          </a:p>
        </p:txBody>
      </p:sp>
      <p:sp>
        <p:nvSpPr>
          <p:cNvPr id="1048638" name="Title 4"/>
          <p:cNvSpPr>
            <a:spLocks noGrp="1"/>
          </p:cNvSpPr>
          <p:nvPr>
            <p:ph type="title"/>
          </p:nvPr>
        </p:nvSpPr>
        <p:spPr>
          <a:xfrm>
            <a:off x="914400" y="439933"/>
            <a:ext cx="8686799" cy="815200"/>
          </a:xfrm>
        </p:spPr>
        <p:txBody>
          <a:bodyPr rtlCol="0">
            <a:normAutofit/>
          </a:bodyPr>
          <a:lstStyle/>
          <a:p>
            <a:pPr eaLnBrk="1" fontAlgn="auto" hangingPunct="1">
              <a:spcAft>
                <a:spcPts val="0"/>
              </a:spcAft>
              <a:defRPr/>
            </a:pPr>
            <a:r>
              <a:rPr lang="en-US" sz="2800" dirty="0">
                <a:ln w="0"/>
                <a:solidFill>
                  <a:schemeClr val="accent4"/>
                </a:solidFill>
                <a:latin typeface="Times New Roman" panose="02020603050405020304" pitchFamily="18" charset="0"/>
                <a:cs typeface="Times New Roman" panose="02020603050405020304" pitchFamily="18" charset="0"/>
              </a:rPr>
              <a:t>TÌNH TRẠNG KỸ THUẬT ĐỘI BAY </a:t>
            </a:r>
            <a:r>
              <a:rPr lang="en-US" sz="2800" dirty="0" smtClean="0">
                <a:ln w="0"/>
                <a:solidFill>
                  <a:schemeClr val="accent4"/>
                </a:solidFill>
                <a:latin typeface="Times New Roman" panose="02020603050405020304" pitchFamily="18" charset="0"/>
                <a:cs typeface="Times New Roman" panose="02020603050405020304" pitchFamily="18" charset="0"/>
              </a:rPr>
              <a:t>ATR72 </a:t>
            </a:r>
            <a:endParaRPr lang="vi-VN" sz="2800" dirty="0">
              <a:ln w="0"/>
              <a:solidFill>
                <a:schemeClr val="accent4"/>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xmlns="" id="{4311CC99-42A4-BD10-390B-EE6B3A4DC329}"/>
              </a:ext>
            </a:extLst>
          </p:cNvPr>
          <p:cNvSpPr txBox="1"/>
          <p:nvPr/>
        </p:nvSpPr>
        <p:spPr>
          <a:xfrm>
            <a:off x="914400" y="1066800"/>
            <a:ext cx="10287000" cy="1077218"/>
          </a:xfrm>
          <a:prstGeom prst="rect">
            <a:avLst/>
          </a:prstGeom>
          <a:noFill/>
        </p:spPr>
        <p:txBody>
          <a:bodyPr wrap="square">
            <a:spAutoFit/>
          </a:bodyPr>
          <a:lstStyle/>
          <a:p>
            <a:pPr lvl="0" algn="just">
              <a:defRPr/>
            </a:pPr>
            <a:r>
              <a:rPr lang="en-US" sz="1600" b="1" dirty="0" err="1">
                <a:latin typeface="Times New Roman" panose="02020603050405020304" pitchFamily="18" charset="0"/>
                <a:cs typeface="Times New Roman" panose="02020603050405020304" pitchFamily="18" charset="0"/>
              </a:rPr>
              <a:t>Nhận</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xét</a:t>
            </a:r>
            <a:r>
              <a:rPr lang="en-US" sz="1600" b="1" dirty="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trong</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tuần</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chỉ</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phát</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sinh</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một</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trường</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hợp</a:t>
            </a:r>
            <a:r>
              <a:rPr lang="en-US" sz="1600" dirty="0" smtClean="0">
                <a:latin typeface="Times New Roman" panose="02020603050405020304" pitchFamily="18" charset="0"/>
                <a:cs typeface="Times New Roman" panose="02020603050405020304" pitchFamily="18" charset="0"/>
              </a:rPr>
              <a:t> AOG</a:t>
            </a:r>
          </a:p>
          <a:p>
            <a:pPr lvl="0" algn="just">
              <a:defRPr/>
            </a:pPr>
            <a:r>
              <a:rPr lang="vi-VN" sz="1600" dirty="0"/>
              <a:t>B223 </a:t>
            </a:r>
            <a:r>
              <a:rPr lang="vi-VN" sz="1600" dirty="0" smtClean="0"/>
              <a:t>"</a:t>
            </a:r>
            <a:r>
              <a:rPr lang="vi-VN" sz="1600" dirty="0"/>
              <a:t>TCAS MODE FAILS"  </a:t>
            </a:r>
            <a:r>
              <a:rPr lang="en-US" sz="1600" dirty="0" err="1" smtClean="0"/>
              <a:t>và</a:t>
            </a:r>
            <a:r>
              <a:rPr lang="en-US" sz="1600" dirty="0" smtClean="0"/>
              <a:t> </a:t>
            </a:r>
            <a:r>
              <a:rPr lang="en-US" sz="1600" dirty="0" err="1" smtClean="0"/>
              <a:t>phải</a:t>
            </a:r>
            <a:r>
              <a:rPr lang="en-US" sz="1600" dirty="0" smtClean="0"/>
              <a:t> </a:t>
            </a:r>
            <a:r>
              <a:rPr lang="en-US" sz="1600" dirty="0" err="1" smtClean="0"/>
              <a:t>cử</a:t>
            </a:r>
            <a:r>
              <a:rPr lang="en-US" sz="1600" dirty="0" smtClean="0"/>
              <a:t> NVKT </a:t>
            </a:r>
            <a:r>
              <a:rPr lang="en-US" sz="1600" dirty="0" err="1" smtClean="0"/>
              <a:t>và</a:t>
            </a:r>
            <a:r>
              <a:rPr lang="en-US" sz="1600" dirty="0" smtClean="0"/>
              <a:t> </a:t>
            </a:r>
            <a:r>
              <a:rPr lang="en-US" sz="1600" dirty="0" err="1" smtClean="0"/>
              <a:t>vật</a:t>
            </a:r>
            <a:r>
              <a:rPr lang="en-US" sz="1600" dirty="0" smtClean="0"/>
              <a:t> </a:t>
            </a:r>
            <a:r>
              <a:rPr lang="en-US" sz="1600" dirty="0" err="1" smtClean="0"/>
              <a:t>tư</a:t>
            </a:r>
            <a:r>
              <a:rPr lang="en-US" sz="1600" dirty="0" smtClean="0"/>
              <a:t> </a:t>
            </a:r>
            <a:r>
              <a:rPr lang="en-US" sz="1600" dirty="0" err="1" smtClean="0"/>
              <a:t>để</a:t>
            </a:r>
            <a:r>
              <a:rPr lang="en-US" sz="1600" dirty="0" smtClean="0"/>
              <a:t> </a:t>
            </a:r>
            <a:r>
              <a:rPr lang="en-US" sz="1600" dirty="0" err="1" smtClean="0"/>
              <a:t>thay</a:t>
            </a:r>
            <a:r>
              <a:rPr lang="en-US" sz="1600" dirty="0" smtClean="0"/>
              <a:t> ATC control panel. </a:t>
            </a:r>
            <a:r>
              <a:rPr lang="vi-VN" sz="1600" dirty="0" smtClean="0"/>
              <a:t>Hỏng </a:t>
            </a:r>
            <a:r>
              <a:rPr lang="vi-VN" sz="1600" dirty="0"/>
              <a:t>hóc liên quan đến khối ATC Control Panel PN 822-1807-004, khối này có độ tin cậy cao, từ 2018 đến nay chỉ hỏng 2 lần (01 lần năm 2024 và lần này</a:t>
            </a:r>
            <a:r>
              <a:rPr lang="vi-VN" sz="1600" dirty="0" smtClean="0"/>
              <a:t>).</a:t>
            </a:r>
            <a:endParaRPr lang="en-US" sz="1600" dirty="0" smtClean="0">
              <a:latin typeface="Times New Roman" panose="02020603050405020304" pitchFamily="18" charset="0"/>
              <a:cs typeface="Times New Roman" panose="02020603050405020304" pitchFamily="18" charset="0"/>
            </a:endParaRPr>
          </a:p>
          <a:p>
            <a:pPr marL="285750" lvl="0" indent="-285750" algn="just">
              <a:buFont typeface="Arial" panose="020B0604020202020204" pitchFamily="34" charset="0"/>
              <a:buChar char="•"/>
              <a:defRPr/>
            </a:pPr>
            <a:endParaRPr lang="vi-V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5745523"/>
      </p:ext>
    </p:extLst>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676510" y="546733"/>
            <a:ext cx="10515600" cy="444137"/>
          </a:xfrm>
        </p:spPr>
        <p:txBody>
          <a:bodyPr>
            <a:noAutofit/>
          </a:bodyPr>
          <a:lstStyle/>
          <a:p>
            <a:r>
              <a:rPr lang="en-US" sz="2800" dirty="0">
                <a:ln w="0"/>
                <a:solidFill>
                  <a:schemeClr val="accent4"/>
                </a:solidFill>
                <a:latin typeface="Times New Roman" panose="02020603050405020304" pitchFamily="18" charset="0"/>
                <a:cs typeface="Times New Roman" panose="02020603050405020304" pitchFamily="18" charset="0"/>
              </a:rPr>
              <a:t>Dispatch </a:t>
            </a:r>
            <a:r>
              <a:rPr lang="en-US" sz="2800">
                <a:ln w="0"/>
                <a:solidFill>
                  <a:schemeClr val="accent4"/>
                </a:solidFill>
                <a:latin typeface="Times New Roman" panose="02020603050405020304" pitchFamily="18" charset="0"/>
                <a:cs typeface="Times New Roman" panose="02020603050405020304" pitchFamily="18" charset="0"/>
              </a:rPr>
              <a:t>Reliability W02 </a:t>
            </a:r>
            <a:r>
              <a:rPr lang="vi-VN" sz="2800">
                <a:ln w="0"/>
                <a:solidFill>
                  <a:schemeClr val="accent4"/>
                </a:solidFill>
                <a:latin typeface="Times New Roman" panose="02020603050405020304" pitchFamily="18" charset="0"/>
                <a:cs typeface="Times New Roman" panose="02020603050405020304" pitchFamily="18" charset="0"/>
              </a:rPr>
              <a:t>(</a:t>
            </a:r>
            <a:r>
              <a:rPr lang="en-US" sz="2800">
                <a:ln w="0"/>
                <a:solidFill>
                  <a:schemeClr val="accent4"/>
                </a:solidFill>
                <a:latin typeface="Times New Roman" panose="02020603050405020304" pitchFamily="18" charset="0"/>
                <a:cs typeface="Times New Roman" panose="02020603050405020304" pitchFamily="18" charset="0"/>
              </a:rPr>
              <a:t>06/01/2025-12/01/20</a:t>
            </a:r>
            <a:r>
              <a:rPr lang="vi-VN" sz="2800">
                <a:ln w="0"/>
                <a:solidFill>
                  <a:schemeClr val="accent4"/>
                </a:solidFill>
                <a:latin typeface="Times New Roman" panose="02020603050405020304" pitchFamily="18" charset="0"/>
                <a:cs typeface="Times New Roman" panose="02020603050405020304" pitchFamily="18" charset="0"/>
              </a:rPr>
              <a:t>2</a:t>
            </a:r>
            <a:r>
              <a:rPr lang="en-US" sz="2800">
                <a:ln w="0"/>
                <a:solidFill>
                  <a:schemeClr val="accent4"/>
                </a:solidFill>
                <a:latin typeface="Times New Roman" panose="02020603050405020304" pitchFamily="18" charset="0"/>
                <a:cs typeface="Times New Roman" panose="02020603050405020304" pitchFamily="18" charset="0"/>
              </a:rPr>
              <a:t>5)</a:t>
            </a:r>
            <a:endParaRPr lang="vi-VN" sz="2800" dirty="0">
              <a:ln w="0"/>
              <a:solidFill>
                <a:schemeClr val="accent4"/>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4294967295"/>
          </p:nvPr>
        </p:nvSpPr>
        <p:spPr>
          <a:xfrm>
            <a:off x="10789920" y="5809416"/>
            <a:ext cx="56388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t>1</a:t>
            </a:r>
          </a:p>
        </p:txBody>
      </p:sp>
      <p:sp>
        <p:nvSpPr>
          <p:cNvPr id="6" name="TextBox 5"/>
          <p:cNvSpPr txBox="1"/>
          <p:nvPr/>
        </p:nvSpPr>
        <p:spPr>
          <a:xfrm>
            <a:off x="552666" y="4395787"/>
            <a:ext cx="7073084" cy="149271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Trong </a:t>
            </a:r>
            <a:r>
              <a:rPr kumimoji="0" lang="en-US" sz="1300" b="0"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tuần 02/2025 </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chỉ số độ tin cậy cất </a:t>
            </a:r>
            <a:r>
              <a:rPr kumimoji="0" lang="en-US" sz="1300" b="0"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cánh</a:t>
            </a:r>
            <a:r>
              <a:rPr lang="en-US" sz="1300">
                <a:solidFill>
                  <a:prstClr val="black"/>
                </a:solidFill>
                <a:latin typeface="Times New Roman" panose="02020603050405020304" pitchFamily="18" charset="0"/>
                <a:cs typeface="Times New Roman" panose="02020603050405020304" pitchFamily="18" charset="0"/>
              </a:rPr>
              <a:t> đội A321, B787 và ATR72 đạt mục tiêu, riêng đội A350 không đạt mục tiêu:</a:t>
            </a:r>
            <a:endParaRPr kumimoji="0" lang="en-US" sz="1300" b="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defRPr/>
            </a:pPr>
            <a:r>
              <a:rPr lang="en-US" sz="1300" dirty="0">
                <a:solidFill>
                  <a:prstClr val="black"/>
                </a:solidFill>
                <a:latin typeface="Times New Roman" panose="02020603050405020304" pitchFamily="18" charset="0"/>
                <a:cs typeface="Times New Roman" panose="02020603050405020304" pitchFamily="18" charset="0"/>
              </a:rPr>
              <a:t>A3</a:t>
            </a:r>
            <a:r>
              <a:rPr lang="vi-VN" sz="1300" dirty="0">
                <a:solidFill>
                  <a:prstClr val="black"/>
                </a:solidFill>
                <a:latin typeface="Times New Roman" panose="02020603050405020304" pitchFamily="18" charset="0"/>
                <a:cs typeface="Times New Roman" panose="02020603050405020304" pitchFamily="18" charset="0"/>
              </a:rPr>
              <a:t>21</a:t>
            </a:r>
            <a:r>
              <a:rPr lang="en-US" sz="1300">
                <a:solidFill>
                  <a:prstClr val="black"/>
                </a:solidFill>
                <a:latin typeface="Times New Roman" panose="02020603050405020304" pitchFamily="18" charset="0"/>
                <a:cs typeface="Times New Roman" panose="02020603050405020304" pitchFamily="18" charset="0"/>
              </a:rPr>
              <a:t>: 99,78% cao hơn 0,15% </a:t>
            </a:r>
            <a:r>
              <a:rPr lang="en-US" sz="1300" dirty="0">
                <a:solidFill>
                  <a:prstClr val="black"/>
                </a:solidFill>
                <a:latin typeface="Times New Roman" panose="02020603050405020304" pitchFamily="18" charset="0"/>
                <a:cs typeface="Times New Roman" panose="02020603050405020304" pitchFamily="18" charset="0"/>
              </a:rPr>
              <a:t>so với </a:t>
            </a:r>
            <a:r>
              <a:rPr lang="en-US" sz="1300">
                <a:solidFill>
                  <a:prstClr val="black"/>
                </a:solidFill>
                <a:latin typeface="Times New Roman" panose="02020603050405020304" pitchFamily="18" charset="0"/>
                <a:cs typeface="Times New Roman" panose="02020603050405020304" pitchFamily="18" charset="0"/>
              </a:rPr>
              <a:t>mục tiêu.</a:t>
            </a:r>
            <a:endParaRPr lang="vi-VN" sz="1300" dirty="0">
              <a:solidFill>
                <a:prstClr val="black"/>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defRPr/>
            </a:pPr>
            <a:r>
              <a:rPr lang="en-US" sz="1300" dirty="0">
                <a:solidFill>
                  <a:prstClr val="black"/>
                </a:solidFill>
                <a:latin typeface="Times New Roman" panose="02020603050405020304" pitchFamily="18" charset="0"/>
                <a:cs typeface="Times New Roman" panose="02020603050405020304" pitchFamily="18" charset="0"/>
              </a:rPr>
              <a:t>A350</a:t>
            </a:r>
            <a:r>
              <a:rPr lang="en-US" sz="1300">
                <a:solidFill>
                  <a:prstClr val="black"/>
                </a:solidFill>
                <a:latin typeface="Times New Roman" panose="02020603050405020304" pitchFamily="18" charset="0"/>
                <a:cs typeface="Times New Roman" panose="02020603050405020304" pitchFamily="18" charset="0"/>
              </a:rPr>
              <a:t>: 97,60% thấp  hơn 0,06% </a:t>
            </a:r>
            <a:r>
              <a:rPr lang="en-US" sz="1300" dirty="0">
                <a:solidFill>
                  <a:prstClr val="black"/>
                </a:solidFill>
                <a:latin typeface="Times New Roman" panose="02020603050405020304" pitchFamily="18" charset="0"/>
                <a:cs typeface="Times New Roman" panose="02020603050405020304" pitchFamily="18" charset="0"/>
              </a:rPr>
              <a:t>so với </a:t>
            </a:r>
            <a:r>
              <a:rPr lang="en-US" sz="1300">
                <a:solidFill>
                  <a:prstClr val="black"/>
                </a:solidFill>
                <a:latin typeface="Times New Roman" panose="02020603050405020304" pitchFamily="18" charset="0"/>
                <a:cs typeface="Times New Roman" panose="02020603050405020304" pitchFamily="18" charset="0"/>
              </a:rPr>
              <a:t>mục tiêu do có 04 sự kiện delay KT do các cảnh báo liên quan tới hệ thống Spoiler, Fuel Pump, Reverser Control, IFE  System.</a:t>
            </a:r>
          </a:p>
          <a:p>
            <a:pPr marL="285750" indent="-285750">
              <a:buFont typeface="Wingdings" panose="05000000000000000000" pitchFamily="2" charset="2"/>
              <a:buChar char="v"/>
              <a:defRPr/>
            </a:pPr>
            <a:r>
              <a:rPr lang="en-US" sz="1300">
                <a:solidFill>
                  <a:prstClr val="black"/>
                </a:solidFill>
                <a:latin typeface="Times New Roman" panose="02020603050405020304" pitchFamily="18" charset="0"/>
                <a:cs typeface="Times New Roman" panose="02020603050405020304" pitchFamily="18" charset="0"/>
              </a:rPr>
              <a:t>B787: 100% </a:t>
            </a:r>
            <a:r>
              <a:rPr lang="en-US" sz="1300">
                <a:latin typeface="Times New Roman" panose="02020603050405020304" pitchFamily="18" charset="0"/>
                <a:cs typeface="Times New Roman" panose="02020603050405020304" pitchFamily="18" charset="0"/>
              </a:rPr>
              <a:t>cao </a:t>
            </a:r>
            <a:r>
              <a:rPr lang="vi-VN" sz="1300">
                <a:latin typeface="Times New Roman" panose="02020603050405020304" pitchFamily="18" charset="0"/>
                <a:cs typeface="Times New Roman" panose="02020603050405020304" pitchFamily="18" charset="0"/>
              </a:rPr>
              <a:t>hơn</a:t>
            </a:r>
            <a:r>
              <a:rPr lang="en-US" sz="1300">
                <a:latin typeface="Times New Roman" panose="02020603050405020304" pitchFamily="18" charset="0"/>
                <a:cs typeface="Times New Roman" panose="02020603050405020304" pitchFamily="18" charset="0"/>
              </a:rPr>
              <a:t> 0,64% </a:t>
            </a:r>
            <a:r>
              <a:rPr lang="en-US" sz="1300" dirty="0">
                <a:latin typeface="Times New Roman" panose="02020603050405020304" pitchFamily="18" charset="0"/>
                <a:cs typeface="Times New Roman" panose="02020603050405020304" pitchFamily="18" charset="0"/>
              </a:rPr>
              <a:t>so với </a:t>
            </a:r>
            <a:r>
              <a:rPr lang="en-US" sz="1300">
                <a:latin typeface="Times New Roman" panose="02020603050405020304" pitchFamily="18" charset="0"/>
                <a:cs typeface="Times New Roman" panose="02020603050405020304" pitchFamily="18" charset="0"/>
              </a:rPr>
              <a:t>mục tiêu.</a:t>
            </a:r>
          </a:p>
          <a:p>
            <a:pPr marL="285750" indent="-285750">
              <a:buFont typeface="Wingdings" panose="05000000000000000000" pitchFamily="2" charset="2"/>
              <a:buChar char="v"/>
              <a:defRPr/>
            </a:pPr>
            <a:r>
              <a:rPr lang="en-US" sz="1300">
                <a:solidFill>
                  <a:prstClr val="black"/>
                </a:solidFill>
                <a:latin typeface="Times New Roman" panose="02020603050405020304" pitchFamily="18" charset="0"/>
                <a:cs typeface="Times New Roman" panose="02020603050405020304" pitchFamily="18" charset="0"/>
              </a:rPr>
              <a:t>ATR72: 100% cao hơn 0,35% </a:t>
            </a:r>
            <a:r>
              <a:rPr lang="en-US" sz="1300" dirty="0">
                <a:solidFill>
                  <a:prstClr val="black"/>
                </a:solidFill>
                <a:latin typeface="Times New Roman" panose="02020603050405020304" pitchFamily="18" charset="0"/>
                <a:cs typeface="Times New Roman" panose="02020603050405020304" pitchFamily="18" charset="0"/>
              </a:rPr>
              <a:t>so với </a:t>
            </a:r>
            <a:r>
              <a:rPr lang="en-US" sz="1300">
                <a:solidFill>
                  <a:prstClr val="black"/>
                </a:solidFill>
                <a:latin typeface="Times New Roman" panose="02020603050405020304" pitchFamily="18" charset="0"/>
                <a:cs typeface="Times New Roman" panose="02020603050405020304" pitchFamily="18" charset="0"/>
              </a:rPr>
              <a:t>mục tiêu.</a:t>
            </a:r>
            <a:endParaRPr lang="en-US" sz="1300" dirty="0">
              <a:solidFill>
                <a:prstClr val="black"/>
              </a:solidFill>
              <a:latin typeface="Times New Roman" panose="02020603050405020304" pitchFamily="18" charset="0"/>
              <a:cs typeface="Times New Roman" panose="02020603050405020304" pitchFamily="18" charset="0"/>
            </a:endParaRPr>
          </a:p>
        </p:txBody>
      </p:sp>
      <p:pic>
        <p:nvPicPr>
          <p:cNvPr id="1025" name="Picture 1" descr="poi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52400" cy="1524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Table 1">
            <a:extLst>
              <a:ext uri="{FF2B5EF4-FFF2-40B4-BE49-F238E27FC236}">
                <a16:creationId xmlns:a16="http://schemas.microsoft.com/office/drawing/2014/main" xmlns="" id="{29C63447-9F0E-F5EB-F621-78A1848A848E}"/>
              </a:ext>
            </a:extLst>
          </p:cNvPr>
          <p:cNvGraphicFramePr>
            <a:graphicFrameLocks noGrp="1"/>
          </p:cNvGraphicFramePr>
          <p:nvPr>
            <p:extLst/>
          </p:nvPr>
        </p:nvGraphicFramePr>
        <p:xfrm>
          <a:off x="7625750" y="4533234"/>
          <a:ext cx="4082595" cy="1272344"/>
        </p:xfrm>
        <a:graphic>
          <a:graphicData uri="http://schemas.openxmlformats.org/drawingml/2006/table">
            <a:tbl>
              <a:tblPr/>
              <a:tblGrid>
                <a:gridCol w="1255255">
                  <a:extLst>
                    <a:ext uri="{9D8B030D-6E8A-4147-A177-3AD203B41FA5}">
                      <a16:colId xmlns:a16="http://schemas.microsoft.com/office/drawing/2014/main" xmlns="" val="2169649306"/>
                    </a:ext>
                  </a:extLst>
                </a:gridCol>
                <a:gridCol w="1496650">
                  <a:extLst>
                    <a:ext uri="{9D8B030D-6E8A-4147-A177-3AD203B41FA5}">
                      <a16:colId xmlns:a16="http://schemas.microsoft.com/office/drawing/2014/main" xmlns="" val="3397981216"/>
                    </a:ext>
                  </a:extLst>
                </a:gridCol>
                <a:gridCol w="1330690">
                  <a:extLst>
                    <a:ext uri="{9D8B030D-6E8A-4147-A177-3AD203B41FA5}">
                      <a16:colId xmlns:a16="http://schemas.microsoft.com/office/drawing/2014/main" xmlns="" val="4123869646"/>
                    </a:ext>
                  </a:extLst>
                </a:gridCol>
              </a:tblGrid>
              <a:tr h="502724">
                <a:tc>
                  <a:txBody>
                    <a:bodyPr/>
                    <a:lstStyle/>
                    <a:p>
                      <a:pPr algn="ctr" fontAlgn="ctr"/>
                      <a:r>
                        <a:rPr lang="en-US" sz="1400" b="1" i="0" u="none" strike="noStrike" dirty="0" err="1">
                          <a:solidFill>
                            <a:srgbClr val="00B050"/>
                          </a:solidFill>
                          <a:effectLst/>
                          <a:latin typeface="Times New Roman" panose="02020603050405020304" pitchFamily="18" charset="0"/>
                        </a:rPr>
                        <a:t>Loại</a:t>
                      </a:r>
                      <a:r>
                        <a:rPr lang="en-US" sz="1400" b="1" i="0" u="none" strike="noStrike" dirty="0">
                          <a:solidFill>
                            <a:srgbClr val="00B050"/>
                          </a:solidFill>
                          <a:effectLst/>
                          <a:latin typeface="Times New Roman" panose="02020603050405020304" pitchFamily="18" charset="0"/>
                        </a:rPr>
                        <a:t> </a:t>
                      </a:r>
                      <a:r>
                        <a:rPr lang="en-US" sz="1400" b="1" i="0" u="none" strike="noStrike" dirty="0" err="1">
                          <a:solidFill>
                            <a:srgbClr val="00B050"/>
                          </a:solidFill>
                          <a:effectLst/>
                          <a:latin typeface="Times New Roman" panose="02020603050405020304" pitchFamily="18" charset="0"/>
                        </a:rPr>
                        <a:t>máy</a:t>
                      </a:r>
                      <a:r>
                        <a:rPr lang="en-US" sz="1400" b="1" i="0" u="none" strike="noStrike" dirty="0">
                          <a:solidFill>
                            <a:srgbClr val="00B050"/>
                          </a:solidFill>
                          <a:effectLst/>
                          <a:latin typeface="Times New Roman" panose="02020603050405020304" pitchFamily="18" charset="0"/>
                        </a:rPr>
                        <a:t> bay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B050"/>
                          </a:solidFill>
                          <a:effectLst/>
                          <a:latin typeface="Times New Roman" panose="02020603050405020304" pitchFamily="18" charset="0"/>
                        </a:rPr>
                        <a:t>Số chuyến chậm, </a:t>
                      </a:r>
                      <a:br>
                        <a:rPr lang="en-US" sz="1400" b="1" i="0" u="none" strike="noStrike">
                          <a:solidFill>
                            <a:srgbClr val="00B050"/>
                          </a:solidFill>
                          <a:effectLst/>
                          <a:latin typeface="Times New Roman" panose="02020603050405020304" pitchFamily="18" charset="0"/>
                        </a:rPr>
                      </a:br>
                      <a:r>
                        <a:rPr lang="en-US" sz="1400" b="1" i="0" u="none" strike="noStrike">
                          <a:solidFill>
                            <a:srgbClr val="00B050"/>
                          </a:solidFill>
                          <a:effectLst/>
                          <a:latin typeface="Times New Roman" panose="02020603050405020304" pitchFamily="18" charset="0"/>
                        </a:rPr>
                        <a:t>hủy chuyến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B050"/>
                          </a:solidFill>
                          <a:effectLst/>
                          <a:latin typeface="Times New Roman" panose="02020603050405020304" pitchFamily="18" charset="0"/>
                        </a:rPr>
                        <a:t>FC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4238093152"/>
                  </a:ext>
                </a:extLst>
              </a:tr>
              <a:tr h="164465">
                <a:tc>
                  <a:txBody>
                    <a:bodyPr/>
                    <a:lstStyle/>
                    <a:p>
                      <a:pPr algn="l" fontAlgn="ctr"/>
                      <a:r>
                        <a:rPr lang="en-US" sz="1200" b="1" i="0" u="none" strike="noStrike">
                          <a:solidFill>
                            <a:srgbClr val="00B050"/>
                          </a:solidFill>
                          <a:effectLst/>
                          <a:latin typeface="Times New Roman" panose="02020603050405020304" pitchFamily="18" charset="0"/>
                        </a:rPr>
                        <a:t>A321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4</a:t>
                      </a:r>
                      <a:endParaRPr lang="en-US" sz="1200" b="1" i="0" u="none" strike="noStrike" dirty="0">
                        <a:solidFill>
                          <a:srgbClr val="00B05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1810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xmlns="" val="3406977045"/>
                  </a:ext>
                </a:extLst>
              </a:tr>
              <a:tr h="164465">
                <a:tc>
                  <a:txBody>
                    <a:bodyPr/>
                    <a:lstStyle/>
                    <a:p>
                      <a:pPr algn="l" fontAlgn="ctr"/>
                      <a:r>
                        <a:rPr lang="en-US" sz="1200" b="1" i="0" u="none" strike="noStrike" dirty="0">
                          <a:solidFill>
                            <a:srgbClr val="00B05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dirty="0">
                          <a:solidFill>
                            <a:srgbClr val="00B050"/>
                          </a:solidFill>
                          <a:effectLst/>
                          <a:latin typeface="Times New Roman" panose="02020603050405020304" pitchFamily="18" charset="0"/>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167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xmlns="" val="1050568924"/>
                  </a:ext>
                </a:extLst>
              </a:tr>
              <a:tr h="164465">
                <a:tc>
                  <a:txBody>
                    <a:bodyPr/>
                    <a:lstStyle/>
                    <a:p>
                      <a:pPr algn="l" fontAlgn="ctr"/>
                      <a:r>
                        <a:rPr lang="en-US" sz="1200" b="1" i="0" u="none" strike="noStrike">
                          <a:solidFill>
                            <a:srgbClr val="00B05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dirty="0">
                          <a:solidFill>
                            <a:srgbClr val="00B050"/>
                          </a:solidFill>
                          <a:effectLst/>
                          <a:latin typeface="Times New Roman" panose="02020603050405020304" pitchFamily="18"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348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xmlns="" val="1529025990"/>
                  </a:ext>
                </a:extLst>
              </a:tr>
              <a:tr h="162092">
                <a:tc>
                  <a:txBody>
                    <a:bodyPr/>
                    <a:lstStyle/>
                    <a:p>
                      <a:pPr algn="l" fontAlgn="ctr"/>
                      <a:r>
                        <a:rPr lang="en-US" sz="1200" b="1" i="0" u="none" strike="noStrike">
                          <a:solidFill>
                            <a:srgbClr val="00B05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dirty="0">
                          <a:solidFill>
                            <a:srgbClr val="00B050"/>
                          </a:solidFill>
                          <a:effectLst/>
                          <a:latin typeface="Times New Roman" panose="02020603050405020304" pitchFamily="18"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229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xmlns="" val="804591176"/>
                  </a:ext>
                </a:extLst>
              </a:tr>
            </a:tbl>
          </a:graphicData>
        </a:graphic>
      </p:graphicFrame>
      <p:graphicFrame>
        <p:nvGraphicFramePr>
          <p:cNvPr id="8" name="Chart 7"/>
          <p:cNvGraphicFramePr>
            <a:graphicFrameLocks/>
          </p:cNvGraphicFramePr>
          <p:nvPr>
            <p:extLst/>
          </p:nvPr>
        </p:nvGraphicFramePr>
        <p:xfrm>
          <a:off x="552665" y="990870"/>
          <a:ext cx="11155680" cy="321945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1143116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xmlns=""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xmlns=""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23</a:t>
            </a:fld>
            <a:endParaRPr>
              <a:latin typeface="Times New Roman" panose="02020603050405020304" pitchFamily="18" charset="0"/>
              <a:cs typeface="Times New Roman" panose="02020603050405020304" pitchFamily="18" charset="0"/>
            </a:endParaRPr>
          </a:p>
        </p:txBody>
      </p:sp>
      <p:sp>
        <p:nvSpPr>
          <p:cNvPr id="8" name="Title 2">
            <a:extLst>
              <a:ext uri="{FF2B5EF4-FFF2-40B4-BE49-F238E27FC236}">
                <a16:creationId xmlns:a16="http://schemas.microsoft.com/office/drawing/2014/main" xmlns="" id="{A54B3B80-6D5D-62F3-88B2-C803136634FB}"/>
              </a:ext>
            </a:extLst>
          </p:cNvPr>
          <p:cNvSpPr>
            <a:spLocks noGrp="1"/>
          </p:cNvSpPr>
          <p:nvPr>
            <p:ph type="title"/>
          </p:nvPr>
        </p:nvSpPr>
        <p:spPr>
          <a:xfrm>
            <a:off x="0" y="0"/>
            <a:ext cx="9312664" cy="508000"/>
          </a:xfrm>
        </p:spPr>
        <p:txBody>
          <a:bodyPr>
            <a:normAutofit fontScale="90000"/>
          </a:bodyPr>
          <a:lstStyle/>
          <a:p>
            <a:pPr eaLnBrk="1" hangingPunct="1"/>
            <a:r>
              <a:rPr lang="en-US" altLang="en-US" sz="3200" dirty="0">
                <a:solidFill>
                  <a:srgbClr val="FFC000"/>
                </a:solidFill>
                <a:latin typeface="Times New Roman" panose="02020603050405020304" pitchFamily="18" charset="0"/>
                <a:cs typeface="Times New Roman" panose="02020603050405020304" pitchFamily="18" charset="0"/>
              </a:rPr>
              <a:t>CÁC CÔNG VIỆC </a:t>
            </a:r>
            <a:r>
              <a:rPr lang="en-US" altLang="en-US" sz="3600" dirty="0">
                <a:solidFill>
                  <a:srgbClr val="FFC000"/>
                </a:solidFill>
                <a:latin typeface="Times New Roman" panose="02020603050405020304" pitchFamily="18" charset="0"/>
                <a:cs typeface="Times New Roman" panose="02020603050405020304" pitchFamily="18" charset="0"/>
              </a:rPr>
              <a:t>TRỌNG</a:t>
            </a:r>
            <a:r>
              <a:rPr lang="en-US" altLang="en-US" sz="3200" dirty="0">
                <a:solidFill>
                  <a:srgbClr val="FFC000"/>
                </a:solidFill>
                <a:latin typeface="Times New Roman" panose="02020603050405020304" pitchFamily="18" charset="0"/>
                <a:cs typeface="Times New Roman" panose="02020603050405020304" pitchFamily="18" charset="0"/>
              </a:rPr>
              <a:t> ĐIỂM TRONG TUẦN</a:t>
            </a:r>
          </a:p>
        </p:txBody>
      </p:sp>
      <p:graphicFrame>
        <p:nvGraphicFramePr>
          <p:cNvPr id="9" name="Content Placeholder 4">
            <a:extLst>
              <a:ext uri="{FF2B5EF4-FFF2-40B4-BE49-F238E27FC236}">
                <a16:creationId xmlns:a16="http://schemas.microsoft.com/office/drawing/2014/main" xmlns="" id="{B51B125A-92E0-55D4-355A-A287D3D9C84E}"/>
              </a:ext>
            </a:extLst>
          </p:cNvPr>
          <p:cNvGraphicFramePr>
            <a:graphicFrameLocks/>
          </p:cNvGraphicFramePr>
          <p:nvPr>
            <p:extLst/>
          </p:nvPr>
        </p:nvGraphicFramePr>
        <p:xfrm>
          <a:off x="156784" y="652238"/>
          <a:ext cx="11878434" cy="6021612"/>
        </p:xfrm>
        <a:graphic>
          <a:graphicData uri="http://schemas.openxmlformats.org/drawingml/2006/table">
            <a:tbl>
              <a:tblPr>
                <a:tableStyleId>{5C22544A-7EE6-4342-B048-85BDC9FD1C3A}</a:tableStyleId>
              </a:tblPr>
              <a:tblGrid>
                <a:gridCol w="422727">
                  <a:extLst>
                    <a:ext uri="{9D8B030D-6E8A-4147-A177-3AD203B41FA5}">
                      <a16:colId xmlns:a16="http://schemas.microsoft.com/office/drawing/2014/main" xmlns="" val="2758273930"/>
                    </a:ext>
                  </a:extLst>
                </a:gridCol>
                <a:gridCol w="1182943">
                  <a:extLst>
                    <a:ext uri="{9D8B030D-6E8A-4147-A177-3AD203B41FA5}">
                      <a16:colId xmlns:a16="http://schemas.microsoft.com/office/drawing/2014/main" xmlns="" val="221963637"/>
                    </a:ext>
                  </a:extLst>
                </a:gridCol>
                <a:gridCol w="8899599">
                  <a:extLst>
                    <a:ext uri="{9D8B030D-6E8A-4147-A177-3AD203B41FA5}">
                      <a16:colId xmlns:a16="http://schemas.microsoft.com/office/drawing/2014/main" xmlns="" val="426833219"/>
                    </a:ext>
                  </a:extLst>
                </a:gridCol>
                <a:gridCol w="1373165">
                  <a:extLst>
                    <a:ext uri="{9D8B030D-6E8A-4147-A177-3AD203B41FA5}">
                      <a16:colId xmlns:a16="http://schemas.microsoft.com/office/drawing/2014/main" xmlns="" val="3649942957"/>
                    </a:ext>
                  </a:extLst>
                </a:gridCol>
              </a:tblGrid>
              <a:tr h="542151">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việc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việc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thực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hiện</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xmlns="" val="2423454521"/>
                  </a:ext>
                </a:extLst>
              </a:tr>
              <a:tr h="1762312">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1</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PW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chương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trình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A321 CEO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NEO</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06/04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gửi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draft HĐ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SSA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11k$/</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9k$/</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2025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trần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75tr,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kèm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một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số</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điều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kiện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VNA. Ban KT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đang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tăng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SSA 2024: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tăng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SSA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13.5k/10k,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trần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90M.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Tiếp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tục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tăng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bao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gồm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trần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SSA 2022.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quả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23/10: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chỉ</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cam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16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năm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hiên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gửi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đủ</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16 engine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đến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Shop)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a cam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số</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l</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ợng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SV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năm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2025. SSA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hiện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vẫn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giữ</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nguyên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07/11: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xác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nhận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VNA 1 Slot QT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T12 </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Năm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2024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tổng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17 slot.</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 29/12: HĐ hỗ trợ SSA 2024 đã được 2 PW &amp; VNA ký và đã được ban hành đến các đơn vị liên quan.</a:t>
                      </a:r>
                      <a:endPar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yêu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cầu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tăng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mức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a:t>
                      </a: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1" fontAlgn="b" latinLnBrk="0" hangingPunct="1">
                        <a:lnSpc>
                          <a:spcPct val="100000"/>
                        </a:lnSpc>
                        <a:spcBef>
                          <a:spcPts val="0"/>
                        </a:spcBef>
                        <a:spcAft>
                          <a:spcPts val="0"/>
                        </a:spcAft>
                        <a:buClrTx/>
                        <a:buSzTx/>
                        <a:buFontTx/>
                        <a:buNone/>
                        <a:tabLst/>
                        <a:defRPr/>
                      </a:pP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625972957"/>
                  </a:ext>
                </a:extLst>
              </a:tr>
              <a:tr h="1870197">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2</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Genx-1B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tàu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B787 –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Nội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dung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GE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KLM</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KLM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từ</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T7/2024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tuần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28 (02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đco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956556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từ</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T11/2023 induct 12/07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956533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từ</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T01/2024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chờ</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T9/2024)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thông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báo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năng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xếp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được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total 05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năm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Hiện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còn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01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ESN 956695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đang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chữa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KLM.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a:t>
                      </a:r>
                      <a:endPar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HĐ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Group C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ký</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Hiện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vấn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rất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chế</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thay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02 ĐC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đáp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ứng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T7.</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Ban KT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cung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gói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đối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tàu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787-10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sắp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nhận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cung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Letter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tàu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787-10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nhận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T7/2024.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cao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Airshow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23/07/2025.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26/11: EVP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họp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cập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nhật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tình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trạng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bay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Leadership</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fr-FR" sz="1300" kern="1200" dirty="0">
                          <a:solidFill>
                            <a:schemeClr val="tx1"/>
                          </a:solidFill>
                          <a:effectLst/>
                          <a:latin typeface="Times New Roman" panose="02020603050405020304" pitchFamily="18" charset="0"/>
                          <a:ea typeface="+mn-ea"/>
                          <a:cs typeface="Times New Roman" panose="02020603050405020304" pitchFamily="18" charset="0"/>
                        </a:rPr>
                        <a:t>KT/QLVT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làm</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việc</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về</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Removal Plan / ĐCDP / TAT /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Tình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trạng</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KT…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để</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báo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cáo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Lãnh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TCT.</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p>
                      <a:pPr marL="0" marR="0" lvl="0" indent="0" algn="l" defTabSz="914400" rtl="0" eaLnBrk="1" fontAlgn="b" latinLnBrk="0" hangingPunct="1">
                        <a:lnSpc>
                          <a:spcPct val="100000"/>
                        </a:lnSpc>
                        <a:spcBef>
                          <a:spcPts val="0"/>
                        </a:spcBef>
                        <a:spcAft>
                          <a:spcPts val="0"/>
                        </a:spcAft>
                        <a:buClrTx/>
                        <a:buSzTx/>
                        <a:buFontTx/>
                        <a:buNone/>
                        <a:tabLst/>
                        <a:defRPr/>
                      </a:pP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425107005"/>
                  </a:ext>
                </a:extLst>
              </a:tr>
              <a:tr h="1846952">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3</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fr-FR" sz="1300" kern="1200" dirty="0">
                          <a:solidFill>
                            <a:schemeClr val="tx1"/>
                          </a:solidFill>
                          <a:effectLst/>
                          <a:latin typeface="Times New Roman" panose="02020603050405020304" pitchFamily="18" charset="0"/>
                          <a:ea typeface="+mn-ea"/>
                          <a:cs typeface="Times New Roman" panose="02020603050405020304" pitchFamily="18" charset="0"/>
                        </a:rPr>
                        <a:t>KT/QLVT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làm</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việc</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về</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Removal Plan / ĐCDP / TAT /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Tình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trạng</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KT…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để</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báo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cáo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Lãnh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TCT.</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Từ</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3 –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7, VP RR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sang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kế</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hoạch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nguồn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lực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A350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cũng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ư</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xuất</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pháp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AOG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trong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thời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gian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thời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gian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chờ</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SV...). Ban KT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phối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hợp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QLVT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RR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đòi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cũng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như</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triển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khai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pháp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AOG.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Ban KT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phối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hợp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QLVT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tính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toán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draft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cao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nhằm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theo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HĐ TCA.</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Trong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buổi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MRO Asia, Ban KT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bổ</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sung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thêm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sửa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chữa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đó</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có</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 slot QT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cuối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T10 –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T11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để</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giảm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thêm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 AOG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giai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đoạn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17/12 SVP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của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sang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CEO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của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tuy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nhiên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không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đạt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đ</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ợc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cụ</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thể</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Tiếp</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tục</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RR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slot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chữa</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c</a:t>
                      </a:r>
                      <a:r>
                        <a:rPr lang="vi-VN" sz="1300" kern="1200" dirty="0">
                          <a:solidFill>
                            <a:schemeClr val="tx1"/>
                          </a:solidFill>
                          <a:effectLst/>
                          <a:latin typeface="Times New Roman" panose="02020603050405020304" pitchFamily="18" charset="0"/>
                          <a:ea typeface="+mn-ea"/>
                          <a:cs typeface="Times New Roman" panose="02020603050405020304" pitchFamily="18" charset="0"/>
                        </a:rPr>
                        <a:t>ơ</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giảm</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TAT.</a:t>
                      </a:r>
                    </a:p>
                    <a:p>
                      <a:pPr marL="0" marR="0" lvl="0" indent="0" algn="l" defTabSz="914400" rtl="0" eaLnBrk="1" fontAlgn="b" latinLnBrk="0" hangingPunct="1">
                        <a:lnSpc>
                          <a:spcPct val="100000"/>
                        </a:lnSpc>
                        <a:spcBef>
                          <a:spcPts val="0"/>
                        </a:spcBef>
                        <a:spcAft>
                          <a:spcPts val="0"/>
                        </a:spcAft>
                        <a:buClrTx/>
                        <a:buSzTx/>
                        <a:buFontTx/>
                        <a:buNone/>
                        <a:tabLst/>
                        <a:defRPr/>
                      </a:pP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3599920082"/>
                  </a:ext>
                </a:extLst>
              </a:tr>
            </a:tbl>
          </a:graphicData>
        </a:graphic>
      </p:graphicFrame>
    </p:spTree>
    <p:extLst>
      <p:ext uri="{BB962C8B-B14F-4D97-AF65-F5344CB8AC3E}">
        <p14:creationId xmlns:p14="http://schemas.microsoft.com/office/powerpoint/2010/main" val="2736147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xmlns="" id="{FCDADE51-C6B9-5C4B-8E7E-2C9068925992}"/>
            </a:ext>
          </a:extLst>
        </p:cNvPr>
        <p:cNvGrpSpPr/>
        <p:nvPr/>
      </p:nvGrpSpPr>
      <p:grpSpPr>
        <a:xfrm>
          <a:off x="0" y="0"/>
          <a:ext cx="0" cy="0"/>
          <a:chOff x="0" y="0"/>
          <a:chExt cx="0" cy="0"/>
        </a:xfrm>
      </p:grpSpPr>
      <p:sp>
        <p:nvSpPr>
          <p:cNvPr id="2" name="Title 2">
            <a:extLst>
              <a:ext uri="{FF2B5EF4-FFF2-40B4-BE49-F238E27FC236}">
                <a16:creationId xmlns:a16="http://schemas.microsoft.com/office/drawing/2014/main" xmlns="" id="{247D3536-C804-0133-4A2E-A846C5CD8D46}"/>
              </a:ext>
            </a:extLst>
          </p:cNvPr>
          <p:cNvSpPr>
            <a:spLocks noGrp="1"/>
          </p:cNvSpPr>
          <p:nvPr>
            <p:ph type="title"/>
          </p:nvPr>
        </p:nvSpPr>
        <p:spPr>
          <a:xfrm>
            <a:off x="771524" y="2977615"/>
            <a:ext cx="10648952" cy="627834"/>
          </a:xfrm>
          <a:noFill/>
        </p:spPr>
        <p:txBody>
          <a:bodyPr wrap="square" rtlCol="0">
            <a:spAutoFit/>
          </a:bodyPr>
          <a:lstStyle/>
          <a:p>
            <a:pPr algn="ctr"/>
            <a:r>
              <a:rPr lang="vi-VN" sz="3200" dirty="0">
                <a:ln w="0"/>
                <a:solidFill>
                  <a:srgbClr val="0070C0"/>
                </a:solidFill>
                <a:latin typeface="Times New Roman" panose="02020603050405020304" pitchFamily="18" charset="0"/>
                <a:ea typeface="+mn-ea"/>
                <a:cs typeface="Times New Roman" panose="02020603050405020304" pitchFamily="18" charset="0"/>
              </a:rPr>
              <a:t>KHẢ NĂNG CUNG ỨNG ĐỘNG CƠ</a:t>
            </a:r>
            <a:r>
              <a:rPr lang="en-US" sz="3200" dirty="0">
                <a:ln w="0"/>
                <a:solidFill>
                  <a:srgbClr val="0070C0"/>
                </a:solidFill>
                <a:latin typeface="Times New Roman" panose="02020603050405020304" pitchFamily="18" charset="0"/>
                <a:ea typeface="+mn-ea"/>
                <a:cs typeface="Times New Roman" panose="02020603050405020304" pitchFamily="18" charset="0"/>
              </a:rPr>
              <a:t>/APU</a:t>
            </a:r>
          </a:p>
        </p:txBody>
      </p:sp>
    </p:spTree>
    <p:extLst>
      <p:ext uri="{BB962C8B-B14F-4D97-AF65-F5344CB8AC3E}">
        <p14:creationId xmlns:p14="http://schemas.microsoft.com/office/powerpoint/2010/main" val="16702264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DC22A72-54FF-8086-CABE-943B9F79B55C}"/>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xmlns="" id="{209F39F1-CDB6-3B62-4B32-ACAA9A730526}"/>
              </a:ext>
            </a:extLst>
          </p:cNvPr>
          <p:cNvSpPr txBox="1">
            <a:spLocks/>
          </p:cNvSpPr>
          <p:nvPr/>
        </p:nvSpPr>
        <p:spPr>
          <a:xfrm>
            <a:off x="844871" y="203761"/>
            <a:ext cx="9132732" cy="458687"/>
          </a:xfrm>
          <a:prstGeom prst="rect">
            <a:avLst/>
          </a:prstGeom>
        </p:spPr>
        <p:txBody>
          <a:bodyPr vert="horz" lIns="91440" tIns="45720" rIns="91440" bIns="45720" rtlCol="0" anchor="ctr">
            <a:noAutofit/>
          </a:bodyPr>
          <a:lstStyle>
            <a:defPPr>
              <a:defRPr lang="en-US"/>
            </a:defPPr>
            <a:lvl1pPr>
              <a:lnSpc>
                <a:spcPct val="90000"/>
              </a:lnSpc>
              <a:spcBef>
                <a:spcPct val="0"/>
              </a:spcBef>
              <a:buNone/>
              <a:defRPr sz="2800" b="1">
                <a:solidFill>
                  <a:srgbClr val="D2A43B"/>
                </a:solidFill>
                <a:latin typeface="Times New Roman" panose="02020603050405020304" pitchFamily="18" charset="0"/>
                <a:ea typeface="Tahoma" pitchFamily="34" charset="0"/>
                <a:cs typeface="Times New Roman" panose="02020603050405020304" pitchFamily="18" charset="0"/>
              </a:defRPr>
            </a:lvl1pPr>
          </a:lstStyle>
          <a:p>
            <a:pPr defTabSz="914377">
              <a:defRPr/>
            </a:pPr>
            <a:r>
              <a:rPr lang="en-US" dirty="0"/>
              <a:t>NHU CẦU ĐỘNG CƠ DỰ </a:t>
            </a:r>
            <a:r>
              <a:rPr lang="en-US"/>
              <a:t>PHÒNG Q1-Q2/2025</a:t>
            </a:r>
            <a:endParaRPr lang="vi-VN" dirty="0"/>
          </a:p>
        </p:txBody>
      </p:sp>
      <p:graphicFrame>
        <p:nvGraphicFramePr>
          <p:cNvPr id="19" name="Chart 18">
            <a:extLst>
              <a:ext uri="{FF2B5EF4-FFF2-40B4-BE49-F238E27FC236}">
                <a16:creationId xmlns:a16="http://schemas.microsoft.com/office/drawing/2014/main" xmlns="" id="{211010DD-A36B-7A4B-2FF6-01A604A6123F}"/>
              </a:ext>
            </a:extLst>
          </p:cNvPr>
          <p:cNvGraphicFramePr>
            <a:graphicFrameLocks/>
          </p:cNvGraphicFramePr>
          <p:nvPr>
            <p:extLst/>
          </p:nvPr>
        </p:nvGraphicFramePr>
        <p:xfrm>
          <a:off x="495300" y="801732"/>
          <a:ext cx="11236328" cy="4607249"/>
        </p:xfrm>
        <a:graphic>
          <a:graphicData uri="http://schemas.openxmlformats.org/drawingml/2006/chart">
            <c:chart xmlns:c="http://schemas.openxmlformats.org/drawingml/2006/chart" xmlns:r="http://schemas.openxmlformats.org/officeDocument/2006/relationships" r:id="rId3"/>
          </a:graphicData>
        </a:graphic>
      </p:graphicFrame>
      <p:sp>
        <p:nvSpPr>
          <p:cNvPr id="20" name="TextBox 19">
            <a:extLst>
              <a:ext uri="{FF2B5EF4-FFF2-40B4-BE49-F238E27FC236}">
                <a16:creationId xmlns:a16="http://schemas.microsoft.com/office/drawing/2014/main" xmlns="" id="{4DD2277F-2B8A-7B9C-24AD-6310EB414239}"/>
              </a:ext>
            </a:extLst>
          </p:cNvPr>
          <p:cNvSpPr txBox="1"/>
          <p:nvPr/>
        </p:nvSpPr>
        <p:spPr>
          <a:xfrm>
            <a:off x="477836" y="5574311"/>
            <a:ext cx="11236328" cy="1117935"/>
          </a:xfrm>
          <a:prstGeom prst="rect">
            <a:avLst/>
          </a:prstGeom>
          <a:noFill/>
          <a:ln>
            <a:solidFill>
              <a:schemeClr val="accent1"/>
            </a:solidFill>
          </a:ln>
        </p:spPr>
        <p:txBody>
          <a:bodyPr wrap="square" rtlCol="0">
            <a:spAutoFit/>
          </a:bodyPr>
          <a:lstStyle/>
          <a:p>
            <a:pPr defTabSz="914377">
              <a:defRPr/>
            </a:pPr>
            <a:r>
              <a:rPr lang="en-US" sz="1333" b="1" dirty="0">
                <a:solidFill>
                  <a:prstClr val="black"/>
                </a:solidFill>
                <a:latin typeface="Times New Roman" panose="02020603050405020304" pitchFamily="18" charset="0"/>
                <a:cs typeface="Times New Roman" panose="02020603050405020304" pitchFamily="18" charset="0"/>
              </a:rPr>
              <a:t>*A321CEO: </a:t>
            </a:r>
            <a:r>
              <a:rPr lang="en-US" sz="1333" dirty="0" err="1">
                <a:solidFill>
                  <a:prstClr val="black"/>
                </a:solidFill>
                <a:latin typeface="Times New Roman" panose="02020603050405020304" pitchFamily="18" charset="0"/>
                <a:cs typeface="Times New Roman" panose="02020603050405020304" pitchFamily="18" charset="0"/>
              </a:rPr>
              <a:t>Có</a:t>
            </a:r>
            <a:r>
              <a:rPr lang="en-US" sz="1333" dirty="0">
                <a:solidFill>
                  <a:prstClr val="black"/>
                </a:solidFill>
                <a:latin typeface="Times New Roman" panose="02020603050405020304" pitchFamily="18" charset="0"/>
                <a:cs typeface="Times New Roman" panose="02020603050405020304" pitchFamily="18" charset="0"/>
              </a:rPr>
              <a:t> 02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cơ</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dự</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phòng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trong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giai</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đoạn</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cao</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điểm</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Tết</a:t>
            </a:r>
            <a:r>
              <a:rPr lang="en-US" sz="1333" dirty="0">
                <a:solidFill>
                  <a:prstClr val="black"/>
                </a:solidFill>
                <a:latin typeface="Times New Roman" panose="02020603050405020304" pitchFamily="18" charset="0"/>
                <a:cs typeface="Times New Roman" panose="02020603050405020304" pitchFamily="18" charset="0"/>
              </a:rPr>
              <a:t>. </a:t>
            </a:r>
          </a:p>
          <a:p>
            <a:pPr defTabSz="914377">
              <a:defRPr/>
            </a:pPr>
            <a:r>
              <a:rPr lang="en-US" sz="1333" b="1" dirty="0">
                <a:solidFill>
                  <a:prstClr val="black"/>
                </a:solidFill>
                <a:latin typeface="Times New Roman" panose="02020603050405020304" pitchFamily="18" charset="0"/>
                <a:cs typeface="Times New Roman" panose="02020603050405020304" pitchFamily="18" charset="0"/>
              </a:rPr>
              <a:t>*A321NEO</a:t>
            </a:r>
            <a:r>
              <a:rPr lang="en-US" sz="1333" dirty="0">
                <a:solidFill>
                  <a:prstClr val="black"/>
                </a:solidFill>
                <a:latin typeface="Times New Roman" panose="02020603050405020304" pitchFamily="18" charset="0"/>
                <a:cs typeface="Times New Roman" panose="02020603050405020304" pitchFamily="18" charset="0"/>
              </a:rPr>
              <a:t>: </a:t>
            </a:r>
            <a:r>
              <a:rPr lang="vi-VN" sz="1333" dirty="0">
                <a:solidFill>
                  <a:prstClr val="black"/>
                </a:solidFill>
                <a:latin typeface="Times New Roman" panose="02020603050405020304" pitchFamily="18" charset="0"/>
                <a:cs typeface="Times New Roman" panose="02020603050405020304" pitchFamily="18" charset="0"/>
              </a:rPr>
              <a:t>Rủi ro động cơ đi shop về muộn (thực tế đã bị shop delay nhiều lần) và rủi ro tháo động cơ ngoài KH do Vibration, Oil Leak…</a:t>
            </a:r>
            <a:endParaRPr lang="en-US" sz="1333" dirty="0">
              <a:solidFill>
                <a:prstClr val="black"/>
              </a:solidFill>
              <a:highlight>
                <a:srgbClr val="FFFF00"/>
              </a:highlight>
              <a:latin typeface="Times New Roman" panose="02020603050405020304" pitchFamily="18" charset="0"/>
              <a:cs typeface="Times New Roman" panose="02020603050405020304" pitchFamily="18" charset="0"/>
            </a:endParaRPr>
          </a:p>
          <a:p>
            <a:pPr defTabSz="914377">
              <a:defRPr/>
            </a:pPr>
            <a:r>
              <a:rPr lang="en-US" sz="1333" b="1" dirty="0">
                <a:solidFill>
                  <a:prstClr val="black"/>
                </a:solidFill>
                <a:latin typeface="Times New Roman" panose="02020603050405020304" pitchFamily="18" charset="0"/>
                <a:cs typeface="Times New Roman" panose="02020603050405020304" pitchFamily="18" charset="0"/>
              </a:rPr>
              <a:t>*B787: </a:t>
            </a:r>
            <a:r>
              <a:rPr lang="en-US" sz="1333" dirty="0">
                <a:solidFill>
                  <a:prstClr val="black"/>
                </a:solidFill>
                <a:latin typeface="Times New Roman" panose="02020603050405020304" pitchFamily="18" charset="0"/>
                <a:cs typeface="Times New Roman" panose="02020603050405020304" pitchFamily="18" charset="0"/>
              </a:rPr>
              <a:t>Nhu </a:t>
            </a:r>
            <a:r>
              <a:rPr lang="en-US" sz="1333" dirty="0" err="1">
                <a:solidFill>
                  <a:prstClr val="black"/>
                </a:solidFill>
                <a:latin typeface="Times New Roman" panose="02020603050405020304" pitchFamily="18" charset="0"/>
                <a:cs typeface="Times New Roman" panose="02020603050405020304" pitchFamily="18" charset="0"/>
              </a:rPr>
              <a:t>cầu</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cơ</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dựa</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trên</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kế</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hoạch</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nhận</a:t>
            </a:r>
            <a:r>
              <a:rPr lang="en-US" sz="1333" dirty="0">
                <a:solidFill>
                  <a:prstClr val="black"/>
                </a:solidFill>
                <a:latin typeface="Times New Roman" panose="02020603050405020304" pitchFamily="18" charset="0"/>
                <a:cs typeface="Times New Roman" panose="02020603050405020304" pitchFamily="18" charset="0"/>
              </a:rPr>
              <a:t> 02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cơ</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thuê</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vào</a:t>
            </a:r>
            <a:r>
              <a:rPr lang="en-US" sz="1333" dirty="0">
                <a:solidFill>
                  <a:prstClr val="black"/>
                </a:solidFill>
                <a:latin typeface="Times New Roman" panose="02020603050405020304" pitchFamily="18" charset="0"/>
                <a:cs typeface="Times New Roman" panose="02020603050405020304" pitchFamily="18" charset="0"/>
              </a:rPr>
              <a:t> T9 </a:t>
            </a:r>
            <a:r>
              <a:rPr lang="en-US" sz="1333" dirty="0" err="1">
                <a:solidFill>
                  <a:prstClr val="black"/>
                </a:solidFill>
                <a:latin typeface="Times New Roman" panose="02020603050405020304" pitchFamily="18" charset="0"/>
                <a:cs typeface="Times New Roman" panose="02020603050405020304" pitchFamily="18" charset="0"/>
              </a:rPr>
              <a:t>và</a:t>
            </a:r>
            <a:r>
              <a:rPr lang="en-US" sz="1333" dirty="0">
                <a:solidFill>
                  <a:prstClr val="black"/>
                </a:solidFill>
                <a:latin typeface="Times New Roman" panose="02020603050405020304" pitchFamily="18" charset="0"/>
                <a:cs typeface="Times New Roman" panose="02020603050405020304" pitchFamily="18" charset="0"/>
              </a:rPr>
              <a:t> T11.</a:t>
            </a:r>
          </a:p>
          <a:p>
            <a:pPr defTabSz="914377">
              <a:defRPr/>
            </a:pPr>
            <a:r>
              <a:rPr lang="en-US" sz="1333" b="1" dirty="0">
                <a:solidFill>
                  <a:prstClr val="black"/>
                </a:solidFill>
                <a:latin typeface="Times New Roman" panose="02020603050405020304" pitchFamily="18" charset="0"/>
                <a:cs typeface="Times New Roman" panose="02020603050405020304" pitchFamily="18" charset="0"/>
              </a:rPr>
              <a:t>*ATR: </a:t>
            </a:r>
            <a:r>
              <a:rPr lang="en-US" sz="1333" dirty="0">
                <a:solidFill>
                  <a:prstClr val="black"/>
                </a:solidFill>
                <a:latin typeface="Times New Roman" panose="02020603050405020304" pitchFamily="18" charset="0"/>
                <a:cs typeface="Times New Roman" panose="02020603050405020304" pitchFamily="18" charset="0"/>
              </a:rPr>
              <a:t>Nhu </a:t>
            </a:r>
            <a:r>
              <a:rPr lang="en-US" sz="1333" dirty="0" err="1">
                <a:solidFill>
                  <a:prstClr val="black"/>
                </a:solidFill>
                <a:latin typeface="Times New Roman" panose="02020603050405020304" pitchFamily="18" charset="0"/>
                <a:cs typeface="Times New Roman" panose="02020603050405020304" pitchFamily="18" charset="0"/>
              </a:rPr>
              <a:t>cầu</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này</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đã</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tính</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nhu</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cầu</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nguồn</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lực</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cho</a:t>
            </a:r>
            <a:r>
              <a:rPr lang="en-US" sz="1333" dirty="0">
                <a:solidFill>
                  <a:prstClr val="black"/>
                </a:solidFill>
                <a:latin typeface="Times New Roman" panose="02020603050405020304" pitchFamily="18" charset="0"/>
                <a:cs typeface="Times New Roman" panose="02020603050405020304" pitchFamily="18" charset="0"/>
              </a:rPr>
              <a:t> 05 </a:t>
            </a:r>
            <a:r>
              <a:rPr lang="en-US" sz="1333" dirty="0" err="1">
                <a:solidFill>
                  <a:prstClr val="black"/>
                </a:solidFill>
                <a:latin typeface="Times New Roman" panose="02020603050405020304" pitchFamily="18" charset="0"/>
                <a:cs typeface="Times New Roman" panose="02020603050405020304" pitchFamily="18" charset="0"/>
              </a:rPr>
              <a:t>tàu</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gồm</a:t>
            </a:r>
            <a:r>
              <a:rPr lang="en-US" sz="1333" dirty="0">
                <a:solidFill>
                  <a:prstClr val="black"/>
                </a:solidFill>
                <a:latin typeface="Times New Roman" panose="02020603050405020304" pitchFamily="18" charset="0"/>
                <a:cs typeface="Times New Roman" panose="02020603050405020304" pitchFamily="18" charset="0"/>
              </a:rPr>
              <a:t> B225 RTS </a:t>
            </a:r>
            <a:r>
              <a:rPr lang="en-US" sz="1333" dirty="0" err="1">
                <a:solidFill>
                  <a:prstClr val="black"/>
                </a:solidFill>
                <a:latin typeface="Times New Roman" panose="02020603050405020304" pitchFamily="18" charset="0"/>
                <a:cs typeface="Times New Roman" panose="02020603050405020304" pitchFamily="18" charset="0"/>
              </a:rPr>
              <a:t>từ</a:t>
            </a:r>
            <a:r>
              <a:rPr lang="en-US" sz="1333" dirty="0">
                <a:solidFill>
                  <a:prstClr val="black"/>
                </a:solidFill>
                <a:latin typeface="Times New Roman" panose="02020603050405020304" pitchFamily="18" charset="0"/>
                <a:cs typeface="Times New Roman" panose="02020603050405020304" pitchFamily="18" charset="0"/>
              </a:rPr>
              <a:t> T1/2025).</a:t>
            </a:r>
          </a:p>
          <a:p>
            <a:pPr defTabSz="914377">
              <a:defRPr/>
            </a:pPr>
            <a:r>
              <a:rPr lang="en-US" sz="1333" b="1" dirty="0">
                <a:solidFill>
                  <a:prstClr val="black"/>
                </a:solidFill>
                <a:latin typeface="Times New Roman" panose="02020603050405020304" pitchFamily="18" charset="0"/>
                <a:cs typeface="Times New Roman" panose="02020603050405020304" pitchFamily="18" charset="0"/>
              </a:rPr>
              <a:t>*A350</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Rủi</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ro</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tháo</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c</a:t>
            </a:r>
            <a:r>
              <a:rPr lang="vi-VN" sz="1333" dirty="0">
                <a:solidFill>
                  <a:prstClr val="black"/>
                </a:solidFill>
                <a:latin typeface="Times New Roman" panose="02020603050405020304" pitchFamily="18" charset="0"/>
                <a:cs typeface="Times New Roman" panose="02020603050405020304" pitchFamily="18" charset="0"/>
              </a:rPr>
              <a:t>ơ</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ngoài</a:t>
            </a:r>
            <a:r>
              <a:rPr lang="en-US" sz="1333" dirty="0">
                <a:solidFill>
                  <a:prstClr val="black"/>
                </a:solidFill>
                <a:latin typeface="Times New Roman" panose="02020603050405020304" pitchFamily="18" charset="0"/>
                <a:cs typeface="Times New Roman" panose="02020603050405020304" pitchFamily="18" charset="0"/>
              </a:rPr>
              <a:t> KH do High oil consumption, HPT Blade, IPC Blade. </a:t>
            </a:r>
          </a:p>
        </p:txBody>
      </p:sp>
    </p:spTree>
    <p:extLst>
      <p:ext uri="{BB962C8B-B14F-4D97-AF65-F5344CB8AC3E}">
        <p14:creationId xmlns:p14="http://schemas.microsoft.com/office/powerpoint/2010/main" val="36784502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xmlns="" id="{55B988DA-38D1-571B-6871-9FBC014FB168}"/>
            </a:ext>
          </a:extLst>
        </p:cNvPr>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xmlns="" id="{54CB31C7-4E2E-A024-3D90-6B5B7D962E96}"/>
              </a:ext>
            </a:extLst>
          </p:cNvPr>
          <p:cNvSpPr txBox="1">
            <a:spLocks/>
          </p:cNvSpPr>
          <p:nvPr/>
        </p:nvSpPr>
        <p:spPr>
          <a:xfrm>
            <a:off x="8534400" y="6371168"/>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600">
                <a:solidFill>
                  <a:srgbClr val="D2A43B"/>
                </a:solidFill>
                <a:latin typeface="Times New Roman" panose="02020603050405020304" pitchFamily="18" charset="0"/>
                <a:ea typeface="+mn-ea"/>
                <a:cs typeface="+mn-cs"/>
              </a:rPr>
              <a:pPr>
                <a:buClrTx/>
                <a:buFontTx/>
                <a:buNone/>
                <a:defRPr/>
              </a:pPr>
              <a:t>26</a:t>
            </a:fld>
            <a:endParaRPr lang="en-US" sz="1600" dirty="0">
              <a:solidFill>
                <a:srgbClr val="D2A43B"/>
              </a:solidFill>
              <a:latin typeface="Times New Roman" panose="02020603050405020304" pitchFamily="18" charset="0"/>
              <a:ea typeface="+mn-ea"/>
              <a:cs typeface="+mn-cs"/>
            </a:endParaRPr>
          </a:p>
        </p:txBody>
      </p:sp>
      <p:sp>
        <p:nvSpPr>
          <p:cNvPr id="7" name="TextBox 6">
            <a:extLst>
              <a:ext uri="{FF2B5EF4-FFF2-40B4-BE49-F238E27FC236}">
                <a16:creationId xmlns:a16="http://schemas.microsoft.com/office/drawing/2014/main" xmlns="" id="{ECD7242A-6EC4-6B1A-A438-79B9107F1CD6}"/>
              </a:ext>
            </a:extLst>
          </p:cNvPr>
          <p:cNvSpPr txBox="1"/>
          <p:nvPr/>
        </p:nvSpPr>
        <p:spPr>
          <a:xfrm>
            <a:off x="203197" y="0"/>
            <a:ext cx="15341603"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NHU CẦU ĐỘNG CƠ DỰ PHÒNG CÁC </a:t>
            </a:r>
            <a:r>
              <a:rPr lang="en-US" sz="2667" b="1">
                <a:ln w="0"/>
                <a:solidFill>
                  <a:srgbClr val="FBAC00"/>
                </a:solidFill>
                <a:latin typeface="Times New Roman" panose="02020603050405020304" pitchFamily="18" charset="0"/>
                <a:cs typeface="Times New Roman" panose="02020603050405020304" pitchFamily="18" charset="0"/>
              </a:rPr>
              <a:t>FLEET T1-T3/2025</a:t>
            </a:r>
            <a:endParaRPr lang="vi-VN" sz="2667" b="1" dirty="0">
              <a:ln w="0"/>
              <a:solidFill>
                <a:srgbClr val="FBAC00"/>
              </a:solidFill>
              <a:latin typeface="Times New Roman" panose="02020603050405020304" pitchFamily="18" charset="0"/>
              <a:cs typeface="Times New Roman" panose="02020603050405020304" pitchFamily="18" charset="0"/>
            </a:endParaRPr>
          </a:p>
        </p:txBody>
      </p:sp>
      <p:graphicFrame>
        <p:nvGraphicFramePr>
          <p:cNvPr id="8" name="Chart 7">
            <a:extLst>
              <a:ext uri="{FF2B5EF4-FFF2-40B4-BE49-F238E27FC236}">
                <a16:creationId xmlns:a16="http://schemas.microsoft.com/office/drawing/2014/main" xmlns="" id="{3AE6B01F-84E3-881B-E0A6-2DB2CB883A49}"/>
              </a:ext>
            </a:extLst>
          </p:cNvPr>
          <p:cNvGraphicFramePr>
            <a:graphicFrameLocks/>
          </p:cNvGraphicFramePr>
          <p:nvPr>
            <p:extLst/>
          </p:nvPr>
        </p:nvGraphicFramePr>
        <p:xfrm>
          <a:off x="190500" y="592815"/>
          <a:ext cx="11811000" cy="4673672"/>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a:extLst>
              <a:ext uri="{FF2B5EF4-FFF2-40B4-BE49-F238E27FC236}">
                <a16:creationId xmlns:a16="http://schemas.microsoft.com/office/drawing/2014/main" xmlns="" id="{6E40E499-B08B-C67F-623B-F023D733338B}"/>
              </a:ext>
            </a:extLst>
          </p:cNvPr>
          <p:cNvSpPr txBox="1"/>
          <p:nvPr/>
        </p:nvSpPr>
        <p:spPr>
          <a:xfrm>
            <a:off x="190500" y="5266487"/>
            <a:ext cx="11811000" cy="1528175"/>
          </a:xfrm>
          <a:prstGeom prst="rect">
            <a:avLst/>
          </a:prstGeom>
          <a:noFill/>
          <a:ln>
            <a:solidFill>
              <a:schemeClr val="accent1"/>
            </a:solidFill>
          </a:ln>
        </p:spPr>
        <p:txBody>
          <a:bodyPr wrap="square" rtlCol="0">
            <a:spAutoFit/>
          </a:bodyPr>
          <a:lstStyle/>
          <a:p>
            <a:r>
              <a:rPr lang="en-US" sz="1333" b="1" dirty="0">
                <a:latin typeface="Times New Roman" panose="02020603050405020304" pitchFamily="18" charset="0"/>
                <a:cs typeface="Times New Roman" panose="02020603050405020304" pitchFamily="18" charset="0"/>
              </a:rPr>
              <a:t>Action </a:t>
            </a:r>
            <a:r>
              <a:rPr lang="en-US" sz="1333" b="1" dirty="0" err="1">
                <a:latin typeface="Times New Roman" panose="02020603050405020304" pitchFamily="18" charset="0"/>
                <a:cs typeface="Times New Roman" panose="02020603050405020304" pitchFamily="18" charset="0"/>
              </a:rPr>
              <a:t>ngắn</a:t>
            </a:r>
            <a:r>
              <a:rPr lang="en-US" sz="1333" b="1" dirty="0">
                <a:latin typeface="Times New Roman" panose="02020603050405020304" pitchFamily="18" charset="0"/>
                <a:cs typeface="Times New Roman" panose="02020603050405020304" pitchFamily="18" charset="0"/>
              </a:rPr>
              <a:t> </a:t>
            </a:r>
            <a:r>
              <a:rPr lang="en-US" sz="1333" b="1" dirty="0" err="1">
                <a:latin typeface="Times New Roman" panose="02020603050405020304" pitchFamily="18" charset="0"/>
                <a:cs typeface="Times New Roman" panose="02020603050405020304" pitchFamily="18" charset="0"/>
              </a:rPr>
              <a:t>hạn</a:t>
            </a:r>
            <a:r>
              <a:rPr lang="en-US" sz="1333" b="1" dirty="0">
                <a:latin typeface="Times New Roman" panose="02020603050405020304" pitchFamily="18" charset="0"/>
                <a:cs typeface="Times New Roman" panose="02020603050405020304" pitchFamily="18" charset="0"/>
              </a:rPr>
              <a:t> &amp; </a:t>
            </a:r>
            <a:r>
              <a:rPr lang="en-US" sz="1333" b="1" dirty="0" err="1">
                <a:latin typeface="Times New Roman" panose="02020603050405020304" pitchFamily="18" charset="0"/>
                <a:cs typeface="Times New Roman" panose="02020603050405020304" pitchFamily="18" charset="0"/>
              </a:rPr>
              <a:t>rủi</a:t>
            </a:r>
            <a:r>
              <a:rPr lang="en-US" sz="1333" b="1" dirty="0">
                <a:latin typeface="Times New Roman" panose="02020603050405020304" pitchFamily="18" charset="0"/>
                <a:cs typeface="Times New Roman" panose="02020603050405020304" pitchFamily="18" charset="0"/>
              </a:rPr>
              <a:t> </a:t>
            </a:r>
            <a:r>
              <a:rPr lang="en-US" sz="1333" b="1" dirty="0" err="1">
                <a:latin typeface="Times New Roman" panose="02020603050405020304" pitchFamily="18" charset="0"/>
                <a:cs typeface="Times New Roman" panose="02020603050405020304" pitchFamily="18" charset="0"/>
              </a:rPr>
              <a:t>ro</a:t>
            </a:r>
            <a:r>
              <a:rPr lang="en-US" sz="1333" b="1" dirty="0">
                <a:latin typeface="Times New Roman" panose="02020603050405020304" pitchFamily="18" charset="0"/>
                <a:cs typeface="Times New Roman" panose="02020603050405020304" pitchFamily="18" charset="0"/>
              </a:rPr>
              <a:t> </a:t>
            </a:r>
            <a:r>
              <a:rPr lang="en-US" sz="1333" b="1" dirty="0" err="1">
                <a:latin typeface="Times New Roman" panose="02020603050405020304" pitchFamily="18" charset="0"/>
                <a:cs typeface="Times New Roman" panose="02020603050405020304" pitchFamily="18" charset="0"/>
              </a:rPr>
              <a:t>nhận</a:t>
            </a:r>
            <a:r>
              <a:rPr lang="en-US" sz="1333" b="1" dirty="0">
                <a:latin typeface="Times New Roman" panose="02020603050405020304" pitchFamily="18" charset="0"/>
                <a:cs typeface="Times New Roman" panose="02020603050405020304" pitchFamily="18" charset="0"/>
              </a:rPr>
              <a:t> </a:t>
            </a:r>
            <a:r>
              <a:rPr lang="en-US" sz="1333" b="1" dirty="0" err="1">
                <a:latin typeface="Times New Roman" panose="02020603050405020304" pitchFamily="18" charset="0"/>
                <a:cs typeface="Times New Roman" panose="02020603050405020304" pitchFamily="18" charset="0"/>
              </a:rPr>
              <a:t>diện</a:t>
            </a:r>
            <a:r>
              <a:rPr lang="en-US" sz="1333" dirty="0">
                <a:latin typeface="Times New Roman" panose="02020603050405020304" pitchFamily="18" charset="0"/>
                <a:cs typeface="Times New Roman" panose="02020603050405020304" pitchFamily="18" charset="0"/>
              </a:rPr>
              <a:t>:</a:t>
            </a:r>
          </a:p>
          <a:p>
            <a:r>
              <a:rPr lang="en-US" sz="1333" dirty="0">
                <a:latin typeface="Times New Roman" panose="02020603050405020304" pitchFamily="18" charset="0"/>
                <a:cs typeface="Times New Roman" panose="02020603050405020304" pitchFamily="18" charset="0"/>
              </a:rPr>
              <a:t>*</a:t>
            </a:r>
            <a:r>
              <a:rPr lang="en-US" sz="1333" b="1" dirty="0">
                <a:latin typeface="Times New Roman" panose="02020603050405020304" pitchFamily="18" charset="0"/>
                <a:cs typeface="Times New Roman" panose="02020603050405020304" pitchFamily="18" charset="0"/>
              </a:rPr>
              <a:t>A321CEO </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Có</a:t>
            </a:r>
            <a:r>
              <a:rPr lang="en-US" sz="1333" dirty="0">
                <a:latin typeface="Times New Roman" panose="02020603050405020304" pitchFamily="18" charset="0"/>
                <a:cs typeface="Times New Roman" panose="02020603050405020304" pitchFamily="18" charset="0"/>
              </a:rPr>
              <a:t> 02 </a:t>
            </a:r>
            <a:r>
              <a:rPr lang="en-US" sz="1333" dirty="0" err="1">
                <a:latin typeface="Times New Roman" panose="02020603050405020304" pitchFamily="18" charset="0"/>
                <a:cs typeface="Times New Roman" panose="02020603050405020304" pitchFamily="18" charset="0"/>
              </a:rPr>
              <a:t>động</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cơ</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dự</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phòng</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trong</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cao</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điểm</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Tết</a:t>
            </a:r>
            <a:r>
              <a:rPr lang="en-US" sz="1333" dirty="0">
                <a:latin typeface="Times New Roman" panose="02020603050405020304" pitchFamily="18" charset="0"/>
                <a:cs typeface="Times New Roman" panose="02020603050405020304" pitchFamily="18" charset="0"/>
              </a:rPr>
              <a:t>. </a:t>
            </a:r>
          </a:p>
          <a:p>
            <a:r>
              <a:rPr lang="en-US" sz="1333" dirty="0">
                <a:latin typeface="Times New Roman" panose="02020603050405020304" pitchFamily="18" charset="0"/>
                <a:cs typeface="Times New Roman" panose="02020603050405020304" pitchFamily="18" charset="0"/>
              </a:rPr>
              <a:t>*</a:t>
            </a:r>
            <a:r>
              <a:rPr lang="en-US" sz="1333" b="1" dirty="0">
                <a:latin typeface="Times New Roman" panose="02020603050405020304" pitchFamily="18" charset="0"/>
                <a:cs typeface="Times New Roman" panose="02020603050405020304" pitchFamily="18" charset="0"/>
              </a:rPr>
              <a:t>A321NEO </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Rủi</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ro</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động</a:t>
            </a:r>
            <a:r>
              <a:rPr lang="en-US" sz="1333" dirty="0">
                <a:latin typeface="Times New Roman" panose="02020603050405020304" pitchFamily="18" charset="0"/>
                <a:cs typeface="Times New Roman" panose="02020603050405020304" pitchFamily="18" charset="0"/>
              </a:rPr>
              <a:t> c</a:t>
            </a:r>
            <a:r>
              <a:rPr lang="vi-VN" sz="1333" dirty="0">
                <a:latin typeface="Times New Roman" panose="02020603050405020304" pitchFamily="18" charset="0"/>
                <a:cs typeface="Times New Roman" panose="02020603050405020304" pitchFamily="18" charset="0"/>
              </a:rPr>
              <a:t>ơ</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đi</a:t>
            </a:r>
            <a:r>
              <a:rPr lang="en-US" sz="1333" dirty="0">
                <a:latin typeface="Times New Roman" panose="02020603050405020304" pitchFamily="18" charset="0"/>
                <a:cs typeface="Times New Roman" panose="02020603050405020304" pitchFamily="18" charset="0"/>
              </a:rPr>
              <a:t> shop </a:t>
            </a:r>
            <a:r>
              <a:rPr lang="en-US" sz="1333" dirty="0" err="1">
                <a:latin typeface="Times New Roman" panose="02020603050405020304" pitchFamily="18" charset="0"/>
                <a:cs typeface="Times New Roman" panose="02020603050405020304" pitchFamily="18" charset="0"/>
              </a:rPr>
              <a:t>về</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muộn</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thực</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tế</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đã</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bị</a:t>
            </a:r>
            <a:r>
              <a:rPr lang="en-US" sz="1333" dirty="0">
                <a:latin typeface="Times New Roman" panose="02020603050405020304" pitchFamily="18" charset="0"/>
                <a:cs typeface="Times New Roman" panose="02020603050405020304" pitchFamily="18" charset="0"/>
              </a:rPr>
              <a:t> shop delay </a:t>
            </a:r>
            <a:r>
              <a:rPr lang="en-US" sz="1333" dirty="0" err="1">
                <a:latin typeface="Times New Roman" panose="02020603050405020304" pitchFamily="18" charset="0"/>
                <a:cs typeface="Times New Roman" panose="02020603050405020304" pitchFamily="18" charset="0"/>
              </a:rPr>
              <a:t>nhiều</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lần</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và</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rủi</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ro</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tháo</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động</a:t>
            </a:r>
            <a:r>
              <a:rPr lang="en-US" sz="1333" dirty="0">
                <a:latin typeface="Times New Roman" panose="02020603050405020304" pitchFamily="18" charset="0"/>
                <a:cs typeface="Times New Roman" panose="02020603050405020304" pitchFamily="18" charset="0"/>
              </a:rPr>
              <a:t> c</a:t>
            </a:r>
            <a:r>
              <a:rPr lang="vi-VN" sz="1333" dirty="0">
                <a:latin typeface="Times New Roman" panose="02020603050405020304" pitchFamily="18" charset="0"/>
                <a:cs typeface="Times New Roman" panose="02020603050405020304" pitchFamily="18" charset="0"/>
              </a:rPr>
              <a:t>ơ</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ngoài</a:t>
            </a:r>
            <a:r>
              <a:rPr lang="en-US" sz="1333" dirty="0">
                <a:latin typeface="Times New Roman" panose="02020603050405020304" pitchFamily="18" charset="0"/>
                <a:cs typeface="Times New Roman" panose="02020603050405020304" pitchFamily="18" charset="0"/>
              </a:rPr>
              <a:t> KH do Vibration, Oil Leak, HPT </a:t>
            </a:r>
            <a:r>
              <a:rPr lang="en-US" sz="1333" dirty="0" err="1">
                <a:latin typeface="Times New Roman" panose="02020603050405020304" pitchFamily="18" charset="0"/>
                <a:cs typeface="Times New Roman" panose="02020603050405020304" pitchFamily="18" charset="0"/>
              </a:rPr>
              <a:t>Balde</a:t>
            </a:r>
            <a:r>
              <a:rPr lang="en-US" sz="1333" dirty="0">
                <a:latin typeface="Times New Roman" panose="02020603050405020304" pitchFamily="18" charset="0"/>
                <a:cs typeface="Times New Roman" panose="02020603050405020304" pitchFamily="18" charset="0"/>
              </a:rPr>
              <a:t>…</a:t>
            </a:r>
            <a:endParaRPr lang="en-US" sz="1333" dirty="0">
              <a:highlight>
                <a:srgbClr val="FFFF00"/>
              </a:highlight>
              <a:latin typeface="Times New Roman" panose="02020603050405020304" pitchFamily="18" charset="0"/>
              <a:cs typeface="Times New Roman" panose="02020603050405020304" pitchFamily="18" charset="0"/>
            </a:endParaRPr>
          </a:p>
          <a:p>
            <a:pPr marL="0" lvl="1"/>
            <a:r>
              <a:rPr lang="en-US" sz="1333" dirty="0">
                <a:latin typeface="Times New Roman" panose="02020603050405020304" pitchFamily="18" charset="0"/>
                <a:cs typeface="Times New Roman" panose="02020603050405020304" pitchFamily="18" charset="0"/>
              </a:rPr>
              <a:t>*</a:t>
            </a:r>
            <a:r>
              <a:rPr lang="en-US" sz="1333" b="1" dirty="0">
                <a:latin typeface="Times New Roman" panose="02020603050405020304" pitchFamily="18" charset="0"/>
                <a:cs typeface="Times New Roman" panose="02020603050405020304" pitchFamily="18" charset="0"/>
              </a:rPr>
              <a:t>B787 </a:t>
            </a:r>
            <a:r>
              <a:rPr lang="en-US" sz="1333" dirty="0">
                <a:latin typeface="Times New Roman" panose="02020603050405020304" pitchFamily="18" charset="0"/>
                <a:cs typeface="Times New Roman" panose="02020603050405020304" pitchFamily="18" charset="0"/>
              </a:rPr>
              <a:t>: Nhu </a:t>
            </a:r>
            <a:r>
              <a:rPr lang="en-US" sz="1333" dirty="0" err="1">
                <a:latin typeface="Times New Roman" panose="02020603050405020304" pitchFamily="18" charset="0"/>
                <a:cs typeface="Times New Roman" panose="02020603050405020304" pitchFamily="18" charset="0"/>
              </a:rPr>
              <a:t>cầu</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động</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cơ</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cập</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nhật</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sau</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khi</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có</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kế</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hoạch</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nhận</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thêm</a:t>
            </a:r>
            <a:r>
              <a:rPr lang="en-US" sz="1333" dirty="0">
                <a:latin typeface="Times New Roman" panose="02020603050405020304" pitchFamily="18" charset="0"/>
                <a:cs typeface="Times New Roman" panose="02020603050405020304" pitchFamily="18" charset="0"/>
              </a:rPr>
              <a:t> 02 </a:t>
            </a:r>
            <a:r>
              <a:rPr lang="en-US" sz="1333" dirty="0" err="1">
                <a:latin typeface="Times New Roman" panose="02020603050405020304" pitchFamily="18" charset="0"/>
                <a:cs typeface="Times New Roman" panose="02020603050405020304" pitchFamily="18" charset="0"/>
              </a:rPr>
              <a:t>động</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cơ</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thuê</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và</a:t>
            </a:r>
            <a:r>
              <a:rPr lang="en-US" sz="1333" dirty="0">
                <a:latin typeface="Times New Roman" panose="02020603050405020304" pitchFamily="18" charset="0"/>
                <a:cs typeface="Times New Roman" panose="02020603050405020304" pitchFamily="18" charset="0"/>
              </a:rPr>
              <a:t> T9 </a:t>
            </a:r>
            <a:r>
              <a:rPr lang="en-US" sz="1333" dirty="0" err="1">
                <a:latin typeface="Times New Roman" panose="02020603050405020304" pitchFamily="18" charset="0"/>
                <a:cs typeface="Times New Roman" panose="02020603050405020304" pitchFamily="18" charset="0"/>
              </a:rPr>
              <a:t>và</a:t>
            </a:r>
            <a:r>
              <a:rPr lang="en-US" sz="1333" dirty="0">
                <a:latin typeface="Times New Roman" panose="02020603050405020304" pitchFamily="18" charset="0"/>
                <a:cs typeface="Times New Roman" panose="02020603050405020304" pitchFamily="18" charset="0"/>
              </a:rPr>
              <a:t> T12/2024.</a:t>
            </a:r>
          </a:p>
          <a:p>
            <a:pPr marL="0" lvl="1"/>
            <a:r>
              <a:rPr lang="en-US" sz="1333" dirty="0">
                <a:latin typeface="Times New Roman" panose="02020603050405020304" pitchFamily="18" charset="0"/>
                <a:cs typeface="Times New Roman" panose="02020603050405020304" pitchFamily="18" charset="0"/>
              </a:rPr>
              <a:t>*</a:t>
            </a:r>
            <a:r>
              <a:rPr lang="en-US" sz="1333" b="1" dirty="0">
                <a:latin typeface="Times New Roman" panose="02020603050405020304" pitchFamily="18" charset="0"/>
                <a:cs typeface="Times New Roman" panose="02020603050405020304" pitchFamily="18" charset="0"/>
              </a:rPr>
              <a:t>A350: </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Rủi</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ro</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tháo</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động</a:t>
            </a:r>
            <a:r>
              <a:rPr lang="en-US" sz="1333" dirty="0">
                <a:latin typeface="Times New Roman" panose="02020603050405020304" pitchFamily="18" charset="0"/>
                <a:cs typeface="Times New Roman" panose="02020603050405020304" pitchFamily="18" charset="0"/>
              </a:rPr>
              <a:t> c</a:t>
            </a:r>
            <a:r>
              <a:rPr lang="vi-VN" sz="1333" dirty="0">
                <a:latin typeface="Times New Roman" panose="02020603050405020304" pitchFamily="18" charset="0"/>
                <a:cs typeface="Times New Roman" panose="02020603050405020304" pitchFamily="18" charset="0"/>
              </a:rPr>
              <a:t>ơ</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ngoài</a:t>
            </a:r>
            <a:r>
              <a:rPr lang="en-US" sz="1333" dirty="0">
                <a:latin typeface="Times New Roman" panose="02020603050405020304" pitchFamily="18" charset="0"/>
                <a:cs typeface="Times New Roman" panose="02020603050405020304" pitchFamily="18" charset="0"/>
              </a:rPr>
              <a:t> KH do High oil consumption, HPT Blade, IPC Blade. </a:t>
            </a:r>
          </a:p>
          <a:p>
            <a:pPr marL="0" lvl="1"/>
            <a:r>
              <a:rPr lang="en-US" sz="1333" b="1" dirty="0">
                <a:latin typeface="Times New Roman" panose="02020603050405020304" pitchFamily="18" charset="0"/>
                <a:cs typeface="Times New Roman" panose="02020603050405020304" pitchFamily="18" charset="0"/>
              </a:rPr>
              <a:t>*ATR72: </a:t>
            </a:r>
            <a:r>
              <a:rPr lang="vi-VN" sz="1333" dirty="0">
                <a:latin typeface="Times New Roman" panose="02020603050405020304" pitchFamily="18" charset="0"/>
                <a:cs typeface="Times New Roman" panose="02020603050405020304" pitchFamily="18" charset="0"/>
              </a:rPr>
              <a:t>B225</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dùng</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động</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cơ</a:t>
            </a:r>
            <a:r>
              <a:rPr lang="en-US" sz="1333" dirty="0">
                <a:latin typeface="Times New Roman" panose="02020603050405020304" pitchFamily="18" charset="0"/>
                <a:cs typeface="Times New Roman" panose="02020603050405020304" pitchFamily="18" charset="0"/>
              </a:rPr>
              <a:t> ED0214 </a:t>
            </a:r>
            <a:r>
              <a:rPr lang="en-US" sz="1333" dirty="0" err="1">
                <a:latin typeface="Times New Roman" panose="02020603050405020304" pitchFamily="18" charset="0"/>
                <a:cs typeface="Times New Roman" panose="02020603050405020304" pitchFamily="18" charset="0"/>
              </a:rPr>
              <a:t>trong</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kho</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còn</a:t>
            </a:r>
            <a:r>
              <a:rPr lang="en-US" sz="1333" dirty="0">
                <a:latin typeface="Times New Roman" panose="02020603050405020304" pitchFamily="18" charset="0"/>
                <a:cs typeface="Times New Roman" panose="02020603050405020304" pitchFamily="18" charset="0"/>
              </a:rPr>
              <a:t> 151 FC </a:t>
            </a:r>
            <a:r>
              <a:rPr lang="en-US" sz="1333" dirty="0" err="1">
                <a:latin typeface="Times New Roman" panose="02020603050405020304" pitchFamily="18" charset="0"/>
                <a:cs typeface="Times New Roman" panose="02020603050405020304" pitchFamily="18" charset="0"/>
              </a:rPr>
              <a:t>và</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động</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cơ</a:t>
            </a:r>
            <a:r>
              <a:rPr lang="en-US" sz="1333" dirty="0">
                <a:latin typeface="Times New Roman" panose="02020603050405020304" pitchFamily="18" charset="0"/>
                <a:cs typeface="Times New Roman" panose="02020603050405020304" pitchFamily="18" charset="0"/>
              </a:rPr>
              <a:t> ED0241 </a:t>
            </a:r>
            <a:r>
              <a:rPr lang="en-US" sz="1333" dirty="0" err="1">
                <a:latin typeface="Times New Roman" panose="02020603050405020304" pitchFamily="18" charset="0"/>
                <a:cs typeface="Times New Roman" panose="02020603050405020304" pitchFamily="18" charset="0"/>
              </a:rPr>
              <a:t>từ</a:t>
            </a:r>
            <a:r>
              <a:rPr lang="en-US" sz="1333" dirty="0">
                <a:latin typeface="Times New Roman" panose="02020603050405020304" pitchFamily="18" charset="0"/>
                <a:cs typeface="Times New Roman" panose="02020603050405020304" pitchFamily="18" charset="0"/>
              </a:rPr>
              <a:t> shop </a:t>
            </a:r>
            <a:r>
              <a:rPr lang="en-US" sz="1333" dirty="0" err="1">
                <a:latin typeface="Times New Roman" panose="02020603050405020304" pitchFamily="18" charset="0"/>
                <a:cs typeface="Times New Roman" panose="02020603050405020304" pitchFamily="18" charset="0"/>
              </a:rPr>
              <a:t>về</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Dự</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kiến</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giữa</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tháng</a:t>
            </a:r>
            <a:r>
              <a:rPr lang="en-US" sz="1333" dirty="0">
                <a:latin typeface="Times New Roman" panose="02020603050405020304" pitchFamily="18" charset="0"/>
                <a:cs typeface="Times New Roman" panose="02020603050405020304" pitchFamily="18" charset="0"/>
              </a:rPr>
              <a:t> 1/25 </a:t>
            </a:r>
            <a:r>
              <a:rPr lang="en-US" sz="1333" dirty="0" err="1">
                <a:latin typeface="Times New Roman" panose="02020603050405020304" pitchFamily="18" charset="0"/>
                <a:cs typeface="Times New Roman" panose="02020603050405020304" pitchFamily="18" charset="0"/>
              </a:rPr>
              <a:t>sẽ</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lấy</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động</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cơ</a:t>
            </a:r>
            <a:r>
              <a:rPr lang="en-US" sz="1333" dirty="0">
                <a:latin typeface="Times New Roman" panose="02020603050405020304" pitchFamily="18" charset="0"/>
                <a:cs typeface="Times New Roman" panose="02020603050405020304" pitchFamily="18" charset="0"/>
              </a:rPr>
              <a:t> ED0181 </a:t>
            </a:r>
            <a:r>
              <a:rPr lang="en-US" sz="1333" dirty="0" err="1">
                <a:latin typeface="Times New Roman" panose="02020603050405020304" pitchFamily="18" charset="0"/>
                <a:cs typeface="Times New Roman" panose="02020603050405020304" pitchFamily="18" charset="0"/>
              </a:rPr>
              <a:t>từ</a:t>
            </a:r>
            <a:r>
              <a:rPr lang="en-US" sz="1333" dirty="0">
                <a:latin typeface="Times New Roman" panose="02020603050405020304" pitchFamily="18" charset="0"/>
                <a:cs typeface="Times New Roman" panose="02020603050405020304" pitchFamily="18" charset="0"/>
              </a:rPr>
              <a:t> Shop </a:t>
            </a:r>
            <a:r>
              <a:rPr lang="en-US" sz="1333" dirty="0" err="1">
                <a:latin typeface="Times New Roman" panose="02020603050405020304" pitchFamily="18" charset="0"/>
                <a:cs typeface="Times New Roman" panose="02020603050405020304" pitchFamily="18" charset="0"/>
              </a:rPr>
              <a:t>về</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thay</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cho</a:t>
            </a:r>
            <a:r>
              <a:rPr lang="en-US" sz="1333" dirty="0">
                <a:latin typeface="Times New Roman" panose="02020603050405020304" pitchFamily="18" charset="0"/>
                <a:cs typeface="Times New Roman" panose="02020603050405020304" pitchFamily="18" charset="0"/>
              </a:rPr>
              <a:t> ED0214.</a:t>
            </a:r>
          </a:p>
        </p:txBody>
      </p:sp>
    </p:spTree>
    <p:extLst>
      <p:ext uri="{BB962C8B-B14F-4D97-AF65-F5344CB8AC3E}">
        <p14:creationId xmlns:p14="http://schemas.microsoft.com/office/powerpoint/2010/main" val="8831062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xmlns="" id="{366920A6-6915-5AA0-8C7B-86FFAA7C863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C936F650-D34B-32F5-0EFD-8481BE8666F3}"/>
              </a:ext>
            </a:extLst>
          </p:cNvPr>
          <p:cNvSpPr txBox="1"/>
          <p:nvPr/>
        </p:nvSpPr>
        <p:spPr>
          <a:xfrm>
            <a:off x="690253" y="115968"/>
            <a:ext cx="14875495"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DỰ BÁO AOG </a:t>
            </a:r>
            <a:r>
              <a:rPr lang="en-US" sz="2667" b="1">
                <a:ln w="0"/>
                <a:solidFill>
                  <a:srgbClr val="FBAC00"/>
                </a:solidFill>
                <a:latin typeface="Times New Roman" panose="02020603050405020304" pitchFamily="18" charset="0"/>
                <a:cs typeface="Times New Roman" panose="02020603050405020304" pitchFamily="18" charset="0"/>
              </a:rPr>
              <a:t>A321NEO 2024-T3/2025 </a:t>
            </a:r>
            <a:r>
              <a:rPr lang="en-US" sz="2667" b="1" dirty="0">
                <a:ln w="0"/>
                <a:solidFill>
                  <a:srgbClr val="FBAC00"/>
                </a:solidFill>
                <a:latin typeface="Times New Roman" panose="02020603050405020304" pitchFamily="18" charset="0"/>
                <a:cs typeface="Times New Roman" panose="02020603050405020304" pitchFamily="18" charset="0"/>
              </a:rPr>
              <a:t>DO HPT HUB</a:t>
            </a:r>
          </a:p>
        </p:txBody>
      </p:sp>
      <p:graphicFrame>
        <p:nvGraphicFramePr>
          <p:cNvPr id="3" name="Chart 2">
            <a:extLst>
              <a:ext uri="{FF2B5EF4-FFF2-40B4-BE49-F238E27FC236}">
                <a16:creationId xmlns:a16="http://schemas.microsoft.com/office/drawing/2014/main" xmlns="" id="{AB08D076-E070-83E5-6CED-DDB5B772B9A8}"/>
              </a:ext>
            </a:extLst>
          </p:cNvPr>
          <p:cNvGraphicFramePr/>
          <p:nvPr>
            <p:extLst/>
          </p:nvPr>
        </p:nvGraphicFramePr>
        <p:xfrm>
          <a:off x="690251" y="812800"/>
          <a:ext cx="11247749" cy="5765800"/>
        </p:xfrm>
        <a:graphic>
          <a:graphicData uri="http://schemas.openxmlformats.org/drawingml/2006/chart">
            <c:chart xmlns:c="http://schemas.openxmlformats.org/drawingml/2006/chart" xmlns:r="http://schemas.openxmlformats.org/officeDocument/2006/relationships" r:id="rId3"/>
          </a:graphicData>
        </a:graphic>
      </p:graphicFrame>
      <p:sp>
        <p:nvSpPr>
          <p:cNvPr id="4" name="Speech Bubble: Rectangle with Corners Rounded 3">
            <a:extLst>
              <a:ext uri="{FF2B5EF4-FFF2-40B4-BE49-F238E27FC236}">
                <a16:creationId xmlns:a16="http://schemas.microsoft.com/office/drawing/2014/main" xmlns="" id="{0150AF5E-F5A5-9E6E-EAD9-8B1ADB9D348C}"/>
              </a:ext>
            </a:extLst>
          </p:cNvPr>
          <p:cNvSpPr/>
          <p:nvPr/>
        </p:nvSpPr>
        <p:spPr>
          <a:xfrm>
            <a:off x="2164119" y="3989255"/>
            <a:ext cx="4368800" cy="963746"/>
          </a:xfrm>
          <a:prstGeom prst="wedgeRoundRectCallout">
            <a:avLst>
              <a:gd name="adj1" fmla="val 40811"/>
              <a:gd name="adj2" fmla="val -78033"/>
              <a:gd name="adj3" fmla="val 16667"/>
            </a:avLst>
          </a:prstGeom>
          <a:solidFill>
            <a:srgbClr val="92D050"/>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1219170">
              <a:defRPr/>
            </a:pPr>
            <a:r>
              <a:rPr lang="en-US" sz="1200">
                <a:solidFill>
                  <a:schemeClr val="tx1"/>
                </a:solidFill>
                <a:latin typeface="Times New Roman" panose="02020603050405020304" pitchFamily="18" charset="0"/>
                <a:cs typeface="Times New Roman" panose="02020603050405020304" pitchFamily="18" charset="0"/>
              </a:rPr>
              <a:t>Đầu T12 NSX </a:t>
            </a:r>
            <a:r>
              <a:rPr lang="en-US" sz="1200" dirty="0" err="1">
                <a:solidFill>
                  <a:schemeClr val="tx1"/>
                </a:solidFill>
                <a:latin typeface="Times New Roman" panose="02020603050405020304" pitchFamily="18" charset="0"/>
                <a:cs typeface="Times New Roman" panose="02020603050405020304" pitchFamily="18" charset="0"/>
              </a:rPr>
              <a:t>thông</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báo</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hàng</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loạt</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động</a:t>
            </a:r>
            <a:r>
              <a:rPr lang="en-US" sz="1200" dirty="0">
                <a:solidFill>
                  <a:schemeClr val="tx1"/>
                </a:solidFill>
                <a:latin typeface="Times New Roman" panose="02020603050405020304" pitchFamily="18" charset="0"/>
                <a:cs typeface="Times New Roman" panose="02020603050405020304" pitchFamily="18" charset="0"/>
              </a:rPr>
              <a:t> c</a:t>
            </a:r>
            <a:r>
              <a:rPr lang="vi-VN" sz="1200" dirty="0">
                <a:solidFill>
                  <a:schemeClr val="tx1"/>
                </a:solidFill>
                <a:latin typeface="Times New Roman" panose="02020603050405020304" pitchFamily="18" charset="0"/>
                <a:cs typeface="Times New Roman" panose="02020603050405020304" pitchFamily="18" charset="0"/>
              </a:rPr>
              <a:t>ơ</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bị</a:t>
            </a:r>
            <a:r>
              <a:rPr lang="en-US" sz="1200" dirty="0">
                <a:solidFill>
                  <a:schemeClr val="tx1"/>
                </a:solidFill>
                <a:latin typeface="Times New Roman" panose="02020603050405020304" pitchFamily="18" charset="0"/>
                <a:cs typeface="Times New Roman" panose="02020603050405020304" pitchFamily="18" charset="0"/>
              </a:rPr>
              <a:t> extend TAT </a:t>
            </a:r>
            <a:r>
              <a:rPr lang="en-US" sz="1200" dirty="0" err="1">
                <a:solidFill>
                  <a:schemeClr val="tx1"/>
                </a:solidFill>
                <a:latin typeface="Times New Roman" panose="02020603050405020304" pitchFamily="18" charset="0"/>
                <a:cs typeface="Times New Roman" panose="02020603050405020304" pitchFamily="18" charset="0"/>
              </a:rPr>
              <a:t>dẫn</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đến</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tất</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cả</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các</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động</a:t>
            </a:r>
            <a:r>
              <a:rPr lang="en-US" sz="1200" dirty="0">
                <a:solidFill>
                  <a:schemeClr val="tx1"/>
                </a:solidFill>
                <a:latin typeface="Times New Roman" panose="02020603050405020304" pitchFamily="18" charset="0"/>
                <a:cs typeface="Times New Roman" panose="02020603050405020304" pitchFamily="18" charset="0"/>
              </a:rPr>
              <a:t> c</a:t>
            </a:r>
            <a:r>
              <a:rPr lang="vi-VN" sz="1200" dirty="0">
                <a:solidFill>
                  <a:schemeClr val="tx1"/>
                </a:solidFill>
                <a:latin typeface="Times New Roman" panose="02020603050405020304" pitchFamily="18" charset="0"/>
                <a:cs typeface="Times New Roman" panose="02020603050405020304" pitchFamily="18" charset="0"/>
              </a:rPr>
              <a:t>ơ</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của</a:t>
            </a:r>
            <a:r>
              <a:rPr lang="en-US" sz="1200" dirty="0">
                <a:solidFill>
                  <a:schemeClr val="tx1"/>
                </a:solidFill>
                <a:latin typeface="Times New Roman" panose="02020603050405020304" pitchFamily="18" charset="0"/>
                <a:cs typeface="Times New Roman" panose="02020603050405020304" pitchFamily="18" charset="0"/>
              </a:rPr>
              <a:t> VNA </a:t>
            </a:r>
            <a:r>
              <a:rPr lang="en-US" sz="1200" dirty="0" err="1">
                <a:solidFill>
                  <a:schemeClr val="tx1"/>
                </a:solidFill>
                <a:latin typeface="Times New Roman" panose="02020603050405020304" pitchFamily="18" charset="0"/>
                <a:cs typeface="Times New Roman" panose="02020603050405020304" pitchFamily="18" charset="0"/>
              </a:rPr>
              <a:t>về</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trong</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vòng</a:t>
            </a:r>
            <a:r>
              <a:rPr lang="en-US" sz="1200" dirty="0">
                <a:solidFill>
                  <a:schemeClr val="tx1"/>
                </a:solidFill>
                <a:latin typeface="Times New Roman" panose="02020603050405020304" pitchFamily="18" charset="0"/>
                <a:cs typeface="Times New Roman" panose="02020603050405020304" pitchFamily="18" charset="0"/>
              </a:rPr>
              <a:t> 4 </a:t>
            </a:r>
            <a:r>
              <a:rPr lang="en-US" sz="1200" dirty="0" err="1">
                <a:solidFill>
                  <a:schemeClr val="tx1"/>
                </a:solidFill>
                <a:latin typeface="Times New Roman" panose="02020603050405020304" pitchFamily="18" charset="0"/>
                <a:cs typeface="Times New Roman" panose="02020603050405020304" pitchFamily="18" charset="0"/>
              </a:rPr>
              <a:t>tháng</a:t>
            </a:r>
            <a:r>
              <a:rPr lang="en-US" sz="1200" dirty="0">
                <a:solidFill>
                  <a:schemeClr val="tx1"/>
                </a:solidFill>
                <a:latin typeface="Times New Roman" panose="02020603050405020304" pitchFamily="18" charset="0"/>
                <a:cs typeface="Times New Roman" panose="02020603050405020304" pitchFamily="18" charset="0"/>
              </a:rPr>
              <a:t> t</a:t>
            </a:r>
            <a:r>
              <a:rPr lang="en-US" sz="1200" dirty="0" err="1">
                <a:solidFill>
                  <a:schemeClr val="tx1"/>
                </a:solidFill>
                <a:latin typeface="Times New Roman" panose="02020603050405020304" pitchFamily="18" charset="0"/>
                <a:cs typeface="Times New Roman" panose="02020603050405020304" pitchFamily="18" charset="0"/>
              </a:rPr>
              <a:t>ới</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đều</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bị</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lùi</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lịch</a:t>
            </a:r>
            <a:r>
              <a:rPr lang="en-US" sz="1200" dirty="0">
                <a:solidFill>
                  <a:schemeClr val="tx1"/>
                </a:solidFill>
                <a:latin typeface="Times New Roman" panose="02020603050405020304" pitchFamily="18" charset="0"/>
                <a:cs typeface="Times New Roman" panose="02020603050405020304" pitchFamily="18" charset="0"/>
              </a:rPr>
              <a:t> 10 – 30 </a:t>
            </a:r>
            <a:r>
              <a:rPr lang="en-US" sz="1200" dirty="0" err="1">
                <a:solidFill>
                  <a:schemeClr val="tx1"/>
                </a:solidFill>
                <a:latin typeface="Times New Roman" panose="02020603050405020304" pitchFamily="18" charset="0"/>
                <a:cs typeface="Times New Roman" panose="02020603050405020304" pitchFamily="18" charset="0"/>
              </a:rPr>
              <a:t>ngày</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Hệ</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quả</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là</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đội</a:t>
            </a:r>
            <a:r>
              <a:rPr lang="en-US" sz="1200" dirty="0">
                <a:solidFill>
                  <a:schemeClr val="tx1"/>
                </a:solidFill>
                <a:latin typeface="Times New Roman" panose="02020603050405020304" pitchFamily="18" charset="0"/>
                <a:cs typeface="Times New Roman" panose="02020603050405020304" pitchFamily="18" charset="0"/>
              </a:rPr>
              <a:t> bay </a:t>
            </a:r>
            <a:r>
              <a:rPr lang="en-US" sz="1200" dirty="0" err="1">
                <a:solidFill>
                  <a:schemeClr val="tx1"/>
                </a:solidFill>
                <a:latin typeface="Times New Roman" panose="02020603050405020304" pitchFamily="18" charset="0"/>
                <a:cs typeface="Times New Roman" panose="02020603050405020304" pitchFamily="18" charset="0"/>
              </a:rPr>
              <a:t>tăng</a:t>
            </a:r>
            <a:r>
              <a:rPr lang="en-US" sz="1200" dirty="0">
                <a:solidFill>
                  <a:schemeClr val="tx1"/>
                </a:solidFill>
                <a:latin typeface="Times New Roman" panose="02020603050405020304" pitchFamily="18" charset="0"/>
                <a:cs typeface="Times New Roman" panose="02020603050405020304" pitchFamily="18" charset="0"/>
              </a:rPr>
              <a:t> 01 AOG bao </a:t>
            </a:r>
            <a:r>
              <a:rPr lang="en-US" sz="1200" dirty="0" err="1">
                <a:solidFill>
                  <a:schemeClr val="tx1"/>
                </a:solidFill>
                <a:latin typeface="Times New Roman" panose="02020603050405020304" pitchFamily="18" charset="0"/>
                <a:cs typeface="Times New Roman" panose="02020603050405020304" pitchFamily="18" charset="0"/>
              </a:rPr>
              <a:t>gồm</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cả</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cao</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điểm</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Tết</a:t>
            </a:r>
            <a:r>
              <a:rPr lang="en-US" sz="1200" dirty="0">
                <a:solidFill>
                  <a:schemeClr val="tx1"/>
                </a:solidFill>
                <a:latin typeface="Times New Roman" panose="02020603050405020304" pitchFamily="18" charset="0"/>
                <a:cs typeface="Times New Roman" panose="02020603050405020304" pitchFamily="18" charset="0"/>
              </a:rPr>
              <a:t>. </a:t>
            </a:r>
          </a:p>
        </p:txBody>
      </p:sp>
      <p:sp>
        <p:nvSpPr>
          <p:cNvPr id="7" name="Speech Bubble: Rectangle with Corners Rounded 6">
            <a:extLst>
              <a:ext uri="{FF2B5EF4-FFF2-40B4-BE49-F238E27FC236}">
                <a16:creationId xmlns:a16="http://schemas.microsoft.com/office/drawing/2014/main" xmlns="" id="{DC56874D-4E6C-1D0F-C9BC-DCA9D7A2D2DE}"/>
              </a:ext>
            </a:extLst>
          </p:cNvPr>
          <p:cNvSpPr/>
          <p:nvPr/>
        </p:nvSpPr>
        <p:spPr>
          <a:xfrm>
            <a:off x="6934200" y="1371600"/>
            <a:ext cx="3105168" cy="871328"/>
          </a:xfrm>
          <a:prstGeom prst="wedgeRoundRectCallout">
            <a:avLst>
              <a:gd name="adj1" fmla="val 6679"/>
              <a:gd name="adj2" fmla="val 88321"/>
              <a:gd name="adj3" fmla="val 16667"/>
            </a:avLst>
          </a:prstGeom>
          <a:solidFill>
            <a:srgbClr val="FFFF00"/>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1219170">
              <a:defRPr/>
            </a:pPr>
            <a:r>
              <a:rPr lang="en-US" sz="1200" dirty="0">
                <a:solidFill>
                  <a:srgbClr val="FF0000"/>
                </a:solidFill>
                <a:latin typeface="Times New Roman" panose="02020603050405020304" pitchFamily="18" charset="0"/>
                <a:cs typeface="Times New Roman" panose="02020603050405020304" pitchFamily="18" charset="0"/>
              </a:rPr>
              <a:t>26/12 PW </a:t>
            </a:r>
            <a:r>
              <a:rPr lang="en-US" sz="1200" dirty="0" err="1">
                <a:solidFill>
                  <a:srgbClr val="FF0000"/>
                </a:solidFill>
                <a:latin typeface="Times New Roman" panose="02020603050405020304" pitchFamily="18" charset="0"/>
                <a:cs typeface="Times New Roman" panose="02020603050405020304" pitchFamily="18" charset="0"/>
              </a:rPr>
              <a:t>tiếp</a:t>
            </a:r>
            <a:r>
              <a:rPr lang="en-US" sz="1200" dirty="0">
                <a:solidFill>
                  <a:srgbClr val="FF0000"/>
                </a:solidFill>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tục</a:t>
            </a:r>
            <a:r>
              <a:rPr lang="en-US" sz="1200" dirty="0">
                <a:solidFill>
                  <a:srgbClr val="FF0000"/>
                </a:solidFill>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báo</a:t>
            </a:r>
            <a:r>
              <a:rPr lang="en-US" sz="1200" dirty="0">
                <a:solidFill>
                  <a:srgbClr val="FF0000"/>
                </a:solidFill>
                <a:latin typeface="Times New Roman" panose="02020603050405020304" pitchFamily="18" charset="0"/>
                <a:cs typeface="Times New Roman" panose="02020603050405020304" pitchFamily="18" charset="0"/>
              </a:rPr>
              <a:t> delay 4 </a:t>
            </a:r>
            <a:r>
              <a:rPr lang="en-US" sz="1200" dirty="0" err="1">
                <a:solidFill>
                  <a:srgbClr val="FF0000"/>
                </a:solidFill>
                <a:latin typeface="Times New Roman" panose="02020603050405020304" pitchFamily="18" charset="0"/>
                <a:cs typeface="Times New Roman" panose="02020603050405020304" pitchFamily="18" charset="0"/>
              </a:rPr>
              <a:t>động</a:t>
            </a:r>
            <a:r>
              <a:rPr lang="en-US" sz="1200" dirty="0">
                <a:solidFill>
                  <a:srgbClr val="FF0000"/>
                </a:solidFill>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cơ</a:t>
            </a:r>
            <a:r>
              <a:rPr lang="en-US" sz="1200" dirty="0">
                <a:solidFill>
                  <a:srgbClr val="FF0000"/>
                </a:solidFill>
                <a:latin typeface="Times New Roman" panose="02020603050405020304" pitchFamily="18" charset="0"/>
                <a:cs typeface="Times New Roman" panose="02020603050405020304" pitchFamily="18" charset="0"/>
              </a:rPr>
              <a:t> 14 – 29 </a:t>
            </a:r>
            <a:r>
              <a:rPr lang="en-US" sz="1200" dirty="0" err="1">
                <a:solidFill>
                  <a:srgbClr val="FF0000"/>
                </a:solidFill>
                <a:latin typeface="Times New Roman" panose="02020603050405020304" pitchFamily="18" charset="0"/>
                <a:cs typeface="Times New Roman" panose="02020603050405020304" pitchFamily="18" charset="0"/>
              </a:rPr>
              <a:t>ngày</a:t>
            </a:r>
            <a:r>
              <a:rPr lang="en-US" sz="1200" dirty="0">
                <a:solidFill>
                  <a:srgbClr val="FF0000"/>
                </a:solidFill>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làm</a:t>
            </a:r>
            <a:r>
              <a:rPr lang="en-US" sz="1200" dirty="0">
                <a:solidFill>
                  <a:srgbClr val="FF0000"/>
                </a:solidFill>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tăng</a:t>
            </a:r>
            <a:r>
              <a:rPr lang="en-US" sz="1200" dirty="0">
                <a:solidFill>
                  <a:srgbClr val="FF0000"/>
                </a:solidFill>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số</a:t>
            </a:r>
            <a:r>
              <a:rPr lang="en-US" sz="1200" dirty="0">
                <a:solidFill>
                  <a:srgbClr val="FF0000"/>
                </a:solidFill>
                <a:latin typeface="Times New Roman" panose="02020603050405020304" pitchFamily="18" charset="0"/>
                <a:cs typeface="Times New Roman" panose="02020603050405020304" pitchFamily="18" charset="0"/>
              </a:rPr>
              <a:t> AOG </a:t>
            </a:r>
            <a:r>
              <a:rPr lang="en-US" sz="1200" dirty="0" err="1">
                <a:solidFill>
                  <a:srgbClr val="FF0000"/>
                </a:solidFill>
                <a:latin typeface="Times New Roman" panose="02020603050405020304" pitchFamily="18" charset="0"/>
                <a:cs typeface="Times New Roman" panose="02020603050405020304" pitchFamily="18" charset="0"/>
              </a:rPr>
              <a:t>trong</a:t>
            </a:r>
            <a:r>
              <a:rPr lang="en-US" sz="1200" dirty="0">
                <a:solidFill>
                  <a:srgbClr val="FF0000"/>
                </a:solidFill>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tháng</a:t>
            </a:r>
            <a:r>
              <a:rPr lang="en-US" sz="1200" dirty="0">
                <a:solidFill>
                  <a:srgbClr val="FF0000"/>
                </a:solidFill>
                <a:latin typeface="Times New Roman" panose="02020603050405020304" pitchFamily="18" charset="0"/>
                <a:cs typeface="Times New Roman" panose="02020603050405020304" pitchFamily="18" charset="0"/>
              </a:rPr>
              <a:t> 2. </a:t>
            </a:r>
            <a:r>
              <a:rPr lang="en-US" sz="1200" dirty="0" err="1">
                <a:solidFill>
                  <a:srgbClr val="FF0000"/>
                </a:solidFill>
                <a:latin typeface="Times New Roman" panose="02020603050405020304" pitchFamily="18" charset="0"/>
                <a:cs typeface="Times New Roman" panose="02020603050405020304" pitchFamily="18" charset="0"/>
              </a:rPr>
              <a:t>Tuy</a:t>
            </a:r>
            <a:r>
              <a:rPr lang="en-US" sz="1200" dirty="0">
                <a:solidFill>
                  <a:srgbClr val="FF0000"/>
                </a:solidFill>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nhiên</a:t>
            </a:r>
            <a:r>
              <a:rPr lang="en-US" sz="1200" dirty="0">
                <a:solidFill>
                  <a:srgbClr val="FF0000"/>
                </a:solidFill>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cao</a:t>
            </a:r>
            <a:r>
              <a:rPr lang="en-US" sz="1200" dirty="0">
                <a:solidFill>
                  <a:srgbClr val="FF0000"/>
                </a:solidFill>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điểm</a:t>
            </a:r>
            <a:r>
              <a:rPr lang="en-US" sz="1200" dirty="0">
                <a:solidFill>
                  <a:srgbClr val="FF0000"/>
                </a:solidFill>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Tết</a:t>
            </a:r>
            <a:r>
              <a:rPr lang="en-US" sz="1200" dirty="0">
                <a:solidFill>
                  <a:srgbClr val="FF0000"/>
                </a:solidFill>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vẫn</a:t>
            </a:r>
            <a:r>
              <a:rPr lang="en-US" sz="1200" dirty="0">
                <a:solidFill>
                  <a:srgbClr val="FF0000"/>
                </a:solidFill>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duy</a:t>
            </a:r>
            <a:r>
              <a:rPr lang="en-US" sz="1200" dirty="0">
                <a:solidFill>
                  <a:srgbClr val="FF0000"/>
                </a:solidFill>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trì</a:t>
            </a:r>
            <a:r>
              <a:rPr lang="en-US" sz="1200" dirty="0">
                <a:solidFill>
                  <a:srgbClr val="FF0000"/>
                </a:solidFill>
                <a:latin typeface="Times New Roman" panose="02020603050405020304" pitchFamily="18" charset="0"/>
                <a:cs typeface="Times New Roman" panose="02020603050405020304" pitchFamily="18" charset="0"/>
              </a:rPr>
              <a:t> 13 </a:t>
            </a:r>
            <a:r>
              <a:rPr lang="en-US" sz="1200" err="1">
                <a:solidFill>
                  <a:srgbClr val="FF0000"/>
                </a:solidFill>
                <a:latin typeface="Times New Roman" panose="02020603050405020304" pitchFamily="18" charset="0"/>
                <a:cs typeface="Times New Roman" panose="02020603050405020304" pitchFamily="18" charset="0"/>
              </a:rPr>
              <a:t>tàu</a:t>
            </a:r>
            <a:r>
              <a:rPr lang="en-US" sz="1200">
                <a:solidFill>
                  <a:srgbClr val="FF0000"/>
                </a:solidFill>
                <a:latin typeface="Times New Roman" panose="02020603050405020304" pitchFamily="18" charset="0"/>
                <a:cs typeface="Times New Roman" panose="02020603050405020304" pitchFamily="18" charset="0"/>
              </a:rPr>
              <a:t> dừng tuy nhiên tăng lại ngay sau Tết</a:t>
            </a:r>
            <a:endParaRPr lang="en-US" sz="12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858169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xmlns="" id="{CF201DCB-0F48-45FA-23D1-D69FC207E90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97759506-148F-6ED1-3F13-4D127FBBC4FC}"/>
              </a:ext>
            </a:extLst>
          </p:cNvPr>
          <p:cNvSpPr txBox="1"/>
          <p:nvPr/>
        </p:nvSpPr>
        <p:spPr>
          <a:xfrm>
            <a:off x="153472" y="517989"/>
            <a:ext cx="4267200" cy="461665"/>
          </a:xfrm>
          <a:prstGeom prst="rect">
            <a:avLst/>
          </a:prstGeom>
          <a:noFill/>
        </p:spPr>
        <p:txBody>
          <a:bodyPr wrap="square" rtlCol="0">
            <a:spAutoFit/>
          </a:bodyPr>
          <a:lstStyle/>
          <a:p>
            <a:pPr defTabSz="1219170">
              <a:defRPr/>
            </a:pPr>
            <a:r>
              <a:rPr lang="en-US" sz="2400" b="1" dirty="0" err="1">
                <a:solidFill>
                  <a:srgbClr val="002060"/>
                </a:solidFill>
                <a:latin typeface="Times New Roman" panose="02020603050405020304" pitchFamily="18" charset="0"/>
                <a:cs typeface="Times New Roman" panose="02020603050405020304" pitchFamily="18" charset="0"/>
              </a:rPr>
              <a:t>Tình</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trạng</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sửa</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chữa</a:t>
            </a:r>
            <a:endParaRPr lang="en-GB" sz="24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xmlns="" id="{1AC2A46E-4E4A-6339-72C3-1800A18927D9}"/>
              </a:ext>
            </a:extLst>
          </p:cNvPr>
          <p:cNvGraphicFramePr>
            <a:graphicFrameLocks noGrp="1"/>
          </p:cNvGraphicFramePr>
          <p:nvPr>
            <p:extLst/>
          </p:nvPr>
        </p:nvGraphicFramePr>
        <p:xfrm>
          <a:off x="162461" y="1051468"/>
          <a:ext cx="11867079" cy="5468773"/>
        </p:xfrm>
        <a:graphic>
          <a:graphicData uri="http://schemas.openxmlformats.org/drawingml/2006/table">
            <a:tbl>
              <a:tblPr firstRow="1" bandRow="1">
                <a:tableStyleId>{5C22544A-7EE6-4342-B048-85BDC9FD1C3A}</a:tableStyleId>
              </a:tblPr>
              <a:tblGrid>
                <a:gridCol w="474684">
                  <a:extLst>
                    <a:ext uri="{9D8B030D-6E8A-4147-A177-3AD203B41FA5}">
                      <a16:colId xmlns:a16="http://schemas.microsoft.com/office/drawing/2014/main" xmlns="" val="1598605427"/>
                    </a:ext>
                  </a:extLst>
                </a:gridCol>
                <a:gridCol w="870252">
                  <a:extLst>
                    <a:ext uri="{9D8B030D-6E8A-4147-A177-3AD203B41FA5}">
                      <a16:colId xmlns:a16="http://schemas.microsoft.com/office/drawing/2014/main" xmlns="" val="3845954792"/>
                    </a:ext>
                  </a:extLst>
                </a:gridCol>
                <a:gridCol w="1186707">
                  <a:extLst>
                    <a:ext uri="{9D8B030D-6E8A-4147-A177-3AD203B41FA5}">
                      <a16:colId xmlns:a16="http://schemas.microsoft.com/office/drawing/2014/main" xmlns="" val="2148822928"/>
                    </a:ext>
                  </a:extLst>
                </a:gridCol>
                <a:gridCol w="1265823">
                  <a:extLst>
                    <a:ext uri="{9D8B030D-6E8A-4147-A177-3AD203B41FA5}">
                      <a16:colId xmlns:a16="http://schemas.microsoft.com/office/drawing/2014/main" xmlns="" val="2136763095"/>
                    </a:ext>
                  </a:extLst>
                </a:gridCol>
                <a:gridCol w="1740505">
                  <a:extLst>
                    <a:ext uri="{9D8B030D-6E8A-4147-A177-3AD203B41FA5}">
                      <a16:colId xmlns:a16="http://schemas.microsoft.com/office/drawing/2014/main" xmlns="" val="1185879436"/>
                    </a:ext>
                  </a:extLst>
                </a:gridCol>
                <a:gridCol w="2768984">
                  <a:extLst>
                    <a:ext uri="{9D8B030D-6E8A-4147-A177-3AD203B41FA5}">
                      <a16:colId xmlns:a16="http://schemas.microsoft.com/office/drawing/2014/main" xmlns="" val="3807119371"/>
                    </a:ext>
                  </a:extLst>
                </a:gridCol>
                <a:gridCol w="3560124">
                  <a:extLst>
                    <a:ext uri="{9D8B030D-6E8A-4147-A177-3AD203B41FA5}">
                      <a16:colId xmlns:a16="http://schemas.microsoft.com/office/drawing/2014/main" xmlns="" val="3735753066"/>
                    </a:ext>
                  </a:extLst>
                </a:gridCol>
              </a:tblGrid>
              <a:tr h="288811">
                <a:tc>
                  <a:txBody>
                    <a:bodyPr/>
                    <a:lstStyle/>
                    <a:p>
                      <a:pPr algn="ctr"/>
                      <a:r>
                        <a:rPr lang="en-GB" sz="1100" dirty="0">
                          <a:latin typeface="Times New Roman" panose="02020603050405020304" pitchFamily="18" charset="0"/>
                          <a:cs typeface="Times New Roman" panose="02020603050405020304" pitchFamily="18" charset="0"/>
                        </a:rPr>
                        <a:t>No.</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ESN</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Status</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100">
                          <a:latin typeface="Times New Roman" panose="02020603050405020304" pitchFamily="18" charset="0"/>
                          <a:cs typeface="Times New Roman" panose="02020603050405020304" pitchFamily="18" charset="0"/>
                        </a:rPr>
                        <a:t>Induction</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err="1">
                          <a:latin typeface="Times New Roman" panose="02020603050405020304" pitchFamily="18" charset="0"/>
                          <a:cs typeface="Times New Roman" panose="02020603050405020304" pitchFamily="18" charset="0"/>
                        </a:rPr>
                        <a:t>Dự</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kiến</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về</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100">
                          <a:latin typeface="Times New Roman" panose="02020603050405020304" pitchFamily="18" charset="0"/>
                          <a:cs typeface="Times New Roman" panose="02020603050405020304" pitchFamily="18" charset="0"/>
                        </a:rPr>
                        <a:t>KH Sử dụng</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100">
                          <a:latin typeface="Times New Roman" panose="02020603050405020304" pitchFamily="18" charset="0"/>
                          <a:cs typeface="Times New Roman" panose="02020603050405020304" pitchFamily="18" charset="0"/>
                        </a:rPr>
                        <a:t>Remark</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234812354"/>
                  </a:ext>
                </a:extLst>
              </a:tr>
              <a:tr h="294752">
                <a:tc>
                  <a:txBody>
                    <a:bodyPr/>
                    <a:lstStyle/>
                    <a:p>
                      <a:pPr algn="ctr"/>
                      <a:r>
                        <a:rPr lang="en-US" sz="1100">
                          <a:latin typeface="Times New Roman" panose="02020603050405020304" pitchFamily="18" charset="0"/>
                          <a:cs typeface="Times New Roman" panose="02020603050405020304" pitchFamily="18" charset="0"/>
                        </a:rPr>
                        <a:t>1</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P771481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Completed</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T2/2024</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b="0">
                          <a:solidFill>
                            <a:schemeClr val="tx1"/>
                          </a:solidFill>
                          <a:latin typeface="Times New Roman" panose="02020603050405020304" pitchFamily="18" charset="0"/>
                          <a:cs typeface="Times New Roman" panose="02020603050405020304" pitchFamily="18" charset="0"/>
                        </a:rPr>
                        <a:t>T5/2024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latin typeface="Times New Roman" panose="02020603050405020304" pitchFamily="18" charset="0"/>
                          <a:cs typeface="Times New Roman" panose="02020603050405020304" pitchFamily="18" charset="0"/>
                        </a:rPr>
                        <a:t>N/A</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WSC QT</a:t>
                      </a:r>
                      <a:endPar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xmlns="" val="4277853865"/>
                  </a:ext>
                </a:extLst>
              </a:tr>
              <a:tr h="294752">
                <a:tc>
                  <a:txBody>
                    <a:bodyPr/>
                    <a:lstStyle/>
                    <a:p>
                      <a:pPr algn="ctr"/>
                      <a:r>
                        <a:rPr lang="en-GB" sz="1100" dirty="0">
                          <a:latin typeface="Times New Roman" panose="02020603050405020304" pitchFamily="18" charset="0"/>
                          <a:cs typeface="Times New Roman" panose="02020603050405020304" pitchFamily="18" charset="0"/>
                        </a:rPr>
                        <a:t>2</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sz="1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P800098</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Completed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18/06/2024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07/09/2024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latin typeface="Times New Roman" panose="02020603050405020304" pitchFamily="18" charset="0"/>
                          <a:cs typeface="Times New Roman" panose="02020603050405020304" pitchFamily="18" charset="0"/>
                        </a:rPr>
                        <a:t>RTS A618</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WSC QT</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xmlns="" val="3124338883"/>
                  </a:ext>
                </a:extLst>
              </a:tr>
              <a:tr h="294752">
                <a:tc>
                  <a:txBody>
                    <a:bodyPr/>
                    <a:lstStyle/>
                    <a:p>
                      <a:pPr algn="ctr"/>
                      <a:r>
                        <a:rPr lang="en-US" sz="1100" dirty="0">
                          <a:latin typeface="Times New Roman" panose="02020603050405020304" pitchFamily="18" charset="0"/>
                          <a:cs typeface="Times New Roman" panose="02020603050405020304" pitchFamily="18" charset="0"/>
                        </a:rPr>
                        <a:t>3</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sz="1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P800150</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Completed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20/06/2024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24/08/2024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latin typeface="Times New Roman" panose="02020603050405020304" pitchFamily="18" charset="0"/>
                          <a:cs typeface="Times New Roman" panose="02020603050405020304" pitchFamily="18" charset="0"/>
                        </a:rPr>
                        <a:t>RTS A618</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WSC QT</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xmlns="" val="2165882103"/>
                  </a:ext>
                </a:extLst>
              </a:tr>
              <a:tr h="294752">
                <a:tc>
                  <a:txBody>
                    <a:bodyPr/>
                    <a:lstStyle/>
                    <a:p>
                      <a:pPr algn="ctr"/>
                      <a:r>
                        <a:rPr lang="en-GB" sz="1100" dirty="0">
                          <a:latin typeface="Times New Roman" panose="02020603050405020304" pitchFamily="18" charset="0"/>
                          <a:cs typeface="Times New Roman" panose="02020603050405020304" pitchFamily="18" charset="0"/>
                        </a:rPr>
                        <a:t>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sz="1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P772905</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Completed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27/06/2024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09/09/2024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latin typeface="Times New Roman" panose="02020603050405020304" pitchFamily="18" charset="0"/>
                          <a:cs typeface="Times New Roman" panose="02020603050405020304" pitchFamily="18" charset="0"/>
                        </a:rPr>
                        <a:t>Thay cho A620#2 giữ giờ bay CĐ tết</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WSC QT</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xmlns="" val="3227979002"/>
                  </a:ext>
                </a:extLst>
              </a:tr>
              <a:tr h="294752">
                <a:tc>
                  <a:txBody>
                    <a:bodyPr/>
                    <a:lstStyle/>
                    <a:p>
                      <a:pPr algn="ctr"/>
                      <a:r>
                        <a:rPr lang="en-GB" sz="1100" dirty="0">
                          <a:latin typeface="Times New Roman" panose="02020603050405020304" pitchFamily="18" charset="0"/>
                          <a:cs typeface="Times New Roman" panose="02020603050405020304" pitchFamily="18" charset="0"/>
                        </a:rPr>
                        <a:t>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P771703</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Inducted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28/02/2024</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b="0">
                          <a:solidFill>
                            <a:schemeClr val="tx1"/>
                          </a:solidFill>
                          <a:latin typeface="Times New Roman" panose="02020603050405020304" pitchFamily="18" charset="0"/>
                          <a:cs typeface="Times New Roman" panose="02020603050405020304" pitchFamily="18" charset="0"/>
                        </a:rPr>
                        <a:t>23/10/2024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latin typeface="Times New Roman" panose="02020603050405020304" pitchFamily="18" charset="0"/>
                          <a:cs typeface="Times New Roman" panose="02020603050405020304" pitchFamily="18" charset="0"/>
                        </a:rPr>
                        <a:t>Thay cho A512#1 AD Hub</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1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xmlns="" val="1070956559"/>
                  </a:ext>
                </a:extLst>
              </a:tr>
              <a:tr h="294752">
                <a:tc>
                  <a:txBody>
                    <a:bodyPr/>
                    <a:lstStyle/>
                    <a:p>
                      <a:pPr algn="ctr"/>
                      <a:r>
                        <a:rPr lang="en-GB" sz="1100" dirty="0">
                          <a:latin typeface="Times New Roman" panose="02020603050405020304" pitchFamily="18" charset="0"/>
                          <a:cs typeface="Times New Roman" panose="02020603050405020304" pitchFamily="18" charset="0"/>
                        </a:rPr>
                        <a:t>6</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P770910</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20/08/2024</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08/11/2024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latin typeface="Times New Roman" panose="02020603050405020304" pitchFamily="18" charset="0"/>
                          <a:cs typeface="Times New Roman" panose="02020603050405020304" pitchFamily="18" charset="0"/>
                        </a:rPr>
                        <a:t>RTS A621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WSC QT</a:t>
                      </a:r>
                      <a:endPar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xmlns="" val="475667320"/>
                  </a:ext>
                </a:extLst>
              </a:tr>
              <a:tr h="294752">
                <a:tc>
                  <a:txBody>
                    <a:bodyPr/>
                    <a:lstStyle/>
                    <a:p>
                      <a:pPr algn="ctr"/>
                      <a:r>
                        <a:rPr lang="en-GB" sz="1100">
                          <a:latin typeface="Times New Roman" panose="02020603050405020304" pitchFamily="18" charset="0"/>
                          <a:cs typeface="Times New Roman" panose="02020603050405020304" pitchFamily="18" charset="0"/>
                        </a:rPr>
                        <a:t>7</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P771710</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06/09/2024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23/11/2024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latin typeface="Times New Roman" panose="02020603050405020304" pitchFamily="18" charset="0"/>
                          <a:cs typeface="Times New Roman" panose="02020603050405020304" pitchFamily="18" charset="0"/>
                        </a:rPr>
                        <a:t>RTS A621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WSC QT</a:t>
                      </a:r>
                      <a:endPar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xmlns="" val="1959370187"/>
                  </a:ext>
                </a:extLst>
              </a:tr>
              <a:tr h="29475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8</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P770982</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16/09/2024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07/12/2024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latin typeface="Times New Roman" panose="02020603050405020304" pitchFamily="18" charset="0"/>
                          <a:cs typeface="Times New Roman" panose="02020603050405020304" pitchFamily="18" charset="0"/>
                        </a:rPr>
                        <a:t>Thay cho A507#1 AD Hub</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WSC QT, Delay 06 days</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xmlns="" val="4029850511"/>
                  </a:ext>
                </a:extLst>
              </a:tr>
              <a:tr h="294752">
                <a:tc>
                  <a:txBody>
                    <a:bodyPr/>
                    <a:lstStyle/>
                    <a:p>
                      <a:pPr algn="ctr"/>
                      <a:r>
                        <a:rPr lang="en-GB" sz="1100" dirty="0">
                          <a:latin typeface="Times New Roman" panose="02020603050405020304" pitchFamily="18" charset="0"/>
                          <a:cs typeface="Times New Roman" panose="02020603050405020304" pitchFamily="18" charset="0"/>
                        </a:rPr>
                        <a:t>9</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P770903</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18/07/2024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b="0" i="0" u="none" strike="noStrike">
                          <a:solidFill>
                            <a:schemeClr val="tx1"/>
                          </a:solidFill>
                          <a:effectLst/>
                          <a:latin typeface="Arial Narrow" panose="020B0606020202030204" pitchFamily="34" charset="0"/>
                        </a:rPr>
                        <a:t>10/04/2025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RTS A625</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xmlns="" val="1967959161"/>
                  </a:ext>
                </a:extLst>
              </a:tr>
              <a:tr h="463181">
                <a:tc>
                  <a:txBody>
                    <a:bodyPr/>
                    <a:lstStyle/>
                    <a:p>
                      <a:pPr algn="ctr"/>
                      <a:r>
                        <a:rPr lang="en-GB" sz="1100">
                          <a:latin typeface="Times New Roman" panose="02020603050405020304" pitchFamily="18" charset="0"/>
                          <a:cs typeface="Times New Roman" panose="02020603050405020304" pitchFamily="18" charset="0"/>
                        </a:rPr>
                        <a:t>10</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100" dirty="0">
                          <a:solidFill>
                            <a:schemeClr val="tx1"/>
                          </a:solidFill>
                          <a:effectLst/>
                          <a:latin typeface="Times New Roman" panose="02020603050405020304" pitchFamily="18" charset="0"/>
                          <a:cs typeface="Times New Roman" panose="02020603050405020304" pitchFamily="18" charset="0"/>
                        </a:rPr>
                        <a:t>P770904</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Inducted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22/04/2024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24/02/2025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latin typeface="Times New Roman" panose="02020603050405020304" pitchFamily="18" charset="0"/>
                          <a:cs typeface="Times New Roman" panose="02020603050405020304" pitchFamily="18" charset="0"/>
                        </a:rPr>
                        <a:t>RTS A501</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latin typeface="Times New Roman" panose="02020603050405020304" pitchFamily="18" charset="0"/>
                          <a:cs typeface="Times New Roman" panose="02020603050405020304" pitchFamily="18" charset="0"/>
                        </a:rPr>
                        <a:t>Delay do post test </a:t>
                      </a:r>
                      <a:r>
                        <a:rPr lang="en-US" sz="1100">
                          <a:solidFill>
                            <a:schemeClr val="tx1"/>
                          </a:solidFill>
                          <a:latin typeface="Times New Roman" panose="02020603050405020304" pitchFamily="18" charset="0"/>
                          <a:cs typeface="Times New Roman" panose="02020603050405020304" pitchFamily="18" charset="0"/>
                        </a:rPr>
                        <a:t>BSI finding on IBR6 &amp; TB1. Re-induct, dự kiến delay sang T2/2025.</a:t>
                      </a:r>
                      <a:endParaRPr lang="en-GB" sz="11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xmlns="" val="410844604"/>
                  </a:ext>
                </a:extLst>
              </a:tr>
              <a:tr h="294752">
                <a:tc>
                  <a:txBody>
                    <a:bodyPr/>
                    <a:lstStyle/>
                    <a:p>
                      <a:pPr algn="ctr"/>
                      <a:r>
                        <a:rPr lang="en-GB" sz="1100">
                          <a:latin typeface="Times New Roman" panose="02020603050405020304" pitchFamily="18" charset="0"/>
                          <a:cs typeface="Times New Roman" panose="02020603050405020304" pitchFamily="18" charset="0"/>
                        </a:rPr>
                        <a:t>11</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P771075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25/07/2024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26/02/2025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latin typeface="Times New Roman" panose="02020603050405020304" pitchFamily="18" charset="0"/>
                          <a:cs typeface="Times New Roman" panose="02020603050405020304" pitchFamily="18" charset="0"/>
                        </a:rPr>
                        <a:t>A507#2 ENG CHANGE</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xmlns="" val="1036697217"/>
                  </a:ext>
                </a:extLst>
              </a:tr>
              <a:tr h="294752">
                <a:tc>
                  <a:txBody>
                    <a:bodyPr/>
                    <a:lstStyle/>
                    <a:p>
                      <a:pPr algn="ctr"/>
                      <a:r>
                        <a:rPr lang="en-GB" sz="1100">
                          <a:latin typeface="Times New Roman" panose="02020603050405020304" pitchFamily="18" charset="0"/>
                          <a:cs typeface="Times New Roman" panose="02020603050405020304" pitchFamily="18" charset="0"/>
                        </a:rPr>
                        <a:t>12</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P771414</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09/08/2024</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13/02/2025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latin typeface="Times New Roman" panose="02020603050405020304" pitchFamily="18" charset="0"/>
                          <a:cs typeface="Times New Roman" panose="02020603050405020304" pitchFamily="18" charset="0"/>
                        </a:rPr>
                        <a:t>RTS A501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xmlns="" val="2518084637"/>
                  </a:ext>
                </a:extLst>
              </a:tr>
              <a:tr h="294752">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13</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P771130</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25/09/2024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18/03/2025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RTS A506</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xmlns="" val="753673127"/>
                  </a:ext>
                </a:extLst>
              </a:tr>
              <a:tr h="294752">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14</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P771391</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Inducted</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11/10/2024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19/03/2025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RTS A506</a:t>
                      </a:r>
                      <a:endPar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xmlns="" val="1502614763"/>
                  </a:ext>
                </a:extLst>
              </a:tr>
              <a:tr h="294752">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15</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P771077</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24/10/2024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27/03/2025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RTS A625</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xmlns="" val="1991877321"/>
                  </a:ext>
                </a:extLst>
              </a:tr>
              <a:tr h="294752">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16</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kern="1200">
                          <a:solidFill>
                            <a:schemeClr val="tx1"/>
                          </a:solidFill>
                          <a:effectLst/>
                          <a:latin typeface="Times New Roman" panose="02020603050405020304" pitchFamily="18" charset="0"/>
                          <a:ea typeface="+mn-ea"/>
                          <a:cs typeface="Times New Roman" panose="02020603050405020304" pitchFamily="18" charset="0"/>
                        </a:rPr>
                        <a:t>P771387</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05/11/2024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13/04/2025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RTS A508</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dirty="0">
                          <a:solidFill>
                            <a:schemeClr val="tx1"/>
                          </a:solidFill>
                          <a:effectLst/>
                          <a:latin typeface="Times New Roman" panose="02020603050405020304" pitchFamily="18" charset="0"/>
                          <a:ea typeface="+mn-ea"/>
                          <a:cs typeface="Times New Roman" panose="02020603050405020304" pitchFamily="18" charset="0"/>
                        </a:rPr>
                        <a:t>Target build ~4280 FC do HPT Hub not affected by AD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xmlns="" val="3806751762"/>
                  </a:ext>
                </a:extLst>
              </a:tr>
              <a:tr h="294752">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17</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kern="1200">
                          <a:solidFill>
                            <a:schemeClr val="tx1"/>
                          </a:solidFill>
                          <a:effectLst/>
                          <a:latin typeface="Times New Roman" panose="02020603050405020304" pitchFamily="18" charset="0"/>
                          <a:ea typeface="+mn-ea"/>
                          <a:cs typeface="Times New Roman" panose="02020603050405020304" pitchFamily="18" charset="0"/>
                        </a:rPr>
                        <a:t>P771056</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Not Inducted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29/11/2024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rgbClr val="FF0000"/>
                          </a:solidFill>
                          <a:effectLst/>
                          <a:latin typeface="Times New Roman" panose="02020603050405020304" pitchFamily="18" charset="0"/>
                          <a:ea typeface="+mn-ea"/>
                          <a:cs typeface="Times New Roman" panose="02020603050405020304" pitchFamily="18" charset="0"/>
                        </a:rPr>
                        <a:t>09/01/2025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RTS A619</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Đã sửa xong, đang lắp QEC tại VAECO</a:t>
                      </a:r>
                      <a:endParaRPr kumimoji="0" lang="en-GB" sz="11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xmlns="" val="2180737263"/>
                  </a:ext>
                </a:extLst>
              </a:tr>
            </a:tbl>
          </a:graphicData>
        </a:graphic>
      </p:graphicFrame>
      <p:sp>
        <p:nvSpPr>
          <p:cNvPr id="4" name="TextBox 3">
            <a:extLst>
              <a:ext uri="{FF2B5EF4-FFF2-40B4-BE49-F238E27FC236}">
                <a16:creationId xmlns:a16="http://schemas.microsoft.com/office/drawing/2014/main" xmlns="" id="{8E657E58-C6AA-4957-1D5D-8F4F96FE5488}"/>
              </a:ext>
            </a:extLst>
          </p:cNvPr>
          <p:cNvSpPr txBox="1"/>
          <p:nvPr/>
        </p:nvSpPr>
        <p:spPr>
          <a:xfrm>
            <a:off x="153473" y="103041"/>
            <a:ext cx="14875495"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TÌNH TRẠNG ĐỘNG CƠ ĐỘI BAY A321NEO</a:t>
            </a:r>
            <a:endParaRPr lang="en-GB"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72431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F7566C40-78C1-9EC0-1727-A8DD49C3FD9B}"/>
              </a:ext>
            </a:extLst>
          </p:cNvPr>
          <p:cNvSpPr>
            <a:spLocks noGrp="1"/>
          </p:cNvSpPr>
          <p:nvPr>
            <p:ph type="sldNum" idx="12"/>
          </p:nvPr>
        </p:nvSpPr>
        <p:spPr/>
        <p:txBody>
          <a:bodyPr/>
          <a:lstStyle/>
          <a:p>
            <a:fld id="{00000000-1234-1234-1234-123412341234}" type="slidenum">
              <a:rPr lang="vi" smtClean="0"/>
              <a:pPr/>
              <a:t>29</a:t>
            </a:fld>
            <a:endParaRPr lang="vi"/>
          </a:p>
        </p:txBody>
      </p:sp>
      <p:sp>
        <p:nvSpPr>
          <p:cNvPr id="16" name="TextBox 15">
            <a:extLst>
              <a:ext uri="{FF2B5EF4-FFF2-40B4-BE49-F238E27FC236}">
                <a16:creationId xmlns:a16="http://schemas.microsoft.com/office/drawing/2014/main" xmlns="" id="{A2528A14-5474-03B4-BF8A-AFDB59E54730}"/>
              </a:ext>
            </a:extLst>
          </p:cNvPr>
          <p:cNvSpPr txBox="1"/>
          <p:nvPr/>
        </p:nvSpPr>
        <p:spPr>
          <a:xfrm>
            <a:off x="0" y="431801"/>
            <a:ext cx="7890933" cy="461665"/>
          </a:xfrm>
          <a:prstGeom prst="rect">
            <a:avLst/>
          </a:prstGeom>
          <a:noFill/>
        </p:spPr>
        <p:txBody>
          <a:bodyPr wrap="square" rtlCol="0">
            <a:spAutoFit/>
          </a:bodyPr>
          <a:lstStyle/>
          <a:p>
            <a:pPr defTabSz="1219170">
              <a:defRPr/>
            </a:pPr>
            <a:r>
              <a:rPr lang="en-US" sz="2400" b="1" dirty="0" err="1">
                <a:solidFill>
                  <a:srgbClr val="002060"/>
                </a:solidFill>
                <a:latin typeface="Times New Roman" panose="02020603050405020304" pitchFamily="18" charset="0"/>
                <a:cs typeface="Times New Roman" panose="02020603050405020304" pitchFamily="18" charset="0"/>
              </a:rPr>
              <a:t>Kế</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hoạch</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thay</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động</a:t>
            </a:r>
            <a:r>
              <a:rPr lang="en-US" sz="2400" b="1" dirty="0">
                <a:solidFill>
                  <a:srgbClr val="002060"/>
                </a:solidFill>
                <a:latin typeface="Times New Roman" panose="02020603050405020304" pitchFamily="18" charset="0"/>
                <a:cs typeface="Times New Roman" panose="02020603050405020304" pitchFamily="18" charset="0"/>
              </a:rPr>
              <a:t> c</a:t>
            </a:r>
            <a:r>
              <a:rPr lang="vi-VN" sz="2400" b="1" dirty="0">
                <a:solidFill>
                  <a:srgbClr val="002060"/>
                </a:solidFill>
                <a:latin typeface="Times New Roman" panose="02020603050405020304" pitchFamily="18" charset="0"/>
                <a:cs typeface="Times New Roman" panose="02020603050405020304" pitchFamily="18" charset="0"/>
              </a:rPr>
              <a:t>ơ</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a:solidFill>
                  <a:srgbClr val="002060"/>
                </a:solidFill>
                <a:latin typeface="Times New Roman" panose="02020603050405020304" pitchFamily="18" charset="0"/>
                <a:cs typeface="Times New Roman" panose="02020603050405020304" pitchFamily="18" charset="0"/>
              </a:rPr>
              <a:t>A321NEO T1-T2/25</a:t>
            </a:r>
            <a:endParaRPr lang="en-GB" sz="2400" b="1" dirty="0">
              <a:solidFill>
                <a:srgbClr val="002060"/>
              </a:solidFill>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xmlns="" id="{FF648BE0-3FB3-B153-2A56-6AAF25C6C6E2}"/>
              </a:ext>
            </a:extLst>
          </p:cNvPr>
          <p:cNvSpPr txBox="1"/>
          <p:nvPr/>
        </p:nvSpPr>
        <p:spPr>
          <a:xfrm>
            <a:off x="1" y="-5952"/>
            <a:ext cx="9584267"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TÌNH TRẠNG ĐỘNG CƠ ĐỘI BAY A321NEO</a:t>
            </a:r>
            <a:endParaRPr lang="en-GB" sz="2667" b="1" dirty="0">
              <a:ln w="0"/>
              <a:solidFill>
                <a:srgbClr val="FBAC00"/>
              </a:solidFill>
              <a:latin typeface="Times New Roman" panose="02020603050405020304" pitchFamily="18" charset="0"/>
              <a:cs typeface="Times New Roman" panose="02020603050405020304" pitchFamily="18" charset="0"/>
            </a:endParaRPr>
          </a:p>
        </p:txBody>
      </p:sp>
      <p:graphicFrame>
        <p:nvGraphicFramePr>
          <p:cNvPr id="18" name="Table 2">
            <a:extLst>
              <a:ext uri="{FF2B5EF4-FFF2-40B4-BE49-F238E27FC236}">
                <a16:creationId xmlns:a16="http://schemas.microsoft.com/office/drawing/2014/main" xmlns="" id="{6F2FE8BC-4850-BD1B-EABA-12CA92CD86BA}"/>
              </a:ext>
            </a:extLst>
          </p:cNvPr>
          <p:cNvGraphicFramePr>
            <a:graphicFrameLocks noGrp="1"/>
          </p:cNvGraphicFramePr>
          <p:nvPr>
            <p:extLst/>
          </p:nvPr>
        </p:nvGraphicFramePr>
        <p:xfrm>
          <a:off x="163790" y="1032931"/>
          <a:ext cx="11594304" cy="5184694"/>
        </p:xfrm>
        <a:graphic>
          <a:graphicData uri="http://schemas.openxmlformats.org/drawingml/2006/table">
            <a:tbl>
              <a:tblPr firstRow="1" bandRow="1">
                <a:tableStyleId>{5C22544A-7EE6-4342-B048-85BDC9FD1C3A}</a:tableStyleId>
              </a:tblPr>
              <a:tblGrid>
                <a:gridCol w="506307">
                  <a:extLst>
                    <a:ext uri="{9D8B030D-6E8A-4147-A177-3AD203B41FA5}">
                      <a16:colId xmlns:a16="http://schemas.microsoft.com/office/drawing/2014/main" xmlns="" val="1598605427"/>
                    </a:ext>
                  </a:extLst>
                </a:gridCol>
                <a:gridCol w="1136124">
                  <a:extLst>
                    <a:ext uri="{9D8B030D-6E8A-4147-A177-3AD203B41FA5}">
                      <a16:colId xmlns:a16="http://schemas.microsoft.com/office/drawing/2014/main" xmlns="" val="3845954792"/>
                    </a:ext>
                  </a:extLst>
                </a:gridCol>
                <a:gridCol w="1163319">
                  <a:extLst>
                    <a:ext uri="{9D8B030D-6E8A-4147-A177-3AD203B41FA5}">
                      <a16:colId xmlns:a16="http://schemas.microsoft.com/office/drawing/2014/main" xmlns="" val="2148822928"/>
                    </a:ext>
                  </a:extLst>
                </a:gridCol>
                <a:gridCol w="1163319">
                  <a:extLst>
                    <a:ext uri="{9D8B030D-6E8A-4147-A177-3AD203B41FA5}">
                      <a16:colId xmlns:a16="http://schemas.microsoft.com/office/drawing/2014/main" xmlns="" val="2136763095"/>
                    </a:ext>
                  </a:extLst>
                </a:gridCol>
                <a:gridCol w="1163319">
                  <a:extLst>
                    <a:ext uri="{9D8B030D-6E8A-4147-A177-3AD203B41FA5}">
                      <a16:colId xmlns:a16="http://schemas.microsoft.com/office/drawing/2014/main" xmlns="" val="4058157000"/>
                    </a:ext>
                  </a:extLst>
                </a:gridCol>
                <a:gridCol w="1163319">
                  <a:extLst>
                    <a:ext uri="{9D8B030D-6E8A-4147-A177-3AD203B41FA5}">
                      <a16:colId xmlns:a16="http://schemas.microsoft.com/office/drawing/2014/main" xmlns="" val="1185879436"/>
                    </a:ext>
                  </a:extLst>
                </a:gridCol>
                <a:gridCol w="1163319">
                  <a:extLst>
                    <a:ext uri="{9D8B030D-6E8A-4147-A177-3AD203B41FA5}">
                      <a16:colId xmlns:a16="http://schemas.microsoft.com/office/drawing/2014/main" xmlns="" val="3807119371"/>
                    </a:ext>
                  </a:extLst>
                </a:gridCol>
                <a:gridCol w="1038679">
                  <a:extLst>
                    <a:ext uri="{9D8B030D-6E8A-4147-A177-3AD203B41FA5}">
                      <a16:colId xmlns:a16="http://schemas.microsoft.com/office/drawing/2014/main" xmlns="" val="2251645117"/>
                    </a:ext>
                  </a:extLst>
                </a:gridCol>
                <a:gridCol w="3096599">
                  <a:extLst>
                    <a:ext uri="{9D8B030D-6E8A-4147-A177-3AD203B41FA5}">
                      <a16:colId xmlns:a16="http://schemas.microsoft.com/office/drawing/2014/main" xmlns="" val="3735753066"/>
                    </a:ext>
                  </a:extLst>
                </a:gridCol>
              </a:tblGrid>
              <a:tr h="971761">
                <a:tc>
                  <a:txBody>
                    <a:bodyPr/>
                    <a:lstStyle/>
                    <a:p>
                      <a:pPr algn="ctr"/>
                      <a:r>
                        <a:rPr lang="en-GB" sz="1200" dirty="0">
                          <a:latin typeface="Times New Roman" panose="02020603050405020304" pitchFamily="18" charset="0"/>
                          <a:cs typeface="Times New Roman" panose="02020603050405020304" pitchFamily="18" charset="0"/>
                        </a:rPr>
                        <a:t>No.</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latin typeface="Times New Roman" panose="02020603050405020304" pitchFamily="18" charset="0"/>
                          <a:cs typeface="Times New Roman" panose="02020603050405020304" pitchFamily="18" charset="0"/>
                        </a:rPr>
                        <a:t>ESN OFF</a:t>
                      </a:r>
                      <a:endParaRPr lang="en-GB" sz="12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ESN ON</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Remove from</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Install on</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dirty="0">
                          <a:solidFill>
                            <a:schemeClr val="lt1"/>
                          </a:solidFill>
                          <a:latin typeface="Times New Roman" panose="02020603050405020304" pitchFamily="18" charset="0"/>
                          <a:ea typeface="+mn-ea"/>
                          <a:cs typeface="Times New Roman" panose="02020603050405020304" pitchFamily="18" charset="0"/>
                        </a:rPr>
                        <a:t>Removal Date</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Install Date</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Shopvisit</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200">
                          <a:latin typeface="Times New Roman" panose="02020603050405020304" pitchFamily="18" charset="0"/>
                          <a:cs typeface="Times New Roman" panose="02020603050405020304" pitchFamily="18" charset="0"/>
                        </a:rPr>
                        <a:t>Remark</a:t>
                      </a:r>
                      <a:endParaRPr lang="en-GB" sz="12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234812354"/>
                  </a:ext>
                </a:extLst>
              </a:tr>
              <a:tr h="517920">
                <a:tc>
                  <a:txBody>
                    <a:bodyPr/>
                    <a:lstStyle/>
                    <a:p>
                      <a:pPr algn="ctr"/>
                      <a:r>
                        <a:rPr lang="en-US" sz="1200" b="0" i="0" u="none" strike="noStrike" kern="1200">
                          <a:solidFill>
                            <a:srgbClr val="FF0000"/>
                          </a:solidFill>
                          <a:effectLst/>
                          <a:latin typeface="Times New Roman" panose="02020603050405020304" pitchFamily="18" charset="0"/>
                          <a:ea typeface="+mn-ea"/>
                          <a:cs typeface="Times New Roman" panose="02020603050405020304" pitchFamily="18" charset="0"/>
                        </a:rPr>
                        <a:t>1</a:t>
                      </a:r>
                      <a:endParaRPr lang="en-GB" sz="1200" b="0" i="0" u="none" strike="noStrike" kern="1200" dirty="0">
                        <a:solidFill>
                          <a:srgbClr val="FF0000"/>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FF0000"/>
                          </a:solidFill>
                          <a:effectLst/>
                          <a:latin typeface="Times New Roman" panose="02020603050405020304" pitchFamily="18" charset="0"/>
                          <a:cs typeface="Times New Roman" panose="02020603050405020304" pitchFamily="18" charset="0"/>
                        </a:rPr>
                        <a:t>P770906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FF0000"/>
                          </a:solidFill>
                          <a:effectLst/>
                          <a:latin typeface="Times New Roman" panose="02020603050405020304" pitchFamily="18" charset="0"/>
                          <a:cs typeface="Times New Roman" panose="02020603050405020304" pitchFamily="18" charset="0"/>
                        </a:rPr>
                        <a:t>P771056</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FF0000"/>
                          </a:solidFill>
                          <a:effectLst/>
                          <a:latin typeface="Times New Roman" panose="02020603050405020304" pitchFamily="18" charset="0"/>
                          <a:cs typeface="Times New Roman" panose="02020603050405020304" pitchFamily="18" charset="0"/>
                        </a:rPr>
                        <a:t>A619#1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a:solidFill>
                            <a:srgbClr val="FF0000"/>
                          </a:solidFill>
                          <a:effectLst/>
                          <a:latin typeface="Times New Roman" panose="02020603050405020304" pitchFamily="18" charset="0"/>
                          <a:cs typeface="Times New Roman" panose="02020603050405020304" pitchFamily="18" charset="0"/>
                        </a:rPr>
                        <a:t>A619#1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FF0000"/>
                          </a:solidFill>
                          <a:effectLst/>
                          <a:latin typeface="Times New Roman" panose="02020603050405020304" pitchFamily="18" charset="0"/>
                          <a:cs typeface="Times New Roman" panose="02020603050405020304" pitchFamily="18" charset="0"/>
                        </a:rPr>
                        <a:t>28-Dec-24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FF0000"/>
                          </a:solidFill>
                          <a:effectLst/>
                          <a:latin typeface="Times New Roman" panose="02020603050405020304" pitchFamily="18" charset="0"/>
                          <a:cs typeface="Times New Roman" panose="02020603050405020304" pitchFamily="18" charset="0"/>
                        </a:rPr>
                        <a:t>12-Jan-25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rgbClr val="FF0000"/>
                          </a:solidFill>
                          <a:effectLst/>
                          <a:latin typeface="Times New Roman" panose="02020603050405020304" pitchFamily="18" charset="0"/>
                          <a:ea typeface="+mn-ea"/>
                          <a:cs typeface="Times New Roman" panose="02020603050405020304" pitchFamily="18" charset="0"/>
                        </a:rPr>
                        <a:t>RTS</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3883596114"/>
                  </a:ext>
                </a:extLst>
              </a:tr>
              <a:tr h="527859">
                <a:tc>
                  <a:txBody>
                    <a:bodyPr/>
                    <a:lstStyle/>
                    <a:p>
                      <a:pPr algn="ctr"/>
                      <a:r>
                        <a:rPr lang="en-GB" sz="1200" b="0" i="0" u="none" strike="noStrike" kern="1200">
                          <a:solidFill>
                            <a:srgbClr val="FF0000"/>
                          </a:solidFill>
                          <a:effectLst/>
                          <a:latin typeface="Times New Roman" panose="02020603050405020304" pitchFamily="18" charset="0"/>
                          <a:ea typeface="+mn-ea"/>
                          <a:cs typeface="Times New Roman" panose="02020603050405020304" pitchFamily="18" charset="0"/>
                        </a:rPr>
                        <a:t>2</a:t>
                      </a:r>
                      <a:endParaRPr lang="en-GB" sz="1200" b="0" i="0" u="none" strike="noStrike" kern="1200" dirty="0">
                        <a:solidFill>
                          <a:srgbClr val="FF0000"/>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a:solidFill>
                          <a:srgbClr val="FF0000"/>
                        </a:solidFill>
                        <a:effectLst/>
                        <a:latin typeface="Times New Roman" panose="02020603050405020304" pitchFamily="18"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FF0000"/>
                          </a:solidFill>
                          <a:effectLst/>
                          <a:latin typeface="Times New Roman" panose="02020603050405020304" pitchFamily="18" charset="0"/>
                          <a:cs typeface="Times New Roman" panose="02020603050405020304" pitchFamily="18" charset="0"/>
                        </a:rPr>
                        <a:t>P770906</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a:solidFill>
                          <a:srgbClr val="FF0000"/>
                        </a:solidFill>
                        <a:effectLst/>
                        <a:latin typeface="Times New Roman" panose="02020603050405020304" pitchFamily="18"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FF0000"/>
                          </a:solidFill>
                          <a:effectLst/>
                          <a:latin typeface="Times New Roman" panose="02020603050405020304" pitchFamily="18" charset="0"/>
                          <a:cs typeface="Times New Roman" panose="02020603050405020304" pitchFamily="18" charset="0"/>
                        </a:rPr>
                        <a:t>A511#1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a:solidFill>
                          <a:srgbClr val="FF0000"/>
                        </a:solidFill>
                        <a:effectLst/>
                        <a:latin typeface="Times New Roman" panose="02020603050405020304" pitchFamily="18"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a:solidFill>
                            <a:srgbClr val="FF0000"/>
                          </a:solidFill>
                          <a:effectLst/>
                          <a:latin typeface="Times New Roman" panose="02020603050405020304" pitchFamily="18" charset="0"/>
                          <a:cs typeface="Times New Roman" panose="02020603050405020304" pitchFamily="18" charset="0"/>
                        </a:rPr>
                        <a:t>30-Dec-24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dirty="0">
                          <a:solidFill>
                            <a:srgbClr val="FF0000"/>
                          </a:solidFill>
                          <a:effectLst/>
                          <a:latin typeface="Times New Roman" panose="02020603050405020304" pitchFamily="18" charset="0"/>
                          <a:ea typeface="+mn-ea"/>
                          <a:cs typeface="Times New Roman" panose="02020603050405020304" pitchFamily="18" charset="0"/>
                        </a:rPr>
                        <a:t>RTS, Reset 12month preservation</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119894405"/>
                  </a:ext>
                </a:extLst>
              </a:tr>
              <a:tr h="527859">
                <a:tc>
                  <a:txBody>
                    <a:bodyPr/>
                    <a:lstStyle/>
                    <a:p>
                      <a:pPr algn="ctr"/>
                      <a:r>
                        <a:rPr lang="en-GB" sz="1200" b="0" i="0" u="none" strike="noStrike" kern="1200">
                          <a:solidFill>
                            <a:schemeClr val="tx1"/>
                          </a:solidFill>
                          <a:effectLst/>
                          <a:latin typeface="Times New Roman" panose="02020603050405020304" pitchFamily="18" charset="0"/>
                          <a:ea typeface="+mn-ea"/>
                          <a:cs typeface="Times New Roman" panose="02020603050405020304" pitchFamily="18" charset="0"/>
                        </a:rPr>
                        <a:t>3</a:t>
                      </a:r>
                      <a:endParaRPr lang="en-GB"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P771131</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P771414</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A501#1</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A501#1</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rgbClr val="000000"/>
                          </a:solidFill>
                          <a:effectLst/>
                          <a:latin typeface="Times New Roman" panose="02020603050405020304" pitchFamily="18" charset="0"/>
                          <a:ea typeface="+mn-ea"/>
                          <a:cs typeface="Times New Roman" panose="02020603050405020304" pitchFamily="18" charset="0"/>
                          <a:sym typeface="Arial"/>
                        </a:rPr>
                        <a:t>25-Jan-25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rgbClr val="000000"/>
                          </a:solidFill>
                          <a:effectLst/>
                          <a:latin typeface="Times New Roman" panose="02020603050405020304" pitchFamily="18" charset="0"/>
                          <a:ea typeface="+mn-ea"/>
                          <a:cs typeface="Times New Roman" panose="02020603050405020304" pitchFamily="18" charset="0"/>
                          <a:sym typeface="Arial"/>
                        </a:rPr>
                        <a:t>14-Feb-25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Yes</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Times New Roman" panose="02020603050405020304" pitchFamily="18" charset="0"/>
                          <a:ea typeface="+mn-ea"/>
                          <a:cs typeface="Times New Roman" panose="02020603050405020304" pitchFamily="18" charset="0"/>
                        </a:rPr>
                        <a:t>RTS</a:t>
                      </a:r>
                      <a:endParaRPr lang="en-GB" sz="1200" b="0" i="0" u="none" strike="noStrike"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623576879"/>
                  </a:ext>
                </a:extLst>
              </a:tr>
              <a:tr h="527859">
                <a:tc>
                  <a:txBody>
                    <a:bodyPr/>
                    <a:lstStyle/>
                    <a:p>
                      <a:pPr algn="ctr"/>
                      <a:r>
                        <a:rPr lang="en-GB" sz="1200" b="0" i="0" u="none" strike="noStrike" kern="1200">
                          <a:solidFill>
                            <a:schemeClr val="tx1"/>
                          </a:solidFill>
                          <a:effectLst/>
                          <a:latin typeface="Times New Roman" panose="02020603050405020304" pitchFamily="18" charset="0"/>
                          <a:ea typeface="+mn-ea"/>
                          <a:cs typeface="Times New Roman" panose="02020603050405020304" pitchFamily="18" charset="0"/>
                        </a:rPr>
                        <a:t>4</a:t>
                      </a:r>
                      <a:endParaRPr lang="en-GB"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P771110</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P770904</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A501#2</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A501#2</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rgbClr val="000000"/>
                          </a:solidFill>
                          <a:effectLst/>
                          <a:latin typeface="Times New Roman" panose="02020603050405020304" pitchFamily="18" charset="0"/>
                          <a:ea typeface="+mn-ea"/>
                          <a:cs typeface="Times New Roman" panose="02020603050405020304" pitchFamily="18" charset="0"/>
                          <a:sym typeface="Arial"/>
                        </a:rPr>
                        <a:t>30-Jan-25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rgbClr val="000000"/>
                          </a:solidFill>
                          <a:effectLst/>
                          <a:latin typeface="Times New Roman" panose="02020603050405020304" pitchFamily="18" charset="0"/>
                          <a:ea typeface="+mn-ea"/>
                          <a:cs typeface="Times New Roman" panose="02020603050405020304" pitchFamily="18" charset="0"/>
                          <a:sym typeface="Arial"/>
                        </a:rPr>
                        <a:t>25-Feb-25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Yes</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dirty="0">
                          <a:solidFill>
                            <a:schemeClr val="tx1"/>
                          </a:solidFill>
                          <a:effectLst/>
                          <a:latin typeface="Times New Roman" panose="02020603050405020304" pitchFamily="18" charset="0"/>
                          <a:ea typeface="+mn-ea"/>
                          <a:cs typeface="Times New Roman" panose="02020603050405020304" pitchFamily="18" charset="0"/>
                        </a:rPr>
                        <a:t>RTS</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0457832"/>
                  </a:ext>
                </a:extLst>
              </a:tr>
              <a:tr h="527859">
                <a:tc>
                  <a:txBody>
                    <a:bodyPr/>
                    <a:lstStyle/>
                    <a:p>
                      <a:pPr algn="ctr"/>
                      <a:r>
                        <a:rPr lang="en-GB" sz="1200" b="0" i="0" u="none" strike="noStrike" kern="1200">
                          <a:solidFill>
                            <a:schemeClr val="tx1"/>
                          </a:solidFill>
                          <a:effectLst/>
                          <a:latin typeface="Times New Roman" panose="02020603050405020304" pitchFamily="18" charset="0"/>
                          <a:ea typeface="+mn-ea"/>
                          <a:cs typeface="Times New Roman" panose="02020603050405020304" pitchFamily="18" charset="0"/>
                        </a:rPr>
                        <a:t>5</a:t>
                      </a:r>
                      <a:endParaRPr lang="en-GB"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P772905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P771668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A620#2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A619#2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15-Feb-25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17-Feb-25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Times New Roman" panose="02020603050405020304" pitchFamily="18" charset="0"/>
                          <a:cs typeface="Times New Roman" panose="02020603050405020304" pitchFamily="18" charset="0"/>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Swap engine with A619, A620 </a:t>
                      </a:r>
                      <a:r>
                        <a:rPr lang="en-US" sz="1200" b="0" i="0" u="none" strike="noStrike" dirty="0" err="1">
                          <a:solidFill>
                            <a:srgbClr val="000000"/>
                          </a:solidFill>
                          <a:effectLst/>
                          <a:latin typeface="Times New Roman" panose="02020603050405020304" pitchFamily="18" charset="0"/>
                          <a:cs typeface="Times New Roman" panose="02020603050405020304" pitchFamily="18" charset="0"/>
                        </a:rPr>
                        <a:t>dừng</a:t>
                      </a:r>
                      <a:r>
                        <a:rPr lang="en-US" sz="12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cs typeface="Times New Roman" panose="02020603050405020304" pitchFamily="18" charset="0"/>
                        </a:rPr>
                        <a:t>làm</a:t>
                      </a:r>
                      <a:r>
                        <a:rPr lang="en-US" sz="1200" b="0" i="0" u="none" strike="noStrike" dirty="0">
                          <a:solidFill>
                            <a:srgbClr val="000000"/>
                          </a:solidFill>
                          <a:effectLst/>
                          <a:latin typeface="Times New Roman" panose="02020603050405020304" pitchFamily="18" charset="0"/>
                          <a:cs typeface="Times New Roman" panose="02020603050405020304" pitchFamily="18" charset="0"/>
                        </a:rPr>
                        <a:t> check</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096505085"/>
                  </a:ext>
                </a:extLst>
              </a:tr>
              <a:tr h="527859">
                <a:tc>
                  <a:txBody>
                    <a:bodyPr/>
                    <a:lstStyle/>
                    <a:p>
                      <a:pPr algn="ctr"/>
                      <a:r>
                        <a:rPr lang="en-GB" sz="1200" b="0" i="0" u="none" strike="noStrike" kern="1200">
                          <a:solidFill>
                            <a:schemeClr val="tx1"/>
                          </a:solidFill>
                          <a:effectLst/>
                          <a:latin typeface="Times New Roman" panose="02020603050405020304" pitchFamily="18" charset="0"/>
                          <a:ea typeface="+mn-ea"/>
                          <a:cs typeface="Times New Roman" panose="02020603050405020304" pitchFamily="18" charset="0"/>
                        </a:rPr>
                        <a:t>6</a:t>
                      </a:r>
                      <a:endParaRPr lang="en-GB"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P771668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P772905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A619#2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A620#2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15-Feb-25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17-Feb-25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Times New Roman" panose="02020603050405020304" pitchFamily="18" charset="0"/>
                          <a:cs typeface="Times New Roman" panose="02020603050405020304" pitchFamily="18" charset="0"/>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Swap engine with A620, A619 </a:t>
                      </a:r>
                      <a:r>
                        <a:rPr lang="en-US" sz="1200" b="0" i="0" u="none" strike="noStrike" dirty="0" err="1">
                          <a:solidFill>
                            <a:srgbClr val="000000"/>
                          </a:solidFill>
                          <a:effectLst/>
                          <a:latin typeface="Times New Roman" panose="02020603050405020304" pitchFamily="18" charset="0"/>
                          <a:cs typeface="Times New Roman" panose="02020603050405020304" pitchFamily="18" charset="0"/>
                        </a:rPr>
                        <a:t>tiếp</a:t>
                      </a:r>
                      <a:r>
                        <a:rPr lang="en-US" sz="12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cs typeface="Times New Roman" panose="02020603050405020304" pitchFamily="18" charset="0"/>
                        </a:rPr>
                        <a:t>tục</a:t>
                      </a:r>
                      <a:r>
                        <a:rPr lang="en-US" sz="12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cs typeface="Times New Roman" panose="02020603050405020304" pitchFamily="18" charset="0"/>
                        </a:rPr>
                        <a:t>khai</a:t>
                      </a:r>
                      <a:r>
                        <a:rPr lang="en-US" sz="12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cs typeface="Times New Roman" panose="02020603050405020304" pitchFamily="18" charset="0"/>
                        </a:rPr>
                        <a:t>thác</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3562066291"/>
                  </a:ext>
                </a:extLst>
              </a:tr>
              <a:tr h="527859">
                <a:tc>
                  <a:txBody>
                    <a:bodyPr/>
                    <a:lstStyle/>
                    <a:p>
                      <a:pPr algn="ctr"/>
                      <a:r>
                        <a:rPr lang="en-GB" sz="1200" b="0" i="0" u="none" strike="noStrike" kern="1200">
                          <a:solidFill>
                            <a:schemeClr val="tx1"/>
                          </a:solidFill>
                          <a:effectLst/>
                          <a:latin typeface="Times New Roman" panose="02020603050405020304" pitchFamily="18" charset="0"/>
                          <a:ea typeface="+mn-ea"/>
                          <a:cs typeface="Times New Roman" panose="02020603050405020304" pitchFamily="18" charset="0"/>
                        </a:rPr>
                        <a:t>7</a:t>
                      </a:r>
                      <a:endParaRPr lang="en-GB"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P771488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P771075</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A507#2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A507#2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rgbClr val="000000"/>
                          </a:solidFill>
                          <a:effectLst/>
                          <a:latin typeface="Times New Roman" panose="02020603050405020304" pitchFamily="18" charset="0"/>
                          <a:ea typeface="+mn-ea"/>
                          <a:cs typeface="Times New Roman" panose="02020603050405020304" pitchFamily="18" charset="0"/>
                          <a:sym typeface="Arial"/>
                        </a:rPr>
                        <a:t>26-Feb-25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rgbClr val="000000"/>
                          </a:solidFill>
                          <a:effectLst/>
                          <a:latin typeface="Times New Roman" panose="02020603050405020304" pitchFamily="18" charset="0"/>
                          <a:ea typeface="+mn-ea"/>
                          <a:cs typeface="Times New Roman" panose="02020603050405020304" pitchFamily="18" charset="0"/>
                          <a:sym typeface="Arial"/>
                        </a:rPr>
                        <a:t>28-Feb-25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Times New Roman" panose="02020603050405020304" pitchFamily="18" charset="0"/>
                          <a:ea typeface="+mn-ea"/>
                          <a:cs typeface="Times New Roman" panose="02020603050405020304" pitchFamily="18" charset="0"/>
                        </a:rPr>
                        <a:t>ENG CHANGE</a:t>
                      </a:r>
                      <a:endParaRPr lang="en-GB" sz="1200" b="0" i="0" u="none" strike="noStrike"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784227953"/>
                  </a:ext>
                </a:extLst>
              </a:tr>
              <a:tr h="527859">
                <a:tc>
                  <a:txBody>
                    <a:bodyPr/>
                    <a:lstStyle/>
                    <a:p>
                      <a:pPr algn="ctr"/>
                      <a:r>
                        <a:rPr lang="en-GB" sz="1200" b="0" i="0" u="none" strike="noStrike" kern="1200">
                          <a:solidFill>
                            <a:schemeClr val="tx1"/>
                          </a:solidFill>
                          <a:effectLst/>
                          <a:latin typeface="Times New Roman" panose="02020603050405020304" pitchFamily="18" charset="0"/>
                          <a:ea typeface="+mn-ea"/>
                          <a:cs typeface="Times New Roman" panose="02020603050405020304" pitchFamily="18" charset="0"/>
                        </a:rPr>
                        <a:t>8</a:t>
                      </a:r>
                      <a:endParaRPr lang="en-GB"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P771488</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A623#1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cap="none">
                        <a:solidFill>
                          <a:srgbClr val="000000"/>
                        </a:solidFill>
                        <a:effectLst/>
                        <a:latin typeface="Times New Roman" panose="02020603050405020304" pitchFamily="18" charset="0"/>
                        <a:ea typeface="+mn-ea"/>
                        <a:cs typeface="Times New Roman" panose="02020603050405020304" pitchFamily="18" charset="0"/>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rgbClr val="000000"/>
                          </a:solidFill>
                          <a:effectLst/>
                          <a:latin typeface="Times New Roman" panose="02020603050405020304" pitchFamily="18" charset="0"/>
                          <a:ea typeface="+mn-ea"/>
                          <a:cs typeface="Times New Roman" panose="02020603050405020304" pitchFamily="18" charset="0"/>
                          <a:sym typeface="Arial"/>
                        </a:rPr>
                        <a:t>5-Mar-25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Times New Roman" panose="02020603050405020304" pitchFamily="18" charset="0"/>
                          <a:ea typeface="+mn-ea"/>
                          <a:cs typeface="Times New Roman" panose="02020603050405020304" pitchFamily="18" charset="0"/>
                        </a:rPr>
                        <a:t>ENG INSTALLATION</a:t>
                      </a:r>
                      <a:endParaRPr lang="en-GB" sz="1200" b="0" i="0" u="none" strike="noStrike"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3981565641"/>
                  </a:ext>
                </a:extLst>
              </a:tr>
            </a:tbl>
          </a:graphicData>
        </a:graphic>
      </p:graphicFrame>
    </p:spTree>
    <p:extLst>
      <p:ext uri="{BB962C8B-B14F-4D97-AF65-F5344CB8AC3E}">
        <p14:creationId xmlns:p14="http://schemas.microsoft.com/office/powerpoint/2010/main" val="33109599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7DC04D1-B131-A396-A21D-BABB2FBC0F3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980AF8DC-DB52-2B80-A0CB-44CC8F1F6223}"/>
              </a:ext>
            </a:extLst>
          </p:cNvPr>
          <p:cNvSpPr>
            <a:spLocks noGrp="1"/>
          </p:cNvSpPr>
          <p:nvPr>
            <p:ph type="sldNum" idx="12"/>
          </p:nvPr>
        </p:nvSpPr>
        <p:spPr/>
        <p:txBody>
          <a:bodyPr/>
          <a:lstStyle/>
          <a:p>
            <a:fld id="{00000000-1234-1234-1234-123412341234}" type="slidenum">
              <a:rPr lang="vi" smtClean="0"/>
              <a:pPr/>
              <a:t>30</a:t>
            </a:fld>
            <a:endParaRPr lang="vi"/>
          </a:p>
        </p:txBody>
      </p:sp>
      <p:sp>
        <p:nvSpPr>
          <p:cNvPr id="4" name="TextBox 3">
            <a:extLst>
              <a:ext uri="{FF2B5EF4-FFF2-40B4-BE49-F238E27FC236}">
                <a16:creationId xmlns:a16="http://schemas.microsoft.com/office/drawing/2014/main" xmlns="" id="{6A298D6A-885F-D023-4F90-0DB964121D89}"/>
              </a:ext>
            </a:extLst>
          </p:cNvPr>
          <p:cNvSpPr txBox="1"/>
          <p:nvPr/>
        </p:nvSpPr>
        <p:spPr>
          <a:xfrm>
            <a:off x="2867825" y="145193"/>
            <a:ext cx="5764091" cy="461665"/>
          </a:xfrm>
          <a:prstGeom prst="rect">
            <a:avLst/>
          </a:prstGeom>
          <a:noFill/>
        </p:spPr>
        <p:txBody>
          <a:bodyPr wrap="square" rtlCol="0">
            <a:spAutoFit/>
          </a:bodyPr>
          <a:lstStyle/>
          <a:p>
            <a:pPr algn="ctr"/>
            <a:r>
              <a:rPr lang="en-US" sz="2400" b="1" dirty="0">
                <a:solidFill>
                  <a:srgbClr val="DAA600"/>
                </a:solidFill>
                <a:latin typeface="Times New Roman" panose="02020603050405020304" pitchFamily="18" charset="0"/>
                <a:cs typeface="Times New Roman" panose="02020603050405020304" pitchFamily="18" charset="0"/>
              </a:rPr>
              <a:t>ĐỘI BAY A321CEO</a:t>
            </a:r>
            <a:endParaRPr lang="en-GB" sz="2400" b="1" dirty="0">
              <a:solidFill>
                <a:srgbClr val="DAA600"/>
              </a:solidFill>
              <a:latin typeface="Times New Roman" panose="02020603050405020304" pitchFamily="18" charset="0"/>
              <a:cs typeface="Times New Roman" panose="02020603050405020304" pitchFamily="18" charset="0"/>
            </a:endParaRPr>
          </a:p>
        </p:txBody>
      </p:sp>
      <p:graphicFrame>
        <p:nvGraphicFramePr>
          <p:cNvPr id="7" name="Table 2">
            <a:extLst>
              <a:ext uri="{FF2B5EF4-FFF2-40B4-BE49-F238E27FC236}">
                <a16:creationId xmlns:a16="http://schemas.microsoft.com/office/drawing/2014/main" xmlns="" id="{7BBB0B2C-0AB6-AE2A-F08B-65F49223079D}"/>
              </a:ext>
            </a:extLst>
          </p:cNvPr>
          <p:cNvGraphicFramePr>
            <a:graphicFrameLocks noGrp="1"/>
          </p:cNvGraphicFramePr>
          <p:nvPr/>
        </p:nvGraphicFramePr>
        <p:xfrm>
          <a:off x="185139" y="1041725"/>
          <a:ext cx="5339361" cy="3638997"/>
        </p:xfrm>
        <a:graphic>
          <a:graphicData uri="http://schemas.openxmlformats.org/drawingml/2006/table">
            <a:tbl>
              <a:tblPr firstRow="1" bandRow="1">
                <a:tableStyleId>{5C22544A-7EE6-4342-B048-85BDC9FD1C3A}</a:tableStyleId>
              </a:tblPr>
              <a:tblGrid>
                <a:gridCol w="430883">
                  <a:extLst>
                    <a:ext uri="{9D8B030D-6E8A-4147-A177-3AD203B41FA5}">
                      <a16:colId xmlns:a16="http://schemas.microsoft.com/office/drawing/2014/main" xmlns="" val="1598605427"/>
                    </a:ext>
                  </a:extLst>
                </a:gridCol>
                <a:gridCol w="701211">
                  <a:extLst>
                    <a:ext uri="{9D8B030D-6E8A-4147-A177-3AD203B41FA5}">
                      <a16:colId xmlns:a16="http://schemas.microsoft.com/office/drawing/2014/main" xmlns="" val="3845954792"/>
                    </a:ext>
                  </a:extLst>
                </a:gridCol>
                <a:gridCol w="1023768">
                  <a:extLst>
                    <a:ext uri="{9D8B030D-6E8A-4147-A177-3AD203B41FA5}">
                      <a16:colId xmlns:a16="http://schemas.microsoft.com/office/drawing/2014/main" xmlns="" val="2148822928"/>
                    </a:ext>
                  </a:extLst>
                </a:gridCol>
                <a:gridCol w="872619">
                  <a:extLst>
                    <a:ext uri="{9D8B030D-6E8A-4147-A177-3AD203B41FA5}">
                      <a16:colId xmlns:a16="http://schemas.microsoft.com/office/drawing/2014/main" xmlns="" val="1185879436"/>
                    </a:ext>
                  </a:extLst>
                </a:gridCol>
                <a:gridCol w="2310880">
                  <a:extLst>
                    <a:ext uri="{9D8B030D-6E8A-4147-A177-3AD203B41FA5}">
                      <a16:colId xmlns:a16="http://schemas.microsoft.com/office/drawing/2014/main" xmlns="" val="3328294324"/>
                    </a:ext>
                  </a:extLst>
                </a:gridCol>
              </a:tblGrid>
              <a:tr h="259883">
                <a:tc>
                  <a:txBody>
                    <a:bodyPr/>
                    <a:lstStyle/>
                    <a:p>
                      <a:pPr algn="ct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ESN</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Status</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err="1">
                          <a:latin typeface="Times New Roman" panose="02020603050405020304" pitchFamily="18" charset="0"/>
                          <a:cs typeface="Times New Roman" panose="02020603050405020304" pitchFamily="18" charset="0"/>
                        </a:rPr>
                        <a:t>Ngày</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xong</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Remark</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234812354"/>
                  </a:ext>
                </a:extLst>
              </a:tr>
              <a:tr h="259080">
                <a:tc>
                  <a:txBody>
                    <a:bodyPr/>
                    <a:lstStyle/>
                    <a:p>
                      <a:pPr algn="ctr"/>
                      <a:r>
                        <a:rPr lang="en-US" sz="1100" dirty="0">
                          <a:solidFill>
                            <a:srgbClr val="FF0000"/>
                          </a:solidFill>
                          <a:latin typeface="Times New Roman" panose="02020603050405020304" pitchFamily="18" charset="0"/>
                          <a:cs typeface="Times New Roman" panose="02020603050405020304" pitchFamily="18" charset="0"/>
                        </a:rPr>
                        <a:t>1</a:t>
                      </a:r>
                      <a:endParaRPr lang="en-GB" sz="1100"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V16001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30/12/2024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18/01/2025 </a:t>
                      </a:r>
                      <a:r>
                        <a:rPr lang="en-GB" sz="1100" dirty="0" err="1">
                          <a:solidFill>
                            <a:srgbClr val="FF0000"/>
                          </a:solidFill>
                          <a:latin typeface="Times New Roman" panose="02020603050405020304" pitchFamily="18" charset="0"/>
                          <a:cs typeface="Times New Roman" panose="02020603050405020304" pitchFamily="18" charset="0"/>
                        </a:rPr>
                        <a:t>về</a:t>
                      </a:r>
                      <a:r>
                        <a:rPr lang="en-GB" sz="1100" dirty="0">
                          <a:solidFill>
                            <a:srgbClr val="FF0000"/>
                          </a:solidFill>
                          <a:latin typeface="Times New Roman" panose="02020603050405020304" pitchFamily="18" charset="0"/>
                          <a:cs typeface="Times New Roman" panose="02020603050405020304" pitchFamily="18" charset="0"/>
                        </a:rPr>
                        <a:t> HAN (pre 13/01)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924237589"/>
                  </a:ext>
                </a:extLst>
              </a:tr>
              <a:tr h="259080">
                <a:tc>
                  <a:txBody>
                    <a:bodyPr/>
                    <a:lstStyle/>
                    <a:p>
                      <a:pPr algn="ctr"/>
                      <a:r>
                        <a:rPr lang="en-US" sz="1100" dirty="0">
                          <a:solidFill>
                            <a:srgbClr val="FF0000"/>
                          </a:solidFill>
                          <a:latin typeface="Times New Roman" panose="02020603050405020304" pitchFamily="18" charset="0"/>
                          <a:cs typeface="Times New Roman" panose="02020603050405020304" pitchFamily="18" charset="0"/>
                        </a:rPr>
                        <a:t>2</a:t>
                      </a:r>
                      <a:endParaRPr lang="en-GB" sz="1100"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V15851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28/01/2024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rgbClr val="FF0000"/>
                          </a:solidFill>
                          <a:latin typeface="Times New Roman" panose="02020603050405020304" pitchFamily="18" charset="0"/>
                          <a:cs typeface="Times New Roman" panose="02020603050405020304" pitchFamily="18" charset="0"/>
                        </a:rPr>
                        <a:t>07/02/2025 </a:t>
                      </a:r>
                      <a:r>
                        <a:rPr lang="en-GB" sz="1100" dirty="0" err="1">
                          <a:solidFill>
                            <a:srgbClr val="FF0000"/>
                          </a:solidFill>
                          <a:latin typeface="Times New Roman" panose="02020603050405020304" pitchFamily="18" charset="0"/>
                          <a:cs typeface="Times New Roman" panose="02020603050405020304" pitchFamily="18" charset="0"/>
                        </a:rPr>
                        <a:t>về</a:t>
                      </a:r>
                      <a:r>
                        <a:rPr lang="en-GB" sz="1100" dirty="0">
                          <a:solidFill>
                            <a:srgbClr val="FF0000"/>
                          </a:solidFill>
                          <a:latin typeface="Times New Roman" panose="02020603050405020304" pitchFamily="18" charset="0"/>
                          <a:cs typeface="Times New Roman" panose="02020603050405020304" pitchFamily="18" charset="0"/>
                        </a:rPr>
                        <a:t> HAN (pre 24/01)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704525903"/>
                  </a:ext>
                </a:extLst>
              </a:tr>
              <a:tr h="259883">
                <a:tc>
                  <a:txBody>
                    <a:bodyPr/>
                    <a:lstStyle/>
                    <a:p>
                      <a:pPr algn="ctr"/>
                      <a:r>
                        <a:rPr lang="en-US" sz="1100" dirty="0">
                          <a:solidFill>
                            <a:srgbClr val="FF0000"/>
                          </a:solidFill>
                          <a:latin typeface="Times New Roman" panose="02020603050405020304" pitchFamily="18" charset="0"/>
                          <a:cs typeface="Times New Roman" panose="02020603050405020304" pitchFamily="18" charset="0"/>
                        </a:rPr>
                        <a:t>3</a:t>
                      </a:r>
                      <a:endParaRPr lang="en-GB" sz="1100"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V17951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26/12/2024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rgbClr val="FF0000"/>
                          </a:solidFill>
                          <a:latin typeface="Times New Roman" panose="02020603050405020304" pitchFamily="18" charset="0"/>
                          <a:cs typeface="Times New Roman" panose="02020603050405020304" pitchFamily="18" charset="0"/>
                        </a:rPr>
                        <a:t>15/01/2025 </a:t>
                      </a:r>
                      <a:r>
                        <a:rPr lang="en-GB" sz="1100" dirty="0" err="1">
                          <a:solidFill>
                            <a:srgbClr val="FF0000"/>
                          </a:solidFill>
                          <a:latin typeface="Times New Roman" panose="02020603050405020304" pitchFamily="18" charset="0"/>
                          <a:cs typeface="Times New Roman" panose="02020603050405020304" pitchFamily="18" charset="0"/>
                        </a:rPr>
                        <a:t>về</a:t>
                      </a:r>
                      <a:r>
                        <a:rPr lang="en-GB" sz="1100" dirty="0">
                          <a:solidFill>
                            <a:srgbClr val="FF0000"/>
                          </a:solidFill>
                          <a:latin typeface="Times New Roman" panose="02020603050405020304" pitchFamily="18" charset="0"/>
                          <a:cs typeface="Times New Roman" panose="02020603050405020304" pitchFamily="18" charset="0"/>
                        </a:rPr>
                        <a:t> HAN (pre 09/01)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205220057"/>
                  </a:ext>
                </a:extLst>
              </a:tr>
              <a:tr h="259883">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V16037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15/03/2025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22/03/2025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10"/>
                  </a:ext>
                </a:extLst>
              </a:tr>
              <a:tr h="259883">
                <a:tc>
                  <a:txBody>
                    <a:bodyPr/>
                    <a:lstStyle/>
                    <a:p>
                      <a:pPr algn="ctr"/>
                      <a:r>
                        <a:rPr lang="en-GB" sz="1100" dirty="0">
                          <a:solidFill>
                            <a:srgbClr val="FF0000"/>
                          </a:solidFill>
                          <a:latin typeface="Times New Roman" panose="02020603050405020304" pitchFamily="18" charset="0"/>
                          <a:cs typeface="Times New Roman" panose="02020603050405020304" pitchFamily="18"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V16338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15/04/2025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rgbClr val="FF0000"/>
                          </a:solidFill>
                          <a:latin typeface="Times New Roman" panose="02020603050405020304" pitchFamily="18" charset="0"/>
                          <a:cs typeface="Times New Roman" panose="02020603050405020304" pitchFamily="18" charset="0"/>
                        </a:rPr>
                        <a:t>22/04/2025 </a:t>
                      </a:r>
                      <a:r>
                        <a:rPr lang="en-GB" sz="1100" dirty="0" err="1">
                          <a:solidFill>
                            <a:srgbClr val="FF0000"/>
                          </a:solidFill>
                          <a:latin typeface="Times New Roman" panose="02020603050405020304" pitchFamily="18" charset="0"/>
                          <a:cs typeface="Times New Roman" panose="02020603050405020304" pitchFamily="18" charset="0"/>
                        </a:rPr>
                        <a:t>về</a:t>
                      </a:r>
                      <a:r>
                        <a:rPr lang="en-GB" sz="1100" dirty="0">
                          <a:solidFill>
                            <a:srgbClr val="FF0000"/>
                          </a:solidFill>
                          <a:latin typeface="Times New Roman" panose="02020603050405020304" pitchFamily="18" charset="0"/>
                          <a:cs typeface="Times New Roman" panose="02020603050405020304" pitchFamily="18" charset="0"/>
                        </a:rPr>
                        <a:t> HAN (pre 01/05)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12"/>
                  </a:ext>
                </a:extLst>
              </a:tr>
              <a:tr h="259883">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V16692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(CHCEC)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20/05/2025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27/05/2025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13"/>
                  </a:ext>
                </a:extLst>
              </a:tr>
              <a:tr h="259883">
                <a:tc>
                  <a:txBody>
                    <a:bodyPr/>
                    <a:lstStyle/>
                    <a:p>
                      <a:pPr algn="ctr"/>
                      <a:r>
                        <a:rPr lang="en-GB" sz="1100" dirty="0">
                          <a:solidFill>
                            <a:srgbClr val="FF0000"/>
                          </a:solidFill>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V16456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26/04/2025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rgbClr val="FF0000"/>
                          </a:solidFill>
                          <a:latin typeface="Times New Roman" panose="02020603050405020304" pitchFamily="18" charset="0"/>
                          <a:cs typeface="Times New Roman" panose="02020603050405020304" pitchFamily="18" charset="0"/>
                        </a:rPr>
                        <a:t>03/05/2025 </a:t>
                      </a:r>
                      <a:r>
                        <a:rPr lang="en-GB" sz="1100" dirty="0" err="1">
                          <a:solidFill>
                            <a:srgbClr val="FF0000"/>
                          </a:solidFill>
                          <a:latin typeface="Times New Roman" panose="02020603050405020304" pitchFamily="18" charset="0"/>
                          <a:cs typeface="Times New Roman" panose="02020603050405020304" pitchFamily="18" charset="0"/>
                        </a:rPr>
                        <a:t>về</a:t>
                      </a:r>
                      <a:r>
                        <a:rPr lang="en-GB" sz="1100" dirty="0">
                          <a:solidFill>
                            <a:srgbClr val="FF0000"/>
                          </a:solidFill>
                          <a:latin typeface="Times New Roman" panose="02020603050405020304" pitchFamily="18" charset="0"/>
                          <a:cs typeface="Times New Roman" panose="02020603050405020304" pitchFamily="18" charset="0"/>
                        </a:rPr>
                        <a:t> HAN (pre 18/05)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14"/>
                  </a:ext>
                </a:extLst>
              </a:tr>
              <a:tr h="265336">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V12505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13/01/2025 induct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15"/>
                  </a:ext>
                </a:extLst>
              </a:tr>
              <a:tr h="259883">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V16558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(CHCEC)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16/01/2025 induct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17"/>
                  </a:ext>
                </a:extLst>
              </a:tr>
              <a:tr h="25908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V16799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(SEC)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15/01/2025 induct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18"/>
                  </a:ext>
                </a:extLst>
              </a:tr>
              <a:tr h="25908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Đang</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chờ</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vận</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chuyển</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20"/>
                  </a:ext>
                </a:extLst>
              </a:tr>
              <a:tr h="25908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V16694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Đang</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chờ</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vận</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chuyển</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21"/>
                  </a:ext>
                </a:extLst>
              </a:tr>
              <a:tr h="25908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V15858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Đang</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chờ</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vận</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chuyển</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22"/>
                  </a:ext>
                </a:extLst>
              </a:tr>
            </a:tbl>
          </a:graphicData>
        </a:graphic>
      </p:graphicFrame>
      <p:sp>
        <p:nvSpPr>
          <p:cNvPr id="10" name="TextBox 9">
            <a:extLst>
              <a:ext uri="{FF2B5EF4-FFF2-40B4-BE49-F238E27FC236}">
                <a16:creationId xmlns:a16="http://schemas.microsoft.com/office/drawing/2014/main" xmlns="" id="{065B7C68-FAE0-542E-3B49-CC53ADF9B04A}"/>
              </a:ext>
            </a:extLst>
          </p:cNvPr>
          <p:cNvSpPr txBox="1"/>
          <p:nvPr/>
        </p:nvSpPr>
        <p:spPr>
          <a:xfrm>
            <a:off x="6731102" y="606858"/>
            <a:ext cx="3236527" cy="307777"/>
          </a:xfrm>
          <a:prstGeom prst="rect">
            <a:avLst/>
          </a:prstGeom>
          <a:noFill/>
        </p:spPr>
        <p:txBody>
          <a:bodyPr wrap="none" rtlCol="0">
            <a:spAutoFit/>
          </a:bodyPr>
          <a:lstStyle/>
          <a:p>
            <a:r>
              <a:rPr lang="en-US" sz="1400" b="1" dirty="0" err="1">
                <a:solidFill>
                  <a:srgbClr val="002060"/>
                </a:solidFill>
                <a:latin typeface="Times New Roman" panose="02020603050405020304" pitchFamily="18" charset="0"/>
                <a:cs typeface="Times New Roman" panose="02020603050405020304" pitchFamily="18" charset="0"/>
              </a:rPr>
              <a:t>Kế</a:t>
            </a:r>
            <a:r>
              <a:rPr lang="en-US" sz="1400" b="1" dirty="0">
                <a:solidFill>
                  <a:srgbClr val="002060"/>
                </a:solidFill>
                <a:latin typeface="Times New Roman" panose="02020603050405020304" pitchFamily="18" charset="0"/>
                <a:cs typeface="Times New Roman" panose="02020603050405020304" pitchFamily="18" charset="0"/>
              </a:rPr>
              <a:t> </a:t>
            </a:r>
            <a:r>
              <a:rPr lang="en-US" sz="1400" b="1" dirty="0" err="1">
                <a:solidFill>
                  <a:srgbClr val="002060"/>
                </a:solidFill>
                <a:latin typeface="Times New Roman" panose="02020603050405020304" pitchFamily="18" charset="0"/>
                <a:cs typeface="Times New Roman" panose="02020603050405020304" pitchFamily="18" charset="0"/>
              </a:rPr>
              <a:t>hoạch</a:t>
            </a:r>
            <a:r>
              <a:rPr lang="en-US" sz="1400" b="1" dirty="0">
                <a:solidFill>
                  <a:srgbClr val="002060"/>
                </a:solidFill>
                <a:latin typeface="Times New Roman" panose="02020603050405020304" pitchFamily="18" charset="0"/>
                <a:cs typeface="Times New Roman" panose="02020603050405020304" pitchFamily="18" charset="0"/>
              </a:rPr>
              <a:t> </a:t>
            </a:r>
            <a:r>
              <a:rPr lang="en-US" sz="1400" b="1" dirty="0" err="1">
                <a:solidFill>
                  <a:srgbClr val="002060"/>
                </a:solidFill>
                <a:latin typeface="Times New Roman" panose="02020603050405020304" pitchFamily="18" charset="0"/>
                <a:cs typeface="Times New Roman" panose="02020603050405020304" pitchFamily="18" charset="0"/>
              </a:rPr>
              <a:t>đội</a:t>
            </a:r>
            <a:r>
              <a:rPr lang="en-US" sz="1400" b="1" dirty="0">
                <a:solidFill>
                  <a:srgbClr val="002060"/>
                </a:solidFill>
                <a:latin typeface="Times New Roman" panose="02020603050405020304" pitchFamily="18" charset="0"/>
                <a:cs typeface="Times New Roman" panose="02020603050405020304" pitchFamily="18" charset="0"/>
              </a:rPr>
              <a:t> A321CEO 2024 – Q1/2025</a:t>
            </a:r>
            <a:endParaRPr lang="en-GB" sz="1400" b="1" dirty="0">
              <a:solidFill>
                <a:srgbClr val="002060"/>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xmlns="" id="{694FDAB8-BE54-1FE3-A128-4924718F86B6}"/>
              </a:ext>
            </a:extLst>
          </p:cNvPr>
          <p:cNvSpPr txBox="1"/>
          <p:nvPr/>
        </p:nvSpPr>
        <p:spPr>
          <a:xfrm>
            <a:off x="953116" y="626876"/>
            <a:ext cx="2911374" cy="307777"/>
          </a:xfrm>
          <a:prstGeom prst="rect">
            <a:avLst/>
          </a:prstGeom>
          <a:noFill/>
        </p:spPr>
        <p:txBody>
          <a:bodyPr wrap="none" rtlCol="0">
            <a:spAutoFit/>
          </a:bodyPr>
          <a:lstStyle/>
          <a:p>
            <a:r>
              <a:rPr lang="en-US" sz="1400" b="1" dirty="0" err="1">
                <a:solidFill>
                  <a:srgbClr val="002060"/>
                </a:solidFill>
                <a:latin typeface="Times New Roman" panose="02020603050405020304" pitchFamily="18" charset="0"/>
                <a:cs typeface="Times New Roman" panose="02020603050405020304" pitchFamily="18" charset="0"/>
              </a:rPr>
              <a:t>Các</a:t>
            </a:r>
            <a:r>
              <a:rPr lang="en-US" sz="1400" b="1" dirty="0">
                <a:solidFill>
                  <a:srgbClr val="002060"/>
                </a:solidFill>
                <a:latin typeface="Times New Roman" panose="02020603050405020304" pitchFamily="18" charset="0"/>
                <a:cs typeface="Times New Roman" panose="02020603050405020304" pitchFamily="18" charset="0"/>
              </a:rPr>
              <a:t> </a:t>
            </a:r>
            <a:r>
              <a:rPr lang="en-US" sz="1400" b="1" dirty="0" err="1">
                <a:solidFill>
                  <a:srgbClr val="002060"/>
                </a:solidFill>
                <a:latin typeface="Times New Roman" panose="02020603050405020304" pitchFamily="18" charset="0"/>
                <a:cs typeface="Times New Roman" panose="02020603050405020304" pitchFamily="18" charset="0"/>
              </a:rPr>
              <a:t>động</a:t>
            </a:r>
            <a:r>
              <a:rPr lang="en-US" sz="1400" b="1" dirty="0">
                <a:solidFill>
                  <a:srgbClr val="002060"/>
                </a:solidFill>
                <a:latin typeface="Times New Roman" panose="02020603050405020304" pitchFamily="18" charset="0"/>
                <a:cs typeface="Times New Roman" panose="02020603050405020304" pitchFamily="18" charset="0"/>
              </a:rPr>
              <a:t> </a:t>
            </a:r>
            <a:r>
              <a:rPr lang="en-US" sz="1400" b="1" dirty="0" err="1">
                <a:solidFill>
                  <a:srgbClr val="002060"/>
                </a:solidFill>
                <a:latin typeface="Times New Roman" panose="02020603050405020304" pitchFamily="18" charset="0"/>
                <a:cs typeface="Times New Roman" panose="02020603050405020304" pitchFamily="18" charset="0"/>
              </a:rPr>
              <a:t>cơ</a:t>
            </a:r>
            <a:r>
              <a:rPr lang="en-US" sz="1400" b="1" dirty="0">
                <a:solidFill>
                  <a:srgbClr val="002060"/>
                </a:solidFill>
                <a:latin typeface="Times New Roman" panose="02020603050405020304" pitchFamily="18" charset="0"/>
                <a:cs typeface="Times New Roman" panose="02020603050405020304" pitchFamily="18" charset="0"/>
              </a:rPr>
              <a:t> </a:t>
            </a:r>
            <a:r>
              <a:rPr lang="en-US" sz="1400" b="1" dirty="0" err="1">
                <a:solidFill>
                  <a:srgbClr val="002060"/>
                </a:solidFill>
                <a:latin typeface="Times New Roman" panose="02020603050405020304" pitchFamily="18" charset="0"/>
                <a:cs typeface="Times New Roman" panose="02020603050405020304" pitchFamily="18" charset="0"/>
              </a:rPr>
              <a:t>đã</a:t>
            </a:r>
            <a:r>
              <a:rPr lang="en-US" sz="1400" b="1" dirty="0">
                <a:solidFill>
                  <a:srgbClr val="002060"/>
                </a:solidFill>
                <a:latin typeface="Times New Roman" panose="02020603050405020304" pitchFamily="18" charset="0"/>
                <a:cs typeface="Times New Roman" panose="02020603050405020304" pitchFamily="18" charset="0"/>
              </a:rPr>
              <a:t> </a:t>
            </a:r>
            <a:r>
              <a:rPr lang="en-US" sz="1400" b="1" dirty="0" err="1">
                <a:solidFill>
                  <a:srgbClr val="002060"/>
                </a:solidFill>
                <a:latin typeface="Times New Roman" panose="02020603050405020304" pitchFamily="18" charset="0"/>
                <a:cs typeface="Times New Roman" panose="02020603050405020304" pitchFamily="18" charset="0"/>
              </a:rPr>
              <a:t>tháo</a:t>
            </a:r>
            <a:r>
              <a:rPr lang="en-US" sz="1400" b="1" dirty="0">
                <a:solidFill>
                  <a:srgbClr val="002060"/>
                </a:solidFill>
                <a:latin typeface="Times New Roman" panose="02020603050405020304" pitchFamily="18" charset="0"/>
                <a:cs typeface="Times New Roman" panose="02020603050405020304" pitchFamily="18" charset="0"/>
              </a:rPr>
              <a:t>/</a:t>
            </a:r>
            <a:r>
              <a:rPr lang="en-US" sz="1400" b="1" dirty="0" err="1">
                <a:solidFill>
                  <a:srgbClr val="002060"/>
                </a:solidFill>
                <a:latin typeface="Times New Roman" panose="02020603050405020304" pitchFamily="18" charset="0"/>
                <a:cs typeface="Times New Roman" panose="02020603050405020304" pitchFamily="18" charset="0"/>
              </a:rPr>
              <a:t>đang</a:t>
            </a:r>
            <a:r>
              <a:rPr lang="en-US" sz="1400" b="1" dirty="0">
                <a:solidFill>
                  <a:srgbClr val="002060"/>
                </a:solidFill>
                <a:latin typeface="Times New Roman" panose="02020603050405020304" pitchFamily="18" charset="0"/>
                <a:cs typeface="Times New Roman" panose="02020603050405020304" pitchFamily="18" charset="0"/>
              </a:rPr>
              <a:t> </a:t>
            </a:r>
            <a:r>
              <a:rPr lang="en-US" sz="1400" b="1" dirty="0" err="1">
                <a:solidFill>
                  <a:srgbClr val="002060"/>
                </a:solidFill>
                <a:latin typeface="Times New Roman" panose="02020603050405020304" pitchFamily="18" charset="0"/>
                <a:cs typeface="Times New Roman" panose="02020603050405020304" pitchFamily="18" charset="0"/>
              </a:rPr>
              <a:t>sửa</a:t>
            </a:r>
            <a:r>
              <a:rPr lang="en-US" sz="1400" b="1" dirty="0">
                <a:solidFill>
                  <a:srgbClr val="002060"/>
                </a:solidFill>
                <a:latin typeface="Times New Roman" panose="02020603050405020304" pitchFamily="18" charset="0"/>
                <a:cs typeface="Times New Roman" panose="02020603050405020304" pitchFamily="18" charset="0"/>
              </a:rPr>
              <a:t> </a:t>
            </a:r>
            <a:r>
              <a:rPr lang="en-US" sz="1400" b="1" dirty="0" err="1">
                <a:solidFill>
                  <a:srgbClr val="002060"/>
                </a:solidFill>
                <a:latin typeface="Times New Roman" panose="02020603050405020304" pitchFamily="18" charset="0"/>
                <a:cs typeface="Times New Roman" panose="02020603050405020304" pitchFamily="18" charset="0"/>
              </a:rPr>
              <a:t>chữa</a:t>
            </a:r>
            <a:endParaRPr lang="en-GB" sz="14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2" name="Table 11">
            <a:extLst>
              <a:ext uri="{FF2B5EF4-FFF2-40B4-BE49-F238E27FC236}">
                <a16:creationId xmlns:a16="http://schemas.microsoft.com/office/drawing/2014/main" xmlns="" id="{798A4453-6D37-A3D5-A532-1D65A56E72A5}"/>
              </a:ext>
            </a:extLst>
          </p:cNvPr>
          <p:cNvGraphicFramePr>
            <a:graphicFrameLocks noGrp="1"/>
          </p:cNvGraphicFramePr>
          <p:nvPr/>
        </p:nvGraphicFramePr>
        <p:xfrm>
          <a:off x="5737201" y="1035392"/>
          <a:ext cx="6207277" cy="2071693"/>
        </p:xfrm>
        <a:graphic>
          <a:graphicData uri="http://schemas.openxmlformats.org/drawingml/2006/table">
            <a:tbl>
              <a:tblPr firstRow="1" bandRow="1">
                <a:tableStyleId>{93296810-A885-4BE3-A3E7-6D5BEEA58F35}</a:tableStyleId>
              </a:tblPr>
              <a:tblGrid>
                <a:gridCol w="536403">
                  <a:extLst>
                    <a:ext uri="{9D8B030D-6E8A-4147-A177-3AD203B41FA5}">
                      <a16:colId xmlns:a16="http://schemas.microsoft.com/office/drawing/2014/main" xmlns="" val="4292553957"/>
                    </a:ext>
                  </a:extLst>
                </a:gridCol>
                <a:gridCol w="835915">
                  <a:extLst>
                    <a:ext uri="{9D8B030D-6E8A-4147-A177-3AD203B41FA5}">
                      <a16:colId xmlns:a16="http://schemas.microsoft.com/office/drawing/2014/main" xmlns="" val="4057841190"/>
                    </a:ext>
                  </a:extLst>
                </a:gridCol>
                <a:gridCol w="826627">
                  <a:extLst>
                    <a:ext uri="{9D8B030D-6E8A-4147-A177-3AD203B41FA5}">
                      <a16:colId xmlns:a16="http://schemas.microsoft.com/office/drawing/2014/main" xmlns="" val="4208667331"/>
                    </a:ext>
                  </a:extLst>
                </a:gridCol>
                <a:gridCol w="1263161">
                  <a:extLst>
                    <a:ext uri="{9D8B030D-6E8A-4147-A177-3AD203B41FA5}">
                      <a16:colId xmlns:a16="http://schemas.microsoft.com/office/drawing/2014/main" xmlns="" val="4243809776"/>
                    </a:ext>
                  </a:extLst>
                </a:gridCol>
                <a:gridCol w="2745171">
                  <a:extLst>
                    <a:ext uri="{9D8B030D-6E8A-4147-A177-3AD203B41FA5}">
                      <a16:colId xmlns:a16="http://schemas.microsoft.com/office/drawing/2014/main" xmlns="" val="1351526185"/>
                    </a:ext>
                  </a:extLst>
                </a:gridCol>
              </a:tblGrid>
              <a:tr h="280997">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AC</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Ngày</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tháo</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lắp</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2867819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V15876</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A610#1</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03-05/03/2025</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V17951</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33017303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V11752</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A354#2</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08-10/03/2025</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HSR,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V16001</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71627351"/>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V11694</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A359#1</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10-12/04/2025</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HSR,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V15851</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95071077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4</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V16570</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A329#2</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20-22/04/2025</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V12505</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522361802"/>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5</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V16512</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A357#2</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05-07/05/2025</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V16037</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38049262"/>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6</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V11704</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A606#2</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15-17/05/2025</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HSR,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V16338</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28607678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7</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V15935</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A392#2</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10-12/06/2025</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V16456</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8688097"/>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8</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V10533</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A398#1</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28-30/06/2025</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Tháo</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Willis,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V6692</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400194852"/>
                  </a:ext>
                </a:extLst>
              </a:tr>
            </a:tbl>
          </a:graphicData>
        </a:graphic>
      </p:graphicFrame>
      <p:sp>
        <p:nvSpPr>
          <p:cNvPr id="3" name="TextBox 2">
            <a:extLst>
              <a:ext uri="{FF2B5EF4-FFF2-40B4-BE49-F238E27FC236}">
                <a16:creationId xmlns:a16="http://schemas.microsoft.com/office/drawing/2014/main" xmlns="" id="{4DE6CC1A-C4DC-6FC8-06CD-779939B6893C}"/>
              </a:ext>
            </a:extLst>
          </p:cNvPr>
          <p:cNvSpPr txBox="1"/>
          <p:nvPr/>
        </p:nvSpPr>
        <p:spPr>
          <a:xfrm>
            <a:off x="7340537" y="3378396"/>
            <a:ext cx="2047355" cy="307777"/>
          </a:xfrm>
          <a:prstGeom prst="rect">
            <a:avLst/>
          </a:prstGeom>
          <a:noFill/>
        </p:spPr>
        <p:txBody>
          <a:bodyPr wrap="none" rtlCol="0">
            <a:spAutoFit/>
          </a:bodyPr>
          <a:lstStyle/>
          <a:p>
            <a:r>
              <a:rPr lang="en-US" sz="1400" b="1" dirty="0" err="1">
                <a:solidFill>
                  <a:srgbClr val="002060"/>
                </a:solidFill>
                <a:latin typeface="Times New Roman" panose="02020603050405020304" pitchFamily="18" charset="0"/>
                <a:cs typeface="Times New Roman" panose="02020603050405020304" pitchFamily="18" charset="0"/>
              </a:rPr>
              <a:t>Tình</a:t>
            </a:r>
            <a:r>
              <a:rPr lang="en-US" sz="1400" b="1" dirty="0">
                <a:solidFill>
                  <a:srgbClr val="002060"/>
                </a:solidFill>
                <a:latin typeface="Times New Roman" panose="02020603050405020304" pitchFamily="18" charset="0"/>
                <a:cs typeface="Times New Roman" panose="02020603050405020304" pitchFamily="18" charset="0"/>
              </a:rPr>
              <a:t> </a:t>
            </a:r>
            <a:r>
              <a:rPr lang="en-US" sz="1400" b="1" dirty="0" err="1">
                <a:solidFill>
                  <a:srgbClr val="002060"/>
                </a:solidFill>
                <a:latin typeface="Times New Roman" panose="02020603050405020304" pitchFamily="18" charset="0"/>
                <a:cs typeface="Times New Roman" panose="02020603050405020304" pitchFamily="18" charset="0"/>
              </a:rPr>
              <a:t>trạng</a:t>
            </a:r>
            <a:r>
              <a:rPr lang="en-US" sz="1400" b="1" dirty="0">
                <a:solidFill>
                  <a:srgbClr val="002060"/>
                </a:solidFill>
                <a:latin typeface="Times New Roman" panose="02020603050405020304" pitchFamily="18" charset="0"/>
                <a:cs typeface="Times New Roman" panose="02020603050405020304" pitchFamily="18" charset="0"/>
              </a:rPr>
              <a:t> </a:t>
            </a:r>
            <a:r>
              <a:rPr lang="en-US" sz="1400" b="1" dirty="0" err="1">
                <a:solidFill>
                  <a:srgbClr val="002060"/>
                </a:solidFill>
                <a:latin typeface="Times New Roman" panose="02020603050405020304" pitchFamily="18" charset="0"/>
                <a:cs typeface="Times New Roman" panose="02020603050405020304" pitchFamily="18" charset="0"/>
              </a:rPr>
              <a:t>động</a:t>
            </a:r>
            <a:r>
              <a:rPr lang="en-US" sz="1400" b="1" dirty="0">
                <a:solidFill>
                  <a:srgbClr val="002060"/>
                </a:solidFill>
                <a:latin typeface="Times New Roman" panose="02020603050405020304" pitchFamily="18" charset="0"/>
                <a:cs typeface="Times New Roman" panose="02020603050405020304" pitchFamily="18" charset="0"/>
              </a:rPr>
              <a:t> </a:t>
            </a:r>
            <a:r>
              <a:rPr lang="en-US" sz="1400" b="1" dirty="0" err="1">
                <a:solidFill>
                  <a:srgbClr val="002060"/>
                </a:solidFill>
                <a:latin typeface="Times New Roman" panose="02020603050405020304" pitchFamily="18" charset="0"/>
                <a:cs typeface="Times New Roman" panose="02020603050405020304" pitchFamily="18" charset="0"/>
              </a:rPr>
              <a:t>cơ</a:t>
            </a:r>
            <a:r>
              <a:rPr lang="en-US" sz="1400" b="1" dirty="0">
                <a:solidFill>
                  <a:srgbClr val="002060"/>
                </a:solidFill>
                <a:latin typeface="Times New Roman" panose="02020603050405020304" pitchFamily="18" charset="0"/>
                <a:cs typeface="Times New Roman" panose="02020603050405020304" pitchFamily="18" charset="0"/>
              </a:rPr>
              <a:t> </a:t>
            </a:r>
            <a:r>
              <a:rPr lang="en-US" sz="1400" b="1" dirty="0" err="1">
                <a:solidFill>
                  <a:srgbClr val="002060"/>
                </a:solidFill>
                <a:latin typeface="Times New Roman" panose="02020603050405020304" pitchFamily="18" charset="0"/>
                <a:cs typeface="Times New Roman" panose="02020603050405020304" pitchFamily="18" charset="0"/>
              </a:rPr>
              <a:t>thuê</a:t>
            </a:r>
            <a:endParaRPr lang="en-GB" sz="14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xmlns="" id="{8E7616FB-C309-B068-5BA6-2EC84567F23C}"/>
              </a:ext>
            </a:extLst>
          </p:cNvPr>
          <p:cNvGraphicFramePr>
            <a:graphicFrameLocks noGrp="1"/>
          </p:cNvGraphicFramePr>
          <p:nvPr/>
        </p:nvGraphicFramePr>
        <p:xfrm>
          <a:off x="5760210" y="3861967"/>
          <a:ext cx="6207277" cy="2519367"/>
        </p:xfrm>
        <a:graphic>
          <a:graphicData uri="http://schemas.openxmlformats.org/drawingml/2006/table">
            <a:tbl>
              <a:tblPr firstRow="1" bandRow="1">
                <a:tableStyleId>{93296810-A885-4BE3-A3E7-6D5BEEA58F35}</a:tableStyleId>
              </a:tblPr>
              <a:tblGrid>
                <a:gridCol w="536403">
                  <a:extLst>
                    <a:ext uri="{9D8B030D-6E8A-4147-A177-3AD203B41FA5}">
                      <a16:colId xmlns:a16="http://schemas.microsoft.com/office/drawing/2014/main" xmlns="" val="4292553957"/>
                    </a:ext>
                  </a:extLst>
                </a:gridCol>
                <a:gridCol w="835915">
                  <a:extLst>
                    <a:ext uri="{9D8B030D-6E8A-4147-A177-3AD203B41FA5}">
                      <a16:colId xmlns:a16="http://schemas.microsoft.com/office/drawing/2014/main" xmlns="" val="4057841190"/>
                    </a:ext>
                  </a:extLst>
                </a:gridCol>
                <a:gridCol w="826627">
                  <a:extLst>
                    <a:ext uri="{9D8B030D-6E8A-4147-A177-3AD203B41FA5}">
                      <a16:colId xmlns:a16="http://schemas.microsoft.com/office/drawing/2014/main" xmlns="" val="4208667331"/>
                    </a:ext>
                  </a:extLst>
                </a:gridCol>
                <a:gridCol w="1263161">
                  <a:extLst>
                    <a:ext uri="{9D8B030D-6E8A-4147-A177-3AD203B41FA5}">
                      <a16:colId xmlns:a16="http://schemas.microsoft.com/office/drawing/2014/main" xmlns="" val="4243809776"/>
                    </a:ext>
                  </a:extLst>
                </a:gridCol>
                <a:gridCol w="2745171">
                  <a:extLst>
                    <a:ext uri="{9D8B030D-6E8A-4147-A177-3AD203B41FA5}">
                      <a16:colId xmlns:a16="http://schemas.microsoft.com/office/drawing/2014/main" xmlns="" val="1351526185"/>
                    </a:ext>
                  </a:extLst>
                </a:gridCol>
              </a:tblGrid>
              <a:tr h="280997">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Lessor</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Hạn</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trả</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2867819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V17365</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SMBC</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08/11/2025</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33017303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V10531</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31/12/2025</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71627351"/>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V10533</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15/11/2025</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95071077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4</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V13137</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15/11/2025</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2"/>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5</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V18818</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27/12/2025</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76429295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6</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V15346</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03/01/2026</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9964767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7</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V15369</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08/01/2026</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560533511"/>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8</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V18874</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17/03/2026</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16680001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9</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V18977</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14/03/2026</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669711130"/>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10</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V13187</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07/04/2026</a:t>
                      </a: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3" marR="5583" marT="558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55628123"/>
                  </a:ext>
                </a:extLst>
              </a:tr>
            </a:tbl>
          </a:graphicData>
        </a:graphic>
      </p:graphicFrame>
    </p:spTree>
    <p:extLst>
      <p:ext uri="{BB962C8B-B14F-4D97-AF65-F5344CB8AC3E}">
        <p14:creationId xmlns:p14="http://schemas.microsoft.com/office/powerpoint/2010/main" val="40004137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EBD3F78-EE7A-6244-EF60-C9D5576F3B5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278AFE3E-3844-01D3-D72D-0F4786BACA0F}"/>
              </a:ext>
            </a:extLst>
          </p:cNvPr>
          <p:cNvSpPr>
            <a:spLocks noGrp="1"/>
          </p:cNvSpPr>
          <p:nvPr>
            <p:ph type="sldNum" idx="12"/>
          </p:nvPr>
        </p:nvSpPr>
        <p:spPr/>
        <p:txBody>
          <a:bodyPr/>
          <a:lstStyle/>
          <a:p>
            <a:fld id="{00000000-1234-1234-1234-123412341234}" type="slidenum">
              <a:rPr lang="vi"/>
              <a:pPr/>
              <a:t>31</a:t>
            </a:fld>
            <a:endParaRPr lang="vi"/>
          </a:p>
        </p:txBody>
      </p:sp>
      <p:sp>
        <p:nvSpPr>
          <p:cNvPr id="3" name="Slide Number Placeholder 3">
            <a:extLst>
              <a:ext uri="{FF2B5EF4-FFF2-40B4-BE49-F238E27FC236}">
                <a16:creationId xmlns:a16="http://schemas.microsoft.com/office/drawing/2014/main" xmlns="" id="{BB68B28C-7DC1-3513-7C03-97417DFFBE37}"/>
              </a:ext>
            </a:extLst>
          </p:cNvPr>
          <p:cNvSpPr txBox="1">
            <a:spLocks/>
          </p:cNvSpPr>
          <p:nvPr/>
        </p:nvSpPr>
        <p:spPr>
          <a:xfrm>
            <a:off x="11480800" y="7745888"/>
            <a:ext cx="3657600" cy="486833"/>
          </a:xfrm>
          <a:prstGeom prst="rect">
            <a:avLst/>
          </a:prstGeom>
          <a:noFill/>
          <a:ln>
            <a:noFill/>
          </a:ln>
        </p:spPr>
        <p:txBody>
          <a:bodyPr spcFirstLastPara="1" wrap="square" lIns="121900" tIns="121900" rIns="121900" bIns="121900" anchor="ctr" anchorCtr="0">
            <a:norm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200">
                <a:solidFill>
                  <a:srgbClr val="D2A43B"/>
                </a:solidFill>
                <a:latin typeface="Times New Roman" panose="02020603050405020304" pitchFamily="18" charset="0"/>
                <a:ea typeface="+mn-ea"/>
                <a:cs typeface="Times New Roman" panose="02020603050405020304" pitchFamily="18" charset="0"/>
                <a:sym typeface="Montserrat"/>
              </a:rPr>
              <a:pPr>
                <a:buClrTx/>
                <a:buFontTx/>
                <a:buNone/>
                <a:defRPr/>
              </a:pPr>
              <a:t>31</a:t>
            </a:fld>
            <a:endParaRPr lang="en-US" sz="1200" dirty="0">
              <a:solidFill>
                <a:srgbClr val="D2A43B"/>
              </a:solidFill>
              <a:latin typeface="Times New Roman" panose="02020603050405020304" pitchFamily="18" charset="0"/>
              <a:ea typeface="+mn-ea"/>
              <a:cs typeface="Times New Roman" panose="02020603050405020304" pitchFamily="18" charset="0"/>
              <a:sym typeface="Montserrat"/>
            </a:endParaRPr>
          </a:p>
        </p:txBody>
      </p:sp>
      <p:graphicFrame>
        <p:nvGraphicFramePr>
          <p:cNvPr id="4" name="Chart 3">
            <a:extLst>
              <a:ext uri="{FF2B5EF4-FFF2-40B4-BE49-F238E27FC236}">
                <a16:creationId xmlns:a16="http://schemas.microsoft.com/office/drawing/2014/main" xmlns="" id="{C6B0DA9E-4175-8F90-5644-7AB7D854EA46}"/>
              </a:ext>
            </a:extLst>
          </p:cNvPr>
          <p:cNvGraphicFramePr/>
          <p:nvPr>
            <p:extLst/>
          </p:nvPr>
        </p:nvGraphicFramePr>
        <p:xfrm>
          <a:off x="6867116" y="445510"/>
          <a:ext cx="5236309" cy="4256509"/>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xmlns="" id="{B830FD37-0C62-DD9A-7EAB-6CFC0D17CDB3}"/>
              </a:ext>
            </a:extLst>
          </p:cNvPr>
          <p:cNvSpPr txBox="1"/>
          <p:nvPr/>
        </p:nvSpPr>
        <p:spPr>
          <a:xfrm>
            <a:off x="88571" y="4702019"/>
            <a:ext cx="12014855" cy="1898468"/>
          </a:xfrm>
          <a:prstGeom prst="rect">
            <a:avLst/>
          </a:prstGeom>
          <a:solidFill>
            <a:schemeClr val="bg1"/>
          </a:solidFill>
        </p:spPr>
        <p:style>
          <a:lnRef idx="2">
            <a:schemeClr val="dk1"/>
          </a:lnRef>
          <a:fillRef idx="1">
            <a:schemeClr val="lt1"/>
          </a:fillRef>
          <a:effectRef idx="0">
            <a:schemeClr val="dk1"/>
          </a:effectRef>
          <a:fontRef idx="minor">
            <a:schemeClr val="dk1"/>
          </a:fontRef>
        </p:style>
        <p:txBody>
          <a:bodyPr wrap="square" rtlCol="0">
            <a:spAutoFit/>
          </a:bodyPr>
          <a:lstStyle/>
          <a:p>
            <a:pPr marL="380990" indent="-380990" defTabSz="1219170">
              <a:buFontTx/>
              <a:buChar char="-"/>
              <a:defRPr/>
            </a:pPr>
            <a:r>
              <a:rPr lang="en-US" sz="1467" dirty="0" err="1">
                <a:solidFill>
                  <a:schemeClr val="tx1"/>
                </a:solidFill>
                <a:latin typeface="Times New Roman" panose="02020603050405020304" pitchFamily="18" charset="0"/>
                <a:cs typeface="Times New Roman" panose="02020603050405020304" pitchFamily="18" charset="0"/>
              </a:rPr>
              <a:t>Động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cơ</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dự</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phòng</a:t>
            </a:r>
            <a:r>
              <a:rPr lang="en-US" sz="1467" dirty="0">
                <a:solidFill>
                  <a:schemeClr val="tx1"/>
                </a:solidFill>
                <a:latin typeface="Times New Roman" panose="02020603050405020304" pitchFamily="18" charset="0"/>
                <a:cs typeface="Times New Roman" panose="02020603050405020304" pitchFamily="18" charset="0"/>
              </a:rPr>
              <a:t>:</a:t>
            </a:r>
            <a:r>
              <a:rPr lang="en-US" sz="1467" dirty="0">
                <a:solidFill>
                  <a:srgbClr val="ED0000"/>
                </a:solidFill>
                <a:latin typeface="Times New Roman" panose="02020603050405020304" pitchFamily="18" charset="0"/>
                <a:cs typeface="Times New Roman" panose="02020603050405020304" pitchFamily="18" charset="0"/>
              </a:rPr>
              <a:t> </a:t>
            </a:r>
            <a:r>
              <a:rPr lang="en-US" sz="1467" b="1" dirty="0">
                <a:solidFill>
                  <a:srgbClr val="388600"/>
                </a:solidFill>
                <a:latin typeface="Times New Roman" panose="02020603050405020304" pitchFamily="18" charset="0"/>
                <a:cs typeface="Times New Roman" panose="02020603050405020304" pitchFamily="18" charset="0"/>
              </a:rPr>
              <a:t>958541 </a:t>
            </a:r>
            <a:r>
              <a:rPr lang="en-US" sz="1467" b="1" dirty="0" err="1">
                <a:solidFill>
                  <a:srgbClr val="388600"/>
                </a:solidFill>
                <a:latin typeface="Times New Roman" panose="02020603050405020304" pitchFamily="18" charset="0"/>
                <a:cs typeface="Times New Roman" panose="02020603050405020304" pitchFamily="18" charset="0"/>
              </a:rPr>
              <a:t>đã</a:t>
            </a:r>
            <a:r>
              <a:rPr lang="en-US" sz="1467" b="1" dirty="0">
                <a:solidFill>
                  <a:srgbClr val="388600"/>
                </a:solidFill>
                <a:latin typeface="Times New Roman" panose="02020603050405020304" pitchFamily="18" charset="0"/>
                <a:cs typeface="Times New Roman" panose="02020603050405020304" pitchFamily="18" charset="0"/>
              </a:rPr>
              <a:t> </a:t>
            </a:r>
            <a:r>
              <a:rPr lang="en-US" sz="1467" b="1" dirty="0" err="1">
                <a:solidFill>
                  <a:srgbClr val="388600"/>
                </a:solidFill>
                <a:latin typeface="Times New Roman" panose="02020603050405020304" pitchFamily="18" charset="0"/>
                <a:cs typeface="Times New Roman" panose="02020603050405020304" pitchFamily="18" charset="0"/>
              </a:rPr>
              <a:t>hoàn</a:t>
            </a:r>
            <a:r>
              <a:rPr lang="en-US" sz="1467" b="1" dirty="0">
                <a:solidFill>
                  <a:srgbClr val="388600"/>
                </a:solidFill>
                <a:latin typeface="Times New Roman" panose="02020603050405020304" pitchFamily="18" charset="0"/>
                <a:cs typeface="Times New Roman" panose="02020603050405020304" pitchFamily="18" charset="0"/>
              </a:rPr>
              <a:t> </a:t>
            </a:r>
            <a:r>
              <a:rPr lang="en-US" sz="1467" b="1" dirty="0" err="1">
                <a:solidFill>
                  <a:srgbClr val="388600"/>
                </a:solidFill>
                <a:latin typeface="Times New Roman" panose="02020603050405020304" pitchFamily="18" charset="0"/>
                <a:cs typeface="Times New Roman" panose="02020603050405020304" pitchFamily="18" charset="0"/>
              </a:rPr>
              <a:t>thành</a:t>
            </a:r>
            <a:r>
              <a:rPr lang="en-US" sz="1467" b="1" dirty="0">
                <a:solidFill>
                  <a:srgbClr val="388600"/>
                </a:solidFill>
                <a:latin typeface="Times New Roman" panose="02020603050405020304" pitchFamily="18" charset="0"/>
                <a:cs typeface="Times New Roman" panose="02020603050405020304" pitchFamily="18" charset="0"/>
              </a:rPr>
              <a:t> </a:t>
            </a:r>
            <a:r>
              <a:rPr lang="en-US" sz="1467" b="1" dirty="0" err="1">
                <a:solidFill>
                  <a:srgbClr val="388600"/>
                </a:solidFill>
                <a:latin typeface="Times New Roman" panose="02020603050405020304" pitchFamily="18" charset="0"/>
                <a:cs typeface="Times New Roman" panose="02020603050405020304" pitchFamily="18" charset="0"/>
              </a:rPr>
              <a:t>sửa</a:t>
            </a:r>
            <a:r>
              <a:rPr lang="en-US" sz="1467" b="1" dirty="0">
                <a:solidFill>
                  <a:srgbClr val="388600"/>
                </a:solidFill>
                <a:latin typeface="Times New Roman" panose="02020603050405020304" pitchFamily="18" charset="0"/>
                <a:cs typeface="Times New Roman" panose="02020603050405020304" pitchFamily="18" charset="0"/>
              </a:rPr>
              <a:t> </a:t>
            </a:r>
            <a:r>
              <a:rPr lang="en-US" sz="1467" b="1" dirty="0" err="1">
                <a:solidFill>
                  <a:srgbClr val="388600"/>
                </a:solidFill>
                <a:latin typeface="Times New Roman" panose="02020603050405020304" pitchFamily="18" charset="0"/>
                <a:cs typeface="Times New Roman" panose="02020603050405020304" pitchFamily="18" charset="0"/>
              </a:rPr>
              <a:t>chữa</a:t>
            </a:r>
            <a:r>
              <a:rPr lang="en-US" sz="1467" b="1" dirty="0">
                <a:solidFill>
                  <a:srgbClr val="388600"/>
                </a:solidFill>
                <a:latin typeface="Times New Roman" panose="02020603050405020304" pitchFamily="18" charset="0"/>
                <a:cs typeface="Times New Roman" panose="02020603050405020304" pitchFamily="18" charset="0"/>
              </a:rPr>
              <a:t> 31/12 </a:t>
            </a:r>
            <a:r>
              <a:rPr lang="en-US" sz="1467" b="1" dirty="0" err="1">
                <a:solidFill>
                  <a:srgbClr val="388600"/>
                </a:solidFill>
                <a:latin typeface="Times New Roman" panose="02020603050405020304" pitchFamily="18" charset="0"/>
                <a:cs typeface="Times New Roman" panose="02020603050405020304" pitchFamily="18" charset="0"/>
              </a:rPr>
              <a:t>và</a:t>
            </a:r>
            <a:r>
              <a:rPr lang="en-US" sz="1467" b="1" dirty="0">
                <a:solidFill>
                  <a:srgbClr val="388600"/>
                </a:solidFill>
                <a:latin typeface="Times New Roman" panose="02020603050405020304" pitchFamily="18" charset="0"/>
                <a:cs typeface="Times New Roman" panose="02020603050405020304" pitchFamily="18" charset="0"/>
              </a:rPr>
              <a:t> </a:t>
            </a:r>
            <a:r>
              <a:rPr lang="en-US" sz="1467" b="1" dirty="0" err="1">
                <a:solidFill>
                  <a:srgbClr val="388600"/>
                </a:solidFill>
                <a:latin typeface="Times New Roman" panose="02020603050405020304" pitchFamily="18" charset="0"/>
                <a:cs typeface="Times New Roman" panose="02020603050405020304" pitchFamily="18" charset="0"/>
              </a:rPr>
              <a:t>chuyển</a:t>
            </a:r>
            <a:r>
              <a:rPr lang="en-US" sz="1467" b="1" dirty="0">
                <a:solidFill>
                  <a:srgbClr val="388600"/>
                </a:solidFill>
                <a:latin typeface="Times New Roman" panose="02020603050405020304" pitchFamily="18" charset="0"/>
                <a:cs typeface="Times New Roman" panose="02020603050405020304" pitchFamily="18" charset="0"/>
              </a:rPr>
              <a:t> </a:t>
            </a:r>
            <a:r>
              <a:rPr lang="en-US" sz="1467" b="1" dirty="0" err="1">
                <a:solidFill>
                  <a:srgbClr val="388600"/>
                </a:solidFill>
                <a:latin typeface="Times New Roman" panose="02020603050405020304" pitchFamily="18" charset="0"/>
                <a:cs typeface="Times New Roman" panose="02020603050405020304" pitchFamily="18" charset="0"/>
              </a:rPr>
              <a:t>về</a:t>
            </a:r>
            <a:r>
              <a:rPr lang="en-US" sz="1467" b="1" dirty="0">
                <a:solidFill>
                  <a:srgbClr val="388600"/>
                </a:solidFill>
                <a:latin typeface="Times New Roman" panose="02020603050405020304" pitchFamily="18" charset="0"/>
                <a:cs typeface="Times New Roman" panose="02020603050405020304" pitchFamily="18" charset="0"/>
              </a:rPr>
              <a:t> VN 12/01/2025</a:t>
            </a:r>
          </a:p>
          <a:p>
            <a:pPr marL="380990" indent="-380990" defTabSz="1219170">
              <a:buFontTx/>
              <a:buChar char="-"/>
              <a:defRPr/>
            </a:pPr>
            <a:r>
              <a:rPr lang="en-US" sz="1467" dirty="0" err="1">
                <a:solidFill>
                  <a:schemeClr val="tx1"/>
                </a:solidFill>
                <a:latin typeface="Times New Roman" panose="02020603050405020304" pitchFamily="18" charset="0"/>
                <a:cs typeface="Times New Roman" panose="02020603050405020304" pitchFamily="18" charset="0"/>
              </a:rPr>
              <a:t>Động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cơ</a:t>
            </a:r>
            <a:r>
              <a:rPr lang="en-US" sz="1467" dirty="0">
                <a:solidFill>
                  <a:schemeClr val="tx1"/>
                </a:solidFill>
                <a:latin typeface="Times New Roman" panose="02020603050405020304" pitchFamily="18" charset="0"/>
                <a:cs typeface="Times New Roman" panose="02020603050405020304" pitchFamily="18" charset="0"/>
              </a:rPr>
              <a:t> on-watch:</a:t>
            </a:r>
            <a:endParaRPr lang="en-US" sz="1467" dirty="0">
              <a:solidFill>
                <a:srgbClr val="FF9933"/>
              </a:solidFill>
              <a:latin typeface="Times New Roman" panose="02020603050405020304" pitchFamily="18" charset="0"/>
              <a:cs typeface="Times New Roman" panose="02020603050405020304" pitchFamily="18" charset="0"/>
            </a:endParaRPr>
          </a:p>
          <a:p>
            <a:pPr marL="990575" indent="-380990">
              <a:buFont typeface="Wingdings" panose="05000000000000000000" pitchFamily="2" charset="2"/>
              <a:buChar char="§"/>
              <a:defRPr/>
            </a:pPr>
            <a:r>
              <a:rPr lang="en-US" sz="1467" b="1" dirty="0">
                <a:solidFill>
                  <a:srgbClr val="FF0000"/>
                </a:solidFill>
                <a:latin typeface="Times New Roman" panose="02020603050405020304" pitchFamily="18" charset="0"/>
                <a:cs typeface="Times New Roman" panose="02020603050405020304" pitchFamily="18" charset="0"/>
              </a:rPr>
              <a:t>958395 (A872) – </a:t>
            </a:r>
            <a:r>
              <a:rPr lang="en-US" sz="1467" b="1" dirty="0" err="1">
                <a:solidFill>
                  <a:srgbClr val="FF0000"/>
                </a:solidFill>
                <a:latin typeface="Times New Roman" panose="02020603050405020304" pitchFamily="18" charset="0"/>
                <a:cs typeface="Times New Roman" panose="02020603050405020304" pitchFamily="18" charset="0"/>
              </a:rPr>
              <a:t>Phát</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sinh</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mới</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trong</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tuần</a:t>
            </a:r>
            <a:r>
              <a:rPr lang="en-US" sz="1467" b="1" dirty="0">
                <a:solidFill>
                  <a:srgbClr val="FF0000"/>
                </a:solidFill>
                <a:latin typeface="Times New Roman" panose="02020603050405020304" pitchFamily="18" charset="0"/>
                <a:cs typeface="Times New Roman" panose="02020603050405020304" pitchFamily="18" charset="0"/>
              </a:rPr>
              <a:t>: Remove in 50 </a:t>
            </a:r>
            <a:r>
              <a:rPr lang="en-US" sz="1467" b="1" dirty="0" err="1">
                <a:solidFill>
                  <a:srgbClr val="FF0000"/>
                </a:solidFill>
                <a:latin typeface="Times New Roman" panose="02020603050405020304" pitchFamily="18" charset="0"/>
                <a:cs typeface="Times New Roman" panose="02020603050405020304" pitchFamily="18" charset="0"/>
              </a:rPr>
              <a:t>cyc</a:t>
            </a:r>
            <a:r>
              <a:rPr lang="en-US" sz="1467" b="1" dirty="0">
                <a:solidFill>
                  <a:srgbClr val="FF0000"/>
                </a:solidFill>
                <a:latin typeface="Times New Roman" panose="02020603050405020304" pitchFamily="18" charset="0"/>
                <a:cs typeface="Times New Roman" panose="02020603050405020304" pitchFamily="18" charset="0"/>
              </a:rPr>
              <a:t> or reinspect (interval </a:t>
            </a:r>
            <a:r>
              <a:rPr lang="en-US" sz="1467" b="1" dirty="0" err="1">
                <a:solidFill>
                  <a:srgbClr val="FF0000"/>
                </a:solidFill>
                <a:latin typeface="Times New Roman" panose="02020603050405020304" pitchFamily="18" charset="0"/>
                <a:cs typeface="Times New Roman" panose="02020603050405020304" pitchFamily="18" charset="0"/>
              </a:rPr>
              <a:t>cũ</a:t>
            </a:r>
            <a:r>
              <a:rPr lang="en-US" sz="1467" b="1" dirty="0">
                <a:solidFill>
                  <a:srgbClr val="FF0000"/>
                </a:solidFill>
                <a:latin typeface="Times New Roman" panose="02020603050405020304" pitchFamily="18" charset="0"/>
                <a:cs typeface="Times New Roman" panose="02020603050405020304" pitchFamily="18" charset="0"/>
              </a:rPr>
              <a:t> 250 </a:t>
            </a:r>
            <a:r>
              <a:rPr lang="en-US" sz="1467" b="1" dirty="0" err="1">
                <a:solidFill>
                  <a:srgbClr val="FF0000"/>
                </a:solidFill>
                <a:latin typeface="Times New Roman" panose="02020603050405020304" pitchFamily="18" charset="0"/>
                <a:cs typeface="Times New Roman" panose="02020603050405020304" pitchFamily="18" charset="0"/>
              </a:rPr>
              <a:t>cyc</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sẽ</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phát</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sinh</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có</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lịch</a:t>
            </a:r>
            <a:r>
              <a:rPr lang="en-US" sz="1467" b="1" dirty="0">
                <a:solidFill>
                  <a:srgbClr val="FF0000"/>
                </a:solidFill>
                <a:latin typeface="Times New Roman" panose="02020603050405020304" pitchFamily="18" charset="0"/>
                <a:cs typeface="Times New Roman" panose="02020603050405020304" pitchFamily="18" charset="0"/>
              </a:rPr>
              <a:t> soi </a:t>
            </a:r>
            <a:r>
              <a:rPr lang="en-US" sz="1467" b="1" dirty="0" err="1">
                <a:solidFill>
                  <a:srgbClr val="FF0000"/>
                </a:solidFill>
                <a:latin typeface="Times New Roman" panose="02020603050405020304" pitchFamily="18" charset="0"/>
                <a:cs typeface="Times New Roman" panose="02020603050405020304" pitchFamily="18" charset="0"/>
              </a:rPr>
              <a:t>trong</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cao</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điểm</a:t>
            </a:r>
            <a:r>
              <a:rPr lang="en-US" sz="1467" b="1">
                <a:solidFill>
                  <a:srgbClr val="FF0000"/>
                </a:solidFill>
                <a:latin typeface="Times New Roman" panose="02020603050405020304" pitchFamily="18" charset="0"/>
                <a:cs typeface="Times New Roman" panose="02020603050405020304" pitchFamily="18" charset="0"/>
              </a:rPr>
              <a:t>);</a:t>
            </a:r>
            <a:endParaRPr lang="en-US" sz="1467" b="1" dirty="0">
              <a:solidFill>
                <a:srgbClr val="FF0000"/>
              </a:solidFill>
              <a:latin typeface="Times New Roman" panose="02020603050405020304" pitchFamily="18" charset="0"/>
              <a:cs typeface="Times New Roman" panose="02020603050405020304" pitchFamily="18" charset="0"/>
            </a:endParaRPr>
          </a:p>
          <a:p>
            <a:pPr marL="990575" indent="-380990">
              <a:buFont typeface="Wingdings" panose="05000000000000000000" pitchFamily="2" charset="2"/>
              <a:buChar char="§"/>
              <a:defRPr/>
            </a:pPr>
            <a:r>
              <a:rPr lang="en-US" sz="1467" b="1" dirty="0">
                <a:solidFill>
                  <a:srgbClr val="FF0000"/>
                </a:solidFill>
                <a:latin typeface="Times New Roman" panose="02020603050405020304" pitchFamily="18" charset="0"/>
                <a:cs typeface="Times New Roman" panose="02020603050405020304" pitchFamily="18" charset="0"/>
              </a:rPr>
              <a:t>956913 (A871) – </a:t>
            </a:r>
            <a:r>
              <a:rPr lang="en-US" sz="1467" b="1" dirty="0" err="1">
                <a:solidFill>
                  <a:srgbClr val="FF0000"/>
                </a:solidFill>
                <a:latin typeface="Times New Roman" panose="02020603050405020304" pitchFamily="18" charset="0"/>
                <a:cs typeface="Times New Roman" panose="02020603050405020304" pitchFamily="18" charset="0"/>
              </a:rPr>
              <a:t>Phát</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sinh</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mới</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trong</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tuần</a:t>
            </a:r>
            <a:r>
              <a:rPr lang="en-US" sz="1467" b="1" dirty="0">
                <a:solidFill>
                  <a:srgbClr val="FF0000"/>
                </a:solidFill>
                <a:latin typeface="Times New Roman" panose="02020603050405020304" pitchFamily="18" charset="0"/>
                <a:cs typeface="Times New Roman" panose="02020603050405020304" pitchFamily="18" charset="0"/>
              </a:rPr>
              <a:t>: Remove in 50 </a:t>
            </a:r>
            <a:r>
              <a:rPr lang="en-US" sz="1467" b="1" dirty="0" err="1">
                <a:solidFill>
                  <a:srgbClr val="FF0000"/>
                </a:solidFill>
                <a:latin typeface="Times New Roman" panose="02020603050405020304" pitchFamily="18" charset="0"/>
                <a:cs typeface="Times New Roman" panose="02020603050405020304" pitchFamily="18" charset="0"/>
              </a:rPr>
              <a:t>cyc</a:t>
            </a:r>
            <a:r>
              <a:rPr lang="en-US" sz="1467" b="1" dirty="0">
                <a:solidFill>
                  <a:srgbClr val="FF0000"/>
                </a:solidFill>
                <a:latin typeface="Times New Roman" panose="02020603050405020304" pitchFamily="18" charset="0"/>
                <a:cs typeface="Times New Roman" panose="02020603050405020304" pitchFamily="18" charset="0"/>
              </a:rPr>
              <a:t> or reinspect (interval </a:t>
            </a:r>
            <a:r>
              <a:rPr lang="en-US" sz="1467" b="1" dirty="0" err="1">
                <a:solidFill>
                  <a:srgbClr val="FF0000"/>
                </a:solidFill>
                <a:latin typeface="Times New Roman" panose="02020603050405020304" pitchFamily="18" charset="0"/>
                <a:cs typeface="Times New Roman" panose="02020603050405020304" pitchFamily="18" charset="0"/>
              </a:rPr>
              <a:t>cũ</a:t>
            </a:r>
            <a:r>
              <a:rPr lang="en-US" sz="1467" b="1" dirty="0">
                <a:solidFill>
                  <a:srgbClr val="FF0000"/>
                </a:solidFill>
                <a:latin typeface="Times New Roman" panose="02020603050405020304" pitchFamily="18" charset="0"/>
                <a:cs typeface="Times New Roman" panose="02020603050405020304" pitchFamily="18" charset="0"/>
              </a:rPr>
              <a:t> 100 </a:t>
            </a:r>
            <a:r>
              <a:rPr lang="en-US" sz="1467" b="1" dirty="0" err="1">
                <a:solidFill>
                  <a:srgbClr val="FF0000"/>
                </a:solidFill>
                <a:latin typeface="Times New Roman" panose="02020603050405020304" pitchFamily="18" charset="0"/>
                <a:cs typeface="Times New Roman" panose="02020603050405020304" pitchFamily="18" charset="0"/>
              </a:rPr>
              <a:t>cyc</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điều</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chỉnh</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lịch</a:t>
            </a:r>
            <a:r>
              <a:rPr lang="en-US" sz="1467" b="1" dirty="0">
                <a:solidFill>
                  <a:srgbClr val="FF0000"/>
                </a:solidFill>
                <a:latin typeface="Times New Roman" panose="02020603050405020304" pitchFamily="18" charset="0"/>
                <a:cs typeface="Times New Roman" panose="02020603050405020304" pitchFamily="18" charset="0"/>
              </a:rPr>
              <a:t> soi </a:t>
            </a:r>
            <a:r>
              <a:rPr lang="en-US" sz="1467" b="1" dirty="0" err="1">
                <a:solidFill>
                  <a:srgbClr val="FF0000"/>
                </a:solidFill>
                <a:latin typeface="Times New Roman" panose="02020603050405020304" pitchFamily="18" charset="0"/>
                <a:cs typeface="Times New Roman" panose="02020603050405020304" pitchFamily="18" charset="0"/>
              </a:rPr>
              <a:t>từ</a:t>
            </a:r>
            <a:r>
              <a:rPr lang="en-US" sz="1467" b="1" dirty="0">
                <a:solidFill>
                  <a:srgbClr val="FF0000"/>
                </a:solidFill>
                <a:latin typeface="Times New Roman" panose="02020603050405020304" pitchFamily="18" charset="0"/>
                <a:cs typeface="Times New Roman" panose="02020603050405020304" pitchFamily="18" charset="0"/>
              </a:rPr>
              <a:t> 13/02 </a:t>
            </a:r>
            <a:r>
              <a:rPr lang="en-US" sz="1467" b="1" dirty="0" err="1">
                <a:solidFill>
                  <a:srgbClr val="FF0000"/>
                </a:solidFill>
                <a:latin typeface="Times New Roman" panose="02020603050405020304" pitchFamily="18" charset="0"/>
                <a:cs typeface="Times New Roman" panose="02020603050405020304" pitchFamily="18" charset="0"/>
              </a:rPr>
              <a:t>về</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cuối</a:t>
            </a:r>
            <a:r>
              <a:rPr lang="en-US" sz="1467" b="1" dirty="0">
                <a:solidFill>
                  <a:srgbClr val="FF0000"/>
                </a:solidFill>
                <a:latin typeface="Times New Roman" panose="02020603050405020304" pitchFamily="18" charset="0"/>
                <a:cs typeface="Times New Roman" panose="02020603050405020304" pitchFamily="18" charset="0"/>
              </a:rPr>
              <a:t> T1);</a:t>
            </a:r>
          </a:p>
          <a:p>
            <a:pPr marL="990575" lvl="1" indent="-380990">
              <a:buFont typeface="Wingdings" panose="05000000000000000000" pitchFamily="2" charset="2"/>
              <a:buChar char="§"/>
              <a:defRPr/>
            </a:pPr>
            <a:r>
              <a:rPr lang="en-US" sz="1467" dirty="0">
                <a:solidFill>
                  <a:schemeClr val="tx1"/>
                </a:solidFill>
                <a:latin typeface="Times New Roman" panose="02020603050405020304" pitchFamily="18" charset="0"/>
                <a:cs typeface="Times New Roman" panose="02020603050405020304" pitchFamily="18" charset="0"/>
              </a:rPr>
              <a:t>958170 (A863) – Remove in 50 </a:t>
            </a:r>
            <a:r>
              <a:rPr lang="en-US" sz="1467" dirty="0" err="1">
                <a:solidFill>
                  <a:schemeClr val="tx1"/>
                </a:solidFill>
                <a:latin typeface="Times New Roman" panose="02020603050405020304" pitchFamily="18" charset="0"/>
                <a:cs typeface="Times New Roman" panose="02020603050405020304" pitchFamily="18" charset="0"/>
              </a:rPr>
              <a:t>cyc</a:t>
            </a:r>
            <a:r>
              <a:rPr lang="en-US" sz="1467" dirty="0">
                <a:solidFill>
                  <a:schemeClr val="tx1"/>
                </a:solidFill>
                <a:latin typeface="Times New Roman" panose="02020603050405020304" pitchFamily="18" charset="0"/>
                <a:cs typeface="Times New Roman" panose="02020603050405020304" pitchFamily="18" charset="0"/>
              </a:rPr>
              <a:t> or reinspect; </a:t>
            </a:r>
            <a:r>
              <a:rPr lang="en-US" sz="1467" dirty="0" err="1">
                <a:solidFill>
                  <a:srgbClr val="ED0000"/>
                </a:solidFill>
                <a:latin typeface="Times New Roman" panose="02020603050405020304" pitchFamily="18" charset="0"/>
                <a:cs typeface="Times New Roman" panose="02020603050405020304" pitchFamily="18" charset="0"/>
              </a:rPr>
              <a:t>Lịch</a:t>
            </a:r>
            <a:r>
              <a:rPr lang="en-US" sz="1467" dirty="0">
                <a:solidFill>
                  <a:srgbClr val="ED0000"/>
                </a:solidFill>
                <a:latin typeface="Times New Roman" panose="02020603050405020304" pitchFamily="18" charset="0"/>
                <a:cs typeface="Times New Roman" panose="02020603050405020304" pitchFamily="18" charset="0"/>
              </a:rPr>
              <a:t> soi </a:t>
            </a:r>
            <a:r>
              <a:rPr lang="en-US" sz="1467" dirty="0" err="1">
                <a:solidFill>
                  <a:srgbClr val="ED0000"/>
                </a:solidFill>
                <a:latin typeface="Times New Roman" panose="02020603050405020304" pitchFamily="18" charset="0"/>
                <a:cs typeface="Times New Roman" panose="02020603050405020304" pitchFamily="18" charset="0"/>
              </a:rPr>
              <a:t>tiếp</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theo</a:t>
            </a:r>
            <a:r>
              <a:rPr lang="en-US" sz="1467" dirty="0">
                <a:solidFill>
                  <a:srgbClr val="ED0000"/>
                </a:solidFill>
                <a:latin typeface="Times New Roman" panose="02020603050405020304" pitchFamily="18" charset="0"/>
                <a:cs typeface="Times New Roman" panose="02020603050405020304" pitchFamily="18" charset="0"/>
              </a:rPr>
              <a:t> 26/01/2025;</a:t>
            </a:r>
          </a:p>
          <a:p>
            <a:pPr marL="990575" lvl="1" indent="-380990">
              <a:buFont typeface="Wingdings" panose="05000000000000000000" pitchFamily="2" charset="2"/>
              <a:buChar char="§"/>
              <a:defRPr/>
            </a:pPr>
            <a:r>
              <a:rPr lang="en-US" sz="1467" dirty="0">
                <a:solidFill>
                  <a:schemeClr val="tx1"/>
                </a:solidFill>
                <a:latin typeface="Times New Roman" panose="02020603050405020304" pitchFamily="18" charset="0"/>
                <a:cs typeface="Times New Roman" panose="02020603050405020304" pitchFamily="18" charset="0"/>
              </a:rPr>
              <a:t>956769 (A868) – Remove in 50 </a:t>
            </a:r>
            <a:r>
              <a:rPr lang="en-US" sz="1467" dirty="0" err="1">
                <a:solidFill>
                  <a:schemeClr val="tx1"/>
                </a:solidFill>
                <a:latin typeface="Times New Roman" panose="02020603050405020304" pitchFamily="18" charset="0"/>
                <a:cs typeface="Times New Roman" panose="02020603050405020304" pitchFamily="18" charset="0"/>
              </a:rPr>
              <a:t>cyc</a:t>
            </a:r>
            <a:r>
              <a:rPr lang="en-US" sz="1467" dirty="0">
                <a:solidFill>
                  <a:schemeClr val="tx1"/>
                </a:solidFill>
                <a:latin typeface="Times New Roman" panose="02020603050405020304" pitchFamily="18" charset="0"/>
                <a:cs typeface="Times New Roman" panose="02020603050405020304" pitchFamily="18" charset="0"/>
              </a:rPr>
              <a:t> or reinspect; </a:t>
            </a:r>
            <a:r>
              <a:rPr lang="en-US" sz="1467" dirty="0" err="1">
                <a:solidFill>
                  <a:srgbClr val="ED0000"/>
                </a:solidFill>
                <a:latin typeface="Times New Roman" panose="02020603050405020304" pitchFamily="18" charset="0"/>
                <a:cs typeface="Times New Roman" panose="02020603050405020304" pitchFamily="18" charset="0"/>
              </a:rPr>
              <a:t>Lịch</a:t>
            </a:r>
            <a:r>
              <a:rPr lang="en-US" sz="1467" dirty="0">
                <a:solidFill>
                  <a:srgbClr val="ED0000"/>
                </a:solidFill>
                <a:latin typeface="Times New Roman" panose="02020603050405020304" pitchFamily="18" charset="0"/>
                <a:cs typeface="Times New Roman" panose="02020603050405020304" pitchFamily="18" charset="0"/>
              </a:rPr>
              <a:t> soi </a:t>
            </a:r>
            <a:r>
              <a:rPr lang="en-US" sz="1467" dirty="0" err="1">
                <a:solidFill>
                  <a:srgbClr val="ED0000"/>
                </a:solidFill>
                <a:latin typeface="Times New Roman" panose="02020603050405020304" pitchFamily="18" charset="0"/>
                <a:cs typeface="Times New Roman" panose="02020603050405020304" pitchFamily="18" charset="0"/>
              </a:rPr>
              <a:t>tiếp</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theo</a:t>
            </a:r>
            <a:r>
              <a:rPr lang="en-US" sz="1467" dirty="0">
                <a:solidFill>
                  <a:srgbClr val="ED0000"/>
                </a:solidFill>
                <a:latin typeface="Times New Roman" panose="02020603050405020304" pitchFamily="18" charset="0"/>
                <a:cs typeface="Times New Roman" panose="02020603050405020304" pitchFamily="18" charset="0"/>
              </a:rPr>
              <a:t> 27/01/2025;  </a:t>
            </a:r>
          </a:p>
          <a:p>
            <a:pPr marL="990575" lvl="1" indent="-380990">
              <a:buFont typeface="Wingdings" panose="05000000000000000000" pitchFamily="2" charset="2"/>
              <a:buChar char="§"/>
              <a:defRPr/>
            </a:pPr>
            <a:r>
              <a:rPr lang="en-US" sz="1467" dirty="0">
                <a:solidFill>
                  <a:schemeClr val="tx1"/>
                </a:solidFill>
                <a:latin typeface="Times New Roman" panose="02020603050405020304" pitchFamily="18" charset="0"/>
                <a:cs typeface="Times New Roman" panose="02020603050405020304" pitchFamily="18" charset="0"/>
              </a:rPr>
              <a:t>956577 (A864) – Repetitive 50 </a:t>
            </a:r>
            <a:r>
              <a:rPr lang="en-US" sz="1467" dirty="0" err="1">
                <a:solidFill>
                  <a:schemeClr val="tx1"/>
                </a:solidFill>
                <a:latin typeface="Times New Roman" panose="02020603050405020304" pitchFamily="18" charset="0"/>
                <a:cs typeface="Times New Roman" panose="02020603050405020304" pitchFamily="18" charset="0"/>
              </a:rPr>
              <a:t>cyc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Lịch</a:t>
            </a:r>
            <a:r>
              <a:rPr lang="en-US" sz="1467" dirty="0">
                <a:solidFill>
                  <a:srgbClr val="ED0000"/>
                </a:solidFill>
                <a:latin typeface="Times New Roman" panose="02020603050405020304" pitchFamily="18" charset="0"/>
                <a:cs typeface="Times New Roman" panose="02020603050405020304" pitchFamily="18" charset="0"/>
              </a:rPr>
              <a:t> soi </a:t>
            </a:r>
            <a:r>
              <a:rPr lang="en-US" sz="1467" dirty="0" err="1">
                <a:solidFill>
                  <a:srgbClr val="ED0000"/>
                </a:solidFill>
                <a:latin typeface="Times New Roman" panose="02020603050405020304" pitchFamily="18" charset="0"/>
                <a:cs typeface="Times New Roman" panose="02020603050405020304" pitchFamily="18" charset="0"/>
              </a:rPr>
              <a:t>tiếp</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theo</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ngày</a:t>
            </a:r>
            <a:r>
              <a:rPr lang="en-US" sz="1467" dirty="0">
                <a:solidFill>
                  <a:srgbClr val="ED0000"/>
                </a:solidFill>
                <a:latin typeface="Times New Roman" panose="02020603050405020304" pitchFamily="18" charset="0"/>
                <a:cs typeface="Times New Roman" panose="02020603050405020304" pitchFamily="18" charset="0"/>
              </a:rPr>
              <a:t> 25/01/2025; </a:t>
            </a:r>
          </a:p>
          <a:p>
            <a:pPr marL="990575" lvl="1" indent="-380990">
              <a:buFont typeface="Wingdings" panose="05000000000000000000" pitchFamily="2" charset="2"/>
              <a:buChar char="§"/>
              <a:defRPr/>
            </a:pPr>
            <a:r>
              <a:rPr lang="en-US" sz="1467" dirty="0">
                <a:solidFill>
                  <a:schemeClr val="tx1"/>
                </a:solidFill>
                <a:latin typeface="Times New Roman" panose="02020603050405020304" pitchFamily="18" charset="0"/>
                <a:cs typeface="Times New Roman" panose="02020603050405020304" pitchFamily="18" charset="0"/>
              </a:rPr>
              <a:t>100 cycle – 02 ĐC;  150 cycle – 01 ĐC; 250 cycle </a:t>
            </a:r>
            <a:r>
              <a:rPr lang="en-US" sz="1467">
                <a:solidFill>
                  <a:schemeClr val="tx1"/>
                </a:solidFill>
                <a:latin typeface="Times New Roman" panose="02020603050405020304" pitchFamily="18" charset="0"/>
                <a:cs typeface="Times New Roman" panose="02020603050405020304" pitchFamily="18" charset="0"/>
              </a:rPr>
              <a:t>– 0</a:t>
            </a:r>
            <a:r>
              <a:rPr lang="en-US" sz="1467" dirty="0">
                <a:solidFill>
                  <a:schemeClr val="tx1"/>
                </a:solidFill>
                <a:latin typeface="Times New Roman" panose="02020603050405020304" pitchFamily="18" charset="0"/>
                <a:cs typeface="Times New Roman" panose="02020603050405020304" pitchFamily="18" charset="0"/>
              </a:rPr>
              <a:t>2</a:t>
            </a:r>
            <a:r>
              <a:rPr lang="en-US" sz="1467">
                <a:solidFill>
                  <a:schemeClr val="tx1"/>
                </a:solidFill>
                <a:latin typeface="Times New Roman" panose="02020603050405020304" pitchFamily="18" charset="0"/>
                <a:cs typeface="Times New Roman" panose="02020603050405020304" pitchFamily="18" charset="0"/>
              </a:rPr>
              <a:t> </a:t>
            </a:r>
            <a:r>
              <a:rPr lang="en-US" sz="1467" dirty="0">
                <a:solidFill>
                  <a:schemeClr val="tx1"/>
                </a:solidFill>
                <a:latin typeface="Times New Roman" panose="02020603050405020304" pitchFamily="18" charset="0"/>
                <a:cs typeface="Times New Roman" panose="02020603050405020304" pitchFamily="18" charset="0"/>
              </a:rPr>
              <a:t>ĐC. </a:t>
            </a:r>
          </a:p>
        </p:txBody>
      </p:sp>
      <p:graphicFrame>
        <p:nvGraphicFramePr>
          <p:cNvPr id="6" name="Table 5">
            <a:extLst>
              <a:ext uri="{FF2B5EF4-FFF2-40B4-BE49-F238E27FC236}">
                <a16:creationId xmlns:a16="http://schemas.microsoft.com/office/drawing/2014/main" xmlns="" id="{66BC6617-EF33-BB90-B1C0-6DFD65C9FC16}"/>
              </a:ext>
            </a:extLst>
          </p:cNvPr>
          <p:cNvGraphicFramePr>
            <a:graphicFrameLocks noGrp="1"/>
          </p:cNvGraphicFramePr>
          <p:nvPr>
            <p:extLst/>
          </p:nvPr>
        </p:nvGraphicFramePr>
        <p:xfrm>
          <a:off x="88572" y="445510"/>
          <a:ext cx="6778543" cy="4256510"/>
        </p:xfrm>
        <a:graphic>
          <a:graphicData uri="http://schemas.openxmlformats.org/drawingml/2006/table">
            <a:tbl>
              <a:tblPr firstRow="1" bandRow="1">
                <a:tableStyleId>{7DF18680-E054-41AD-8BC1-D1AEF772440D}</a:tableStyleId>
              </a:tblPr>
              <a:tblGrid>
                <a:gridCol w="680205">
                  <a:extLst>
                    <a:ext uri="{9D8B030D-6E8A-4147-A177-3AD203B41FA5}">
                      <a16:colId xmlns:a16="http://schemas.microsoft.com/office/drawing/2014/main" xmlns="" val="1598605427"/>
                    </a:ext>
                  </a:extLst>
                </a:gridCol>
                <a:gridCol w="669252">
                  <a:extLst>
                    <a:ext uri="{9D8B030D-6E8A-4147-A177-3AD203B41FA5}">
                      <a16:colId xmlns:a16="http://schemas.microsoft.com/office/drawing/2014/main" xmlns="" val="3845954792"/>
                    </a:ext>
                  </a:extLst>
                </a:gridCol>
                <a:gridCol w="849128">
                  <a:extLst>
                    <a:ext uri="{9D8B030D-6E8A-4147-A177-3AD203B41FA5}">
                      <a16:colId xmlns:a16="http://schemas.microsoft.com/office/drawing/2014/main" xmlns="" val="3803391337"/>
                    </a:ext>
                  </a:extLst>
                </a:gridCol>
                <a:gridCol w="1797456">
                  <a:extLst>
                    <a:ext uri="{9D8B030D-6E8A-4147-A177-3AD203B41FA5}">
                      <a16:colId xmlns:a16="http://schemas.microsoft.com/office/drawing/2014/main" xmlns="" val="2148822928"/>
                    </a:ext>
                  </a:extLst>
                </a:gridCol>
                <a:gridCol w="954581">
                  <a:extLst>
                    <a:ext uri="{9D8B030D-6E8A-4147-A177-3AD203B41FA5}">
                      <a16:colId xmlns:a16="http://schemas.microsoft.com/office/drawing/2014/main" xmlns="" val="1106888684"/>
                    </a:ext>
                  </a:extLst>
                </a:gridCol>
                <a:gridCol w="721013">
                  <a:extLst>
                    <a:ext uri="{9D8B030D-6E8A-4147-A177-3AD203B41FA5}">
                      <a16:colId xmlns:a16="http://schemas.microsoft.com/office/drawing/2014/main" xmlns="" val="1185879436"/>
                    </a:ext>
                  </a:extLst>
                </a:gridCol>
                <a:gridCol w="1106908">
                  <a:extLst>
                    <a:ext uri="{9D8B030D-6E8A-4147-A177-3AD203B41FA5}">
                      <a16:colId xmlns:a16="http://schemas.microsoft.com/office/drawing/2014/main" xmlns="" val="558551088"/>
                    </a:ext>
                  </a:extLst>
                </a:gridCol>
              </a:tblGrid>
              <a:tr h="467909">
                <a:tc>
                  <a:txBody>
                    <a:bodyPr/>
                    <a:lstStyle/>
                    <a:p>
                      <a:pPr algn="ctr" fontAlgn="ctr"/>
                      <a:r>
                        <a:rPr lang="en-US" sz="1200" u="none" strike="noStrike" dirty="0">
                          <a:solidFill>
                            <a:schemeClr val="bg1"/>
                          </a:solidFill>
                          <a:effectLst/>
                          <a:latin typeface="Times New Roman" panose="02020603050405020304" pitchFamily="18" charset="0"/>
                          <a:cs typeface="Times New Roman" panose="02020603050405020304" pitchFamily="18" charset="0"/>
                        </a:rPr>
                        <a:t>Engine SV</a:t>
                      </a:r>
                      <a:endParaRPr lang="en-US" sz="12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fontAlgn="ctr"/>
                      <a:r>
                        <a:rPr lang="en-US" sz="1200" u="none" strike="noStrike" dirty="0">
                          <a:solidFill>
                            <a:schemeClr val="bg1"/>
                          </a:solidFill>
                          <a:effectLst/>
                          <a:latin typeface="Times New Roman" panose="02020603050405020304" pitchFamily="18" charset="0"/>
                          <a:cs typeface="Times New Roman" panose="02020603050405020304" pitchFamily="18" charset="0"/>
                        </a:rPr>
                        <a:t>Shop</a:t>
                      </a:r>
                      <a:endParaRPr lang="en-US" sz="12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i="0" u="none" strike="noStrike" dirty="0" err="1">
                          <a:solidFill>
                            <a:schemeClr val="bg1"/>
                          </a:solidFill>
                          <a:effectLst/>
                          <a:latin typeface="Times New Roman" panose="02020603050405020304" pitchFamily="18" charset="0"/>
                          <a:cs typeface="Times New Roman" panose="02020603050405020304" pitchFamily="18" charset="0"/>
                        </a:rPr>
                        <a:t>Ngày</a:t>
                      </a:r>
                      <a:r>
                        <a:rPr lang="en-US" sz="12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200" b="1" i="0" u="none" strike="noStrike" dirty="0" err="1">
                          <a:solidFill>
                            <a:schemeClr val="bg1"/>
                          </a:solidFill>
                          <a:effectLst/>
                          <a:latin typeface="Times New Roman" panose="02020603050405020304" pitchFamily="18" charset="0"/>
                          <a:cs typeface="Times New Roman" panose="02020603050405020304" pitchFamily="18" charset="0"/>
                        </a:rPr>
                        <a:t>tháo</a:t>
                      </a:r>
                      <a:endParaRPr lang="vi-VN" sz="12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vi-VN" sz="1200" u="none" strike="noStrike" dirty="0">
                          <a:solidFill>
                            <a:schemeClr val="bg1"/>
                          </a:solidFill>
                          <a:effectLst/>
                          <a:latin typeface="Times New Roman" panose="02020603050405020304" pitchFamily="18" charset="0"/>
                          <a:cs typeface="Times New Roman" panose="02020603050405020304" pitchFamily="18" charset="0"/>
                        </a:rPr>
                        <a:t>Ngày sửa xong </a:t>
                      </a:r>
                      <a:endParaRPr lang="vi-VN" sz="12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u="none" strike="noStrike" dirty="0" err="1">
                          <a:solidFill>
                            <a:schemeClr val="bg1"/>
                          </a:solidFill>
                          <a:effectLst/>
                          <a:latin typeface="Times New Roman" panose="02020603050405020304" pitchFamily="18" charset="0"/>
                          <a:cs typeface="Times New Roman" panose="02020603050405020304" pitchFamily="18" charset="0"/>
                        </a:rPr>
                        <a:t>Ngày</a:t>
                      </a:r>
                      <a:r>
                        <a:rPr lang="en-US" sz="1200" b="1" u="none" strike="noStrike" dirty="0">
                          <a:solidFill>
                            <a:schemeClr val="bg1"/>
                          </a:solidFill>
                          <a:effectLst/>
                          <a:latin typeface="Times New Roman" panose="02020603050405020304" pitchFamily="18" charset="0"/>
                          <a:cs typeface="Times New Roman" panose="02020603050405020304" pitchFamily="18" charset="0"/>
                        </a:rPr>
                        <a:t> </a:t>
                      </a:r>
                      <a:r>
                        <a:rPr lang="en-US" sz="1200" b="1" u="none" strike="noStrike" dirty="0" err="1">
                          <a:solidFill>
                            <a:schemeClr val="bg1"/>
                          </a:solidFill>
                          <a:effectLst/>
                          <a:latin typeface="Times New Roman" panose="02020603050405020304" pitchFamily="18" charset="0"/>
                          <a:cs typeface="Times New Roman" panose="02020603050405020304" pitchFamily="18" charset="0"/>
                        </a:rPr>
                        <a:t>về</a:t>
                      </a:r>
                      <a:r>
                        <a:rPr lang="en-US" sz="1200" b="1" u="none" strike="noStrike" dirty="0">
                          <a:solidFill>
                            <a:schemeClr val="bg1"/>
                          </a:solidFill>
                          <a:effectLst/>
                          <a:latin typeface="Times New Roman" panose="02020603050405020304" pitchFamily="18" charset="0"/>
                          <a:cs typeface="Times New Roman" panose="02020603050405020304" pitchFamily="18" charset="0"/>
                        </a:rPr>
                        <a:t> </a:t>
                      </a:r>
                    </a:p>
                    <a:p>
                      <a:pPr algn="ctr" fontAlgn="ctr"/>
                      <a:r>
                        <a:rPr lang="en-US" sz="1200" b="1" u="none" strike="noStrike" dirty="0">
                          <a:solidFill>
                            <a:schemeClr val="bg1"/>
                          </a:solidFill>
                          <a:effectLst/>
                          <a:latin typeface="Times New Roman" panose="02020603050405020304" pitchFamily="18" charset="0"/>
                          <a:cs typeface="Times New Roman" panose="02020603050405020304" pitchFamily="18" charset="0"/>
                        </a:rPr>
                        <a:t>(+7 </a:t>
                      </a:r>
                      <a:r>
                        <a:rPr lang="en-US" sz="1200" b="1" u="none" strike="noStrike" dirty="0" err="1">
                          <a:solidFill>
                            <a:schemeClr val="bg1"/>
                          </a:solidFill>
                          <a:effectLst/>
                          <a:latin typeface="Times New Roman" panose="02020603050405020304" pitchFamily="18" charset="0"/>
                          <a:cs typeface="Times New Roman" panose="02020603050405020304" pitchFamily="18" charset="0"/>
                        </a:rPr>
                        <a:t>ngày</a:t>
                      </a:r>
                      <a:r>
                        <a:rPr lang="en-US" sz="1200" b="1" u="none" strike="noStrike" dirty="0">
                          <a:solidFill>
                            <a:schemeClr val="bg1"/>
                          </a:solidFill>
                          <a:effectLst/>
                          <a:latin typeface="Times New Roman" panose="02020603050405020304" pitchFamily="18" charset="0"/>
                          <a:cs typeface="Times New Roman" panose="02020603050405020304" pitchFamily="18" charset="0"/>
                        </a:rPr>
                        <a:t> </a:t>
                      </a:r>
                      <a:r>
                        <a:rPr lang="en-US" sz="1200" b="1" u="none" strike="noStrike" dirty="0" err="1">
                          <a:solidFill>
                            <a:schemeClr val="bg1"/>
                          </a:solidFill>
                          <a:effectLst/>
                          <a:latin typeface="Times New Roman" panose="02020603050405020304" pitchFamily="18" charset="0"/>
                          <a:cs typeface="Times New Roman" panose="02020603050405020304" pitchFamily="18" charset="0"/>
                        </a:rPr>
                        <a:t>vc</a:t>
                      </a:r>
                      <a:r>
                        <a:rPr lang="en-US" sz="1200" b="1" u="none" strike="noStrike" dirty="0">
                          <a:solidFill>
                            <a:schemeClr val="bg1"/>
                          </a:solidFill>
                          <a:effectLst/>
                          <a:latin typeface="Times New Roman" panose="02020603050405020304" pitchFamily="18" charset="0"/>
                          <a:cs typeface="Times New Roman" panose="02020603050405020304" pitchFamily="18" charset="0"/>
                        </a:rPr>
                        <a:t>)</a:t>
                      </a:r>
                      <a:endParaRPr lang="vi-VN" sz="12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u="none" strike="noStrike" dirty="0" err="1">
                          <a:solidFill>
                            <a:schemeClr val="bg1"/>
                          </a:solidFill>
                          <a:effectLst/>
                          <a:latin typeface="Times New Roman" panose="02020603050405020304" pitchFamily="18" charset="0"/>
                          <a:cs typeface="Times New Roman" panose="02020603050405020304" pitchFamily="18" charset="0"/>
                        </a:rPr>
                        <a:t>Dùng</a:t>
                      </a:r>
                      <a:r>
                        <a:rPr lang="en-US" sz="1200" u="none" strike="noStrike" dirty="0">
                          <a:solidFill>
                            <a:schemeClr val="bg1"/>
                          </a:solidFill>
                          <a:effectLst/>
                          <a:latin typeface="Times New Roman" panose="02020603050405020304" pitchFamily="18" charset="0"/>
                          <a:cs typeface="Times New Roman" panose="02020603050405020304" pitchFamily="18" charset="0"/>
                        </a:rPr>
                        <a:t> </a:t>
                      </a:r>
                      <a:r>
                        <a:rPr lang="en-US" sz="1200" u="none" strike="noStrike" dirty="0" err="1">
                          <a:solidFill>
                            <a:schemeClr val="bg1"/>
                          </a:solidFill>
                          <a:effectLst/>
                          <a:latin typeface="Times New Roman" panose="02020603050405020304" pitchFamily="18" charset="0"/>
                          <a:cs typeface="Times New Roman" panose="02020603050405020304" pitchFamily="18" charset="0"/>
                        </a:rPr>
                        <a:t>cho</a:t>
                      </a:r>
                      <a:r>
                        <a:rPr lang="en-US" sz="1200" u="none" strike="noStrike" dirty="0">
                          <a:solidFill>
                            <a:schemeClr val="bg1"/>
                          </a:solidFill>
                          <a:effectLst/>
                          <a:latin typeface="Times New Roman" panose="02020603050405020304" pitchFamily="18" charset="0"/>
                          <a:cs typeface="Times New Roman" panose="02020603050405020304" pitchFamily="18" charset="0"/>
                        </a:rPr>
                        <a:t> </a:t>
                      </a:r>
                      <a:r>
                        <a:rPr lang="en-US" sz="1200" u="none" strike="noStrike" dirty="0" err="1">
                          <a:solidFill>
                            <a:schemeClr val="bg1"/>
                          </a:solidFill>
                          <a:effectLst/>
                          <a:latin typeface="Times New Roman" panose="02020603050405020304" pitchFamily="18" charset="0"/>
                          <a:cs typeface="Times New Roman" panose="02020603050405020304" pitchFamily="18" charset="0"/>
                        </a:rPr>
                        <a:t>tàu</a:t>
                      </a:r>
                      <a:endParaRPr lang="en-US" sz="12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u="none" strike="noStrike" dirty="0" err="1">
                          <a:solidFill>
                            <a:schemeClr val="bg1"/>
                          </a:solidFill>
                          <a:effectLst/>
                          <a:latin typeface="Times New Roman" panose="02020603050405020304" pitchFamily="18" charset="0"/>
                          <a:cs typeface="Times New Roman" panose="02020603050405020304" pitchFamily="18" charset="0"/>
                        </a:rPr>
                        <a:t>Ngày</a:t>
                      </a:r>
                      <a:r>
                        <a:rPr lang="en-US" sz="1200" b="1" u="none" strike="noStrike" dirty="0">
                          <a:solidFill>
                            <a:schemeClr val="bg1"/>
                          </a:solidFill>
                          <a:effectLst/>
                          <a:latin typeface="Times New Roman" panose="02020603050405020304" pitchFamily="18" charset="0"/>
                          <a:cs typeface="Times New Roman" panose="02020603050405020304" pitchFamily="18" charset="0"/>
                        </a:rPr>
                        <a:t> </a:t>
                      </a:r>
                      <a:r>
                        <a:rPr lang="en-US" sz="1200" b="1" u="none" strike="noStrike" dirty="0" err="1">
                          <a:solidFill>
                            <a:schemeClr val="bg1"/>
                          </a:solidFill>
                          <a:effectLst/>
                          <a:latin typeface="Times New Roman" panose="02020603050405020304" pitchFamily="18" charset="0"/>
                          <a:cs typeface="Times New Roman" panose="02020603050405020304" pitchFamily="18" charset="0"/>
                        </a:rPr>
                        <a:t>tháo</a:t>
                      </a:r>
                      <a:r>
                        <a:rPr lang="en-US" sz="1200" b="1" u="none" strike="noStrike" dirty="0">
                          <a:solidFill>
                            <a:schemeClr val="bg1"/>
                          </a:solidFill>
                          <a:effectLst/>
                          <a:latin typeface="Times New Roman" panose="02020603050405020304" pitchFamily="18" charset="0"/>
                          <a:cs typeface="Times New Roman" panose="02020603050405020304" pitchFamily="18" charset="0"/>
                        </a:rPr>
                        <a:t> ĐC </a:t>
                      </a:r>
                      <a:r>
                        <a:rPr lang="en-US" sz="1200" b="1" u="none" strike="noStrike" dirty="0" err="1">
                          <a:solidFill>
                            <a:schemeClr val="bg1"/>
                          </a:solidFill>
                          <a:effectLst/>
                          <a:latin typeface="Times New Roman" panose="02020603050405020304" pitchFamily="18" charset="0"/>
                          <a:cs typeface="Times New Roman" panose="02020603050405020304" pitchFamily="18" charset="0"/>
                        </a:rPr>
                        <a:t>tiếp</a:t>
                      </a:r>
                      <a:r>
                        <a:rPr lang="en-US" sz="1200" b="1" u="none" strike="noStrike" dirty="0">
                          <a:solidFill>
                            <a:schemeClr val="bg1"/>
                          </a:solidFill>
                          <a:effectLst/>
                          <a:latin typeface="Times New Roman" panose="02020603050405020304" pitchFamily="18" charset="0"/>
                          <a:cs typeface="Times New Roman" panose="02020603050405020304" pitchFamily="18" charset="0"/>
                        </a:rPr>
                        <a:t> </a:t>
                      </a:r>
                      <a:r>
                        <a:rPr lang="en-US" sz="1200" b="1" u="none" strike="noStrike" dirty="0" err="1">
                          <a:solidFill>
                            <a:schemeClr val="bg1"/>
                          </a:solidFill>
                          <a:effectLst/>
                          <a:latin typeface="Times New Roman" panose="02020603050405020304" pitchFamily="18" charset="0"/>
                          <a:cs typeface="Times New Roman" panose="02020603050405020304" pitchFamily="18" charset="0"/>
                        </a:rPr>
                        <a:t>theo</a:t>
                      </a:r>
                      <a:endParaRPr lang="en-US" sz="12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xmlns="" val="1234812354"/>
                  </a:ext>
                </a:extLst>
              </a:tr>
              <a:tr h="409987">
                <a:tc>
                  <a:txBody>
                    <a:bodyPr/>
                    <a:lstStyle/>
                    <a:p>
                      <a:pPr algn="ctr" fontAlgn="ctr"/>
                      <a:r>
                        <a:rPr lang="en-US" sz="1200" b="0" u="none" strike="noStrike" dirty="0">
                          <a:solidFill>
                            <a:schemeClr val="tx1"/>
                          </a:solidFill>
                          <a:effectLst/>
                          <a:latin typeface="Times New Roman" panose="02020603050405020304" pitchFamily="18" charset="0"/>
                          <a:cs typeface="Times New Roman" panose="02020603050405020304" pitchFamily="18" charset="0"/>
                        </a:rPr>
                        <a:t>956556</a:t>
                      </a:r>
                      <a:endParaRPr lang="en-US" sz="12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Times New Roman" panose="02020603050405020304" pitchFamily="18" charset="0"/>
                          <a:cs typeface="Times New Roman" panose="02020603050405020304" pitchFamily="18" charset="0"/>
                        </a:rPr>
                        <a:t>KLM</a:t>
                      </a:r>
                      <a:endParaRPr lang="en-US" sz="12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200" u="none" strike="noStrike" dirty="0">
                          <a:solidFill>
                            <a:schemeClr val="tx1"/>
                          </a:solidFill>
                          <a:effectLst/>
                          <a:latin typeface="Times New Roman" panose="02020603050405020304" pitchFamily="18" charset="0"/>
                          <a:cs typeface="Times New Roman" panose="02020603050405020304" pitchFamily="18" charset="0"/>
                        </a:rPr>
                        <a:t>20/11/2023</a:t>
                      </a:r>
                    </a:p>
                  </a:txBody>
                  <a:tcPr marL="12700" marR="12700" marT="12700" marB="0" anchor="ctr"/>
                </a:tc>
                <a:tc>
                  <a:txBody>
                    <a:bodyPr/>
                    <a:lstStyle/>
                    <a:p>
                      <a:pPr algn="ctr" fontAlgn="ctr"/>
                      <a:r>
                        <a:rPr lang="en-US" sz="1200" u="none" strike="noStrike" dirty="0">
                          <a:solidFill>
                            <a:schemeClr val="tx1"/>
                          </a:solidFill>
                          <a:effectLst/>
                          <a:latin typeface="Times New Roman" panose="02020603050405020304" pitchFamily="18" charset="0"/>
                          <a:cs typeface="Times New Roman" panose="02020603050405020304" pitchFamily="18" charset="0"/>
                        </a:rPr>
                        <a:t>TBD</a:t>
                      </a:r>
                    </a:p>
                    <a:p>
                      <a:pPr algn="ctr" fontAlgn="ctr"/>
                      <a:r>
                        <a:rPr lang="en-US" sz="1200" u="none" strike="noStrike" dirty="0">
                          <a:solidFill>
                            <a:schemeClr val="tx1"/>
                          </a:solidFill>
                          <a:effectLst/>
                          <a:latin typeface="Times New Roman" panose="02020603050405020304" pitchFamily="18" charset="0"/>
                          <a:cs typeface="Times New Roman" panose="02020603050405020304" pitchFamily="18" charset="0"/>
                        </a:rPr>
                        <a:t>Induct 12/08/2024</a:t>
                      </a:r>
                    </a:p>
                  </a:txBody>
                  <a:tcPr marL="12700" marR="12700" marT="12700" marB="0" anchor="ctr"/>
                </a:tc>
                <a:tc>
                  <a:txBody>
                    <a:bodyPr/>
                    <a:lstStyle/>
                    <a:p>
                      <a:pPr algn="ctr" fontAlgn="ctr"/>
                      <a:r>
                        <a:rPr lang="en-US" sz="1200" b="0" i="0" u="none" strike="noStrike" dirty="0">
                          <a:solidFill>
                            <a:schemeClr val="tx1"/>
                          </a:solidFill>
                          <a:effectLst/>
                          <a:latin typeface="Times New Roman" panose="02020603050405020304" pitchFamily="18" charset="0"/>
                          <a:cs typeface="Times New Roman" panose="02020603050405020304" pitchFamily="18" charset="0"/>
                        </a:rPr>
                        <a:t>TBD</a:t>
                      </a:r>
                      <a:endParaRPr lang="en-US" sz="12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endParaRPr lang="en-US" sz="12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endParaRPr lang="en-US" sz="12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xmlns="" val="2610276437"/>
                  </a:ext>
                </a:extLst>
              </a:tr>
              <a:tr h="428984">
                <a:tc>
                  <a:txBody>
                    <a:bodyPr/>
                    <a:lstStyle/>
                    <a:p>
                      <a:pPr algn="ctr" fontAlgn="ctr"/>
                      <a:r>
                        <a:rPr lang="en-US" sz="1200" b="0" u="none" strike="noStrike" dirty="0">
                          <a:solidFill>
                            <a:schemeClr val="tx1"/>
                          </a:solidFill>
                          <a:effectLst/>
                          <a:latin typeface="Times New Roman" panose="02020603050405020304" pitchFamily="18" charset="0"/>
                          <a:cs typeface="Times New Roman" panose="02020603050405020304" pitchFamily="18" charset="0"/>
                        </a:rPr>
                        <a:t>956533</a:t>
                      </a:r>
                      <a:endParaRPr lang="en-US" sz="12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Times New Roman" panose="02020603050405020304" pitchFamily="18" charset="0"/>
                          <a:cs typeface="Times New Roman" panose="02020603050405020304" pitchFamily="18" charset="0"/>
                        </a:rPr>
                        <a:t>KLM</a:t>
                      </a:r>
                      <a:endParaRPr lang="en-US" sz="12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Times New Roman" panose="02020603050405020304" pitchFamily="18" charset="0"/>
                          <a:cs typeface="Times New Roman" panose="02020603050405020304" pitchFamily="18" charset="0"/>
                        </a:rPr>
                        <a:t>26/01/2024</a:t>
                      </a:r>
                    </a:p>
                  </a:txBody>
                  <a:tcPr marL="12700" marR="12700" marT="12700" marB="0" anchor="ctr"/>
                </a:tc>
                <a:tc>
                  <a:txBody>
                    <a:bodyPr/>
                    <a:lstStyle/>
                    <a:p>
                      <a:pPr algn="ctr" fontAlgn="ctr"/>
                      <a:r>
                        <a:rPr lang="en-US" sz="1200" b="0" u="none" strike="noStrike" dirty="0">
                          <a:solidFill>
                            <a:schemeClr val="tx1"/>
                          </a:solidFill>
                          <a:effectLst/>
                          <a:latin typeface="Times New Roman" panose="02020603050405020304" pitchFamily="18" charset="0"/>
                          <a:cs typeface="Times New Roman" panose="02020603050405020304" pitchFamily="18" charset="0"/>
                        </a:rPr>
                        <a:t>TBD</a:t>
                      </a:r>
                    </a:p>
                    <a:p>
                      <a:pPr algn="ctr" fontAlgn="ctr"/>
                      <a:r>
                        <a:rPr lang="en-US" sz="1200" b="0" u="none" strike="noStrike" dirty="0">
                          <a:solidFill>
                            <a:schemeClr val="tx1"/>
                          </a:solidFill>
                          <a:effectLst/>
                          <a:latin typeface="Times New Roman" panose="02020603050405020304" pitchFamily="18" charset="0"/>
                          <a:cs typeface="Times New Roman" panose="02020603050405020304" pitchFamily="18" charset="0"/>
                        </a:rPr>
                        <a:t>Induct 05/10/2024</a:t>
                      </a:r>
                    </a:p>
                  </a:txBody>
                  <a:tcPr marL="12700" marR="12700" marT="12700" marB="0" anchor="ctr"/>
                </a:tc>
                <a:tc>
                  <a:txBody>
                    <a:bodyPr/>
                    <a:lstStyle/>
                    <a:p>
                      <a:pPr algn="ctr" fontAlgn="ctr"/>
                      <a:r>
                        <a:rPr lang="en-US" sz="1200" b="0" i="0" u="none" strike="noStrike" dirty="0">
                          <a:solidFill>
                            <a:schemeClr val="tx1"/>
                          </a:solidFill>
                          <a:effectLst/>
                          <a:latin typeface="Times New Roman" panose="02020603050405020304" pitchFamily="18" charset="0"/>
                          <a:cs typeface="Times New Roman" panose="02020603050405020304" pitchFamily="18" charset="0"/>
                        </a:rPr>
                        <a:t>TBD</a:t>
                      </a:r>
                      <a:endParaRPr lang="en-US" sz="12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endParaRPr lang="en-US" sz="12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endParaRPr lang="en-US" sz="12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xmlns="" val="1880068930"/>
                  </a:ext>
                </a:extLst>
              </a:tr>
              <a:tr h="470767">
                <a:tc>
                  <a:txBody>
                    <a:bodyPr/>
                    <a:lstStyle/>
                    <a:p>
                      <a:pPr algn="ctr" fontAlgn="ctr"/>
                      <a:r>
                        <a:rPr lang="en-US" sz="1200" b="0" u="none" strike="noStrike" dirty="0">
                          <a:solidFill>
                            <a:schemeClr val="tx1"/>
                          </a:solidFill>
                          <a:effectLst/>
                          <a:latin typeface="Times New Roman" panose="02020603050405020304" pitchFamily="18" charset="0"/>
                          <a:cs typeface="Times New Roman" panose="02020603050405020304" pitchFamily="18" charset="0"/>
                        </a:rPr>
                        <a:t>956569</a:t>
                      </a:r>
                      <a:endParaRPr lang="en-US" sz="12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Times New Roman" panose="02020603050405020304" pitchFamily="18" charset="0"/>
                          <a:cs typeface="Times New Roman" panose="02020603050405020304" pitchFamily="18" charset="0"/>
                        </a:rPr>
                        <a:t>KLM</a:t>
                      </a:r>
                      <a:endParaRPr lang="en-US" sz="12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Times New Roman" panose="02020603050405020304" pitchFamily="18" charset="0"/>
                          <a:cs typeface="Times New Roman" panose="02020603050405020304" pitchFamily="18" charset="0"/>
                        </a:rPr>
                        <a:t>28/07/2024</a:t>
                      </a:r>
                    </a:p>
                  </a:txBody>
                  <a:tcPr marL="12700" marR="12700" marT="12700" marB="0" anchor="ctr"/>
                </a:tc>
                <a:tc>
                  <a:txBody>
                    <a:bodyPr/>
                    <a:lstStyle/>
                    <a:p>
                      <a:pPr algn="ctr" fontAlgn="ctr"/>
                      <a:r>
                        <a:rPr lang="en-US" sz="1200" b="0" u="none" strike="noStrike" dirty="0">
                          <a:solidFill>
                            <a:schemeClr val="tx1"/>
                          </a:solidFill>
                          <a:effectLst/>
                          <a:latin typeface="Times New Roman" panose="02020603050405020304" pitchFamily="18" charset="0"/>
                          <a:cs typeface="Times New Roman" panose="02020603050405020304" pitchFamily="18" charset="0"/>
                        </a:rPr>
                        <a:t>TBD</a:t>
                      </a:r>
                    </a:p>
                    <a:p>
                      <a:pPr algn="ctr" fontAlgn="ctr"/>
                      <a:r>
                        <a:rPr lang="en-US" sz="1200" b="0" u="none" strike="noStrike" dirty="0">
                          <a:solidFill>
                            <a:schemeClr val="tx1"/>
                          </a:solidFill>
                          <a:effectLst/>
                          <a:latin typeface="Times New Roman" panose="02020603050405020304" pitchFamily="18" charset="0"/>
                          <a:cs typeface="Times New Roman" panose="02020603050405020304" pitchFamily="18" charset="0"/>
                        </a:rPr>
                        <a:t>Induct 12/11/2024</a:t>
                      </a:r>
                    </a:p>
                  </a:txBody>
                  <a:tcPr marL="12700" marR="12700" marT="12700" marB="0" anchor="ctr"/>
                </a:tc>
                <a:tc>
                  <a:txBody>
                    <a:bodyPr/>
                    <a:lstStyle/>
                    <a:p>
                      <a:pPr marL="0" algn="ctr" defTabSz="914400" rtl="0" eaLnBrk="1" fontAlgn="ctr" latinLnBrk="0" hangingPunct="1"/>
                      <a:r>
                        <a:rPr lang="en-US" sz="1200" b="0" i="0" u="none" strike="noStrike" dirty="0">
                          <a:solidFill>
                            <a:schemeClr val="tx1"/>
                          </a:solidFill>
                          <a:effectLst/>
                          <a:latin typeface="Times New Roman" panose="02020603050405020304" pitchFamily="18" charset="0"/>
                          <a:cs typeface="Times New Roman" panose="02020603050405020304" pitchFamily="18" charset="0"/>
                        </a:rPr>
                        <a:t>TBD</a:t>
                      </a:r>
                      <a:endParaRPr lang="en-US" sz="1200" b="1" i="0" u="none" strike="noStrike" kern="1200" dirty="0">
                        <a:solidFill>
                          <a:srgbClr val="0070C0"/>
                        </a:solidFill>
                        <a:effectLst/>
                        <a:latin typeface="Times New Roman" panose="02020603050405020304" pitchFamily="18" charset="0"/>
                        <a:ea typeface="+mn-ea"/>
                        <a:cs typeface="Times New Roman" panose="02020603050405020304" pitchFamily="18" charset="0"/>
                      </a:endParaRPr>
                    </a:p>
                  </a:txBody>
                  <a:tcPr marL="12700" marR="12700" marT="1270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2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2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xmlns="" val="408617102"/>
                  </a:ext>
                </a:extLst>
              </a:tr>
              <a:tr h="404556">
                <a:tc>
                  <a:txBody>
                    <a:bodyPr/>
                    <a:lstStyle/>
                    <a:p>
                      <a:pPr algn="ctr" fontAlgn="ctr"/>
                      <a:r>
                        <a:rPr lang="en-US" sz="1200" b="0" i="0" u="none" strike="noStrike" dirty="0">
                          <a:solidFill>
                            <a:schemeClr val="tx1"/>
                          </a:solidFill>
                          <a:effectLst/>
                          <a:latin typeface="Times New Roman" panose="02020603050405020304" pitchFamily="18" charset="0"/>
                          <a:cs typeface="Times New Roman" panose="02020603050405020304" pitchFamily="18" charset="0"/>
                        </a:rPr>
                        <a:t>958398</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Times New Roman" panose="02020603050405020304" pitchFamily="18" charset="0"/>
                          <a:cs typeface="Times New Roman" panose="02020603050405020304" pitchFamily="18" charset="0"/>
                        </a:rPr>
                        <a:t>GEEVES</a:t>
                      </a:r>
                    </a:p>
                  </a:txBody>
                  <a:tcPr marL="12700" marR="12700" marT="12700" marB="0" anchor="ctr"/>
                </a:tc>
                <a:tc>
                  <a:txBody>
                    <a:bodyPr/>
                    <a:lstStyle/>
                    <a:p>
                      <a:pPr algn="ctr" fontAlgn="ctr"/>
                      <a:r>
                        <a:rPr lang="en-US" sz="1200" b="0" u="none" strike="noStrike" dirty="0">
                          <a:solidFill>
                            <a:schemeClr val="tx1"/>
                          </a:solidFill>
                          <a:effectLst/>
                          <a:latin typeface="Times New Roman" panose="02020603050405020304" pitchFamily="18" charset="0"/>
                          <a:cs typeface="Times New Roman" panose="02020603050405020304" pitchFamily="18" charset="0"/>
                        </a:rPr>
                        <a:t>21/06/2024</a:t>
                      </a:r>
                    </a:p>
                  </a:txBody>
                  <a:tcPr marL="12700" marR="12700" marT="12700" marB="0" anchor="ctr"/>
                </a:tc>
                <a:tc>
                  <a:txBody>
                    <a:bodyPr/>
                    <a:lstStyle/>
                    <a:p>
                      <a:pPr algn="ctr" fontAlgn="ctr"/>
                      <a:r>
                        <a:rPr lang="en-US" sz="1200" b="0" u="none" strike="noStrike" dirty="0">
                          <a:solidFill>
                            <a:schemeClr val="tx1"/>
                          </a:solidFill>
                          <a:effectLst/>
                          <a:latin typeface="Times New Roman" panose="02020603050405020304" pitchFamily="18" charset="0"/>
                          <a:cs typeface="Times New Roman" panose="02020603050405020304" pitchFamily="18" charset="0"/>
                        </a:rPr>
                        <a:t>TBD</a:t>
                      </a:r>
                    </a:p>
                    <a:p>
                      <a:pPr algn="ctr" fontAlgn="ctr"/>
                      <a:r>
                        <a:rPr lang="en-US" sz="1200" b="0" u="none" strike="noStrike" dirty="0">
                          <a:solidFill>
                            <a:schemeClr val="tx1"/>
                          </a:solidFill>
                          <a:effectLst/>
                          <a:latin typeface="Times New Roman" panose="02020603050405020304" pitchFamily="18" charset="0"/>
                          <a:cs typeface="Times New Roman" panose="02020603050405020304" pitchFamily="18" charset="0"/>
                        </a:rPr>
                        <a:t>Induct 17/07/2024</a:t>
                      </a:r>
                    </a:p>
                  </a:txBody>
                  <a:tcPr marL="12700" marR="12700" marT="12700" marB="0" anchor="ctr"/>
                </a:tc>
                <a:tc>
                  <a:txBody>
                    <a:bodyPr/>
                    <a:lstStyle/>
                    <a:p>
                      <a:pPr algn="ctr" fontAlgn="ctr"/>
                      <a:r>
                        <a:rPr lang="en-US" sz="1200" b="0" i="0" u="none" strike="noStrike" dirty="0">
                          <a:solidFill>
                            <a:schemeClr val="tx1"/>
                          </a:solidFill>
                          <a:effectLst/>
                          <a:latin typeface="Times New Roman" panose="02020603050405020304" pitchFamily="18" charset="0"/>
                          <a:cs typeface="Times New Roman" panose="02020603050405020304" pitchFamily="18" charset="0"/>
                        </a:rPr>
                        <a:t>TBD</a:t>
                      </a:r>
                      <a:endParaRPr lang="en-US" sz="1200" b="1" i="0" u="none" strike="noStrike" dirty="0">
                        <a:solidFill>
                          <a:srgbClr val="0070C0"/>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rgbClr val="00B050"/>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rgbClr val="00B050"/>
                        </a:solidFill>
                        <a:effectLst/>
                        <a:latin typeface="Times New Roman" panose="02020603050405020304" pitchFamily="18" charset="0"/>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xmlns="" val="1168631574"/>
                  </a:ext>
                </a:extLst>
              </a:tr>
              <a:tr h="423872">
                <a:tc>
                  <a:txBody>
                    <a:bodyPr/>
                    <a:lstStyle/>
                    <a:p>
                      <a:pPr algn="ctr" fontAlgn="ctr"/>
                      <a:r>
                        <a:rPr lang="en-US" sz="1200" b="0" i="0" u="none" strike="noStrike" dirty="0">
                          <a:solidFill>
                            <a:schemeClr val="tx1"/>
                          </a:solidFill>
                          <a:effectLst/>
                          <a:latin typeface="Times New Roman" panose="02020603050405020304" pitchFamily="18" charset="0"/>
                          <a:cs typeface="Times New Roman" panose="02020603050405020304" pitchFamily="18" charset="0"/>
                        </a:rPr>
                        <a:t>956599</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Times New Roman" panose="02020603050405020304" pitchFamily="18" charset="0"/>
                          <a:cs typeface="Times New Roman" panose="02020603050405020304" pitchFamily="18" charset="0"/>
                        </a:rPr>
                        <a:t>KLM</a:t>
                      </a:r>
                      <a:endParaRPr lang="en-US" sz="12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Times New Roman" panose="02020603050405020304" pitchFamily="18" charset="0"/>
                          <a:cs typeface="Times New Roman" panose="02020603050405020304" pitchFamily="18" charset="0"/>
                        </a:rPr>
                        <a:t>05/09/2024</a:t>
                      </a:r>
                    </a:p>
                  </a:txBody>
                  <a:tcPr marL="12700" marR="12700" marT="12700" marB="0" anchor="ctr"/>
                </a:tc>
                <a:tc>
                  <a:txBody>
                    <a:bodyPr/>
                    <a:lstStyle/>
                    <a:p>
                      <a:pPr algn="ctr" fontAlgn="ctr"/>
                      <a:r>
                        <a:rPr lang="en-US" sz="1200" b="0" u="none" strike="noStrike" dirty="0">
                          <a:solidFill>
                            <a:schemeClr val="tx1"/>
                          </a:solidFill>
                          <a:effectLst/>
                          <a:latin typeface="Times New Roman" panose="02020603050405020304" pitchFamily="18" charset="0"/>
                          <a:cs typeface="Times New Roman" panose="02020603050405020304" pitchFamily="18" charset="0"/>
                        </a:rPr>
                        <a:t>TBD</a:t>
                      </a:r>
                    </a:p>
                    <a:p>
                      <a:pPr algn="ctr" fontAlgn="ctr"/>
                      <a:r>
                        <a:rPr lang="en-US" sz="1200" b="0" u="none" strike="noStrike" dirty="0">
                          <a:solidFill>
                            <a:schemeClr val="tx1"/>
                          </a:solidFill>
                          <a:effectLst/>
                          <a:latin typeface="Times New Roman" panose="02020603050405020304" pitchFamily="18" charset="0"/>
                          <a:cs typeface="Times New Roman" panose="02020603050405020304" pitchFamily="18" charset="0"/>
                        </a:rPr>
                        <a:t>Induct 26/11/2024</a:t>
                      </a:r>
                    </a:p>
                  </a:txBody>
                  <a:tcPr marL="12700" marR="12700" marT="12700" marB="0" anchor="ctr"/>
                </a:tc>
                <a:tc>
                  <a:txBody>
                    <a:bodyPr/>
                    <a:lstStyle/>
                    <a:p>
                      <a:pPr algn="ctr" fontAlgn="ctr"/>
                      <a:r>
                        <a:rPr lang="en-US" sz="1200" b="0" i="0" u="none" strike="noStrike" dirty="0">
                          <a:solidFill>
                            <a:schemeClr val="tx1"/>
                          </a:solidFill>
                          <a:effectLst/>
                          <a:latin typeface="Times New Roman" panose="02020603050405020304" pitchFamily="18" charset="0"/>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xmlns="" val="3167051134"/>
                  </a:ext>
                </a:extLst>
              </a:tr>
              <a:tr h="378460">
                <a:tc>
                  <a:txBody>
                    <a:bodyPr/>
                    <a:lstStyle/>
                    <a:p>
                      <a:pPr algn="ctr" fontAlgn="ctr"/>
                      <a:r>
                        <a:rPr lang="en-US" sz="1200" b="0" i="0" u="none" strike="noStrike" dirty="0">
                          <a:solidFill>
                            <a:schemeClr val="tx1"/>
                          </a:solidFill>
                          <a:effectLst/>
                          <a:latin typeface="Times New Roman" panose="02020603050405020304" pitchFamily="18" charset="0"/>
                          <a:cs typeface="Times New Roman" panose="02020603050405020304" pitchFamily="18" charset="0"/>
                        </a:rPr>
                        <a:t>958537</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Times New Roman" panose="02020603050405020304" pitchFamily="18" charset="0"/>
                          <a:cs typeface="Times New Roman" panose="02020603050405020304" pitchFamily="18" charset="0"/>
                        </a:rPr>
                        <a:t>GE CAL</a:t>
                      </a:r>
                    </a:p>
                  </a:txBody>
                  <a:tcPr marL="12700" marR="12700" marT="12700" marB="0" anchor="ctr"/>
                </a:tc>
                <a:tc>
                  <a:txBody>
                    <a:bodyPr/>
                    <a:lstStyle/>
                    <a:p>
                      <a:pPr algn="ctr" fontAlgn="ctr"/>
                      <a:r>
                        <a:rPr lang="en-US" sz="1200" b="0" u="none" strike="noStrike" dirty="0">
                          <a:solidFill>
                            <a:schemeClr val="tx1"/>
                          </a:solidFill>
                          <a:effectLst/>
                          <a:latin typeface="Times New Roman" panose="02020603050405020304" pitchFamily="18" charset="0"/>
                          <a:cs typeface="Times New Roman" panose="02020603050405020304" pitchFamily="18" charset="0"/>
                        </a:rPr>
                        <a:t>17/09/2024</a:t>
                      </a:r>
                    </a:p>
                  </a:txBody>
                  <a:tcPr marL="12700" marR="12700" marT="12700" marB="0" anchor="ctr"/>
                </a:tc>
                <a:tc>
                  <a:txBody>
                    <a:bodyPr/>
                    <a:lstStyle/>
                    <a:p>
                      <a:pPr algn="ctr" fontAlgn="ctr"/>
                      <a:r>
                        <a:rPr lang="en-US" sz="1200" b="0" u="none" strike="noStrike" dirty="0">
                          <a:solidFill>
                            <a:schemeClr val="tx1"/>
                          </a:solidFill>
                          <a:effectLst/>
                          <a:latin typeface="Times New Roman" panose="02020603050405020304" pitchFamily="18" charset="0"/>
                          <a:cs typeface="Times New Roman" panose="02020603050405020304" pitchFamily="18" charset="0"/>
                        </a:rPr>
                        <a:t>TBD</a:t>
                      </a:r>
                    </a:p>
                    <a:p>
                      <a:pPr algn="ctr" fontAlgn="ctr"/>
                      <a:r>
                        <a:rPr lang="en-US" sz="1200" b="0" u="none" strike="noStrike" dirty="0">
                          <a:solidFill>
                            <a:schemeClr val="tx1"/>
                          </a:solidFill>
                          <a:effectLst/>
                          <a:latin typeface="Times New Roman" panose="02020603050405020304" pitchFamily="18" charset="0"/>
                          <a:cs typeface="Times New Roman" panose="02020603050405020304" pitchFamily="18" charset="0"/>
                        </a:rPr>
                        <a:t>Induct 04/11</a:t>
                      </a:r>
                    </a:p>
                  </a:txBody>
                  <a:tcPr marL="12700" marR="12700" marT="12700" marB="0" anchor="ctr"/>
                </a:tc>
                <a:tc>
                  <a:txBody>
                    <a:bodyPr/>
                    <a:lstStyle/>
                    <a:p>
                      <a:pPr algn="ctr" fontAlgn="ctr"/>
                      <a:r>
                        <a:rPr lang="en-US" sz="1200" b="0" i="0" u="none" strike="noStrike" dirty="0">
                          <a:solidFill>
                            <a:schemeClr val="tx1"/>
                          </a:solidFill>
                          <a:effectLst/>
                          <a:latin typeface="Times New Roman" panose="02020603050405020304" pitchFamily="18" charset="0"/>
                          <a:cs typeface="Times New Roman" panose="02020603050405020304" pitchFamily="18" charset="0"/>
                        </a:rPr>
                        <a:t>TBD</a:t>
                      </a:r>
                    </a:p>
                  </a:txBody>
                  <a:tcPr marL="12700" marR="12700" marT="12700" marB="0" anchor="ctr"/>
                </a:tc>
                <a:tc>
                  <a:txBody>
                    <a:bodyPr/>
                    <a:lstStyle/>
                    <a:p>
                      <a:pPr algn="ctr" fontAlgn="ctr"/>
                      <a:endParaRPr lang="en-US" sz="1200" b="0" i="0" u="none" strike="noStrike" dirty="0">
                        <a:solidFill>
                          <a:srgbClr val="008ECC"/>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endParaRPr lang="en-US" sz="1200" b="0" i="0" u="none" strike="noStrike" dirty="0">
                        <a:solidFill>
                          <a:srgbClr val="008ECC"/>
                        </a:solidFill>
                        <a:effectLst/>
                        <a:latin typeface="Times New Roman" panose="02020603050405020304" pitchFamily="18" charset="0"/>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xmlns="" val="2980115374"/>
                  </a:ext>
                </a:extLst>
              </a:tr>
              <a:tr h="400604">
                <a:tc>
                  <a:txBody>
                    <a:bodyPr/>
                    <a:lstStyle/>
                    <a:p>
                      <a:pPr algn="ctr" fontAlgn="ctr"/>
                      <a:r>
                        <a:rPr lang="en-US" sz="1200" b="0" i="0" u="none" strike="noStrike" dirty="0">
                          <a:solidFill>
                            <a:schemeClr val="tx1"/>
                          </a:solidFill>
                          <a:effectLst/>
                          <a:latin typeface="Times New Roman" panose="02020603050405020304" pitchFamily="18" charset="0"/>
                          <a:cs typeface="Times New Roman" panose="02020603050405020304" pitchFamily="18" charset="0"/>
                        </a:rPr>
                        <a:t>956947</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Times New Roman" panose="02020603050405020304" pitchFamily="18" charset="0"/>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chemeClr val="tx1"/>
                          </a:solidFill>
                          <a:effectLst/>
                          <a:latin typeface="Times New Roman" panose="02020603050405020304" pitchFamily="18" charset="0"/>
                          <a:cs typeface="Times New Roman" panose="02020603050405020304" pitchFamily="18" charset="0"/>
                        </a:rPr>
                        <a:t>13/11/2024</a:t>
                      </a:r>
                    </a:p>
                  </a:txBody>
                  <a:tcPr marL="12700" marR="12700" marT="12700" marB="0" anchor="ctr"/>
                </a:tc>
                <a:tc>
                  <a:txBody>
                    <a:bodyPr/>
                    <a:lstStyle/>
                    <a:p>
                      <a:pPr algn="ctr" fontAlgn="ctr"/>
                      <a:r>
                        <a:rPr lang="en-US" sz="1200" b="0" u="none" strike="noStrike" dirty="0">
                          <a:solidFill>
                            <a:srgbClr val="BF0000"/>
                          </a:solidFill>
                          <a:effectLst/>
                          <a:latin typeface="Times New Roman" panose="02020603050405020304" pitchFamily="18" charset="0"/>
                          <a:cs typeface="Times New Roman" panose="02020603050405020304" pitchFamily="18" charset="0"/>
                        </a:rPr>
                        <a:t>Induct TBD (KH </a:t>
                      </a:r>
                      <a:r>
                        <a:rPr lang="en-US" sz="1200" b="0" u="none" strike="noStrike" dirty="0" err="1">
                          <a:solidFill>
                            <a:srgbClr val="BF0000"/>
                          </a:solidFill>
                          <a:effectLst/>
                          <a:latin typeface="Times New Roman" panose="02020603050405020304" pitchFamily="18" charset="0"/>
                          <a:cs typeface="Times New Roman" panose="02020603050405020304" pitchFamily="18" charset="0"/>
                        </a:rPr>
                        <a:t>cũ</a:t>
                      </a:r>
                      <a:r>
                        <a:rPr lang="en-US" sz="1200" b="0" u="none" strike="noStrike" dirty="0">
                          <a:solidFill>
                            <a:srgbClr val="BF0000"/>
                          </a:solidFill>
                          <a:effectLst/>
                          <a:latin typeface="Times New Roman" panose="02020603050405020304" pitchFamily="18" charset="0"/>
                          <a:cs typeface="Times New Roman" panose="02020603050405020304" pitchFamily="18" charset="0"/>
                        </a:rPr>
                        <a:t> 16/12 </a:t>
                      </a:r>
                      <a:r>
                        <a:rPr lang="en-US" sz="1200" b="0" u="none" strike="noStrike" dirty="0" err="1">
                          <a:solidFill>
                            <a:srgbClr val="BF0000"/>
                          </a:solidFill>
                          <a:effectLst/>
                          <a:latin typeface="Times New Roman" panose="02020603050405020304" pitchFamily="18" charset="0"/>
                          <a:cs typeface="Times New Roman" panose="02020603050405020304" pitchFamily="18" charset="0"/>
                        </a:rPr>
                        <a:t>nhưng</a:t>
                      </a:r>
                      <a:r>
                        <a:rPr lang="en-US" sz="1200" b="0" u="none" strike="noStrike" dirty="0">
                          <a:solidFill>
                            <a:srgbClr val="BF0000"/>
                          </a:solidFill>
                          <a:effectLst/>
                          <a:latin typeface="Times New Roman" panose="02020603050405020304" pitchFamily="18" charset="0"/>
                          <a:cs typeface="Times New Roman" panose="02020603050405020304" pitchFamily="18" charset="0"/>
                        </a:rPr>
                        <a:t> KLM </a:t>
                      </a:r>
                      <a:r>
                        <a:rPr lang="en-US" sz="1200" b="0" u="none" strike="noStrike" dirty="0" err="1">
                          <a:solidFill>
                            <a:srgbClr val="BF0000"/>
                          </a:solidFill>
                          <a:effectLst/>
                          <a:latin typeface="Times New Roman" panose="02020603050405020304" pitchFamily="18" charset="0"/>
                          <a:cs typeface="Times New Roman" panose="02020603050405020304" pitchFamily="18" charset="0"/>
                        </a:rPr>
                        <a:t>báo</a:t>
                      </a:r>
                      <a:r>
                        <a:rPr lang="en-US" sz="1200" b="0" u="none" strike="noStrike" dirty="0">
                          <a:solidFill>
                            <a:srgbClr val="BF0000"/>
                          </a:solidFill>
                          <a:effectLst/>
                          <a:latin typeface="Times New Roman" panose="02020603050405020304" pitchFamily="18" charset="0"/>
                          <a:cs typeface="Times New Roman" panose="02020603050405020304" pitchFamily="18" charset="0"/>
                        </a:rPr>
                        <a:t> </a:t>
                      </a:r>
                      <a:r>
                        <a:rPr lang="en-US" sz="1200" b="0" u="none" strike="noStrike" dirty="0" err="1">
                          <a:solidFill>
                            <a:srgbClr val="BF0000"/>
                          </a:solidFill>
                          <a:effectLst/>
                          <a:latin typeface="Times New Roman" panose="02020603050405020304" pitchFamily="18" charset="0"/>
                          <a:cs typeface="Times New Roman" panose="02020603050405020304" pitchFamily="18" charset="0"/>
                        </a:rPr>
                        <a:t>lùi</a:t>
                      </a:r>
                      <a:r>
                        <a:rPr lang="en-US" sz="1200" b="0" u="none" strike="noStrike" dirty="0">
                          <a:solidFill>
                            <a:srgbClr val="BF0000"/>
                          </a:solidFill>
                          <a:effectLst/>
                          <a:latin typeface="Times New Roman" panose="02020603050405020304" pitchFamily="18" charset="0"/>
                          <a:cs typeface="Times New Roman" panose="02020603050405020304" pitchFamily="18" charset="0"/>
                        </a:rPr>
                        <a:t>)</a:t>
                      </a:r>
                    </a:p>
                  </a:txBody>
                  <a:tcPr marL="12700" marR="12700" marT="12700" marB="0" anchor="ctr"/>
                </a:tc>
                <a:tc>
                  <a:txBody>
                    <a:bodyPr/>
                    <a:lstStyle/>
                    <a:p>
                      <a:pPr algn="ctr" fontAlgn="ctr"/>
                      <a:r>
                        <a:rPr lang="en-US" sz="1200" b="0" i="0" u="none" strike="noStrike" dirty="0">
                          <a:solidFill>
                            <a:srgbClr val="BF0000"/>
                          </a:solidFill>
                          <a:effectLst/>
                          <a:latin typeface="Times New Roman" panose="02020603050405020304" pitchFamily="18" charset="0"/>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xmlns="" val="1090409908"/>
                  </a:ext>
                </a:extLst>
              </a:tr>
              <a:tr h="400604">
                <a:tc>
                  <a:txBody>
                    <a:bodyPr/>
                    <a:lstStyle/>
                    <a:p>
                      <a:pPr algn="ctr" fontAlgn="ctr"/>
                      <a:r>
                        <a:rPr lang="en-US" sz="1200" b="0" i="0" u="none" strike="noStrike" dirty="0">
                          <a:solidFill>
                            <a:schemeClr val="tx1"/>
                          </a:solidFill>
                          <a:effectLst/>
                          <a:latin typeface="Times New Roman" panose="02020603050405020304" pitchFamily="18" charset="0"/>
                          <a:cs typeface="Times New Roman" panose="02020603050405020304" pitchFamily="18" charset="0"/>
                        </a:rPr>
                        <a:t>956534</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Times New Roman" panose="02020603050405020304" pitchFamily="18" charset="0"/>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chemeClr val="tx1"/>
                          </a:solidFill>
                          <a:effectLst/>
                          <a:latin typeface="Times New Roman" panose="02020603050405020304" pitchFamily="18" charset="0"/>
                          <a:cs typeface="Times New Roman" panose="02020603050405020304" pitchFamily="18" charset="0"/>
                        </a:rPr>
                        <a:t>15/12/2024</a:t>
                      </a:r>
                    </a:p>
                  </a:txBody>
                  <a:tcPr marL="12700" marR="12700" marT="12700" marB="0" anchor="ctr"/>
                </a:tc>
                <a:tc>
                  <a:txBody>
                    <a:bodyPr/>
                    <a:lstStyle/>
                    <a:p>
                      <a:pPr algn="ctr" fontAlgn="ctr"/>
                      <a:r>
                        <a:rPr lang="en-US" sz="1200" b="0" u="none" strike="noStrike" dirty="0">
                          <a:solidFill>
                            <a:srgbClr val="ED0000"/>
                          </a:solidFill>
                          <a:effectLst/>
                          <a:latin typeface="Times New Roman" panose="02020603050405020304" pitchFamily="18" charset="0"/>
                          <a:cs typeface="Times New Roman" panose="02020603050405020304" pitchFamily="18" charset="0"/>
                        </a:rPr>
                        <a:t>TBD</a:t>
                      </a:r>
                      <a:br>
                        <a:rPr lang="en-US" sz="1200" b="0" u="none" strike="noStrike" dirty="0">
                          <a:solidFill>
                            <a:srgbClr val="ED0000"/>
                          </a:solidFill>
                          <a:effectLst/>
                          <a:latin typeface="Times New Roman" panose="02020603050405020304" pitchFamily="18" charset="0"/>
                          <a:cs typeface="Times New Roman" panose="02020603050405020304" pitchFamily="18" charset="0"/>
                        </a:rPr>
                      </a:br>
                      <a:r>
                        <a:rPr lang="en-US" sz="1200" b="0" u="none" strike="noStrike" dirty="0">
                          <a:solidFill>
                            <a:srgbClr val="ED0000"/>
                          </a:solidFill>
                          <a:effectLst/>
                          <a:latin typeface="Times New Roman" panose="02020603050405020304" pitchFamily="18" charset="0"/>
                          <a:cs typeface="Times New Roman" panose="02020603050405020304" pitchFamily="18" charset="0"/>
                        </a:rPr>
                        <a:t>Induction TBD</a:t>
                      </a:r>
                    </a:p>
                  </a:txBody>
                  <a:tcPr marL="12700" marR="12700" marT="12700" marB="0" anchor="ctr"/>
                </a:tc>
                <a:tc>
                  <a:txBody>
                    <a:bodyPr/>
                    <a:lstStyle/>
                    <a:p>
                      <a:pPr algn="ctr" fontAlgn="ctr"/>
                      <a:r>
                        <a:rPr lang="en-US" sz="1200" b="0" i="0" u="none" strike="noStrike" dirty="0">
                          <a:solidFill>
                            <a:srgbClr val="ED0000"/>
                          </a:solidFill>
                          <a:effectLst/>
                          <a:latin typeface="Times New Roman" panose="02020603050405020304" pitchFamily="18" charset="0"/>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xmlns="" val="764472465"/>
                  </a:ext>
                </a:extLst>
              </a:tr>
              <a:tr h="470767">
                <a:tc>
                  <a:txBody>
                    <a:bodyPr/>
                    <a:lstStyle/>
                    <a:p>
                      <a:pPr algn="ctr" fontAlgn="ctr"/>
                      <a:r>
                        <a:rPr lang="en-US" sz="1200" b="0" i="0" u="none" strike="noStrike" dirty="0">
                          <a:solidFill>
                            <a:schemeClr val="tx1"/>
                          </a:solidFill>
                          <a:effectLst/>
                          <a:latin typeface="Times New Roman" panose="02020603050405020304" pitchFamily="18" charset="0"/>
                          <a:cs typeface="Times New Roman" panose="02020603050405020304" pitchFamily="18" charset="0"/>
                        </a:rPr>
                        <a:t>958541</a:t>
                      </a:r>
                    </a:p>
                  </a:txBody>
                  <a:tcPr marL="12700" marR="12700" marT="12700"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fontAlgn="ctr"/>
                      <a:r>
                        <a:rPr lang="en-US" sz="1200" b="0" i="0" u="none" strike="noStrike" dirty="0">
                          <a:solidFill>
                            <a:schemeClr val="tx1"/>
                          </a:solidFill>
                          <a:effectLst/>
                          <a:latin typeface="Times New Roman" panose="02020603050405020304" pitchFamily="18" charset="0"/>
                          <a:cs typeface="Times New Roman" panose="02020603050405020304" pitchFamily="18" charset="0"/>
                        </a:rPr>
                        <a:t>GE CAL</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u="none" strike="noStrike" dirty="0">
                          <a:solidFill>
                            <a:schemeClr val="tx1"/>
                          </a:solidFill>
                          <a:effectLst/>
                          <a:latin typeface="Times New Roman" panose="02020603050405020304" pitchFamily="18" charset="0"/>
                          <a:cs typeface="Times New Roman" panose="02020603050405020304" pitchFamily="18" charset="0"/>
                        </a:rPr>
                        <a:t>15/09/2024</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u="none" strike="noStrike" dirty="0">
                          <a:solidFill>
                            <a:schemeClr val="tx1"/>
                          </a:solidFill>
                          <a:effectLst/>
                          <a:latin typeface="Times New Roman" panose="02020603050405020304" pitchFamily="18" charset="0"/>
                          <a:cs typeface="Times New Roman" panose="02020603050405020304" pitchFamily="18" charset="0"/>
                        </a:rPr>
                        <a:t>31/12/2024</a:t>
                      </a:r>
                    </a:p>
                    <a:p>
                      <a:pPr algn="ctr" fontAlgn="ctr"/>
                      <a:r>
                        <a:rPr lang="en-US" sz="1200" b="0" u="none" strike="noStrike" dirty="0">
                          <a:solidFill>
                            <a:schemeClr val="tx1"/>
                          </a:solidFill>
                          <a:effectLst/>
                          <a:latin typeface="Times New Roman" panose="02020603050405020304" pitchFamily="18" charset="0"/>
                          <a:cs typeface="Times New Roman" panose="02020603050405020304" pitchFamily="18" charset="0"/>
                        </a:rPr>
                        <a:t>Induct 02/10/2024</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i="0" u="none" strike="noStrike" dirty="0">
                          <a:solidFill>
                            <a:srgbClr val="BF0000"/>
                          </a:solidFill>
                          <a:effectLst/>
                          <a:latin typeface="Times New Roman" panose="02020603050405020304" pitchFamily="18" charset="0"/>
                          <a:cs typeface="Times New Roman" panose="02020603050405020304" pitchFamily="18" charset="0"/>
                        </a:rPr>
                        <a:t>12/01/2025</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endParaRPr lang="en-US" sz="1200" b="1" i="0" u="none" strike="noStrike" dirty="0">
                        <a:solidFill>
                          <a:srgbClr val="FF0000"/>
                        </a:solidFill>
                        <a:effectLst/>
                        <a:latin typeface="Times New Roman" panose="02020603050405020304" pitchFamily="18" charset="0"/>
                        <a:cs typeface="Times New Roman" panose="02020603050405020304" pitchFamily="18" charset="0"/>
                      </a:endParaRP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endParaRPr lang="en-US" sz="1200" b="1" i="0" u="none" strike="noStrike" dirty="0">
                        <a:solidFill>
                          <a:srgbClr val="FF0000"/>
                        </a:solidFill>
                        <a:effectLst/>
                        <a:latin typeface="Times New Roman" panose="02020603050405020304" pitchFamily="18" charset="0"/>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249697906"/>
                  </a:ext>
                </a:extLst>
              </a:tr>
            </a:tbl>
          </a:graphicData>
        </a:graphic>
      </p:graphicFrame>
      <p:sp>
        <p:nvSpPr>
          <p:cNvPr id="7" name="TextBox 6">
            <a:extLst>
              <a:ext uri="{FF2B5EF4-FFF2-40B4-BE49-F238E27FC236}">
                <a16:creationId xmlns:a16="http://schemas.microsoft.com/office/drawing/2014/main" xmlns="" id="{1D51DD3A-A3BC-37D8-A7BC-C2D1AAF32241}"/>
              </a:ext>
            </a:extLst>
          </p:cNvPr>
          <p:cNvSpPr txBox="1"/>
          <p:nvPr/>
        </p:nvSpPr>
        <p:spPr>
          <a:xfrm>
            <a:off x="-80108" y="-47303"/>
            <a:ext cx="14875495" cy="502766"/>
          </a:xfrm>
          <a:prstGeom prst="rect">
            <a:avLst/>
          </a:prstGeom>
          <a:noFill/>
        </p:spPr>
        <p:txBody>
          <a:bodyPr wrap="square" rtlCol="0">
            <a:spAutoFit/>
          </a:bodyPr>
          <a:lstStyle/>
          <a:p>
            <a:pPr defTabSz="1219170">
              <a:defRPr/>
            </a:pPr>
            <a:r>
              <a:rPr lang="vi-VN" sz="2667" b="1" dirty="0">
                <a:ln w="0"/>
                <a:solidFill>
                  <a:srgbClr val="FBAC00"/>
                </a:solidFill>
                <a:latin typeface="Times New Roman" panose="02020603050405020304" pitchFamily="18" charset="0"/>
                <a:cs typeface="Times New Roman" panose="02020603050405020304" pitchFamily="18" charset="0"/>
              </a:rPr>
              <a:t>KHẢ NĂNG CUNG ỨNG ĐỘNG CƠ </a:t>
            </a:r>
            <a:r>
              <a:rPr lang="en-US" sz="2667" b="1" dirty="0">
                <a:ln w="0"/>
                <a:solidFill>
                  <a:srgbClr val="FBAC00"/>
                </a:solidFill>
                <a:latin typeface="Times New Roman" panose="02020603050405020304" pitchFamily="18" charset="0"/>
                <a:cs typeface="Times New Roman" panose="02020603050405020304" pitchFamily="18" charset="0"/>
              </a:rPr>
              <a:t>ĐỘI BAY B787</a:t>
            </a:r>
            <a:endParaRPr lang="vi-VN" sz="2667" b="1" dirty="0">
              <a:ln w="0"/>
              <a:solidFill>
                <a:srgbClr val="FBAC00"/>
              </a:solidFill>
              <a:latin typeface="Times New Roman" panose="02020603050405020304" pitchFamily="18" charset="0"/>
              <a:cs typeface="Times New Roman" panose="02020603050405020304" pitchFamily="18" charset="0"/>
            </a:endParaRPr>
          </a:p>
        </p:txBody>
      </p:sp>
      <p:cxnSp>
        <p:nvCxnSpPr>
          <p:cNvPr id="8" name="Straight Connector 7">
            <a:extLst>
              <a:ext uri="{FF2B5EF4-FFF2-40B4-BE49-F238E27FC236}">
                <a16:creationId xmlns:a16="http://schemas.microsoft.com/office/drawing/2014/main" xmlns="" id="{535AC63B-0D0C-0A9D-E19A-23C40E138B08}"/>
              </a:ext>
            </a:extLst>
          </p:cNvPr>
          <p:cNvCxnSpPr>
            <a:cxnSpLocks/>
          </p:cNvCxnSpPr>
          <p:nvPr/>
        </p:nvCxnSpPr>
        <p:spPr>
          <a:xfrm>
            <a:off x="8861868" y="789311"/>
            <a:ext cx="0" cy="3962400"/>
          </a:xfrm>
          <a:prstGeom prst="line">
            <a:avLst/>
          </a:prstGeom>
          <a:ln w="12700"/>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3019234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2992F53-6C68-14D6-9DEA-AEB34D75A18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2441B87A-D677-E2CD-D388-4756C0FD6622}"/>
              </a:ext>
            </a:extLst>
          </p:cNvPr>
          <p:cNvSpPr>
            <a:spLocks noGrp="1"/>
          </p:cNvSpPr>
          <p:nvPr>
            <p:ph type="sldNum" idx="12"/>
          </p:nvPr>
        </p:nvSpPr>
        <p:spPr/>
        <p:txBody>
          <a:bodyPr/>
          <a:lstStyle/>
          <a:p>
            <a:fld id="{00000000-1234-1234-1234-123412341234}" type="slidenum">
              <a:rPr lang="vi" smtClean="0">
                <a:cs typeface="Times New Roman" panose="02020603050405020304" pitchFamily="18" charset="0"/>
              </a:rPr>
              <a:pPr/>
              <a:t>32</a:t>
            </a:fld>
            <a:endParaRPr lang="vi">
              <a:cs typeface="Times New Roman" panose="02020603050405020304" pitchFamily="18" charset="0"/>
            </a:endParaRPr>
          </a:p>
        </p:txBody>
      </p:sp>
      <p:sp>
        <p:nvSpPr>
          <p:cNvPr id="3" name="Slide Number Placeholder 3">
            <a:extLst>
              <a:ext uri="{FF2B5EF4-FFF2-40B4-BE49-F238E27FC236}">
                <a16:creationId xmlns:a16="http://schemas.microsoft.com/office/drawing/2014/main" xmlns="" id="{AE0CA383-C720-0F92-7585-419599FF38E2}"/>
              </a:ext>
            </a:extLst>
          </p:cNvPr>
          <p:cNvSpPr txBox="1">
            <a:spLocks/>
          </p:cNvSpPr>
          <p:nvPr/>
        </p:nvSpPr>
        <p:spPr>
          <a:xfrm>
            <a:off x="10890552" y="7736647"/>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600">
                <a:solidFill>
                  <a:srgbClr val="D2A43B"/>
                </a:solidFill>
                <a:latin typeface="Times New Roman" panose="02020603050405020304" pitchFamily="18" charset="0"/>
                <a:ea typeface="+mn-ea"/>
                <a:cs typeface="Times New Roman" panose="02020603050405020304" pitchFamily="18" charset="0"/>
                <a:sym typeface="Montserrat"/>
              </a:rPr>
              <a:pPr>
                <a:buClrTx/>
                <a:buFontTx/>
                <a:buNone/>
                <a:defRPr/>
              </a:pPr>
              <a:t>32</a:t>
            </a:fld>
            <a:endParaRPr lang="en-US" sz="1600" dirty="0">
              <a:solidFill>
                <a:srgbClr val="D2A43B"/>
              </a:solidFill>
              <a:latin typeface="Times New Roman" panose="02020603050405020304" pitchFamily="18" charset="0"/>
              <a:ea typeface="+mn-ea"/>
              <a:cs typeface="Times New Roman" panose="02020603050405020304" pitchFamily="18" charset="0"/>
              <a:sym typeface="Montserrat"/>
            </a:endParaRPr>
          </a:p>
        </p:txBody>
      </p:sp>
      <p:sp>
        <p:nvSpPr>
          <p:cNvPr id="4" name="TextBox 3">
            <a:extLst>
              <a:ext uri="{FF2B5EF4-FFF2-40B4-BE49-F238E27FC236}">
                <a16:creationId xmlns:a16="http://schemas.microsoft.com/office/drawing/2014/main" xmlns="" id="{EF695E52-C896-9BB0-D877-6900CC294C68}"/>
              </a:ext>
            </a:extLst>
          </p:cNvPr>
          <p:cNvSpPr txBox="1"/>
          <p:nvPr/>
        </p:nvSpPr>
        <p:spPr>
          <a:xfrm>
            <a:off x="59590" y="0"/>
            <a:ext cx="14875495" cy="502766"/>
          </a:xfrm>
          <a:prstGeom prst="rect">
            <a:avLst/>
          </a:prstGeom>
          <a:noFill/>
        </p:spPr>
        <p:txBody>
          <a:bodyPr wrap="square" rtlCol="0">
            <a:spAutoFit/>
          </a:bodyPr>
          <a:lstStyle/>
          <a:p>
            <a:pPr defTabSz="1219170">
              <a:defRPr/>
            </a:pPr>
            <a:r>
              <a:rPr lang="en-GB" sz="2667" b="1" dirty="0">
                <a:ln w="0"/>
                <a:solidFill>
                  <a:srgbClr val="FBAC00"/>
                </a:solidFill>
                <a:latin typeface="Times New Roman" panose="02020603050405020304" pitchFamily="18" charset="0"/>
                <a:cs typeface="Times New Roman" panose="02020603050405020304" pitchFamily="18" charset="0"/>
              </a:rPr>
              <a:t>TÌNH TRẠNG ĐỘNG CƠ A350</a:t>
            </a:r>
            <a:endParaRPr lang="vi-VN" sz="2667" b="1" dirty="0">
              <a:ln w="0"/>
              <a:solidFill>
                <a:srgbClr val="FBAC00"/>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xmlns="" id="{9BAFF210-6A48-BE4D-D3F6-9B8EEEA5040F}"/>
              </a:ext>
            </a:extLst>
          </p:cNvPr>
          <p:cNvGraphicFramePr>
            <a:graphicFrameLocks noGrp="1"/>
          </p:cNvGraphicFramePr>
          <p:nvPr>
            <p:extLst/>
          </p:nvPr>
        </p:nvGraphicFramePr>
        <p:xfrm>
          <a:off x="59590" y="875396"/>
          <a:ext cx="5905159" cy="2377440"/>
        </p:xfrm>
        <a:graphic>
          <a:graphicData uri="http://schemas.openxmlformats.org/drawingml/2006/table">
            <a:tbl>
              <a:tblPr firstRow="1" bandRow="1">
                <a:tableStyleId>{5C22544A-7EE6-4342-B048-85BDC9FD1C3A}</a:tableStyleId>
              </a:tblPr>
              <a:tblGrid>
                <a:gridCol w="1042345">
                  <a:extLst>
                    <a:ext uri="{9D8B030D-6E8A-4147-A177-3AD203B41FA5}">
                      <a16:colId xmlns:a16="http://schemas.microsoft.com/office/drawing/2014/main" xmlns="" val="1930757539"/>
                    </a:ext>
                  </a:extLst>
                </a:gridCol>
                <a:gridCol w="1957589">
                  <a:extLst>
                    <a:ext uri="{9D8B030D-6E8A-4147-A177-3AD203B41FA5}">
                      <a16:colId xmlns:a16="http://schemas.microsoft.com/office/drawing/2014/main" xmlns="" val="1674463010"/>
                    </a:ext>
                  </a:extLst>
                </a:gridCol>
                <a:gridCol w="942235">
                  <a:extLst>
                    <a:ext uri="{9D8B030D-6E8A-4147-A177-3AD203B41FA5}">
                      <a16:colId xmlns:a16="http://schemas.microsoft.com/office/drawing/2014/main" xmlns="" val="1549944897"/>
                    </a:ext>
                  </a:extLst>
                </a:gridCol>
                <a:gridCol w="942235">
                  <a:extLst>
                    <a:ext uri="{9D8B030D-6E8A-4147-A177-3AD203B41FA5}">
                      <a16:colId xmlns:a16="http://schemas.microsoft.com/office/drawing/2014/main" xmlns="" val="3687717734"/>
                    </a:ext>
                  </a:extLst>
                </a:gridCol>
                <a:gridCol w="1020755">
                  <a:extLst>
                    <a:ext uri="{9D8B030D-6E8A-4147-A177-3AD203B41FA5}">
                      <a16:colId xmlns:a16="http://schemas.microsoft.com/office/drawing/2014/main" xmlns="" val="4100307886"/>
                    </a:ext>
                  </a:extLst>
                </a:gridCol>
              </a:tblGrid>
              <a:tr h="487680">
                <a:tc>
                  <a:txBody>
                    <a:bodyPr/>
                    <a:lstStyle/>
                    <a:p>
                      <a:r>
                        <a:rPr lang="en-US" sz="1200">
                          <a:latin typeface="Times New Roman" panose="02020603050405020304" pitchFamily="18" charset="0"/>
                          <a:cs typeface="Times New Roman" panose="02020603050405020304" pitchFamily="18" charset="0"/>
                        </a:rPr>
                        <a:t>Động c</a:t>
                      </a:r>
                      <a:r>
                        <a:rPr lang="vi-VN" sz="1200">
                          <a:latin typeface="Times New Roman" panose="02020603050405020304" pitchFamily="18" charset="0"/>
                          <a:cs typeface="Times New Roman" panose="02020603050405020304" pitchFamily="18" charset="0"/>
                        </a:rPr>
                        <a:t>ơ</a:t>
                      </a:r>
                      <a:endParaRPr lang="en-US" sz="120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dirty="0">
                          <a:latin typeface="Times New Roman" panose="02020603050405020304" pitchFamily="18" charset="0"/>
                          <a:cs typeface="Times New Roman" panose="02020603050405020304" pitchFamily="18" charset="0"/>
                        </a:rPr>
                        <a:t>Status</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err="1">
                          <a:latin typeface="Times New Roman" panose="02020603050405020304" pitchFamily="18" charset="0"/>
                          <a:cs typeface="Times New Roman" panose="02020603050405020304" pitchFamily="18" charset="0"/>
                        </a:rPr>
                        <a:t>Ngày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sửa</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err="1">
                          <a:latin typeface="Times New Roman" panose="02020603050405020304" pitchFamily="18" charset="0"/>
                          <a:cs typeface="Times New Roman" panose="02020603050405020304" pitchFamily="18" charset="0"/>
                        </a:rPr>
                        <a:t>Ngày</a:t>
                      </a:r>
                      <a:r>
                        <a:rPr lang="en-US" sz="1200">
                          <a:latin typeface="Times New Roman" panose="02020603050405020304" pitchFamily="18" charset="0"/>
                          <a:cs typeface="Times New Roman" panose="02020603050405020304" pitchFamily="18" charset="0"/>
                        </a:rPr>
                        <a:t> xong</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err="1">
                          <a:latin typeface="Times New Roman" panose="02020603050405020304" pitchFamily="18" charset="0"/>
                          <a:cs typeface="Times New Roman" panose="02020603050405020304" pitchFamily="18" charset="0"/>
                        </a:rPr>
                        <a:t>Ngày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về</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dự</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kiến</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xmlns="" val="1532058823"/>
                  </a:ext>
                </a:extLst>
              </a:tr>
              <a:tr h="304800">
                <a:tc>
                  <a:txBody>
                    <a:bodyPr/>
                    <a:lstStyle/>
                    <a:p>
                      <a:r>
                        <a:rPr lang="en-US" sz="1200" b="1" dirty="0">
                          <a:latin typeface="Times New Roman" panose="02020603050405020304" pitchFamily="18" charset="0"/>
                          <a:cs typeface="Times New Roman" panose="02020603050405020304" pitchFamily="18" charset="0"/>
                        </a:rPr>
                        <a:t>21047</a:t>
                      </a:r>
                    </a:p>
                  </a:txBody>
                  <a:tcPr marL="121920" marR="121920" marT="60960" marB="60960" anchor="ctr"/>
                </a:tc>
                <a:tc>
                  <a:txBody>
                    <a:bodyPr/>
                    <a:lstStyle/>
                    <a:p>
                      <a:r>
                        <a:rPr lang="en-GB" sz="1200" dirty="0">
                          <a:latin typeface="Times New Roman" panose="02020603050405020304" pitchFamily="18" charset="0"/>
                          <a:cs typeface="Times New Roman" panose="02020603050405020304" pitchFamily="18" charset="0"/>
                        </a:rPr>
                        <a:t>In Shop – N3 – 2RF</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14/08/24</a:t>
                      </a: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02/03/</a:t>
                      </a:r>
                      <a:r>
                        <a:rPr lang="vi-VN" sz="1200" b="0" dirty="0">
                          <a:solidFill>
                            <a:schemeClr val="tx1"/>
                          </a:solidFill>
                          <a:latin typeface="Times New Roman" panose="02020603050405020304" pitchFamily="18" charset="0"/>
                          <a:cs typeface="Times New Roman" panose="02020603050405020304" pitchFamily="18" charset="0"/>
                        </a:rPr>
                        <a:t>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12/03/</a:t>
                      </a:r>
                      <a:r>
                        <a:rPr lang="vi-VN" sz="1200" b="0" dirty="0">
                          <a:solidFill>
                            <a:schemeClr val="tx1"/>
                          </a:solidFill>
                          <a:latin typeface="Times New Roman" panose="02020603050405020304" pitchFamily="18" charset="0"/>
                          <a:cs typeface="Times New Roman" panose="02020603050405020304" pitchFamily="18" charset="0"/>
                        </a:rPr>
                        <a:t>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xmlns="" val="2082573017"/>
                  </a:ext>
                </a:extLst>
              </a:tr>
              <a:tr h="304800">
                <a:tc>
                  <a:txBody>
                    <a:bodyPr/>
                    <a:lstStyle/>
                    <a:p>
                      <a:r>
                        <a:rPr lang="en-US" sz="1200" b="1">
                          <a:latin typeface="Times New Roman" panose="02020603050405020304" pitchFamily="18" charset="0"/>
                          <a:cs typeface="Times New Roman" panose="02020603050405020304" pitchFamily="18" charset="0"/>
                        </a:rPr>
                        <a:t>21043</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In Shop – N3 – 2RF</a:t>
                      </a: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14/11/24</a:t>
                      </a: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02/06/25</a:t>
                      </a: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10/06/25</a:t>
                      </a:r>
                    </a:p>
                  </a:txBody>
                  <a:tcPr marL="121920" marR="121920" marT="60960" marB="60960" anchor="ctr"/>
                </a:tc>
                <a:extLst>
                  <a:ext uri="{0D108BD9-81ED-4DB2-BD59-A6C34878D82A}">
                    <a16:rowId xmlns:a16="http://schemas.microsoft.com/office/drawing/2014/main" xmlns="" val="83465224"/>
                  </a:ext>
                </a:extLst>
              </a:tr>
              <a:tr h="487680">
                <a:tc>
                  <a:txBody>
                    <a:bodyPr/>
                    <a:lstStyle/>
                    <a:p>
                      <a:r>
                        <a:rPr lang="en-US" sz="1200" b="1" dirty="0">
                          <a:latin typeface="Times New Roman" panose="02020603050405020304" pitchFamily="18" charset="0"/>
                          <a:cs typeface="Times New Roman" panose="02020603050405020304" pitchFamily="18" charset="0"/>
                        </a:rPr>
                        <a:t>21316</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In Shop – HAESL – QT</a:t>
                      </a: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20/11/24</a:t>
                      </a:r>
                    </a:p>
                  </a:txBody>
                  <a:tcPr marL="121920" marR="121920" marT="60960" marB="60960" anchor="ctr"/>
                </a:tc>
                <a:tc>
                  <a:txBody>
                    <a:bodyPr/>
                    <a:lstStyle/>
                    <a:p>
                      <a:r>
                        <a:rPr lang="en-US" sz="1200" b="1">
                          <a:solidFill>
                            <a:srgbClr val="FF0000"/>
                          </a:solidFill>
                          <a:latin typeface="Times New Roman" panose="02020603050405020304" pitchFamily="18" charset="0"/>
                          <a:cs typeface="Times New Roman" panose="02020603050405020304" pitchFamily="18" charset="0"/>
                        </a:rPr>
                        <a:t>31/01/25</a:t>
                      </a:r>
                      <a:endParaRPr lang="en-US" sz="1200" b="1" dirty="0">
                        <a:solidFill>
                          <a:srgbClr val="FF0000"/>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1">
                          <a:solidFill>
                            <a:srgbClr val="FF0000"/>
                          </a:solidFill>
                          <a:latin typeface="Times New Roman" panose="02020603050405020304" pitchFamily="18" charset="0"/>
                          <a:cs typeface="Times New Roman" panose="02020603050405020304" pitchFamily="18" charset="0"/>
                        </a:rPr>
                        <a:t>10/02/25</a:t>
                      </a:r>
                      <a:endParaRPr lang="en-US" sz="1200" b="1" dirty="0">
                        <a:solidFill>
                          <a:srgbClr val="FF0000"/>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xmlns="" val="3218884716"/>
                  </a:ext>
                </a:extLst>
              </a:tr>
              <a:tr h="304800">
                <a:tc>
                  <a:txBody>
                    <a:bodyPr/>
                    <a:lstStyle/>
                    <a:p>
                      <a:r>
                        <a:rPr lang="en-US" sz="1200" b="1">
                          <a:latin typeface="Times New Roman" panose="02020603050405020304" pitchFamily="18" charset="0"/>
                          <a:cs typeface="Times New Roman" panose="02020603050405020304" pitchFamily="18" charset="0"/>
                        </a:rPr>
                        <a:t>21137</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In Shop – N3 – 2RF</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12/12/24</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20/06/25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30/06/25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xmlns="" val="1733553736"/>
                  </a:ext>
                </a:extLst>
              </a:tr>
              <a:tr h="487680">
                <a:tc>
                  <a:txBody>
                    <a:bodyPr/>
                    <a:lstStyle/>
                    <a:p>
                      <a:r>
                        <a:rPr lang="en-US" sz="1200" b="1">
                          <a:latin typeface="Times New Roman" panose="02020603050405020304" pitchFamily="18" charset="0"/>
                          <a:cs typeface="Times New Roman" panose="02020603050405020304" pitchFamily="18" charset="0"/>
                        </a:rPr>
                        <a:t>21422</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In Shop – 1RF – HAESL</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21/12/24</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1">
                          <a:solidFill>
                            <a:srgbClr val="00B050"/>
                          </a:solidFill>
                          <a:latin typeface="Times New Roman" panose="02020603050405020304" pitchFamily="18" charset="0"/>
                          <a:cs typeface="Times New Roman" panose="02020603050405020304" pitchFamily="18" charset="0"/>
                        </a:rPr>
                        <a:t>30/03/25</a:t>
                      </a:r>
                      <a:endParaRPr lang="en-US" sz="1200" b="1" dirty="0">
                        <a:solidFill>
                          <a:srgbClr val="00B050"/>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1">
                          <a:solidFill>
                            <a:srgbClr val="00B050"/>
                          </a:solidFill>
                          <a:latin typeface="Times New Roman" panose="02020603050405020304" pitchFamily="18" charset="0"/>
                          <a:cs typeface="Times New Roman" panose="02020603050405020304" pitchFamily="18" charset="0"/>
                        </a:rPr>
                        <a:t>10/04/25</a:t>
                      </a:r>
                      <a:endParaRPr lang="en-US" sz="1200" b="1" dirty="0">
                        <a:solidFill>
                          <a:srgbClr val="00B050"/>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xmlns="" val="875011403"/>
                  </a:ext>
                </a:extLst>
              </a:tr>
            </a:tbl>
          </a:graphicData>
        </a:graphic>
      </p:graphicFrame>
      <p:graphicFrame>
        <p:nvGraphicFramePr>
          <p:cNvPr id="6" name="Table 5">
            <a:extLst>
              <a:ext uri="{FF2B5EF4-FFF2-40B4-BE49-F238E27FC236}">
                <a16:creationId xmlns:a16="http://schemas.microsoft.com/office/drawing/2014/main" xmlns="" id="{7BFB9EC9-2DB3-4DC1-4221-D1E337486ABA}"/>
              </a:ext>
            </a:extLst>
          </p:cNvPr>
          <p:cNvGraphicFramePr>
            <a:graphicFrameLocks noGrp="1"/>
          </p:cNvGraphicFramePr>
          <p:nvPr>
            <p:extLst/>
          </p:nvPr>
        </p:nvGraphicFramePr>
        <p:xfrm>
          <a:off x="105347" y="3694418"/>
          <a:ext cx="5867400" cy="3070595"/>
        </p:xfrm>
        <a:graphic>
          <a:graphicData uri="http://schemas.openxmlformats.org/drawingml/2006/table">
            <a:tbl>
              <a:tblPr firstRow="1" bandRow="1">
                <a:tableStyleId>{21E4AEA4-8DFA-4A89-87EB-49C32662AFE0}</a:tableStyleId>
              </a:tblPr>
              <a:tblGrid>
                <a:gridCol w="979469">
                  <a:extLst>
                    <a:ext uri="{9D8B030D-6E8A-4147-A177-3AD203B41FA5}">
                      <a16:colId xmlns:a16="http://schemas.microsoft.com/office/drawing/2014/main" xmlns="" val="1930757539"/>
                    </a:ext>
                  </a:extLst>
                </a:gridCol>
                <a:gridCol w="1042096">
                  <a:extLst>
                    <a:ext uri="{9D8B030D-6E8A-4147-A177-3AD203B41FA5}">
                      <a16:colId xmlns:a16="http://schemas.microsoft.com/office/drawing/2014/main" xmlns="" val="1674463010"/>
                    </a:ext>
                  </a:extLst>
                </a:gridCol>
                <a:gridCol w="1823000">
                  <a:extLst>
                    <a:ext uri="{9D8B030D-6E8A-4147-A177-3AD203B41FA5}">
                      <a16:colId xmlns:a16="http://schemas.microsoft.com/office/drawing/2014/main" xmlns="" val="1549944897"/>
                    </a:ext>
                  </a:extLst>
                </a:gridCol>
                <a:gridCol w="2022835">
                  <a:extLst>
                    <a:ext uri="{9D8B030D-6E8A-4147-A177-3AD203B41FA5}">
                      <a16:colId xmlns:a16="http://schemas.microsoft.com/office/drawing/2014/main" xmlns="" val="3366431274"/>
                    </a:ext>
                  </a:extLst>
                </a:gridCol>
              </a:tblGrid>
              <a:tr h="327395">
                <a:tc>
                  <a:txBody>
                    <a:bodyPr/>
                    <a:lstStyle/>
                    <a:p>
                      <a:r>
                        <a:rPr lang="en-US" sz="1200">
                          <a:latin typeface="Times New Roman" panose="02020603050405020304" pitchFamily="18" charset="0"/>
                          <a:cs typeface="Times New Roman" panose="02020603050405020304" pitchFamily="18" charset="0"/>
                        </a:rPr>
                        <a:t>Động c</a:t>
                      </a:r>
                      <a:r>
                        <a:rPr lang="vi-VN" sz="1200">
                          <a:latin typeface="Times New Roman" panose="02020603050405020304" pitchFamily="18" charset="0"/>
                          <a:cs typeface="Times New Roman" panose="02020603050405020304" pitchFamily="18" charset="0"/>
                        </a:rPr>
                        <a:t>ơ</a:t>
                      </a:r>
                      <a:endParaRPr lang="en-US" sz="120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dirty="0">
                          <a:latin typeface="Times New Roman" panose="02020603050405020304" pitchFamily="18" charset="0"/>
                          <a:cs typeface="Times New Roman" panose="02020603050405020304" pitchFamily="18" charset="0"/>
                        </a:rPr>
                        <a:t>Status</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err="1">
                          <a:latin typeface="Times New Roman" panose="02020603050405020304" pitchFamily="18" charset="0"/>
                          <a:cs typeface="Times New Roman" panose="02020603050405020304" pitchFamily="18" charset="0"/>
                        </a:rPr>
                        <a:t>Ngày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sửa</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dự</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kiến</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Remark</a:t>
                      </a:r>
                    </a:p>
                  </a:txBody>
                  <a:tcPr marL="121920" marR="121920" marT="60960" marB="60960" anchor="ctr"/>
                </a:tc>
                <a:extLst>
                  <a:ext uri="{0D108BD9-81ED-4DB2-BD59-A6C34878D82A}">
                    <a16:rowId xmlns:a16="http://schemas.microsoft.com/office/drawing/2014/main" xmlns="" val="1532058823"/>
                  </a:ext>
                </a:extLst>
              </a:tr>
              <a:tr h="227783">
                <a:tc>
                  <a:txBody>
                    <a:bodyPr/>
                    <a:lstStyle/>
                    <a:p>
                      <a:r>
                        <a:rPr lang="en-GB" sz="1200" b="1" dirty="0">
                          <a:latin typeface="Times New Roman" panose="02020603050405020304" pitchFamily="18" charset="0"/>
                          <a:cs typeface="Times New Roman" panose="02020603050405020304" pitchFamily="18" charset="0"/>
                        </a:rPr>
                        <a:t>21040</a:t>
                      </a:r>
                    </a:p>
                  </a:txBody>
                  <a:tcPr marL="121920" marR="121920" marT="60960" marB="60960" anchor="ctr"/>
                </a:tc>
                <a:tc>
                  <a:txBody>
                    <a:bodyPr/>
                    <a:lstStyle/>
                    <a:p>
                      <a:r>
                        <a:rPr lang="en-GB" sz="1200" dirty="0">
                          <a:latin typeface="Times New Roman" panose="02020603050405020304" pitchFamily="18" charset="0"/>
                          <a:cs typeface="Times New Roman" panose="02020603050405020304" pitchFamily="18" charset="0"/>
                        </a:rPr>
                        <a:t>Off-Wing</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a:latin typeface="Times New Roman" panose="02020603050405020304" pitchFamily="18" charset="0"/>
                          <a:cs typeface="Times New Roman" panose="02020603050405020304" pitchFamily="18" charset="0"/>
                        </a:rPr>
                        <a:t>T1/2025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indent="0">
                        <a:buFontTx/>
                        <a:buNone/>
                      </a:pPr>
                      <a:r>
                        <a:rPr lang="en-US" sz="1200">
                          <a:solidFill>
                            <a:schemeClr val="tx1"/>
                          </a:solidFill>
                          <a:latin typeface="Times New Roman" panose="02020603050405020304" pitchFamily="18" charset="0"/>
                          <a:cs typeface="Times New Roman" panose="02020603050405020304" pitchFamily="18" charset="0"/>
                        </a:rPr>
                        <a:t>Slot cũ T12</a:t>
                      </a:r>
                      <a:endParaRPr lang="en-US" sz="12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xmlns="" val="2082573017"/>
                  </a:ext>
                </a:extLst>
              </a:tr>
              <a:tr h="227783">
                <a:tc>
                  <a:txBody>
                    <a:bodyPr/>
                    <a:lstStyle/>
                    <a:p>
                      <a:r>
                        <a:rPr lang="en-GB" sz="1200" b="1" dirty="0">
                          <a:latin typeface="Times New Roman" panose="02020603050405020304" pitchFamily="18" charset="0"/>
                          <a:cs typeface="Times New Roman" panose="02020603050405020304" pitchFamily="18" charset="0"/>
                        </a:rPr>
                        <a:t>21201</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latin typeface="Times New Roman" panose="02020603050405020304" pitchFamily="18" charset="0"/>
                          <a:cs typeface="Times New Roman" panose="02020603050405020304" pitchFamily="18" charset="0"/>
                        </a:rPr>
                        <a:t>Off-Wing</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a:latin typeface="Times New Roman" panose="02020603050405020304" pitchFamily="18" charset="0"/>
                          <a:cs typeface="Times New Roman" panose="02020603050405020304" pitchFamily="18" charset="0"/>
                        </a:rPr>
                        <a:t>T1/2025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Slot </a:t>
                      </a:r>
                      <a:r>
                        <a:rPr lang="en-US" sz="1200" b="0" dirty="0" err="1">
                          <a:solidFill>
                            <a:schemeClr val="tx1"/>
                          </a:solidFill>
                          <a:latin typeface="Times New Roman" panose="02020603050405020304" pitchFamily="18" charset="0"/>
                          <a:cs typeface="Times New Roman" panose="02020603050405020304" pitchFamily="18" charset="0"/>
                        </a:rPr>
                        <a:t>cũ</a:t>
                      </a:r>
                      <a:r>
                        <a:rPr lang="en-US" sz="1200" b="0" dirty="0">
                          <a:solidFill>
                            <a:schemeClr val="tx1"/>
                          </a:solidFill>
                          <a:latin typeface="Times New Roman" panose="02020603050405020304" pitchFamily="18" charset="0"/>
                          <a:cs typeface="Times New Roman" panose="02020603050405020304" pitchFamily="18" charset="0"/>
                        </a:rPr>
                        <a:t> T11</a:t>
                      </a:r>
                    </a:p>
                  </a:txBody>
                  <a:tcPr marL="121920" marR="121920" marT="60960" marB="60960" anchor="ctr"/>
                </a:tc>
                <a:extLst>
                  <a:ext uri="{0D108BD9-81ED-4DB2-BD59-A6C34878D82A}">
                    <a16:rowId xmlns:a16="http://schemas.microsoft.com/office/drawing/2014/main" xmlns="" val="2463023026"/>
                  </a:ext>
                </a:extLst>
              </a:tr>
              <a:tr h="227783">
                <a:tc>
                  <a:txBody>
                    <a:bodyPr/>
                    <a:lstStyle/>
                    <a:p>
                      <a:r>
                        <a:rPr lang="en-GB" sz="1200" b="1" dirty="0">
                          <a:latin typeface="Times New Roman" panose="02020603050405020304" pitchFamily="18" charset="0"/>
                          <a:cs typeface="Times New Roman" panose="02020603050405020304" pitchFamily="18" charset="0"/>
                        </a:rPr>
                        <a:t>21035</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latin typeface="Times New Roman" panose="02020603050405020304" pitchFamily="18" charset="0"/>
                          <a:cs typeface="Times New Roman" panose="02020603050405020304" pitchFamily="18" charset="0"/>
                        </a:rPr>
                        <a:t>A887</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dirty="0">
                          <a:latin typeface="Times New Roman" panose="02020603050405020304" pitchFamily="18" charset="0"/>
                          <a:cs typeface="Times New Roman" panose="02020603050405020304" pitchFamily="18" charset="0"/>
                        </a:rPr>
                        <a:t>2025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Tàu BQDB</a:t>
                      </a: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tc>
                <a:extLst>
                  <a:ext uri="{0D108BD9-81ED-4DB2-BD59-A6C34878D82A}">
                    <a16:rowId xmlns:a16="http://schemas.microsoft.com/office/drawing/2014/main" xmlns="" val="4282079846"/>
                  </a:ext>
                </a:extLst>
              </a:tr>
              <a:tr h="227783">
                <a:tc>
                  <a:txBody>
                    <a:bodyPr/>
                    <a:lstStyle/>
                    <a:p>
                      <a:r>
                        <a:rPr lang="en-US" sz="1200" b="1" dirty="0">
                          <a:latin typeface="Times New Roman" panose="02020603050405020304" pitchFamily="18" charset="0"/>
                          <a:cs typeface="Times New Roman" panose="02020603050405020304" pitchFamily="18" charset="0"/>
                        </a:rPr>
                        <a:t>21269</a:t>
                      </a: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A887</a:t>
                      </a: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2025</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BQDB</a:t>
                      </a:r>
                    </a:p>
                  </a:txBody>
                  <a:tcPr marL="121920" marR="121920" marT="60960" marB="60960" anchor="ctr"/>
                </a:tc>
                <a:extLst>
                  <a:ext uri="{0D108BD9-81ED-4DB2-BD59-A6C34878D82A}">
                    <a16:rowId xmlns:a16="http://schemas.microsoft.com/office/drawing/2014/main" xmlns="" val="3448478813"/>
                  </a:ext>
                </a:extLst>
              </a:tr>
              <a:tr h="227783">
                <a:tc>
                  <a:txBody>
                    <a:bodyPr/>
                    <a:lstStyle/>
                    <a:p>
                      <a:r>
                        <a:rPr lang="en-GB" sz="1200" b="1" dirty="0">
                          <a:latin typeface="Times New Roman" panose="02020603050405020304" pitchFamily="18" charset="0"/>
                          <a:cs typeface="Times New Roman" panose="02020603050405020304" pitchFamily="18" charset="0"/>
                        </a:rPr>
                        <a:t>21268</a:t>
                      </a: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A898</a:t>
                      </a: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2025</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BQDB</a:t>
                      </a:r>
                    </a:p>
                  </a:txBody>
                  <a:tcPr marL="121920" marR="121920" marT="60960" marB="60960" anchor="ctr"/>
                </a:tc>
                <a:extLst>
                  <a:ext uri="{0D108BD9-81ED-4DB2-BD59-A6C34878D82A}">
                    <a16:rowId xmlns:a16="http://schemas.microsoft.com/office/drawing/2014/main" xmlns="" val="4177050543"/>
                  </a:ext>
                </a:extLst>
              </a:tr>
              <a:tr h="227783">
                <a:tc>
                  <a:txBody>
                    <a:bodyPr/>
                    <a:lstStyle/>
                    <a:p>
                      <a:r>
                        <a:rPr lang="en-GB" sz="1200" b="1" dirty="0">
                          <a:latin typeface="Times New Roman" panose="02020603050405020304" pitchFamily="18" charset="0"/>
                          <a:cs typeface="Times New Roman" panose="02020603050405020304" pitchFamily="18" charset="0"/>
                        </a:rPr>
                        <a:t>21136</a:t>
                      </a: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A898</a:t>
                      </a: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2025</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BQDB</a:t>
                      </a:r>
                    </a:p>
                  </a:txBody>
                  <a:tcPr marL="121920" marR="121920" marT="60960" marB="60960" anchor="ctr"/>
                </a:tc>
                <a:extLst>
                  <a:ext uri="{0D108BD9-81ED-4DB2-BD59-A6C34878D82A}">
                    <a16:rowId xmlns:a16="http://schemas.microsoft.com/office/drawing/2014/main" xmlns="" val="4001673644"/>
                  </a:ext>
                </a:extLst>
              </a:tr>
              <a:tr h="227783">
                <a:tc>
                  <a:txBody>
                    <a:bodyPr/>
                    <a:lstStyle/>
                    <a:p>
                      <a:r>
                        <a:rPr lang="en-GB" sz="1200" b="1" dirty="0">
                          <a:latin typeface="Times New Roman" panose="02020603050405020304" pitchFamily="18" charset="0"/>
                          <a:cs typeface="Times New Roman" panose="02020603050405020304" pitchFamily="18" charset="0"/>
                        </a:rPr>
                        <a:t>21414</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A895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2025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dirty="0" err="1">
                          <a:solidFill>
                            <a:schemeClr val="tx1"/>
                          </a:solidFill>
                          <a:latin typeface="Times New Roman" panose="02020603050405020304" pitchFamily="18" charset="0"/>
                          <a:cs typeface="Times New Roman" panose="02020603050405020304" pitchFamily="18" charset="0"/>
                        </a:rPr>
                        <a:t>Tàu</a:t>
                      </a:r>
                      <a:r>
                        <a:rPr lang="en-US" sz="1200" b="0" dirty="0">
                          <a:solidFill>
                            <a:schemeClr val="tx1"/>
                          </a:solidFill>
                          <a:latin typeface="Times New Roman" panose="02020603050405020304" pitchFamily="18" charset="0"/>
                          <a:cs typeface="Times New Roman" panose="02020603050405020304" pitchFamily="18" charset="0"/>
                        </a:rPr>
                        <a:t> BQDB</a:t>
                      </a:r>
                    </a:p>
                  </a:txBody>
                  <a:tcPr marL="121920" marR="121920" marT="60960" marB="60960" anchor="ctr"/>
                </a:tc>
                <a:extLst>
                  <a:ext uri="{0D108BD9-81ED-4DB2-BD59-A6C34878D82A}">
                    <a16:rowId xmlns:a16="http://schemas.microsoft.com/office/drawing/2014/main" xmlns="" val="1927641313"/>
                  </a:ext>
                </a:extLst>
              </a:tr>
              <a:tr h="227783">
                <a:tc>
                  <a:txBody>
                    <a:bodyPr/>
                    <a:lstStyle/>
                    <a:p>
                      <a:r>
                        <a:rPr lang="en-GB" sz="1200" b="1" dirty="0">
                          <a:latin typeface="Times New Roman" panose="02020603050405020304" pitchFamily="18" charset="0"/>
                          <a:cs typeface="Times New Roman" panose="02020603050405020304" pitchFamily="18" charset="0"/>
                        </a:rPr>
                        <a:t>21604</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A895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2025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err="1">
                          <a:solidFill>
                            <a:schemeClr val="tx1"/>
                          </a:solidFill>
                          <a:latin typeface="Times New Roman" panose="02020603050405020304" pitchFamily="18" charset="0"/>
                          <a:cs typeface="Times New Roman" panose="02020603050405020304" pitchFamily="18" charset="0"/>
                        </a:rPr>
                        <a:t>Tàu</a:t>
                      </a:r>
                      <a:r>
                        <a:rPr lang="en-US" sz="1200" b="0" dirty="0">
                          <a:solidFill>
                            <a:schemeClr val="tx1"/>
                          </a:solidFill>
                          <a:latin typeface="Times New Roman" panose="02020603050405020304" pitchFamily="18" charset="0"/>
                          <a:cs typeface="Times New Roman" panose="02020603050405020304" pitchFamily="18" charset="0"/>
                        </a:rPr>
                        <a:t> BQDB</a:t>
                      </a:r>
                    </a:p>
                  </a:txBody>
                  <a:tcPr marL="121920" marR="121920" marT="60960" marB="60960" anchor="ctr"/>
                </a:tc>
                <a:extLst>
                  <a:ext uri="{0D108BD9-81ED-4DB2-BD59-A6C34878D82A}">
                    <a16:rowId xmlns:a16="http://schemas.microsoft.com/office/drawing/2014/main" xmlns="" val="863729012"/>
                  </a:ext>
                </a:extLst>
              </a:tr>
              <a:tr h="227783">
                <a:tc>
                  <a:txBody>
                    <a:bodyPr/>
                    <a:lstStyle/>
                    <a:p>
                      <a:r>
                        <a:rPr lang="en-US" sz="1200" b="1" dirty="0">
                          <a:latin typeface="Times New Roman" panose="02020603050405020304" pitchFamily="18" charset="0"/>
                          <a:cs typeface="Times New Roman" panose="02020603050405020304" pitchFamily="18" charset="0"/>
                        </a:rPr>
                        <a:t>21584</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A896</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T1/2025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indent="0">
                        <a:buFontTx/>
                        <a:buNone/>
                      </a:pPr>
                      <a:r>
                        <a:rPr lang="en-US" sz="1200" dirty="0">
                          <a:solidFill>
                            <a:schemeClr val="tx1"/>
                          </a:solidFill>
                          <a:latin typeface="Times New Roman" panose="02020603050405020304" pitchFamily="18" charset="0"/>
                          <a:cs typeface="Times New Roman" panose="02020603050405020304" pitchFamily="18" charset="0"/>
                        </a:rPr>
                        <a:t>Slot </a:t>
                      </a:r>
                      <a:r>
                        <a:rPr lang="en-US" sz="1200" dirty="0" err="1">
                          <a:solidFill>
                            <a:schemeClr val="tx1"/>
                          </a:solidFill>
                          <a:latin typeface="Times New Roman" panose="02020603050405020304" pitchFamily="18" charset="0"/>
                          <a:cs typeface="Times New Roman" panose="02020603050405020304" pitchFamily="18" charset="0"/>
                        </a:rPr>
                        <a:t>cũ</a:t>
                      </a:r>
                      <a:r>
                        <a:rPr lang="en-US" sz="1200" dirty="0">
                          <a:solidFill>
                            <a:schemeClr val="tx1"/>
                          </a:solidFill>
                          <a:latin typeface="Times New Roman" panose="02020603050405020304" pitchFamily="18" charset="0"/>
                          <a:cs typeface="Times New Roman" panose="02020603050405020304" pitchFamily="18" charset="0"/>
                        </a:rPr>
                        <a:t> T12</a:t>
                      </a:r>
                    </a:p>
                  </a:txBody>
                  <a:tcPr marL="121920" marR="121920" marT="60960" marB="60960" anchor="ctr"/>
                </a:tc>
                <a:extLst>
                  <a:ext uri="{0D108BD9-81ED-4DB2-BD59-A6C34878D82A}">
                    <a16:rowId xmlns:a16="http://schemas.microsoft.com/office/drawing/2014/main" xmlns="" val="3735850095"/>
                  </a:ext>
                </a:extLst>
              </a:tr>
            </a:tbl>
          </a:graphicData>
        </a:graphic>
      </p:graphicFrame>
      <p:sp>
        <p:nvSpPr>
          <p:cNvPr id="7" name="TextBox 6">
            <a:extLst>
              <a:ext uri="{FF2B5EF4-FFF2-40B4-BE49-F238E27FC236}">
                <a16:creationId xmlns:a16="http://schemas.microsoft.com/office/drawing/2014/main" xmlns="" id="{3665DF89-9C1E-039A-24B3-2AC39417A7A0}"/>
              </a:ext>
            </a:extLst>
          </p:cNvPr>
          <p:cNvSpPr txBox="1"/>
          <p:nvPr/>
        </p:nvSpPr>
        <p:spPr>
          <a:xfrm>
            <a:off x="-486043" y="380920"/>
            <a:ext cx="6705299" cy="420564"/>
          </a:xfrm>
          <a:prstGeom prst="rect">
            <a:avLst/>
          </a:prstGeom>
          <a:noFill/>
        </p:spPr>
        <p:txBody>
          <a:bodyPr wrap="square" rtlCol="0">
            <a:spAutoFit/>
          </a:bodyPr>
          <a:lstStyle/>
          <a:p>
            <a:pPr algn="ctr" defTabSz="1219170">
              <a:defRPr/>
            </a:pPr>
            <a:r>
              <a:rPr lang="en-GB" sz="2133" b="1" dirty="0" err="1">
                <a:solidFill>
                  <a:srgbClr val="002060"/>
                </a:solidFill>
                <a:latin typeface="Times New Roman" panose="02020603050405020304" pitchFamily="18" charset="0"/>
                <a:cs typeface="Times New Roman" panose="02020603050405020304" pitchFamily="18" charset="0"/>
              </a:rPr>
              <a:t>Các</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dirty="0" err="1">
                <a:solidFill>
                  <a:srgbClr val="002060"/>
                </a:solidFill>
                <a:latin typeface="Times New Roman" panose="02020603050405020304" pitchFamily="18" charset="0"/>
                <a:cs typeface="Times New Roman" panose="02020603050405020304" pitchFamily="18" charset="0"/>
              </a:rPr>
              <a:t>động</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dirty="0" err="1">
                <a:solidFill>
                  <a:srgbClr val="002060"/>
                </a:solidFill>
                <a:latin typeface="Times New Roman" panose="02020603050405020304" pitchFamily="18" charset="0"/>
                <a:cs typeface="Times New Roman" panose="02020603050405020304" pitchFamily="18" charset="0"/>
              </a:rPr>
              <a:t>cơ</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dirty="0" err="1">
                <a:solidFill>
                  <a:srgbClr val="002060"/>
                </a:solidFill>
                <a:latin typeface="Times New Roman" panose="02020603050405020304" pitchFamily="18" charset="0"/>
                <a:cs typeface="Times New Roman" panose="02020603050405020304" pitchFamily="18" charset="0"/>
              </a:rPr>
              <a:t>đang</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dirty="0" err="1">
                <a:solidFill>
                  <a:srgbClr val="002060"/>
                </a:solidFill>
                <a:latin typeface="Times New Roman" panose="02020603050405020304" pitchFamily="18" charset="0"/>
                <a:cs typeface="Times New Roman" panose="02020603050405020304" pitchFamily="18" charset="0"/>
              </a:rPr>
              <a:t>trong</a:t>
            </a:r>
            <a:r>
              <a:rPr lang="en-GB" sz="2133" b="1" dirty="0">
                <a:solidFill>
                  <a:srgbClr val="002060"/>
                </a:solidFill>
                <a:latin typeface="Times New Roman" panose="02020603050405020304" pitchFamily="18" charset="0"/>
                <a:cs typeface="Times New Roman" panose="02020603050405020304" pitchFamily="18" charset="0"/>
              </a:rPr>
              <a:t> shop </a:t>
            </a:r>
            <a:r>
              <a:rPr lang="en-GB" sz="2133" b="1">
                <a:solidFill>
                  <a:srgbClr val="002060"/>
                </a:solidFill>
                <a:latin typeface="Times New Roman" panose="02020603050405020304" pitchFamily="18" charset="0"/>
                <a:cs typeface="Times New Roman" panose="02020603050405020304" pitchFamily="18" charset="0"/>
              </a:rPr>
              <a:t>(05 </a:t>
            </a:r>
            <a:r>
              <a:rPr lang="en-GB" sz="2133" b="1" dirty="0" err="1">
                <a:solidFill>
                  <a:srgbClr val="002060"/>
                </a:solidFill>
                <a:latin typeface="Times New Roman" panose="02020603050405020304" pitchFamily="18" charset="0"/>
                <a:cs typeface="Times New Roman" panose="02020603050405020304" pitchFamily="18" charset="0"/>
              </a:rPr>
              <a:t>động</a:t>
            </a:r>
            <a:r>
              <a:rPr lang="en-GB" sz="2133" b="1" dirty="0">
                <a:solidFill>
                  <a:srgbClr val="002060"/>
                </a:solidFill>
                <a:latin typeface="Times New Roman" panose="02020603050405020304" pitchFamily="18" charset="0"/>
                <a:cs typeface="Times New Roman" panose="02020603050405020304" pitchFamily="18" charset="0"/>
              </a:rPr>
              <a:t> c</a:t>
            </a:r>
            <a:r>
              <a:rPr lang="en-US" sz="2133" b="1" dirty="0">
                <a:solidFill>
                  <a:srgbClr val="002060"/>
                </a:solidFill>
                <a:latin typeface="Times New Roman" panose="02020603050405020304" pitchFamily="18" charset="0"/>
                <a:cs typeface="Times New Roman" panose="02020603050405020304" pitchFamily="18" charset="0"/>
              </a:rPr>
              <a:t>ơ)</a:t>
            </a:r>
            <a:endParaRPr lang="en-GB" sz="2133" b="1" dirty="0">
              <a:solidFill>
                <a:srgbClr val="002060"/>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xmlns="" id="{19C2447A-358B-03A9-2203-B477C2215D4C}"/>
              </a:ext>
            </a:extLst>
          </p:cNvPr>
          <p:cNvSpPr txBox="1"/>
          <p:nvPr/>
        </p:nvSpPr>
        <p:spPr>
          <a:xfrm>
            <a:off x="268910" y="3263345"/>
            <a:ext cx="5195392" cy="420564"/>
          </a:xfrm>
          <a:prstGeom prst="rect">
            <a:avLst/>
          </a:prstGeom>
          <a:noFill/>
        </p:spPr>
        <p:txBody>
          <a:bodyPr wrap="square" rtlCol="0">
            <a:spAutoFit/>
          </a:bodyPr>
          <a:lstStyle/>
          <a:p>
            <a:pPr algn="ctr" defTabSz="1219170">
              <a:defRPr/>
            </a:pPr>
            <a:r>
              <a:rPr lang="en-GB" sz="2133" b="1" dirty="0" err="1">
                <a:solidFill>
                  <a:srgbClr val="002060"/>
                </a:solidFill>
                <a:latin typeface="Times New Roman" panose="02020603050405020304" pitchFamily="18" charset="0"/>
                <a:cs typeface="Times New Roman" panose="02020603050405020304" pitchFamily="18" charset="0"/>
              </a:rPr>
              <a:t>Các</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dirty="0" err="1">
                <a:solidFill>
                  <a:srgbClr val="002060"/>
                </a:solidFill>
                <a:latin typeface="Times New Roman" panose="02020603050405020304" pitchFamily="18" charset="0"/>
                <a:cs typeface="Times New Roman" panose="02020603050405020304" pitchFamily="18" charset="0"/>
              </a:rPr>
              <a:t>động</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err="1">
                <a:solidFill>
                  <a:srgbClr val="002060"/>
                </a:solidFill>
                <a:latin typeface="Times New Roman" panose="02020603050405020304" pitchFamily="18" charset="0"/>
                <a:cs typeface="Times New Roman" panose="02020603050405020304" pitchFamily="18" charset="0"/>
              </a:rPr>
              <a:t>cơ</a:t>
            </a:r>
            <a:r>
              <a:rPr lang="en-GB" sz="2133" b="1">
                <a:solidFill>
                  <a:srgbClr val="002060"/>
                </a:solidFill>
                <a:latin typeface="Times New Roman" panose="02020603050405020304" pitchFamily="18" charset="0"/>
                <a:cs typeface="Times New Roman" panose="02020603050405020304" pitchFamily="18" charset="0"/>
              </a:rPr>
              <a:t> đến hạn tháo (</a:t>
            </a:r>
            <a:r>
              <a:rPr lang="en-GB" sz="2133" b="1" dirty="0">
                <a:solidFill>
                  <a:srgbClr val="002060"/>
                </a:solidFill>
                <a:latin typeface="Times New Roman" panose="02020603050405020304" pitchFamily="18" charset="0"/>
                <a:cs typeface="Times New Roman" panose="02020603050405020304" pitchFamily="18" charset="0"/>
              </a:rPr>
              <a:t>09 </a:t>
            </a:r>
            <a:r>
              <a:rPr lang="en-GB" sz="2133" b="1" dirty="0" err="1">
                <a:solidFill>
                  <a:srgbClr val="002060"/>
                </a:solidFill>
                <a:latin typeface="Times New Roman" panose="02020603050405020304" pitchFamily="18" charset="0"/>
                <a:cs typeface="Times New Roman" panose="02020603050405020304" pitchFamily="18" charset="0"/>
              </a:rPr>
              <a:t>động</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dirty="0" err="1">
                <a:solidFill>
                  <a:srgbClr val="002060"/>
                </a:solidFill>
                <a:latin typeface="Times New Roman" panose="02020603050405020304" pitchFamily="18" charset="0"/>
                <a:cs typeface="Times New Roman" panose="02020603050405020304" pitchFamily="18" charset="0"/>
              </a:rPr>
              <a:t>cơ</a:t>
            </a:r>
            <a:r>
              <a:rPr lang="en-GB" sz="2133" b="1" dirty="0">
                <a:solidFill>
                  <a:srgbClr val="002060"/>
                </a:solidFill>
                <a:latin typeface="Times New Roman" panose="02020603050405020304" pitchFamily="18" charset="0"/>
                <a:cs typeface="Times New Roman" panose="02020603050405020304" pitchFamily="18" charset="0"/>
              </a:rPr>
              <a:t>)</a:t>
            </a:r>
          </a:p>
        </p:txBody>
      </p:sp>
      <p:sp>
        <p:nvSpPr>
          <p:cNvPr id="10" name="TextBox 9">
            <a:extLst>
              <a:ext uri="{FF2B5EF4-FFF2-40B4-BE49-F238E27FC236}">
                <a16:creationId xmlns:a16="http://schemas.microsoft.com/office/drawing/2014/main" xmlns="" id="{E1A7F173-F863-E486-EAEF-8B51EDF0DABA}"/>
              </a:ext>
            </a:extLst>
          </p:cNvPr>
          <p:cNvSpPr txBox="1"/>
          <p:nvPr/>
        </p:nvSpPr>
        <p:spPr>
          <a:xfrm>
            <a:off x="6495328" y="2887077"/>
            <a:ext cx="5167083" cy="461665"/>
          </a:xfrm>
          <a:prstGeom prst="rect">
            <a:avLst/>
          </a:prstGeom>
          <a:noFill/>
        </p:spPr>
        <p:txBody>
          <a:bodyPr wrap="square" rtlCol="0">
            <a:spAutoFit/>
          </a:bodyPr>
          <a:lstStyle/>
          <a:p>
            <a:pPr algn="ctr" defTabSz="1219170">
              <a:defRPr/>
            </a:pPr>
            <a:r>
              <a:rPr lang="en-US" sz="2400" b="1">
                <a:solidFill>
                  <a:srgbClr val="002060"/>
                </a:solidFill>
                <a:latin typeface="Times New Roman" panose="02020603050405020304" pitchFamily="18" charset="0"/>
                <a:cs typeface="Times New Roman" panose="02020603050405020304" pitchFamily="18" charset="0"/>
              </a:rPr>
              <a:t>Số tàu AOG</a:t>
            </a:r>
            <a:endParaRPr lang="en-GB" sz="24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1" name="Chart 10">
            <a:extLst>
              <a:ext uri="{FF2B5EF4-FFF2-40B4-BE49-F238E27FC236}">
                <a16:creationId xmlns:a16="http://schemas.microsoft.com/office/drawing/2014/main" xmlns="" id="{39ED28EB-EF54-433B-60B3-87892499A24D}"/>
              </a:ext>
            </a:extLst>
          </p:cNvPr>
          <p:cNvGraphicFramePr/>
          <p:nvPr>
            <p:extLst/>
          </p:nvPr>
        </p:nvGraphicFramePr>
        <p:xfrm>
          <a:off x="6219257" y="3419768"/>
          <a:ext cx="5808956" cy="332265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 name="Table 11">
            <a:extLst>
              <a:ext uri="{FF2B5EF4-FFF2-40B4-BE49-F238E27FC236}">
                <a16:creationId xmlns:a16="http://schemas.microsoft.com/office/drawing/2014/main" xmlns="" id="{4BCF0C24-45DA-44DA-8EDA-2C6618ED53DE}"/>
              </a:ext>
            </a:extLst>
          </p:cNvPr>
          <p:cNvGraphicFramePr>
            <a:graphicFrameLocks noGrp="1"/>
          </p:cNvGraphicFramePr>
          <p:nvPr>
            <p:extLst/>
          </p:nvPr>
        </p:nvGraphicFramePr>
        <p:xfrm>
          <a:off x="6229534" y="907137"/>
          <a:ext cx="5625452" cy="1889760"/>
        </p:xfrm>
        <a:graphic>
          <a:graphicData uri="http://schemas.openxmlformats.org/drawingml/2006/table">
            <a:tbl>
              <a:tblPr firstRow="1" bandRow="1">
                <a:tableStyleId>{93296810-A885-4BE3-A3E7-6D5BEEA58F35}</a:tableStyleId>
              </a:tblPr>
              <a:tblGrid>
                <a:gridCol w="1004609">
                  <a:extLst>
                    <a:ext uri="{9D8B030D-6E8A-4147-A177-3AD203B41FA5}">
                      <a16:colId xmlns:a16="http://schemas.microsoft.com/office/drawing/2014/main" xmlns="" val="1930757539"/>
                    </a:ext>
                  </a:extLst>
                </a:gridCol>
                <a:gridCol w="4620843">
                  <a:extLst>
                    <a:ext uri="{9D8B030D-6E8A-4147-A177-3AD203B41FA5}">
                      <a16:colId xmlns:a16="http://schemas.microsoft.com/office/drawing/2014/main" xmlns="" val="1674463010"/>
                    </a:ext>
                  </a:extLst>
                </a:gridCol>
              </a:tblGrid>
              <a:tr h="304800">
                <a:tc>
                  <a:txBody>
                    <a:bodyPr/>
                    <a:lstStyle/>
                    <a:p>
                      <a:r>
                        <a:rPr lang="en-US" sz="1200">
                          <a:latin typeface="Times New Roman" panose="02020603050405020304" pitchFamily="18" charset="0"/>
                          <a:cs typeface="Times New Roman" panose="02020603050405020304" pitchFamily="18" charset="0"/>
                        </a:rPr>
                        <a:t>Tàu</a:t>
                      </a:r>
                    </a:p>
                  </a:txBody>
                  <a:tcPr marL="121920" marR="121920" marT="60960" marB="60960" anchor="ctr"/>
                </a:tc>
                <a:tc>
                  <a:txBody>
                    <a:bodyPr/>
                    <a:lstStyle/>
                    <a:p>
                      <a:r>
                        <a:rPr lang="en-GB" sz="1200">
                          <a:latin typeface="Times New Roman" panose="02020603050405020304" pitchFamily="18" charset="0"/>
                          <a:cs typeface="Times New Roman" panose="02020603050405020304" pitchFamily="18" charset="0"/>
                        </a:rPr>
                        <a:t>Tình trạng động c</a:t>
                      </a:r>
                      <a:r>
                        <a:rPr lang="vi-VN" sz="1200">
                          <a:latin typeface="Times New Roman" panose="02020603050405020304" pitchFamily="18" charset="0"/>
                          <a:cs typeface="Times New Roman" panose="02020603050405020304" pitchFamily="18" charset="0"/>
                        </a:rPr>
                        <a:t>ơ</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xmlns="" val="1532058823"/>
                  </a:ext>
                </a:extLst>
              </a:tr>
              <a:tr h="304800">
                <a:tc>
                  <a:txBody>
                    <a:bodyPr/>
                    <a:lstStyle/>
                    <a:p>
                      <a:r>
                        <a:rPr lang="en-US" sz="1200">
                          <a:latin typeface="Times New Roman" panose="02020603050405020304" pitchFamily="18" charset="0"/>
                          <a:cs typeface="Times New Roman" panose="02020603050405020304" pitchFamily="18" charset="0"/>
                        </a:rPr>
                        <a:t>A886</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a:latin typeface="Times New Roman" panose="02020603050405020304" pitchFamily="18" charset="0"/>
                          <a:cs typeface="Times New Roman" panose="02020603050405020304" pitchFamily="18" charset="0"/>
                        </a:rPr>
                        <a:t>Trống 2 động c</a:t>
                      </a:r>
                      <a:r>
                        <a:rPr lang="vi-VN" sz="1200">
                          <a:latin typeface="Times New Roman" panose="02020603050405020304" pitchFamily="18" charset="0"/>
                          <a:cs typeface="Times New Roman" panose="02020603050405020304" pitchFamily="18" charset="0"/>
                        </a:rPr>
                        <a:t>ơ</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xmlns="" val="2082573017"/>
                  </a:ext>
                </a:extLst>
              </a:tr>
              <a:tr h="487680">
                <a:tc>
                  <a:txBody>
                    <a:bodyPr/>
                    <a:lstStyle/>
                    <a:p>
                      <a:r>
                        <a:rPr lang="en-US" sz="1200">
                          <a:latin typeface="Times New Roman" panose="02020603050405020304" pitchFamily="18" charset="0"/>
                          <a:cs typeface="Times New Roman" panose="02020603050405020304" pitchFamily="18" charset="0"/>
                        </a:rPr>
                        <a:t>A887</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Trống 1 động c</a:t>
                      </a:r>
                      <a:r>
                        <a:rPr lang="vi-VN" sz="1200">
                          <a:latin typeface="Times New Roman" panose="02020603050405020304" pitchFamily="18" charset="0"/>
                          <a:cs typeface="Times New Roman" panose="02020603050405020304" pitchFamily="18" charset="0"/>
                        </a:rPr>
                        <a:t>ơ</a:t>
                      </a:r>
                      <a:endParaRPr lang="en-US" sz="120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1 động c</a:t>
                      </a:r>
                      <a:r>
                        <a:rPr lang="vi-VN" sz="1200">
                          <a:latin typeface="Times New Roman" panose="02020603050405020304" pitchFamily="18" charset="0"/>
                          <a:cs typeface="Times New Roman" panose="02020603050405020304" pitchFamily="18" charset="0"/>
                        </a:rPr>
                        <a:t>ơ</a:t>
                      </a:r>
                      <a:r>
                        <a:rPr lang="en-US" sz="1200">
                          <a:latin typeface="Times New Roman" panose="02020603050405020304" pitchFamily="18" charset="0"/>
                          <a:cs typeface="Times New Roman" panose="02020603050405020304" pitchFamily="18" charset="0"/>
                        </a:rPr>
                        <a:t> đến hạn kiểm tra LPT</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xmlns="" val="83465224"/>
                  </a:ext>
                </a:extLst>
              </a:tr>
              <a:tr h="487680">
                <a:tc>
                  <a:txBody>
                    <a:bodyPr/>
                    <a:lstStyle/>
                    <a:p>
                      <a:r>
                        <a:rPr lang="en-US" sz="1200">
                          <a:latin typeface="Times New Roman" panose="02020603050405020304" pitchFamily="18" charset="0"/>
                          <a:cs typeface="Times New Roman" panose="02020603050405020304" pitchFamily="18" charset="0"/>
                        </a:rPr>
                        <a:t>A895</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2 động c</a:t>
                      </a:r>
                      <a:r>
                        <a:rPr lang="vi-VN" sz="1200">
                          <a:latin typeface="Times New Roman" panose="02020603050405020304" pitchFamily="18" charset="0"/>
                          <a:cs typeface="Times New Roman" panose="02020603050405020304" pitchFamily="18" charset="0"/>
                        </a:rPr>
                        <a:t>ơ</a:t>
                      </a:r>
                      <a:r>
                        <a:rPr lang="en-US" sz="1200">
                          <a:latin typeface="Times New Roman" panose="02020603050405020304" pitchFamily="18" charset="0"/>
                          <a:cs typeface="Times New Roman" panose="02020603050405020304" pitchFamily="18" charset="0"/>
                        </a:rPr>
                        <a:t> hết LLP</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(sẽ tiến hành tháo dần trong T1-T2 gửi đi SV)</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xmlns="" val="3218884716"/>
                  </a:ext>
                </a:extLst>
              </a:tr>
              <a:tr h="304800">
                <a:tc>
                  <a:txBody>
                    <a:bodyPr/>
                    <a:lstStyle/>
                    <a:p>
                      <a:r>
                        <a:rPr lang="en-US" sz="1200">
                          <a:latin typeface="Times New Roman" panose="02020603050405020304" pitchFamily="18" charset="0"/>
                          <a:cs typeface="Times New Roman" panose="02020603050405020304" pitchFamily="18" charset="0"/>
                        </a:rPr>
                        <a:t>A898</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2 động c</a:t>
                      </a:r>
                      <a:r>
                        <a:rPr lang="vi-VN" sz="1200">
                          <a:latin typeface="Times New Roman" panose="02020603050405020304" pitchFamily="18" charset="0"/>
                          <a:cs typeface="Times New Roman" panose="02020603050405020304" pitchFamily="18" charset="0"/>
                        </a:rPr>
                        <a:t>ơ</a:t>
                      </a:r>
                      <a:r>
                        <a:rPr lang="en-US" sz="1200">
                          <a:latin typeface="Times New Roman" panose="02020603050405020304" pitchFamily="18" charset="0"/>
                          <a:cs typeface="Times New Roman" panose="02020603050405020304" pitchFamily="18" charset="0"/>
                        </a:rPr>
                        <a:t> đến hạn kiểm tra LPT</a:t>
                      </a:r>
                    </a:p>
                  </a:txBody>
                  <a:tcPr marL="121920" marR="121920" marT="60960" marB="60960" anchor="ctr"/>
                </a:tc>
                <a:extLst>
                  <a:ext uri="{0D108BD9-81ED-4DB2-BD59-A6C34878D82A}">
                    <a16:rowId xmlns:a16="http://schemas.microsoft.com/office/drawing/2014/main" xmlns="" val="1733553736"/>
                  </a:ext>
                </a:extLst>
              </a:tr>
            </a:tbl>
          </a:graphicData>
        </a:graphic>
      </p:graphicFrame>
      <p:sp>
        <p:nvSpPr>
          <p:cNvPr id="13" name="TextBox 12">
            <a:extLst>
              <a:ext uri="{FF2B5EF4-FFF2-40B4-BE49-F238E27FC236}">
                <a16:creationId xmlns:a16="http://schemas.microsoft.com/office/drawing/2014/main" xmlns="" id="{90C76007-F5F9-4B91-90BD-15B1D817EC54}"/>
              </a:ext>
            </a:extLst>
          </p:cNvPr>
          <p:cNvSpPr txBox="1"/>
          <p:nvPr/>
        </p:nvSpPr>
        <p:spPr>
          <a:xfrm>
            <a:off x="6014053" y="423991"/>
            <a:ext cx="6705299" cy="420564"/>
          </a:xfrm>
          <a:prstGeom prst="rect">
            <a:avLst/>
          </a:prstGeom>
          <a:noFill/>
        </p:spPr>
        <p:txBody>
          <a:bodyPr wrap="square" rtlCol="0">
            <a:spAutoFit/>
          </a:bodyPr>
          <a:lstStyle/>
          <a:p>
            <a:pPr algn="ctr" defTabSz="1219170">
              <a:defRPr/>
            </a:pPr>
            <a:r>
              <a:rPr lang="en-US" sz="2133" b="1">
                <a:solidFill>
                  <a:srgbClr val="002060"/>
                </a:solidFill>
                <a:latin typeface="Times New Roman" panose="02020603050405020304" pitchFamily="18" charset="0"/>
                <a:cs typeface="Times New Roman" panose="02020603050405020304" pitchFamily="18" charset="0"/>
              </a:rPr>
              <a:t>Các tàu đang AOG</a:t>
            </a:r>
            <a:endParaRPr lang="en-GB" sz="2133" b="1" dirty="0">
              <a:solidFill>
                <a:srgbClr val="002060"/>
              </a:solidFill>
              <a:latin typeface="Times New Roman" panose="02020603050405020304" pitchFamily="18" charset="0"/>
              <a:cs typeface="Times New Roman" panose="02020603050405020304" pitchFamily="18" charset="0"/>
            </a:endParaRPr>
          </a:p>
        </p:txBody>
      </p:sp>
      <p:sp>
        <p:nvSpPr>
          <p:cNvPr id="9" name="Speech Bubble: Rectangle with Corners Rounded 8">
            <a:extLst>
              <a:ext uri="{FF2B5EF4-FFF2-40B4-BE49-F238E27FC236}">
                <a16:creationId xmlns:a16="http://schemas.microsoft.com/office/drawing/2014/main" xmlns="" id="{07B625F8-0854-49CC-0CB0-AF842EA02598}"/>
              </a:ext>
            </a:extLst>
          </p:cNvPr>
          <p:cNvSpPr/>
          <p:nvPr/>
        </p:nvSpPr>
        <p:spPr>
          <a:xfrm>
            <a:off x="9026165" y="5130661"/>
            <a:ext cx="2701964" cy="768671"/>
          </a:xfrm>
          <a:prstGeom prst="wedgeRoundRectCallout">
            <a:avLst>
              <a:gd name="adj1" fmla="val -56855"/>
              <a:gd name="adj2" fmla="val -82154"/>
              <a:gd name="adj3" fmla="val 16667"/>
            </a:avLst>
          </a:prstGeom>
          <a:solidFill>
            <a:srgbClr val="FFFF00"/>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1219170">
              <a:defRPr/>
            </a:pPr>
            <a:r>
              <a:rPr lang="en-US" sz="1067">
                <a:solidFill>
                  <a:srgbClr val="FF0000"/>
                </a:solidFill>
                <a:latin typeface="Times New Roman" panose="02020603050405020304" pitchFamily="18" charset="0"/>
                <a:cs typeface="Times New Roman" panose="02020603050405020304" pitchFamily="18" charset="0"/>
              </a:rPr>
              <a:t>Cao điểm Tết: động c</a:t>
            </a:r>
            <a:r>
              <a:rPr lang="vi-VN" sz="1067">
                <a:solidFill>
                  <a:srgbClr val="FF0000"/>
                </a:solidFill>
                <a:latin typeface="Times New Roman" panose="02020603050405020304" pitchFamily="18" charset="0"/>
                <a:cs typeface="Times New Roman" panose="02020603050405020304" pitchFamily="18" charset="0"/>
              </a:rPr>
              <a:t>ơ</a:t>
            </a:r>
            <a:r>
              <a:rPr lang="en-US" sz="1067">
                <a:solidFill>
                  <a:srgbClr val="FF0000"/>
                </a:solidFill>
                <a:latin typeface="Times New Roman" panose="02020603050405020304" pitchFamily="18" charset="0"/>
                <a:cs typeface="Times New Roman" panose="02020603050405020304" pitchFamily="18" charset="0"/>
              </a:rPr>
              <a:t> A893 và A899 thay bằng động c</a:t>
            </a:r>
            <a:r>
              <a:rPr lang="vi-VN" sz="1067">
                <a:solidFill>
                  <a:srgbClr val="FF0000"/>
                </a:solidFill>
                <a:latin typeface="Times New Roman" panose="02020603050405020304" pitchFamily="18" charset="0"/>
                <a:cs typeface="Times New Roman" panose="02020603050405020304" pitchFamily="18" charset="0"/>
              </a:rPr>
              <a:t>ơ</a:t>
            </a:r>
            <a:r>
              <a:rPr lang="en-US" sz="1067">
                <a:solidFill>
                  <a:srgbClr val="FF0000"/>
                </a:solidFill>
                <a:latin typeface="Times New Roman" panose="02020603050405020304" pitchFamily="18" charset="0"/>
                <a:cs typeface="Times New Roman" panose="02020603050405020304" pitchFamily="18" charset="0"/>
              </a:rPr>
              <a:t> thuê RRFP thứ 4 và động c</a:t>
            </a:r>
            <a:r>
              <a:rPr lang="vi-VN" sz="1067">
                <a:solidFill>
                  <a:srgbClr val="FF0000"/>
                </a:solidFill>
                <a:latin typeface="Times New Roman" panose="02020603050405020304" pitchFamily="18" charset="0"/>
                <a:cs typeface="Times New Roman" panose="02020603050405020304" pitchFamily="18" charset="0"/>
              </a:rPr>
              <a:t>ơ</a:t>
            </a:r>
            <a:r>
              <a:rPr lang="en-US" sz="1067">
                <a:solidFill>
                  <a:srgbClr val="FF0000"/>
                </a:solidFill>
                <a:latin typeface="Times New Roman" panose="02020603050405020304" pitchFamily="18" charset="0"/>
                <a:cs typeface="Times New Roman" panose="02020603050405020304" pitchFamily="18" charset="0"/>
              </a:rPr>
              <a:t> 21316 đi QT về đầu T2. Tăng lên 5 tàu dừng khi thay động c</a:t>
            </a:r>
            <a:r>
              <a:rPr lang="vi-VN" sz="1067">
                <a:solidFill>
                  <a:srgbClr val="FF0000"/>
                </a:solidFill>
                <a:latin typeface="Times New Roman" panose="02020603050405020304" pitchFamily="18" charset="0"/>
                <a:cs typeface="Times New Roman" panose="02020603050405020304" pitchFamily="18" charset="0"/>
              </a:rPr>
              <a:t>ơ</a:t>
            </a:r>
            <a:endParaRPr lang="en-US" sz="1067"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284542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E4832D6-D376-2B3E-80E4-2BB00133B7A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F87AB7BD-6FB2-6DEE-1597-88CCC23AA773}"/>
              </a:ext>
            </a:extLst>
          </p:cNvPr>
          <p:cNvSpPr>
            <a:spLocks noGrp="1"/>
          </p:cNvSpPr>
          <p:nvPr>
            <p:ph type="sldNum" idx="12"/>
          </p:nvPr>
        </p:nvSpPr>
        <p:spPr/>
        <p:txBody>
          <a:bodyPr/>
          <a:lstStyle/>
          <a:p>
            <a:fld id="{00000000-1234-1234-1234-123412341234}" type="slidenum">
              <a:rPr lang="vi" smtClean="0"/>
              <a:pPr/>
              <a:t>33</a:t>
            </a:fld>
            <a:endParaRPr lang="vi"/>
          </a:p>
        </p:txBody>
      </p:sp>
      <p:sp>
        <p:nvSpPr>
          <p:cNvPr id="3" name="Slide Number Placeholder 3">
            <a:extLst>
              <a:ext uri="{FF2B5EF4-FFF2-40B4-BE49-F238E27FC236}">
                <a16:creationId xmlns:a16="http://schemas.microsoft.com/office/drawing/2014/main" xmlns="" id="{872779D9-F954-864D-33DF-03C9AF459178}"/>
              </a:ext>
            </a:extLst>
          </p:cNvPr>
          <p:cNvSpPr txBox="1">
            <a:spLocks/>
          </p:cNvSpPr>
          <p:nvPr/>
        </p:nvSpPr>
        <p:spPr>
          <a:xfrm>
            <a:off x="11480800" y="7745888"/>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600">
                <a:solidFill>
                  <a:srgbClr val="D2A43B"/>
                </a:solidFill>
                <a:latin typeface="Times New Roman" panose="02020603050405020304" pitchFamily="18" charset="0"/>
                <a:ea typeface="+mn-ea"/>
                <a:cs typeface="Times New Roman" panose="02020603050405020304" pitchFamily="18" charset="0"/>
                <a:sym typeface="Montserrat"/>
              </a:rPr>
              <a:pPr>
                <a:buClrTx/>
                <a:buFontTx/>
                <a:buNone/>
                <a:defRPr/>
              </a:pPr>
              <a:t>33</a:t>
            </a:fld>
            <a:endParaRPr lang="en-US" sz="1600" dirty="0">
              <a:solidFill>
                <a:srgbClr val="D2A43B"/>
              </a:solidFill>
              <a:latin typeface="Times New Roman" panose="02020603050405020304" pitchFamily="18" charset="0"/>
              <a:ea typeface="+mn-ea"/>
              <a:cs typeface="Times New Roman" panose="02020603050405020304" pitchFamily="18" charset="0"/>
              <a:sym typeface="Montserrat"/>
            </a:endParaRPr>
          </a:p>
        </p:txBody>
      </p:sp>
      <p:graphicFrame>
        <p:nvGraphicFramePr>
          <p:cNvPr id="4" name="Chart 3">
            <a:extLst>
              <a:ext uri="{FF2B5EF4-FFF2-40B4-BE49-F238E27FC236}">
                <a16:creationId xmlns:a16="http://schemas.microsoft.com/office/drawing/2014/main" xmlns="" id="{1F90731F-79CC-9C0D-90F0-8892B720402F}"/>
              </a:ext>
            </a:extLst>
          </p:cNvPr>
          <p:cNvGraphicFramePr/>
          <p:nvPr>
            <p:extLst/>
          </p:nvPr>
        </p:nvGraphicFramePr>
        <p:xfrm>
          <a:off x="186266" y="564481"/>
          <a:ext cx="11841945" cy="423286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Table 4">
            <a:extLst>
              <a:ext uri="{FF2B5EF4-FFF2-40B4-BE49-F238E27FC236}">
                <a16:creationId xmlns:a16="http://schemas.microsoft.com/office/drawing/2014/main" xmlns="" id="{59E8CB50-D75D-D69C-E552-996064D3C127}"/>
              </a:ext>
            </a:extLst>
          </p:cNvPr>
          <p:cNvGraphicFramePr>
            <a:graphicFrameLocks noGrp="1"/>
          </p:cNvGraphicFramePr>
          <p:nvPr>
            <p:extLst/>
          </p:nvPr>
        </p:nvGraphicFramePr>
        <p:xfrm>
          <a:off x="93132" y="5436863"/>
          <a:ext cx="12028209" cy="1223394"/>
        </p:xfrm>
        <a:graphic>
          <a:graphicData uri="http://schemas.openxmlformats.org/drawingml/2006/table">
            <a:tbl>
              <a:tblPr firstRow="1" bandRow="1">
                <a:tableStyleId>{93296810-A885-4BE3-A3E7-6D5BEEA58F35}</a:tableStyleId>
              </a:tblPr>
              <a:tblGrid>
                <a:gridCol w="829765">
                  <a:extLst>
                    <a:ext uri="{9D8B030D-6E8A-4147-A177-3AD203B41FA5}">
                      <a16:colId xmlns:a16="http://schemas.microsoft.com/office/drawing/2014/main" xmlns="" val="4208667331"/>
                    </a:ext>
                  </a:extLst>
                </a:gridCol>
                <a:gridCol w="6156477">
                  <a:extLst>
                    <a:ext uri="{9D8B030D-6E8A-4147-A177-3AD203B41FA5}">
                      <a16:colId xmlns:a16="http://schemas.microsoft.com/office/drawing/2014/main" xmlns="" val="1351526185"/>
                    </a:ext>
                  </a:extLst>
                </a:gridCol>
                <a:gridCol w="5041967">
                  <a:extLst>
                    <a:ext uri="{9D8B030D-6E8A-4147-A177-3AD203B41FA5}">
                      <a16:colId xmlns:a16="http://schemas.microsoft.com/office/drawing/2014/main" xmlns="" val="1843655469"/>
                    </a:ext>
                  </a:extLst>
                </a:gridCol>
              </a:tblGrid>
              <a:tr h="249088">
                <a:tc>
                  <a:txBody>
                    <a:bodyPr/>
                    <a:lstStyle/>
                    <a:p>
                      <a:pPr algn="ctr" fontAlgn="t"/>
                      <a:r>
                        <a:rPr lang="en-US" sz="1200" b="1" i="0" u="none" strike="noStrike" dirty="0" err="1">
                          <a:solidFill>
                            <a:schemeClr val="bg1"/>
                          </a:solidFill>
                          <a:effectLst/>
                          <a:latin typeface="Times New Roman" panose="02020603050405020304" pitchFamily="18" charset="0"/>
                        </a:rPr>
                        <a:t>Tàu</a:t>
                      </a:r>
                      <a:endParaRPr lang="en-US" sz="1200" b="1" i="0" u="none" strike="noStrike" dirty="0">
                        <a:solidFill>
                          <a:schemeClr val="bg1"/>
                        </a:solidFill>
                        <a:effectLst/>
                        <a:latin typeface="Times New Roman" panose="02020603050405020304" pitchFamily="18" charset="0"/>
                      </a:endParaRPr>
                    </a:p>
                  </a:txBody>
                  <a:tcPr marL="8467" marR="8467" marT="8467" marB="0" anchor="ctr"/>
                </a:tc>
                <a:tc>
                  <a:txBody>
                    <a:bodyPr/>
                    <a:lstStyle/>
                    <a:p>
                      <a:pPr algn="ctr" fontAlgn="t"/>
                      <a:r>
                        <a:rPr lang="en-US" sz="1200" b="1" i="0" u="none" strike="noStrike" dirty="0" err="1">
                          <a:solidFill>
                            <a:schemeClr val="bg1"/>
                          </a:solidFill>
                          <a:effectLst/>
                          <a:latin typeface="Times New Roman" panose="02020603050405020304" pitchFamily="18" charset="0"/>
                        </a:rPr>
                        <a:t>Phương</a:t>
                      </a:r>
                      <a:r>
                        <a:rPr lang="en-US" sz="1200" b="1" i="0" u="none" strike="noStrike" dirty="0">
                          <a:solidFill>
                            <a:schemeClr val="bg1"/>
                          </a:solidFill>
                          <a:effectLst/>
                          <a:latin typeface="Times New Roman" panose="02020603050405020304" pitchFamily="18" charset="0"/>
                        </a:rPr>
                        <a:t> </a:t>
                      </a:r>
                      <a:r>
                        <a:rPr lang="en-US" sz="1200" b="1" i="0" u="none" strike="noStrike" dirty="0" err="1">
                          <a:solidFill>
                            <a:schemeClr val="bg1"/>
                          </a:solidFill>
                          <a:effectLst/>
                          <a:latin typeface="Times New Roman" panose="02020603050405020304" pitchFamily="18" charset="0"/>
                        </a:rPr>
                        <a:t>án</a:t>
                      </a:r>
                      <a:endParaRPr lang="en-US" sz="1200" b="1" i="0" u="none" strike="noStrike" dirty="0">
                        <a:solidFill>
                          <a:schemeClr val="bg1"/>
                        </a:solidFill>
                        <a:effectLst/>
                        <a:latin typeface="Times New Roman" panose="02020603050405020304" pitchFamily="18" charset="0"/>
                      </a:endParaRPr>
                    </a:p>
                  </a:txBody>
                  <a:tcPr marL="8467" marR="8467" marT="8467" marB="0" anchor="ctr"/>
                </a:tc>
                <a:tc>
                  <a:txBody>
                    <a:bodyPr/>
                    <a:lstStyle/>
                    <a:p>
                      <a:pPr algn="ctr" fontAlgn="t"/>
                      <a:r>
                        <a:rPr lang="en-US" sz="1200" b="1" i="0" u="none" strike="noStrike" dirty="0" err="1">
                          <a:solidFill>
                            <a:schemeClr val="bg1"/>
                          </a:solidFill>
                          <a:effectLst/>
                          <a:latin typeface="Times New Roman" panose="02020603050405020304" pitchFamily="18" charset="0"/>
                        </a:rPr>
                        <a:t>Kế</a:t>
                      </a:r>
                      <a:r>
                        <a:rPr lang="en-US" sz="1200" b="1" i="0" u="none" strike="noStrike" dirty="0">
                          <a:solidFill>
                            <a:schemeClr val="bg1"/>
                          </a:solidFill>
                          <a:effectLst/>
                          <a:latin typeface="Times New Roman" panose="02020603050405020304" pitchFamily="18" charset="0"/>
                        </a:rPr>
                        <a:t> </a:t>
                      </a:r>
                      <a:r>
                        <a:rPr lang="en-US" sz="1200" b="1" i="0" u="none" strike="noStrike" dirty="0" err="1">
                          <a:solidFill>
                            <a:schemeClr val="bg1"/>
                          </a:solidFill>
                          <a:effectLst/>
                          <a:latin typeface="Times New Roman" panose="02020603050405020304" pitchFamily="18" charset="0"/>
                        </a:rPr>
                        <a:t>hoạch</a:t>
                      </a:r>
                      <a:r>
                        <a:rPr lang="en-US" sz="1200" b="1" i="0" u="none" strike="noStrike" dirty="0">
                          <a:solidFill>
                            <a:schemeClr val="bg1"/>
                          </a:solidFill>
                          <a:effectLst/>
                          <a:latin typeface="Times New Roman" panose="02020603050405020304" pitchFamily="18" charset="0"/>
                        </a:rPr>
                        <a:t> </a:t>
                      </a:r>
                      <a:r>
                        <a:rPr lang="en-US" sz="1200" b="1" i="0" u="none" strike="noStrike" dirty="0" err="1">
                          <a:solidFill>
                            <a:schemeClr val="bg1"/>
                          </a:solidFill>
                          <a:effectLst/>
                          <a:latin typeface="Times New Roman" panose="02020603050405020304" pitchFamily="18" charset="0"/>
                        </a:rPr>
                        <a:t>thay</a:t>
                      </a:r>
                      <a:endParaRPr lang="en-US" sz="1200" b="1" i="0" u="none" strike="noStrike" dirty="0">
                        <a:solidFill>
                          <a:schemeClr val="bg1"/>
                        </a:solidFill>
                        <a:effectLst/>
                        <a:latin typeface="Times New Roman" panose="02020603050405020304" pitchFamily="18" charset="0"/>
                      </a:endParaRPr>
                    </a:p>
                  </a:txBody>
                  <a:tcPr marL="8467" marR="8467" marT="8467" marB="0" anchor="ctr"/>
                </a:tc>
                <a:extLst>
                  <a:ext uri="{0D108BD9-81ED-4DB2-BD59-A6C34878D82A}">
                    <a16:rowId xmlns:a16="http://schemas.microsoft.com/office/drawing/2014/main" xmlns="" val="1286781906"/>
                  </a:ext>
                </a:extLst>
              </a:tr>
              <a:tr h="487153">
                <a:tc>
                  <a:txBody>
                    <a:bodyPr/>
                    <a:lstStyle/>
                    <a:p>
                      <a:pPr algn="ctr" fontAlgn="ctr"/>
                      <a:r>
                        <a:rPr lang="en-US" sz="1200" b="0" i="0" u="none" strike="noStrike">
                          <a:solidFill>
                            <a:schemeClr val="tx1"/>
                          </a:solidFill>
                          <a:effectLst/>
                          <a:latin typeface="Times New Roman" panose="02020603050405020304" pitchFamily="18" charset="0"/>
                        </a:rPr>
                        <a:t>A893</a:t>
                      </a:r>
                      <a:endParaRPr lang="en-US" sz="1200" b="0" i="0" u="none" strike="noStrike" dirty="0">
                        <a:solidFill>
                          <a:schemeClr val="tx1"/>
                        </a:solidFill>
                        <a:effectLst/>
                        <a:latin typeface="Times New Roman" panose="02020603050405020304" pitchFamily="18" charset="0"/>
                      </a:endParaRPr>
                    </a:p>
                  </a:txBody>
                  <a:tcPr marL="8467" marR="8467" marT="8467"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chemeClr val="tx1"/>
                          </a:solidFill>
                          <a:latin typeface="Times New Roman" panose="02020603050405020304" pitchFamily="18" charset="0"/>
                          <a:cs typeface="Times New Roman" panose="02020603050405020304" pitchFamily="18" charset="0"/>
                        </a:rPr>
                        <a:t>Do vấn đề High Oil Consumption động c</a:t>
                      </a:r>
                      <a:r>
                        <a:rPr lang="vi-VN" sz="1200">
                          <a:solidFill>
                            <a:schemeClr val="tx1"/>
                          </a:solidFill>
                          <a:latin typeface="Times New Roman" panose="02020603050405020304" pitchFamily="18" charset="0"/>
                          <a:cs typeface="Times New Roman" panose="02020603050405020304" pitchFamily="18" charset="0"/>
                        </a:rPr>
                        <a:t>ơ</a:t>
                      </a:r>
                      <a:r>
                        <a:rPr lang="en-US" sz="1200">
                          <a:solidFill>
                            <a:schemeClr val="tx1"/>
                          </a:solidFill>
                          <a:latin typeface="Times New Roman" panose="02020603050405020304" pitchFamily="18" charset="0"/>
                          <a:cs typeface="Times New Roman" panose="02020603050405020304" pitchFamily="18" charset="0"/>
                        </a:rPr>
                        <a:t> số 2 mà tàu phải khai thác chặng ngắn dẫn đến tăng utilization, không bay đ</a:t>
                      </a:r>
                      <a:r>
                        <a:rPr lang="vi-VN" sz="1200">
                          <a:solidFill>
                            <a:schemeClr val="tx1"/>
                          </a:solidFill>
                          <a:latin typeface="Times New Roman" panose="02020603050405020304" pitchFamily="18" charset="0"/>
                          <a:cs typeface="Times New Roman" panose="02020603050405020304" pitchFamily="18" charset="0"/>
                        </a:rPr>
                        <a:t>ư</a:t>
                      </a:r>
                      <a:r>
                        <a:rPr lang="en-US" sz="1200">
                          <a:solidFill>
                            <a:schemeClr val="tx1"/>
                          </a:solidFill>
                          <a:latin typeface="Times New Roman" panose="02020603050405020304" pitchFamily="18" charset="0"/>
                          <a:cs typeface="Times New Roman" panose="02020603050405020304" pitchFamily="18" charset="0"/>
                        </a:rPr>
                        <a:t>ợc qua Tết. Dự kiến hết hạn vào cuối tháng 1. </a:t>
                      </a:r>
                      <a:endParaRPr lang="en-US" sz="1200" dirty="0">
                        <a:solidFill>
                          <a:schemeClr val="tx1"/>
                        </a:solidFill>
                        <a:latin typeface="Times New Roman" panose="02020603050405020304" pitchFamily="18" charset="0"/>
                        <a:cs typeface="Times New Roman" panose="02020603050405020304" pitchFamily="18" charset="0"/>
                      </a:endParaRPr>
                    </a:p>
                  </a:txBody>
                  <a:tcPr marL="8467" marR="8467" marT="8467"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chemeClr val="tx1"/>
                          </a:solidFill>
                          <a:latin typeface="Times New Roman" panose="02020603050405020304" pitchFamily="18" charset="0"/>
                          <a:cs typeface="Times New Roman" panose="02020603050405020304" pitchFamily="18" charset="0"/>
                        </a:rPr>
                        <a:t>Dự kiến thay bằng động c</a:t>
                      </a:r>
                      <a:r>
                        <a:rPr lang="vi-VN" sz="1200">
                          <a:solidFill>
                            <a:schemeClr val="tx1"/>
                          </a:solidFill>
                          <a:latin typeface="Times New Roman" panose="02020603050405020304" pitchFamily="18" charset="0"/>
                          <a:cs typeface="Times New Roman" panose="02020603050405020304" pitchFamily="18" charset="0"/>
                        </a:rPr>
                        <a:t>ơ</a:t>
                      </a:r>
                      <a:r>
                        <a:rPr lang="en-US" sz="1200">
                          <a:solidFill>
                            <a:schemeClr val="tx1"/>
                          </a:solidFill>
                          <a:latin typeface="Times New Roman" panose="02020603050405020304" pitchFamily="18" charset="0"/>
                          <a:cs typeface="Times New Roman" panose="02020603050405020304" pitchFamily="18" charset="0"/>
                        </a:rPr>
                        <a:t> thuê thứ 4 sẽ nhận vào 22/01</a:t>
                      </a:r>
                      <a:endParaRPr lang="en-US" sz="1200" dirty="0">
                        <a:solidFill>
                          <a:schemeClr val="tx1"/>
                        </a:solidFill>
                        <a:latin typeface="Times New Roman" panose="02020603050405020304" pitchFamily="18" charset="0"/>
                        <a:cs typeface="Times New Roman" panose="02020603050405020304" pitchFamily="18" charset="0"/>
                      </a:endParaRPr>
                    </a:p>
                  </a:txBody>
                  <a:tcPr marL="8467" marR="8467" marT="8467" marB="0" anchor="ctr"/>
                </a:tc>
                <a:extLst>
                  <a:ext uri="{0D108BD9-81ED-4DB2-BD59-A6C34878D82A}">
                    <a16:rowId xmlns:a16="http://schemas.microsoft.com/office/drawing/2014/main" xmlns="" val="2913290803"/>
                  </a:ext>
                </a:extLst>
              </a:tr>
              <a:tr h="487153">
                <a:tc>
                  <a:txBody>
                    <a:bodyPr/>
                    <a:lstStyle/>
                    <a:p>
                      <a:pPr algn="ctr" fontAlgn="ctr"/>
                      <a:r>
                        <a:rPr lang="en-US" sz="1200" b="0" i="0" u="none" strike="noStrike">
                          <a:solidFill>
                            <a:schemeClr val="tx1"/>
                          </a:solidFill>
                          <a:effectLst/>
                          <a:latin typeface="Times New Roman" panose="02020603050405020304" pitchFamily="18" charset="0"/>
                        </a:rPr>
                        <a:t>A899</a:t>
                      </a:r>
                      <a:endParaRPr lang="en-US" sz="1200" b="0" i="0" u="none" strike="noStrike" dirty="0">
                        <a:solidFill>
                          <a:schemeClr val="tx1"/>
                        </a:solidFill>
                        <a:effectLst/>
                        <a:latin typeface="Times New Roman" panose="02020603050405020304" pitchFamily="18" charset="0"/>
                      </a:endParaRPr>
                    </a:p>
                  </a:txBody>
                  <a:tcPr marL="8467" marR="8467" marT="8467"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Times New Roman" panose="02020603050405020304" pitchFamily="18" charset="0"/>
                          <a:cs typeface="Times New Roman" panose="02020603050405020304" pitchFamily="18" charset="0"/>
                        </a:rPr>
                        <a:t>Do </a:t>
                      </a:r>
                      <a:r>
                        <a:rPr lang="en-US" sz="1200" dirty="0" err="1">
                          <a:solidFill>
                            <a:schemeClr val="tx1"/>
                          </a:solidFill>
                          <a:latin typeface="Times New Roman" panose="02020603050405020304" pitchFamily="18" charset="0"/>
                          <a:cs typeface="Times New Roman" panose="02020603050405020304" pitchFamily="18" charset="0"/>
                        </a:rPr>
                        <a:t>tàu</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phải</a:t>
                      </a:r>
                      <a:r>
                        <a:rPr lang="en-US" sz="1200" dirty="0">
                          <a:solidFill>
                            <a:schemeClr val="tx1"/>
                          </a:solidFill>
                          <a:latin typeface="Times New Roman" panose="02020603050405020304" pitchFamily="18" charset="0"/>
                          <a:cs typeface="Times New Roman" panose="02020603050405020304" pitchFamily="18" charset="0"/>
                        </a:rPr>
                        <a:t> bay </a:t>
                      </a:r>
                      <a:r>
                        <a:rPr lang="en-US" sz="1200" dirty="0" err="1">
                          <a:solidFill>
                            <a:schemeClr val="tx1"/>
                          </a:solidFill>
                          <a:latin typeface="Times New Roman" panose="02020603050405020304" pitchFamily="18" charset="0"/>
                          <a:cs typeface="Times New Roman" panose="02020603050405020304" pitchFamily="18" charset="0"/>
                        </a:rPr>
                        <a:t>bù</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các</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tàu</a:t>
                      </a:r>
                      <a:r>
                        <a:rPr lang="en-US" sz="1200" dirty="0">
                          <a:solidFill>
                            <a:schemeClr val="tx1"/>
                          </a:solidFill>
                          <a:latin typeface="Times New Roman" panose="02020603050405020304" pitchFamily="18" charset="0"/>
                          <a:cs typeface="Times New Roman" panose="02020603050405020304" pitchFamily="18" charset="0"/>
                        </a:rPr>
                        <a:t> VIP </a:t>
                      </a:r>
                      <a:r>
                        <a:rPr lang="en-US" sz="1200" dirty="0" err="1">
                          <a:solidFill>
                            <a:schemeClr val="tx1"/>
                          </a:solidFill>
                          <a:latin typeface="Times New Roman" panose="02020603050405020304" pitchFamily="18" charset="0"/>
                          <a:cs typeface="Times New Roman" panose="02020603050405020304" pitchFamily="18" charset="0"/>
                        </a:rPr>
                        <a:t>tháng</a:t>
                      </a:r>
                      <a:r>
                        <a:rPr lang="en-US" sz="1200" dirty="0">
                          <a:solidFill>
                            <a:schemeClr val="tx1"/>
                          </a:solidFill>
                          <a:latin typeface="Times New Roman" panose="02020603050405020304" pitchFamily="18" charset="0"/>
                          <a:cs typeface="Times New Roman" panose="02020603050405020304" pitchFamily="18" charset="0"/>
                        </a:rPr>
                        <a:t> 1 </a:t>
                      </a:r>
                      <a:r>
                        <a:rPr lang="en-US" sz="1200" dirty="0" err="1">
                          <a:solidFill>
                            <a:schemeClr val="tx1"/>
                          </a:solidFill>
                          <a:latin typeface="Times New Roman" panose="02020603050405020304" pitchFamily="18" charset="0"/>
                          <a:cs typeface="Times New Roman" panose="02020603050405020304" pitchFamily="18" charset="0"/>
                        </a:rPr>
                        <a:t>nên</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tăng</a:t>
                      </a:r>
                      <a:r>
                        <a:rPr lang="en-US" sz="1200" dirty="0">
                          <a:solidFill>
                            <a:schemeClr val="tx1"/>
                          </a:solidFill>
                          <a:latin typeface="Times New Roman" panose="02020603050405020304" pitchFamily="18" charset="0"/>
                          <a:cs typeface="Times New Roman" panose="02020603050405020304" pitchFamily="18" charset="0"/>
                        </a:rPr>
                        <a:t> utilization, </a:t>
                      </a:r>
                      <a:r>
                        <a:rPr lang="en-US" sz="1200" dirty="0" err="1">
                          <a:solidFill>
                            <a:schemeClr val="tx1"/>
                          </a:solidFill>
                          <a:latin typeface="Times New Roman" panose="02020603050405020304" pitchFamily="18" charset="0"/>
                          <a:cs typeface="Times New Roman" panose="02020603050405020304" pitchFamily="18" charset="0"/>
                        </a:rPr>
                        <a:t>không</a:t>
                      </a:r>
                      <a:r>
                        <a:rPr lang="en-US" sz="1200" dirty="0">
                          <a:solidFill>
                            <a:schemeClr val="tx1"/>
                          </a:solidFill>
                          <a:latin typeface="Times New Roman" panose="02020603050405020304" pitchFamily="18" charset="0"/>
                          <a:cs typeface="Times New Roman" panose="02020603050405020304" pitchFamily="18" charset="0"/>
                        </a:rPr>
                        <a:t> bay đ</a:t>
                      </a:r>
                      <a:r>
                        <a:rPr lang="vi-VN" sz="1200" dirty="0">
                          <a:solidFill>
                            <a:schemeClr val="tx1"/>
                          </a:solidFill>
                          <a:latin typeface="Times New Roman" panose="02020603050405020304" pitchFamily="18" charset="0"/>
                          <a:cs typeface="Times New Roman" panose="02020603050405020304" pitchFamily="18" charset="0"/>
                        </a:rPr>
                        <a:t>ư</a:t>
                      </a:r>
                      <a:r>
                        <a:rPr lang="en-US" sz="1200" dirty="0" err="1">
                          <a:solidFill>
                            <a:schemeClr val="tx1"/>
                          </a:solidFill>
                          <a:latin typeface="Times New Roman" panose="02020603050405020304" pitchFamily="18" charset="0"/>
                          <a:cs typeface="Times New Roman" panose="02020603050405020304" pitchFamily="18" charset="0"/>
                        </a:rPr>
                        <a:t>ợc</a:t>
                      </a:r>
                      <a:r>
                        <a:rPr lang="en-US" sz="1200" dirty="0">
                          <a:solidFill>
                            <a:schemeClr val="tx1"/>
                          </a:solidFill>
                          <a:latin typeface="Times New Roman" panose="02020603050405020304" pitchFamily="18" charset="0"/>
                          <a:cs typeface="Times New Roman" panose="02020603050405020304" pitchFamily="18" charset="0"/>
                        </a:rPr>
                        <a:t> qua </a:t>
                      </a:r>
                      <a:r>
                        <a:rPr lang="en-US" sz="1200" dirty="0" err="1">
                          <a:solidFill>
                            <a:schemeClr val="tx1"/>
                          </a:solidFill>
                          <a:latin typeface="Times New Roman" panose="02020603050405020304" pitchFamily="18" charset="0"/>
                          <a:cs typeface="Times New Roman" panose="02020603050405020304" pitchFamily="18" charset="0"/>
                        </a:rPr>
                        <a:t>Tết</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cần</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phải</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hạn</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chế</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chờ</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động</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cơ</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Quickturn</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đi</a:t>
                      </a:r>
                      <a:r>
                        <a:rPr lang="en-US" sz="1200" dirty="0">
                          <a:solidFill>
                            <a:schemeClr val="tx1"/>
                          </a:solidFill>
                          <a:latin typeface="Times New Roman" panose="02020603050405020304" pitchFamily="18" charset="0"/>
                          <a:cs typeface="Times New Roman" panose="02020603050405020304" pitchFamily="18" charset="0"/>
                        </a:rPr>
                        <a:t> shop </a:t>
                      </a:r>
                      <a:r>
                        <a:rPr lang="en-US" sz="1200" dirty="0" err="1">
                          <a:solidFill>
                            <a:schemeClr val="tx1"/>
                          </a:solidFill>
                          <a:latin typeface="Times New Roman" panose="02020603050405020304" pitchFamily="18" charset="0"/>
                          <a:cs typeface="Times New Roman" panose="02020603050405020304" pitchFamily="18" charset="0"/>
                        </a:rPr>
                        <a:t>về</a:t>
                      </a:r>
                      <a:r>
                        <a:rPr lang="en-US" sz="1200" dirty="0">
                          <a:solidFill>
                            <a:schemeClr val="tx1"/>
                          </a:solidFill>
                          <a:latin typeface="Times New Roman" panose="02020603050405020304" pitchFamily="18" charset="0"/>
                          <a:cs typeface="Times New Roman" panose="02020603050405020304" pitchFamily="18" charset="0"/>
                        </a:rPr>
                        <a:t>. </a:t>
                      </a:r>
                    </a:p>
                  </a:txBody>
                  <a:tcPr marL="8467" marR="8467" marT="8467"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chemeClr val="tx1"/>
                          </a:solidFill>
                          <a:latin typeface="Times New Roman" panose="02020603050405020304" pitchFamily="18" charset="0"/>
                          <a:cs typeface="Times New Roman" panose="02020603050405020304" pitchFamily="18" charset="0"/>
                        </a:rPr>
                        <a:t>Động c</a:t>
                      </a:r>
                      <a:r>
                        <a:rPr lang="vi-VN" sz="1200">
                          <a:solidFill>
                            <a:schemeClr val="tx1"/>
                          </a:solidFill>
                          <a:latin typeface="Times New Roman" panose="02020603050405020304" pitchFamily="18" charset="0"/>
                          <a:cs typeface="Times New Roman" panose="02020603050405020304" pitchFamily="18" charset="0"/>
                        </a:rPr>
                        <a:t>ơ</a:t>
                      </a:r>
                      <a:r>
                        <a:rPr lang="en-US" sz="1200">
                          <a:solidFill>
                            <a:schemeClr val="tx1"/>
                          </a:solidFill>
                          <a:latin typeface="Times New Roman" panose="02020603050405020304" pitchFamily="18" charset="0"/>
                          <a:cs typeface="Times New Roman" panose="02020603050405020304" pitchFamily="18" charset="0"/>
                        </a:rPr>
                        <a:t> 21316 sửa xong cuối T1, dự kiến sẽ về đầu T2. </a:t>
                      </a:r>
                      <a:endParaRPr lang="en-US" sz="1200" dirty="0">
                        <a:solidFill>
                          <a:schemeClr val="tx1"/>
                        </a:solidFill>
                        <a:latin typeface="Times New Roman" panose="02020603050405020304" pitchFamily="18" charset="0"/>
                        <a:cs typeface="Times New Roman" panose="02020603050405020304" pitchFamily="18" charset="0"/>
                      </a:endParaRPr>
                    </a:p>
                  </a:txBody>
                  <a:tcPr marL="8467" marR="8467" marT="8467" marB="0" anchor="ctr"/>
                </a:tc>
                <a:extLst>
                  <a:ext uri="{0D108BD9-81ED-4DB2-BD59-A6C34878D82A}">
                    <a16:rowId xmlns:a16="http://schemas.microsoft.com/office/drawing/2014/main" xmlns="" val="3138330128"/>
                  </a:ext>
                </a:extLst>
              </a:tr>
            </a:tbl>
          </a:graphicData>
        </a:graphic>
      </p:graphicFrame>
      <p:sp>
        <p:nvSpPr>
          <p:cNvPr id="6" name="TextBox 5">
            <a:extLst>
              <a:ext uri="{FF2B5EF4-FFF2-40B4-BE49-F238E27FC236}">
                <a16:creationId xmlns:a16="http://schemas.microsoft.com/office/drawing/2014/main" xmlns="" id="{42078504-4E4E-DE69-F896-C7268F910BB0}"/>
              </a:ext>
            </a:extLst>
          </p:cNvPr>
          <p:cNvSpPr txBox="1"/>
          <p:nvPr/>
        </p:nvSpPr>
        <p:spPr>
          <a:xfrm>
            <a:off x="1397713" y="4768821"/>
            <a:ext cx="9419049" cy="666786"/>
          </a:xfrm>
          <a:prstGeom prst="rect">
            <a:avLst/>
          </a:prstGeom>
          <a:noFill/>
        </p:spPr>
        <p:txBody>
          <a:bodyPr wrap="square" rtlCol="0">
            <a:spAutoFit/>
          </a:bodyPr>
          <a:lstStyle/>
          <a:p>
            <a:pPr algn="ctr" defTabSz="1219170">
              <a:defRPr/>
            </a:pPr>
            <a:r>
              <a:rPr lang="en-US" sz="2133" b="1" dirty="0" err="1">
                <a:solidFill>
                  <a:srgbClr val="002060"/>
                </a:solidFill>
                <a:latin typeface="Times New Roman" panose="02020603050405020304" pitchFamily="18" charset="0"/>
                <a:cs typeface="Times New Roman" panose="02020603050405020304" pitchFamily="18" charset="0"/>
              </a:rPr>
              <a:t>Kế</a:t>
            </a:r>
            <a:r>
              <a:rPr lang="en-US" sz="2133" b="1" dirty="0">
                <a:solidFill>
                  <a:srgbClr val="002060"/>
                </a:solidFill>
                <a:latin typeface="Times New Roman" panose="02020603050405020304" pitchFamily="18" charset="0"/>
                <a:cs typeface="Times New Roman" panose="02020603050405020304" pitchFamily="18" charset="0"/>
              </a:rPr>
              <a:t> </a:t>
            </a:r>
            <a:r>
              <a:rPr lang="en-US" sz="2133" b="1" dirty="0" err="1">
                <a:solidFill>
                  <a:srgbClr val="002060"/>
                </a:solidFill>
                <a:latin typeface="Times New Roman" panose="02020603050405020304" pitchFamily="18" charset="0"/>
                <a:cs typeface="Times New Roman" panose="02020603050405020304" pitchFamily="18" charset="0"/>
              </a:rPr>
              <a:t>hoạch</a:t>
            </a:r>
            <a:r>
              <a:rPr lang="en-US" sz="2133" b="1" dirty="0">
                <a:solidFill>
                  <a:srgbClr val="002060"/>
                </a:solidFill>
                <a:latin typeface="Times New Roman" panose="02020603050405020304" pitchFamily="18" charset="0"/>
                <a:cs typeface="Times New Roman" panose="02020603050405020304" pitchFamily="18" charset="0"/>
              </a:rPr>
              <a:t> </a:t>
            </a:r>
            <a:r>
              <a:rPr lang="en-US" sz="2133" b="1" dirty="0" err="1">
                <a:solidFill>
                  <a:srgbClr val="002060"/>
                </a:solidFill>
                <a:latin typeface="Times New Roman" panose="02020603050405020304" pitchFamily="18" charset="0"/>
                <a:cs typeface="Times New Roman" panose="02020603050405020304" pitchFamily="18" charset="0"/>
              </a:rPr>
              <a:t>thay</a:t>
            </a:r>
            <a:r>
              <a:rPr lang="en-US" sz="2133" b="1" dirty="0">
                <a:solidFill>
                  <a:srgbClr val="002060"/>
                </a:solidFill>
                <a:latin typeface="Times New Roman" panose="02020603050405020304" pitchFamily="18" charset="0"/>
                <a:cs typeface="Times New Roman" panose="02020603050405020304" pitchFamily="18" charset="0"/>
              </a:rPr>
              <a:t> </a:t>
            </a:r>
            <a:r>
              <a:rPr lang="en-US" sz="2133" b="1" dirty="0" err="1">
                <a:solidFill>
                  <a:srgbClr val="002060"/>
                </a:solidFill>
                <a:latin typeface="Times New Roman" panose="02020603050405020304" pitchFamily="18" charset="0"/>
                <a:cs typeface="Times New Roman" panose="02020603050405020304" pitchFamily="18" charset="0"/>
              </a:rPr>
              <a:t>động</a:t>
            </a:r>
            <a:r>
              <a:rPr lang="en-US" sz="2133" b="1" dirty="0">
                <a:solidFill>
                  <a:srgbClr val="002060"/>
                </a:solidFill>
                <a:latin typeface="Times New Roman" panose="02020603050405020304" pitchFamily="18" charset="0"/>
                <a:cs typeface="Times New Roman" panose="02020603050405020304" pitchFamily="18" charset="0"/>
              </a:rPr>
              <a:t> c</a:t>
            </a:r>
            <a:r>
              <a:rPr lang="vi-VN" sz="2133" b="1" dirty="0">
                <a:solidFill>
                  <a:srgbClr val="002060"/>
                </a:solidFill>
                <a:latin typeface="Times New Roman" panose="02020603050405020304" pitchFamily="18" charset="0"/>
                <a:cs typeface="Times New Roman" panose="02020603050405020304" pitchFamily="18" charset="0"/>
              </a:rPr>
              <a:t>ơ</a:t>
            </a:r>
            <a:r>
              <a:rPr lang="en-US" sz="2133" b="1" dirty="0">
                <a:solidFill>
                  <a:srgbClr val="002060"/>
                </a:solidFill>
                <a:latin typeface="Times New Roman" panose="02020603050405020304" pitchFamily="18" charset="0"/>
                <a:cs typeface="Times New Roman" panose="02020603050405020304" pitchFamily="18" charset="0"/>
              </a:rPr>
              <a:t> A350 </a:t>
            </a:r>
          </a:p>
          <a:p>
            <a:pPr algn="ctr" defTabSz="1219170">
              <a:defRPr/>
            </a:pPr>
            <a:r>
              <a:rPr lang="en-US" sz="1600" b="1" i="1" dirty="0">
                <a:solidFill>
                  <a:srgbClr val="002060"/>
                </a:solidFill>
                <a:latin typeface="Times New Roman" panose="02020603050405020304" pitchFamily="18" charset="0"/>
                <a:cs typeface="Times New Roman" panose="02020603050405020304" pitchFamily="18" charset="0"/>
              </a:rPr>
              <a:t>(</a:t>
            </a:r>
            <a:r>
              <a:rPr lang="en-US" sz="1600" b="1" i="1" dirty="0" err="1">
                <a:solidFill>
                  <a:srgbClr val="002060"/>
                </a:solidFill>
                <a:latin typeface="Times New Roman" panose="02020603050405020304" pitchFamily="18" charset="0"/>
                <a:cs typeface="Times New Roman" panose="02020603050405020304" pitchFamily="18" charset="0"/>
              </a:rPr>
              <a:t>các</a:t>
            </a:r>
            <a:r>
              <a:rPr lang="en-US" sz="1600" b="1" i="1" dirty="0">
                <a:solidFill>
                  <a:srgbClr val="002060"/>
                </a:solidFill>
                <a:latin typeface="Times New Roman" panose="02020603050405020304" pitchFamily="18" charset="0"/>
                <a:cs typeface="Times New Roman" panose="02020603050405020304" pitchFamily="18" charset="0"/>
              </a:rPr>
              <a:t> </a:t>
            </a:r>
            <a:r>
              <a:rPr lang="en-US" sz="1600" b="1" i="1" dirty="0" err="1">
                <a:solidFill>
                  <a:srgbClr val="002060"/>
                </a:solidFill>
                <a:latin typeface="Times New Roman" panose="02020603050405020304" pitchFamily="18" charset="0"/>
                <a:cs typeface="Times New Roman" panose="02020603050405020304" pitchFamily="18" charset="0"/>
              </a:rPr>
              <a:t>tàu</a:t>
            </a:r>
            <a:r>
              <a:rPr lang="en-US" sz="1600" b="1" i="1" dirty="0">
                <a:solidFill>
                  <a:srgbClr val="002060"/>
                </a:solidFill>
                <a:latin typeface="Times New Roman" panose="02020603050405020304" pitchFamily="18" charset="0"/>
                <a:cs typeface="Times New Roman" panose="02020603050405020304" pitchFamily="18" charset="0"/>
              </a:rPr>
              <a:t> </a:t>
            </a:r>
            <a:r>
              <a:rPr lang="en-US" sz="1600" b="1" i="1" dirty="0" err="1">
                <a:solidFill>
                  <a:srgbClr val="002060"/>
                </a:solidFill>
                <a:latin typeface="Times New Roman" panose="02020603050405020304" pitchFamily="18" charset="0"/>
                <a:cs typeface="Times New Roman" panose="02020603050405020304" pitchFamily="18" charset="0"/>
              </a:rPr>
              <a:t>ảnh</a:t>
            </a:r>
            <a:r>
              <a:rPr lang="en-US" sz="1600" b="1" i="1" dirty="0">
                <a:solidFill>
                  <a:srgbClr val="002060"/>
                </a:solidFill>
                <a:latin typeface="Times New Roman" panose="02020603050405020304" pitchFamily="18" charset="0"/>
                <a:cs typeface="Times New Roman" panose="02020603050405020304" pitchFamily="18" charset="0"/>
              </a:rPr>
              <a:t> h</a:t>
            </a:r>
            <a:r>
              <a:rPr lang="vi-VN" sz="1600" b="1" i="1" dirty="0">
                <a:solidFill>
                  <a:srgbClr val="002060"/>
                </a:solidFill>
                <a:latin typeface="Times New Roman" panose="02020603050405020304" pitchFamily="18" charset="0"/>
                <a:cs typeface="Times New Roman" panose="02020603050405020304" pitchFamily="18" charset="0"/>
              </a:rPr>
              <a:t>ư</a:t>
            </a:r>
            <a:r>
              <a:rPr lang="en-US" sz="1600" b="1" i="1" dirty="0" err="1">
                <a:solidFill>
                  <a:srgbClr val="002060"/>
                </a:solidFill>
                <a:latin typeface="Times New Roman" panose="02020603050405020304" pitchFamily="18" charset="0"/>
                <a:cs typeface="Times New Roman" panose="02020603050405020304" pitchFamily="18" charset="0"/>
              </a:rPr>
              <a:t>ởng</a:t>
            </a:r>
            <a:r>
              <a:rPr lang="en-US" sz="1600" b="1" i="1" dirty="0">
                <a:solidFill>
                  <a:srgbClr val="002060"/>
                </a:solidFill>
                <a:latin typeface="Times New Roman" panose="02020603050405020304" pitchFamily="18" charset="0"/>
                <a:cs typeface="Times New Roman" panose="02020603050405020304" pitchFamily="18" charset="0"/>
              </a:rPr>
              <a:t> </a:t>
            </a:r>
            <a:r>
              <a:rPr lang="en-US" sz="1600" b="1" i="1" dirty="0" err="1">
                <a:solidFill>
                  <a:srgbClr val="002060"/>
                </a:solidFill>
                <a:latin typeface="Times New Roman" panose="02020603050405020304" pitchFamily="18" charset="0"/>
                <a:cs typeface="Times New Roman" panose="02020603050405020304" pitchFamily="18" charset="0"/>
              </a:rPr>
              <a:t>nguồn</a:t>
            </a:r>
            <a:r>
              <a:rPr lang="en-US" sz="1600" b="1" i="1" dirty="0">
                <a:solidFill>
                  <a:srgbClr val="002060"/>
                </a:solidFill>
                <a:latin typeface="Times New Roman" panose="02020603050405020304" pitchFamily="18" charset="0"/>
                <a:cs typeface="Times New Roman" panose="02020603050405020304" pitchFamily="18" charset="0"/>
              </a:rPr>
              <a:t> </a:t>
            </a:r>
            <a:r>
              <a:rPr lang="en-US" sz="1600" b="1" i="1" dirty="0" err="1">
                <a:solidFill>
                  <a:srgbClr val="002060"/>
                </a:solidFill>
                <a:latin typeface="Times New Roman" panose="02020603050405020304" pitchFamily="18" charset="0"/>
                <a:cs typeface="Times New Roman" panose="02020603050405020304" pitchFamily="18" charset="0"/>
              </a:rPr>
              <a:t>lực</a:t>
            </a:r>
            <a:r>
              <a:rPr lang="en-US" sz="1600" b="1" i="1" dirty="0">
                <a:solidFill>
                  <a:srgbClr val="002060"/>
                </a:solidFill>
                <a:latin typeface="Times New Roman" panose="02020603050405020304" pitchFamily="18" charset="0"/>
                <a:cs typeface="Times New Roman" panose="02020603050405020304" pitchFamily="18" charset="0"/>
              </a:rPr>
              <a:t>)</a:t>
            </a:r>
            <a:endParaRPr lang="en-GB" sz="2400" b="1" i="1" dirty="0">
              <a:solidFill>
                <a:srgbClr val="002060"/>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xmlns="" id="{C91619BD-7E24-FDB8-BC7A-A4CB0B20AAAA}"/>
              </a:ext>
            </a:extLst>
          </p:cNvPr>
          <p:cNvSpPr txBox="1"/>
          <p:nvPr/>
        </p:nvSpPr>
        <p:spPr>
          <a:xfrm>
            <a:off x="1" y="31001"/>
            <a:ext cx="11480800" cy="502766"/>
          </a:xfrm>
          <a:prstGeom prst="rect">
            <a:avLst/>
          </a:prstGeom>
          <a:noFill/>
        </p:spPr>
        <p:txBody>
          <a:bodyPr wrap="square" rtlCol="0">
            <a:spAutoFit/>
          </a:bodyPr>
          <a:lstStyle/>
          <a:p>
            <a:pPr defTabSz="1219170">
              <a:defRPr/>
            </a:pPr>
            <a:r>
              <a:rPr lang="vi-VN" sz="2667" b="1" dirty="0">
                <a:ln w="0"/>
                <a:solidFill>
                  <a:srgbClr val="FBAC00"/>
                </a:solidFill>
                <a:latin typeface="Times New Roman" panose="02020603050405020304" pitchFamily="18" charset="0"/>
                <a:cs typeface="Times New Roman" panose="02020603050405020304" pitchFamily="18" charset="0"/>
              </a:rPr>
              <a:t>KHẢ NĂNG CUNG ỨNG ĐỘNG CƠ </a:t>
            </a:r>
            <a:r>
              <a:rPr lang="en-US" sz="2667" b="1" dirty="0">
                <a:ln w="0"/>
                <a:solidFill>
                  <a:srgbClr val="FBAC00"/>
                </a:solidFill>
                <a:latin typeface="Times New Roman" panose="02020603050405020304" pitchFamily="18" charset="0"/>
                <a:cs typeface="Times New Roman" panose="02020603050405020304" pitchFamily="18" charset="0"/>
              </a:rPr>
              <a:t>ĐỘI BAY A350 T10 – T2/2025</a:t>
            </a:r>
            <a:endParaRPr lang="vi-VN"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40731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426EF2E-39D3-88C6-5607-59E0B3AACB2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6CA0A6B4-0D57-91D1-E90B-8552E0AD5555}"/>
              </a:ext>
            </a:extLst>
          </p:cNvPr>
          <p:cNvSpPr>
            <a:spLocks noGrp="1"/>
          </p:cNvSpPr>
          <p:nvPr>
            <p:ph type="sldNum" idx="12"/>
          </p:nvPr>
        </p:nvSpPr>
        <p:spPr/>
        <p:txBody>
          <a:bodyPr/>
          <a:lstStyle/>
          <a:p>
            <a:fld id="{00000000-1234-1234-1234-123412341234}" type="slidenum">
              <a:rPr lang="vi" smtClean="0"/>
              <a:pPr/>
              <a:t>34</a:t>
            </a:fld>
            <a:endParaRPr lang="vi"/>
          </a:p>
        </p:txBody>
      </p:sp>
      <p:sp>
        <p:nvSpPr>
          <p:cNvPr id="8" name="Slide Number Placeholder 3">
            <a:extLst>
              <a:ext uri="{FF2B5EF4-FFF2-40B4-BE49-F238E27FC236}">
                <a16:creationId xmlns:a16="http://schemas.microsoft.com/office/drawing/2014/main" xmlns="" id="{A871A205-15F4-FDCC-D904-DBF790C95818}"/>
              </a:ext>
            </a:extLst>
          </p:cNvPr>
          <p:cNvSpPr txBox="1">
            <a:spLocks/>
          </p:cNvSpPr>
          <p:nvPr/>
        </p:nvSpPr>
        <p:spPr>
          <a:xfrm>
            <a:off x="11480800" y="7745888"/>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600">
                <a:solidFill>
                  <a:srgbClr val="D2A43B"/>
                </a:solidFill>
                <a:latin typeface="Times New Roman" panose="02020603050405020304" pitchFamily="18" charset="0"/>
                <a:ea typeface="+mn-ea"/>
                <a:cs typeface="Times New Roman" panose="02020603050405020304" pitchFamily="18" charset="0"/>
                <a:sym typeface="Montserrat"/>
              </a:rPr>
              <a:pPr>
                <a:buClrTx/>
                <a:buFontTx/>
                <a:buNone/>
                <a:defRPr/>
              </a:pPr>
              <a:t>34</a:t>
            </a:fld>
            <a:endParaRPr lang="en-US" sz="1600" dirty="0">
              <a:solidFill>
                <a:srgbClr val="D2A43B"/>
              </a:solidFill>
              <a:latin typeface="Times New Roman" panose="02020603050405020304" pitchFamily="18" charset="0"/>
              <a:ea typeface="+mn-ea"/>
              <a:cs typeface="Times New Roman" panose="02020603050405020304" pitchFamily="18" charset="0"/>
              <a:sym typeface="Montserrat"/>
            </a:endParaRPr>
          </a:p>
        </p:txBody>
      </p:sp>
      <p:sp>
        <p:nvSpPr>
          <p:cNvPr id="9" name="TextBox 8">
            <a:extLst>
              <a:ext uri="{FF2B5EF4-FFF2-40B4-BE49-F238E27FC236}">
                <a16:creationId xmlns:a16="http://schemas.microsoft.com/office/drawing/2014/main" xmlns="" id="{45661717-286B-9E25-9E8B-05A140AC533E}"/>
              </a:ext>
            </a:extLst>
          </p:cNvPr>
          <p:cNvSpPr txBox="1"/>
          <p:nvPr/>
        </p:nvSpPr>
        <p:spPr>
          <a:xfrm>
            <a:off x="317020" y="5056389"/>
            <a:ext cx="11557960" cy="986809"/>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pPr marL="380990" indent="-380990" defTabSz="1219170">
              <a:lnSpc>
                <a:spcPct val="125000"/>
              </a:lnSpc>
              <a:buFont typeface="Arial" panose="020B0604020202020204" pitchFamily="34" charset="0"/>
              <a:buChar char="•"/>
              <a:defRPr/>
            </a:pPr>
            <a:r>
              <a:rPr lang="vi-VN" sz="1600">
                <a:solidFill>
                  <a:schemeClr val="tx1"/>
                </a:solidFill>
                <a:latin typeface="Times New Roman" panose="02020603050405020304" pitchFamily="18" charset="0"/>
                <a:cs typeface="Times New Roman" panose="02020603050405020304" pitchFamily="18" charset="0"/>
              </a:rPr>
              <a:t>B225 dùng động cơ ED0214 trong kho còn 151 FC và động cơ ED0241 từ sh</a:t>
            </a:r>
            <a:r>
              <a:rPr lang="en-US" sz="1600">
                <a:solidFill>
                  <a:schemeClr val="tx1"/>
                </a:solidFill>
                <a:latin typeface="Times New Roman" panose="02020603050405020304" pitchFamily="18" charset="0"/>
                <a:cs typeface="Times New Roman" panose="02020603050405020304" pitchFamily="18" charset="0"/>
              </a:rPr>
              <a:t>o</a:t>
            </a:r>
            <a:r>
              <a:rPr lang="vi-VN" sz="1600">
                <a:solidFill>
                  <a:schemeClr val="tx1"/>
                </a:solidFill>
                <a:latin typeface="Times New Roman" panose="02020603050405020304" pitchFamily="18" charset="0"/>
                <a:cs typeface="Times New Roman" panose="02020603050405020304" pitchFamily="18" charset="0"/>
              </a:rPr>
              <a:t>p về. </a:t>
            </a:r>
            <a:r>
              <a:rPr lang="vi-VN" sz="1600">
                <a:solidFill>
                  <a:srgbClr val="FF0000"/>
                </a:solidFill>
                <a:latin typeface="Times New Roman" panose="02020603050405020304" pitchFamily="18" charset="0"/>
                <a:cs typeface="Times New Roman" panose="02020603050405020304" pitchFamily="18" charset="0"/>
              </a:rPr>
              <a:t>Dự kiến </a:t>
            </a:r>
            <a:r>
              <a:rPr lang="en-US" sz="1600">
                <a:solidFill>
                  <a:srgbClr val="FF0000"/>
                </a:solidFill>
                <a:latin typeface="Times New Roman" panose="02020603050405020304" pitchFamily="18" charset="0"/>
                <a:cs typeface="Times New Roman" panose="02020603050405020304" pitchFamily="18" charset="0"/>
              </a:rPr>
              <a:t>16/0</a:t>
            </a:r>
            <a:r>
              <a:rPr lang="vi-VN" sz="1600">
                <a:solidFill>
                  <a:srgbClr val="FF0000"/>
                </a:solidFill>
                <a:latin typeface="Times New Roman" panose="02020603050405020304" pitchFamily="18" charset="0"/>
                <a:cs typeface="Times New Roman" panose="02020603050405020304" pitchFamily="18" charset="0"/>
              </a:rPr>
              <a:t>1/25 sẽ lấy</a:t>
            </a:r>
            <a:r>
              <a:rPr lang="en-US" sz="1600">
                <a:solidFill>
                  <a:srgbClr val="FF0000"/>
                </a:solidFill>
                <a:latin typeface="Times New Roman" panose="02020603050405020304" pitchFamily="18" charset="0"/>
                <a:cs typeface="Times New Roman" panose="02020603050405020304" pitchFamily="18" charset="0"/>
              </a:rPr>
              <a:t> </a:t>
            </a:r>
            <a:r>
              <a:rPr lang="vi-VN" sz="1600">
                <a:solidFill>
                  <a:srgbClr val="FF0000"/>
                </a:solidFill>
                <a:latin typeface="Times New Roman" panose="02020603050405020304" pitchFamily="18" charset="0"/>
                <a:cs typeface="Times New Roman" panose="02020603050405020304" pitchFamily="18" charset="0"/>
              </a:rPr>
              <a:t>động cơ ED0181 từ Shop về thay cho ED0214.</a:t>
            </a:r>
            <a:r>
              <a:rPr lang="en-US" sz="1600">
                <a:solidFill>
                  <a:srgbClr val="FF0000"/>
                </a:solidFill>
                <a:latin typeface="Times New Roman" panose="02020603050405020304" pitchFamily="18" charset="0"/>
                <a:cs typeface="Times New Roman" panose="02020603050405020304" pitchFamily="18" charset="0"/>
              </a:rPr>
              <a:t> </a:t>
            </a:r>
          </a:p>
          <a:p>
            <a:pPr marL="380990" indent="-380990" defTabSz="1219170">
              <a:lnSpc>
                <a:spcPct val="125000"/>
              </a:lnSpc>
              <a:buFont typeface="Arial" panose="020B0604020202020204" pitchFamily="34" charset="0"/>
              <a:buChar char="•"/>
              <a:defRPr/>
            </a:pPr>
            <a:r>
              <a:rPr lang="en-US" sz="1600">
                <a:solidFill>
                  <a:schemeClr val="tx1"/>
                </a:solidFill>
                <a:latin typeface="Times New Roman" panose="02020603050405020304" pitchFamily="18" charset="0"/>
                <a:cs typeface="Times New Roman" panose="02020603050405020304" pitchFamily="18" charset="0"/>
              </a:rPr>
              <a:t>Từ </a:t>
            </a:r>
            <a:r>
              <a:rPr lang="en-US" sz="1600" dirty="0" err="1">
                <a:solidFill>
                  <a:schemeClr val="tx1"/>
                </a:solidFill>
                <a:latin typeface="Times New Roman" panose="02020603050405020304" pitchFamily="18" charset="0"/>
                <a:cs typeface="Times New Roman" panose="02020603050405020304" pitchFamily="18" charset="0"/>
              </a:rPr>
              <a:t>tháng</a:t>
            </a:r>
            <a:r>
              <a:rPr lang="en-US" sz="1600" dirty="0">
                <a:solidFill>
                  <a:schemeClr val="tx1"/>
                </a:solidFill>
                <a:latin typeface="Times New Roman" panose="02020603050405020304" pitchFamily="18" charset="0"/>
                <a:cs typeface="Times New Roman" panose="02020603050405020304" pitchFamily="18" charset="0"/>
              </a:rPr>
              <a:t> 11/2024, </a:t>
            </a:r>
            <a:r>
              <a:rPr lang="en-US" sz="1600" dirty="0" err="1">
                <a:solidFill>
                  <a:schemeClr val="tx1"/>
                </a:solidFill>
                <a:latin typeface="Times New Roman" panose="02020603050405020304" pitchFamily="18" charset="0"/>
                <a:cs typeface="Times New Roman" panose="02020603050405020304" pitchFamily="18" charset="0"/>
              </a:rPr>
              <a:t>khai</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thác</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với</a:t>
            </a:r>
            <a:r>
              <a:rPr lang="en-US" sz="1600" dirty="0">
                <a:solidFill>
                  <a:schemeClr val="tx1"/>
                </a:solidFill>
                <a:latin typeface="Times New Roman" panose="02020603050405020304" pitchFamily="18" charset="0"/>
                <a:cs typeface="Times New Roman" panose="02020603050405020304" pitchFamily="18" charset="0"/>
              </a:rPr>
              <a:t> 05 </a:t>
            </a:r>
            <a:r>
              <a:rPr lang="en-US" sz="1600" dirty="0" err="1">
                <a:solidFill>
                  <a:schemeClr val="tx1"/>
                </a:solidFill>
                <a:latin typeface="Times New Roman" panose="02020603050405020304" pitchFamily="18" charset="0"/>
                <a:cs typeface="Times New Roman" panose="02020603050405020304" pitchFamily="18" charset="0"/>
              </a:rPr>
              <a:t>tàu</a:t>
            </a:r>
            <a:r>
              <a:rPr lang="en-US" sz="1600" dirty="0">
                <a:solidFill>
                  <a:schemeClr val="tx1"/>
                </a:solidFill>
                <a:latin typeface="Times New Roman" panose="02020603050405020304" pitchFamily="18" charset="0"/>
                <a:cs typeface="Times New Roman" panose="02020603050405020304" pitchFamily="18" charset="0"/>
              </a:rPr>
              <a:t> do </a:t>
            </a:r>
            <a:r>
              <a:rPr lang="en-US" sz="1600" dirty="0" err="1">
                <a:solidFill>
                  <a:schemeClr val="tx1"/>
                </a:solidFill>
                <a:latin typeface="Times New Roman" panose="02020603050405020304" pitchFamily="18" charset="0"/>
                <a:cs typeface="Times New Roman" panose="02020603050405020304" pitchFamily="18" charset="0"/>
              </a:rPr>
              <a:t>đã</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cho</a:t>
            </a:r>
            <a:r>
              <a:rPr lang="en-US" sz="1600" dirty="0">
                <a:solidFill>
                  <a:schemeClr val="tx1"/>
                </a:solidFill>
                <a:latin typeface="Times New Roman" panose="02020603050405020304" pitchFamily="18" charset="0"/>
                <a:cs typeface="Times New Roman" panose="02020603050405020304" pitchFamily="18" charset="0"/>
              </a:rPr>
              <a:t> K6 </a:t>
            </a:r>
            <a:r>
              <a:rPr lang="en-US" sz="1600" dirty="0" err="1">
                <a:solidFill>
                  <a:schemeClr val="tx1"/>
                </a:solidFill>
                <a:latin typeface="Times New Roman" panose="02020603050405020304" pitchFamily="18" charset="0"/>
                <a:cs typeface="Times New Roman" panose="02020603050405020304" pitchFamily="18" charset="0"/>
              </a:rPr>
              <a:t>thuê</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khô</a:t>
            </a:r>
            <a:r>
              <a:rPr lang="en-US" sz="1600" dirty="0">
                <a:solidFill>
                  <a:schemeClr val="tx1"/>
                </a:solidFill>
                <a:latin typeface="Times New Roman" panose="02020603050405020304" pitchFamily="18" charset="0"/>
                <a:cs typeface="Times New Roman" panose="02020603050405020304" pitchFamily="18" charset="0"/>
              </a:rPr>
              <a:t> B220. </a:t>
            </a:r>
            <a:r>
              <a:rPr lang="en-US" sz="1600" dirty="0" err="1">
                <a:solidFill>
                  <a:schemeClr val="tx1"/>
                </a:solidFill>
                <a:latin typeface="Times New Roman" panose="02020603050405020304" pitchFamily="18" charset="0"/>
                <a:cs typeface="Times New Roman" panose="02020603050405020304" pitchFamily="18" charset="0"/>
              </a:rPr>
              <a:t>Tháng</a:t>
            </a:r>
            <a:r>
              <a:rPr lang="en-US" sz="1600" dirty="0">
                <a:solidFill>
                  <a:schemeClr val="tx1"/>
                </a:solidFill>
                <a:latin typeface="Times New Roman" panose="02020603050405020304" pitchFamily="18" charset="0"/>
                <a:cs typeface="Times New Roman" panose="02020603050405020304" pitchFamily="18" charset="0"/>
              </a:rPr>
              <a:t> 7/2025 </a:t>
            </a:r>
            <a:r>
              <a:rPr lang="en-US" sz="1600" dirty="0" err="1">
                <a:solidFill>
                  <a:schemeClr val="tx1"/>
                </a:solidFill>
                <a:latin typeface="Times New Roman" panose="02020603050405020304" pitchFamily="18" charset="0"/>
                <a:cs typeface="Times New Roman" panose="02020603050405020304" pitchFamily="18" charset="0"/>
              </a:rPr>
              <a:t>sẽ</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khai</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thác</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trở</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lại</a:t>
            </a:r>
            <a:r>
              <a:rPr lang="en-US" sz="1600" dirty="0">
                <a:solidFill>
                  <a:schemeClr val="tx1"/>
                </a:solidFill>
                <a:latin typeface="Times New Roman" panose="02020603050405020304" pitchFamily="18" charset="0"/>
                <a:cs typeface="Times New Roman" panose="02020603050405020304" pitchFamily="18" charset="0"/>
              </a:rPr>
              <a:t> 06 </a:t>
            </a:r>
            <a:r>
              <a:rPr lang="en-US" sz="1600" dirty="0" err="1">
                <a:solidFill>
                  <a:schemeClr val="tx1"/>
                </a:solidFill>
                <a:latin typeface="Times New Roman" panose="02020603050405020304" pitchFamily="18" charset="0"/>
                <a:cs typeface="Times New Roman" panose="02020603050405020304" pitchFamily="18" charset="0"/>
              </a:rPr>
              <a:t>tàu</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sau</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khi</a:t>
            </a:r>
            <a:r>
              <a:rPr lang="en-US" sz="1600" dirty="0">
                <a:solidFill>
                  <a:schemeClr val="tx1"/>
                </a:solidFill>
                <a:latin typeface="Times New Roman" panose="02020603050405020304" pitchFamily="18" charset="0"/>
                <a:cs typeface="Times New Roman" panose="02020603050405020304" pitchFamily="18" charset="0"/>
              </a:rPr>
              <a:t> K6 </a:t>
            </a:r>
            <a:r>
              <a:rPr lang="en-US" sz="1600" dirty="0" err="1">
                <a:solidFill>
                  <a:schemeClr val="tx1"/>
                </a:solidFill>
                <a:latin typeface="Times New Roman" panose="02020603050405020304" pitchFamily="18" charset="0"/>
                <a:cs typeface="Times New Roman" panose="02020603050405020304" pitchFamily="18" charset="0"/>
              </a:rPr>
              <a:t>trả</a:t>
            </a:r>
            <a:r>
              <a:rPr lang="en-US" sz="1600" dirty="0">
                <a:solidFill>
                  <a:schemeClr val="tx1"/>
                </a:solidFill>
                <a:latin typeface="Times New Roman" panose="02020603050405020304" pitchFamily="18" charset="0"/>
                <a:cs typeface="Times New Roman" panose="02020603050405020304" pitchFamily="18" charset="0"/>
              </a:rPr>
              <a:t> B220.</a:t>
            </a:r>
          </a:p>
        </p:txBody>
      </p:sp>
      <p:graphicFrame>
        <p:nvGraphicFramePr>
          <p:cNvPr id="10" name="Chart 9">
            <a:extLst>
              <a:ext uri="{FF2B5EF4-FFF2-40B4-BE49-F238E27FC236}">
                <a16:creationId xmlns:a16="http://schemas.microsoft.com/office/drawing/2014/main" xmlns="" id="{76DFC592-D88A-43FC-09E5-06AD8D727013}"/>
              </a:ext>
            </a:extLst>
          </p:cNvPr>
          <p:cNvGraphicFramePr/>
          <p:nvPr>
            <p:extLst/>
          </p:nvPr>
        </p:nvGraphicFramePr>
        <p:xfrm>
          <a:off x="295373" y="770468"/>
          <a:ext cx="11557960" cy="4216400"/>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Box 10">
            <a:extLst>
              <a:ext uri="{FF2B5EF4-FFF2-40B4-BE49-F238E27FC236}">
                <a16:creationId xmlns:a16="http://schemas.microsoft.com/office/drawing/2014/main" xmlns="" id="{0AA8E0DF-2FF0-D5DB-6896-3F1AD07908A4}"/>
              </a:ext>
            </a:extLst>
          </p:cNvPr>
          <p:cNvSpPr txBox="1"/>
          <p:nvPr/>
        </p:nvSpPr>
        <p:spPr>
          <a:xfrm>
            <a:off x="0" y="88859"/>
            <a:ext cx="11142133" cy="502766"/>
          </a:xfrm>
          <a:prstGeom prst="rect">
            <a:avLst/>
          </a:prstGeom>
          <a:noFill/>
        </p:spPr>
        <p:txBody>
          <a:bodyPr wrap="square" rtlCol="0">
            <a:spAutoFit/>
          </a:bodyPr>
          <a:lstStyle/>
          <a:p>
            <a:pPr defTabSz="1219170">
              <a:defRPr/>
            </a:pPr>
            <a:r>
              <a:rPr lang="vi-VN" sz="2667" b="1" dirty="0">
                <a:ln w="0"/>
                <a:solidFill>
                  <a:srgbClr val="FBAC00"/>
                </a:solidFill>
                <a:latin typeface="Times New Roman" panose="02020603050405020304" pitchFamily="18" charset="0"/>
                <a:cs typeface="Times New Roman" panose="02020603050405020304" pitchFamily="18" charset="0"/>
              </a:rPr>
              <a:t>KHẢ NĂNG CUNG ỨNG ĐỘNG CƠ </a:t>
            </a:r>
            <a:r>
              <a:rPr lang="en-US" sz="2667" b="1" dirty="0">
                <a:ln w="0"/>
                <a:solidFill>
                  <a:srgbClr val="FBAC00"/>
                </a:solidFill>
                <a:latin typeface="Times New Roman" panose="02020603050405020304" pitchFamily="18" charset="0"/>
                <a:cs typeface="Times New Roman" panose="02020603050405020304" pitchFamily="18" charset="0"/>
              </a:rPr>
              <a:t>ĐỘI BAY ATR72</a:t>
            </a:r>
            <a:endParaRPr lang="vi-VN"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765950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xmlns="" id="{C0E34002-24DE-E466-318F-A982D9E240D3}"/>
              </a:ext>
            </a:extLst>
          </p:cNvPr>
          <p:cNvSpPr txBox="1"/>
          <p:nvPr/>
        </p:nvSpPr>
        <p:spPr>
          <a:xfrm>
            <a:off x="0" y="475864"/>
            <a:ext cx="4165600" cy="461665"/>
          </a:xfrm>
          <a:prstGeom prst="rect">
            <a:avLst/>
          </a:prstGeom>
          <a:noFill/>
        </p:spPr>
        <p:txBody>
          <a:bodyPr wrap="square" rtlCol="0">
            <a:spAutoFit/>
          </a:bodyPr>
          <a:lstStyle/>
          <a:p>
            <a:pPr defTabSz="1219170">
              <a:defRPr/>
            </a:pPr>
            <a:r>
              <a:rPr lang="en-US" sz="2400" b="1" dirty="0" err="1">
                <a:solidFill>
                  <a:srgbClr val="002060"/>
                </a:solidFill>
                <a:latin typeface="Times New Roman" panose="02020603050405020304" pitchFamily="18" charset="0"/>
                <a:cs typeface="Times New Roman" panose="02020603050405020304" pitchFamily="18" charset="0"/>
              </a:rPr>
              <a:t>Tình</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trạng</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sửa</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chữa</a:t>
            </a:r>
            <a:endParaRPr lang="en-GB" sz="24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4" name="Table 2">
            <a:extLst>
              <a:ext uri="{FF2B5EF4-FFF2-40B4-BE49-F238E27FC236}">
                <a16:creationId xmlns:a16="http://schemas.microsoft.com/office/drawing/2014/main" xmlns="" id="{C9E599B2-7A6B-AE61-6B47-ABFA60F331B8}"/>
              </a:ext>
            </a:extLst>
          </p:cNvPr>
          <p:cNvGraphicFramePr>
            <a:graphicFrameLocks noGrp="1"/>
          </p:cNvGraphicFramePr>
          <p:nvPr>
            <p:extLst/>
          </p:nvPr>
        </p:nvGraphicFramePr>
        <p:xfrm>
          <a:off x="291533" y="1134199"/>
          <a:ext cx="11460202" cy="3017924"/>
        </p:xfrm>
        <a:graphic>
          <a:graphicData uri="http://schemas.openxmlformats.org/drawingml/2006/table">
            <a:tbl>
              <a:tblPr firstRow="1" bandRow="1">
                <a:tableStyleId>{5C22544A-7EE6-4342-B048-85BDC9FD1C3A}</a:tableStyleId>
              </a:tblPr>
              <a:tblGrid>
                <a:gridCol w="533157">
                  <a:extLst>
                    <a:ext uri="{9D8B030D-6E8A-4147-A177-3AD203B41FA5}">
                      <a16:colId xmlns:a16="http://schemas.microsoft.com/office/drawing/2014/main" xmlns="" val="1598605427"/>
                    </a:ext>
                  </a:extLst>
                </a:gridCol>
                <a:gridCol w="1147672">
                  <a:extLst>
                    <a:ext uri="{9D8B030D-6E8A-4147-A177-3AD203B41FA5}">
                      <a16:colId xmlns:a16="http://schemas.microsoft.com/office/drawing/2014/main" xmlns="" val="3845954792"/>
                    </a:ext>
                  </a:extLst>
                </a:gridCol>
                <a:gridCol w="1298823">
                  <a:extLst>
                    <a:ext uri="{9D8B030D-6E8A-4147-A177-3AD203B41FA5}">
                      <a16:colId xmlns:a16="http://schemas.microsoft.com/office/drawing/2014/main" xmlns="" val="2148822928"/>
                    </a:ext>
                  </a:extLst>
                </a:gridCol>
                <a:gridCol w="2062836">
                  <a:extLst>
                    <a:ext uri="{9D8B030D-6E8A-4147-A177-3AD203B41FA5}">
                      <a16:colId xmlns:a16="http://schemas.microsoft.com/office/drawing/2014/main" xmlns="" val="2136763095"/>
                    </a:ext>
                  </a:extLst>
                </a:gridCol>
                <a:gridCol w="2139239">
                  <a:extLst>
                    <a:ext uri="{9D8B030D-6E8A-4147-A177-3AD203B41FA5}">
                      <a16:colId xmlns:a16="http://schemas.microsoft.com/office/drawing/2014/main" xmlns="" val="1185879436"/>
                    </a:ext>
                  </a:extLst>
                </a:gridCol>
                <a:gridCol w="1986435">
                  <a:extLst>
                    <a:ext uri="{9D8B030D-6E8A-4147-A177-3AD203B41FA5}">
                      <a16:colId xmlns:a16="http://schemas.microsoft.com/office/drawing/2014/main" xmlns="" val="3807119371"/>
                    </a:ext>
                  </a:extLst>
                </a:gridCol>
                <a:gridCol w="2292040">
                  <a:extLst>
                    <a:ext uri="{9D8B030D-6E8A-4147-A177-3AD203B41FA5}">
                      <a16:colId xmlns:a16="http://schemas.microsoft.com/office/drawing/2014/main" xmlns="" val="3735753066"/>
                    </a:ext>
                  </a:extLst>
                </a:gridCol>
              </a:tblGrid>
              <a:tr h="709240">
                <a:tc>
                  <a:txBody>
                    <a:bodyPr/>
                    <a:lstStyle/>
                    <a:p>
                      <a:pPr algn="ctr"/>
                      <a:r>
                        <a:rPr lang="en-GB" sz="1500">
                          <a:latin typeface="Times New Roman" panose="02020603050405020304" pitchFamily="18" charset="0"/>
                          <a:cs typeface="Times New Roman" panose="02020603050405020304" pitchFamily="18" charset="0"/>
                        </a:rPr>
                        <a:t>No.</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Times New Roman" panose="02020603050405020304" pitchFamily="18" charset="0"/>
                          <a:cs typeface="Times New Roman" panose="02020603050405020304" pitchFamily="18" charset="0"/>
                        </a:rPr>
                        <a:t>ESN</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Times New Roman" panose="02020603050405020304" pitchFamily="18" charset="0"/>
                          <a:cs typeface="Times New Roman" panose="02020603050405020304" pitchFamily="18" charset="0"/>
                        </a:rPr>
                        <a:t>Status</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500">
                          <a:latin typeface="Times New Roman" panose="02020603050405020304" pitchFamily="18" charset="0"/>
                          <a:cs typeface="Times New Roman" panose="02020603050405020304" pitchFamily="18" charset="0"/>
                        </a:rPr>
                        <a:t>Induction</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err="1">
                          <a:latin typeface="Times New Roman" panose="02020603050405020304" pitchFamily="18" charset="0"/>
                          <a:cs typeface="Times New Roman" panose="02020603050405020304" pitchFamily="18" charset="0"/>
                        </a:rPr>
                        <a:t>Dự</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kiến</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về</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500">
                          <a:latin typeface="Times New Roman" panose="02020603050405020304" pitchFamily="18" charset="0"/>
                          <a:cs typeface="Times New Roman" panose="02020603050405020304" pitchFamily="18" charset="0"/>
                        </a:rPr>
                        <a:t>KH Sử dụng</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500">
                          <a:latin typeface="Times New Roman" panose="02020603050405020304" pitchFamily="18" charset="0"/>
                          <a:cs typeface="Times New Roman" panose="02020603050405020304" pitchFamily="18" charset="0"/>
                        </a:rPr>
                        <a:t>Remark</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234812354"/>
                  </a:ext>
                </a:extLst>
              </a:tr>
              <a:tr h="577171">
                <a:tc>
                  <a:txBody>
                    <a:bodyPr/>
                    <a:lstStyle/>
                    <a:p>
                      <a:pPr algn="ctr"/>
                      <a:r>
                        <a:rPr lang="en-US" sz="1500">
                          <a:latin typeface="Times New Roman" panose="02020603050405020304" pitchFamily="18" charset="0"/>
                          <a:cs typeface="Times New Roman" panose="02020603050405020304" pitchFamily="18" charset="0"/>
                        </a:rPr>
                        <a:t>1</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ED0181</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17/07/2024</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500" b="0">
                          <a:solidFill>
                            <a:schemeClr val="tx1"/>
                          </a:solidFill>
                          <a:latin typeface="Times New Roman" panose="02020603050405020304" pitchFamily="18" charset="0"/>
                          <a:cs typeface="Times New Roman" panose="02020603050405020304" pitchFamily="18" charset="0"/>
                        </a:rPr>
                        <a:t>16/01/2025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500">
                          <a:solidFill>
                            <a:schemeClr val="tx1"/>
                          </a:solidFill>
                          <a:latin typeface="Times New Roman" panose="02020603050405020304" pitchFamily="18" charset="0"/>
                          <a:cs typeface="Times New Roman" panose="02020603050405020304" pitchFamily="18" charset="0"/>
                        </a:rPr>
                        <a:t>B225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ENG CHANGE</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xmlns="" val="4277853865"/>
                  </a:ext>
                </a:extLst>
              </a:tr>
              <a:tr h="577171">
                <a:tc>
                  <a:txBody>
                    <a:bodyPr/>
                    <a:lstStyle/>
                    <a:p>
                      <a:pPr algn="ctr"/>
                      <a:r>
                        <a:rPr lang="en-GB" sz="1500" dirty="0">
                          <a:latin typeface="Times New Roman" panose="02020603050405020304" pitchFamily="18" charset="0"/>
                          <a:cs typeface="Times New Roman" panose="02020603050405020304" pitchFamily="18" charset="0"/>
                        </a:rPr>
                        <a:t>2</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5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ED0192</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29/08/2024</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500" b="0" kern="1200">
                          <a:solidFill>
                            <a:schemeClr val="tx1"/>
                          </a:solidFill>
                          <a:latin typeface="Times New Roman" panose="02020603050405020304" pitchFamily="18" charset="0"/>
                          <a:ea typeface="+mn-ea"/>
                          <a:cs typeface="Times New Roman" panose="02020603050405020304" pitchFamily="18" charset="0"/>
                        </a:rPr>
                        <a:t>23/01/2025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500">
                          <a:solidFill>
                            <a:schemeClr val="tx1"/>
                          </a:solidFill>
                          <a:latin typeface="Times New Roman" panose="02020603050405020304" pitchFamily="18" charset="0"/>
                          <a:cs typeface="Times New Roman" panose="02020603050405020304" pitchFamily="18" charset="0"/>
                        </a:rPr>
                        <a:t>Stagger</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N/A</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xmlns="" val="2165882103"/>
                  </a:ext>
                </a:extLst>
              </a:tr>
              <a:tr h="577171">
                <a:tc>
                  <a:txBody>
                    <a:bodyPr/>
                    <a:lstStyle/>
                    <a:p>
                      <a:pPr algn="ctr"/>
                      <a:r>
                        <a:rPr lang="en-US" sz="1500" dirty="0">
                          <a:latin typeface="Times New Roman" panose="02020603050405020304" pitchFamily="18" charset="0"/>
                          <a:cs typeface="Times New Roman" panose="02020603050405020304" pitchFamily="18" charset="0"/>
                        </a:rPr>
                        <a:t>3</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5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ED0239</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16/10/2024</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500" b="0" kern="1200">
                          <a:solidFill>
                            <a:schemeClr val="tx1"/>
                          </a:solidFill>
                          <a:latin typeface="Times New Roman" panose="02020603050405020304" pitchFamily="18" charset="0"/>
                          <a:ea typeface="+mn-ea"/>
                          <a:cs typeface="Times New Roman" panose="02020603050405020304" pitchFamily="18" charset="0"/>
                        </a:rPr>
                        <a:t>15/04/2025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Stagger</a:t>
                      </a:r>
                      <a:endParaRPr lang="en-GB" sz="15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N/A</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xmlns="" val="3227979002"/>
                  </a:ext>
                </a:extLst>
              </a:tr>
              <a:tr h="577171">
                <a:tc>
                  <a:txBody>
                    <a:bodyPr/>
                    <a:lstStyle/>
                    <a:p>
                      <a:pPr algn="ctr"/>
                      <a:r>
                        <a:rPr lang="en-GB" sz="1500" dirty="0">
                          <a:latin typeface="Times New Roman" panose="02020603050405020304" pitchFamily="18" charset="0"/>
                          <a:cs typeface="Times New Roman" panose="02020603050405020304" pitchFamily="18" charset="0"/>
                        </a:rPr>
                        <a:t>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ED238</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Not Inducted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24/01/2025</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500" b="0" kern="1200">
                          <a:solidFill>
                            <a:schemeClr val="tx1"/>
                          </a:solidFill>
                          <a:latin typeface="Times New Roman" panose="02020603050405020304" pitchFamily="18" charset="0"/>
                          <a:ea typeface="+mn-ea"/>
                          <a:cs typeface="Times New Roman" panose="02020603050405020304" pitchFamily="18" charset="0"/>
                        </a:rPr>
                        <a:t>TBD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Stagger</a:t>
                      </a:r>
                      <a:endParaRPr lang="en-GB" sz="15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N/A</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817893171"/>
                  </a:ext>
                </a:extLst>
              </a:tr>
            </a:tbl>
          </a:graphicData>
        </a:graphic>
      </p:graphicFrame>
      <p:sp>
        <p:nvSpPr>
          <p:cNvPr id="15" name="TextBox 14">
            <a:extLst>
              <a:ext uri="{FF2B5EF4-FFF2-40B4-BE49-F238E27FC236}">
                <a16:creationId xmlns:a16="http://schemas.microsoft.com/office/drawing/2014/main" xmlns="" id="{A3B0CE8D-D087-9B22-2C61-0CD1AD45567F}"/>
              </a:ext>
            </a:extLst>
          </p:cNvPr>
          <p:cNvSpPr txBox="1"/>
          <p:nvPr/>
        </p:nvSpPr>
        <p:spPr>
          <a:xfrm>
            <a:off x="1" y="805"/>
            <a:ext cx="11418041"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TÌNH TRẠNG ĐỘNG CƠ ĐỘI BAY ATR</a:t>
            </a:r>
            <a:endParaRPr lang="en-GB" sz="2667" b="1" dirty="0">
              <a:ln w="0"/>
              <a:solidFill>
                <a:srgbClr val="FBAC00"/>
              </a:solidFill>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xmlns="" id="{86965A40-485F-F6CF-1E94-FB69A37B616A}"/>
              </a:ext>
            </a:extLst>
          </p:cNvPr>
          <p:cNvSpPr txBox="1"/>
          <p:nvPr/>
        </p:nvSpPr>
        <p:spPr>
          <a:xfrm>
            <a:off x="0" y="4336401"/>
            <a:ext cx="7239699" cy="461665"/>
          </a:xfrm>
          <a:prstGeom prst="rect">
            <a:avLst/>
          </a:prstGeom>
          <a:noFill/>
        </p:spPr>
        <p:txBody>
          <a:bodyPr wrap="square" rtlCol="0">
            <a:spAutoFit/>
          </a:bodyPr>
          <a:lstStyle/>
          <a:p>
            <a:pPr defTabSz="1219170">
              <a:defRPr/>
            </a:pPr>
            <a:r>
              <a:rPr lang="en-US" sz="2400" b="1" dirty="0" err="1">
                <a:solidFill>
                  <a:srgbClr val="002060"/>
                </a:solidFill>
                <a:latin typeface="Times New Roman" panose="02020603050405020304" pitchFamily="18" charset="0"/>
                <a:cs typeface="Times New Roman" panose="02020603050405020304" pitchFamily="18" charset="0"/>
              </a:rPr>
              <a:t>Tình</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trạng</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động</a:t>
            </a:r>
            <a:r>
              <a:rPr lang="en-US" sz="2400" b="1" dirty="0">
                <a:solidFill>
                  <a:srgbClr val="002060"/>
                </a:solidFill>
                <a:latin typeface="Times New Roman" panose="02020603050405020304" pitchFamily="18" charset="0"/>
                <a:cs typeface="Times New Roman" panose="02020603050405020304" pitchFamily="18" charset="0"/>
              </a:rPr>
              <a:t> cơ </a:t>
            </a:r>
            <a:r>
              <a:rPr lang="en-US" sz="2400" b="1" dirty="0" err="1">
                <a:solidFill>
                  <a:srgbClr val="002060"/>
                </a:solidFill>
                <a:latin typeface="Times New Roman" panose="02020603050405020304" pitchFamily="18" charset="0"/>
                <a:cs typeface="Times New Roman" panose="02020603050405020304" pitchFamily="18" charset="0"/>
              </a:rPr>
              <a:t>cơ</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đội</a:t>
            </a:r>
            <a:r>
              <a:rPr lang="en-US" sz="2400" b="1" dirty="0">
                <a:solidFill>
                  <a:srgbClr val="002060"/>
                </a:solidFill>
                <a:latin typeface="Times New Roman" panose="02020603050405020304" pitchFamily="18" charset="0"/>
                <a:cs typeface="Times New Roman" panose="02020603050405020304" pitchFamily="18" charset="0"/>
              </a:rPr>
              <a:t> bay</a:t>
            </a:r>
            <a:endParaRPr lang="en-GB" sz="2400" b="1" dirty="0">
              <a:solidFill>
                <a:srgbClr val="002060"/>
              </a:solidFill>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xmlns="" id="{E8A28E79-E20A-AF25-AF54-BB552A4A1E80}"/>
              </a:ext>
            </a:extLst>
          </p:cNvPr>
          <p:cNvSpPr txBox="1"/>
          <p:nvPr/>
        </p:nvSpPr>
        <p:spPr>
          <a:xfrm>
            <a:off x="124805" y="4918706"/>
            <a:ext cx="11460201" cy="1241365"/>
          </a:xfrm>
          <a:prstGeom prst="rect">
            <a:avLst/>
          </a:prstGeom>
          <a:noFill/>
        </p:spPr>
        <p:txBody>
          <a:bodyPr wrap="square" rtlCol="0">
            <a:spAutoFit/>
          </a:bodyPr>
          <a:lstStyle/>
          <a:p>
            <a:pPr marL="380990" indent="-380990">
              <a:spcBef>
                <a:spcPts val="800"/>
              </a:spcBef>
              <a:spcAft>
                <a:spcPts val="800"/>
              </a:spcAft>
              <a:buFont typeface="Arial" panose="020B0604020202020204" pitchFamily="34" charset="0"/>
              <a:buChar char="•"/>
            </a:pPr>
            <a:r>
              <a:rPr lang="en-US" sz="1600" dirty="0" err="1">
                <a:latin typeface="Times New Roman" panose="02020603050405020304" pitchFamily="18" charset="0"/>
                <a:cs typeface="Times New Roman" panose="02020603050405020304" pitchFamily="18" charset="0"/>
              </a:rPr>
              <a:t>Động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cơ</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không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khai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thác</a:t>
            </a:r>
            <a:r>
              <a:rPr lang="en-US" sz="1600" dirty="0">
                <a:latin typeface="Times New Roman" panose="02020603050405020304" pitchFamily="18" charset="0"/>
                <a:cs typeface="Times New Roman" panose="02020603050405020304" pitchFamily="18" charset="0"/>
              </a:rPr>
              <a:t>: ED0217 (</a:t>
            </a:r>
            <a:r>
              <a:rPr lang="en-US" sz="1600" dirty="0" err="1">
                <a:latin typeface="Times New Roman" panose="02020603050405020304" pitchFamily="18" charset="0"/>
                <a:cs typeface="Times New Roman" panose="02020603050405020304" pitchFamily="18" charset="0"/>
              </a:rPr>
              <a:t>hỏng</a:t>
            </a:r>
            <a:r>
              <a:rPr lang="en-US" sz="1600" dirty="0">
                <a:latin typeface="Times New Roman" panose="02020603050405020304" pitchFamily="18" charset="0"/>
                <a:cs typeface="Times New Roman" panose="02020603050405020304" pitchFamily="18" charset="0"/>
              </a:rPr>
              <a:t> HPT Vane </a:t>
            </a:r>
            <a:r>
              <a:rPr lang="en-US" sz="1600" dirty="0" err="1">
                <a:latin typeface="Times New Roman" panose="02020603050405020304" pitchFamily="18" charset="0"/>
                <a:cs typeface="Times New Roman" panose="02020603050405020304" pitchFamily="18" charset="0"/>
              </a:rPr>
              <a:t>còn</a:t>
            </a:r>
            <a:r>
              <a:rPr lang="en-US" sz="1600" dirty="0">
                <a:latin typeface="Times New Roman" panose="02020603050405020304" pitchFamily="18" charset="0"/>
                <a:cs typeface="Times New Roman" panose="02020603050405020304" pitchFamily="18" charset="0"/>
              </a:rPr>
              <a:t> 38 FH), ED0233 (</a:t>
            </a:r>
            <a:r>
              <a:rPr lang="en-US" sz="1600" dirty="0" err="1">
                <a:latin typeface="Times New Roman" panose="02020603050405020304" pitchFamily="18" charset="0"/>
                <a:cs typeface="Times New Roman" panose="02020603050405020304" pitchFamily="18" charset="0"/>
              </a:rPr>
              <a:t>hết</a:t>
            </a:r>
            <a:r>
              <a:rPr lang="en-US" sz="1600" dirty="0">
                <a:latin typeface="Times New Roman" panose="02020603050405020304" pitchFamily="18" charset="0"/>
                <a:cs typeface="Times New Roman" panose="02020603050405020304" pitchFamily="18" charset="0"/>
              </a:rPr>
              <a:t> LLP, </a:t>
            </a:r>
            <a:r>
              <a:rPr lang="en-US" sz="1600" dirty="0" err="1">
                <a:latin typeface="Times New Roman" panose="02020603050405020304" pitchFamily="18" charset="0"/>
                <a:cs typeface="Times New Roman" panose="02020603050405020304" pitchFamily="18" charset="0"/>
              </a:rPr>
              <a:t>còn</a:t>
            </a:r>
            <a:r>
              <a:rPr lang="en-US" sz="1600" dirty="0">
                <a:latin typeface="Times New Roman" panose="02020603050405020304" pitchFamily="18" charset="0"/>
                <a:cs typeface="Times New Roman" panose="02020603050405020304" pitchFamily="18" charset="0"/>
              </a:rPr>
              <a:t> 78 FC), ED0214 (</a:t>
            </a:r>
            <a:r>
              <a:rPr lang="en-US" sz="1600" dirty="0" err="1">
                <a:latin typeface="Times New Roman" panose="02020603050405020304" pitchFamily="18" charset="0"/>
                <a:cs typeface="Times New Roman" panose="02020603050405020304" pitchFamily="18" charset="0"/>
              </a:rPr>
              <a:t>hết</a:t>
            </a:r>
            <a:r>
              <a:rPr lang="en-US" sz="1600" dirty="0">
                <a:latin typeface="Times New Roman" panose="02020603050405020304" pitchFamily="18" charset="0"/>
                <a:cs typeface="Times New Roman" panose="02020603050405020304" pitchFamily="18" charset="0"/>
              </a:rPr>
              <a:t> LLP, </a:t>
            </a:r>
            <a:r>
              <a:rPr lang="en-US" sz="1600" dirty="0" err="1">
                <a:latin typeface="Times New Roman" panose="02020603050405020304" pitchFamily="18" charset="0"/>
                <a:cs typeface="Times New Roman" panose="02020603050405020304" pitchFamily="18" charset="0"/>
              </a:rPr>
              <a:t>còn</a:t>
            </a:r>
            <a:r>
              <a:rPr lang="en-US" sz="1600" dirty="0">
                <a:latin typeface="Times New Roman" panose="02020603050405020304" pitchFamily="18" charset="0"/>
                <a:cs typeface="Times New Roman" panose="02020603050405020304" pitchFamily="18" charset="0"/>
              </a:rPr>
              <a:t> 151 FC)</a:t>
            </a:r>
          </a:p>
          <a:p>
            <a:pPr marL="380990" indent="-380990">
              <a:spcBef>
                <a:spcPts val="800"/>
              </a:spcBef>
              <a:spcAft>
                <a:spcPts val="800"/>
              </a:spcAft>
              <a:buFont typeface="Arial" panose="020B0604020202020204" pitchFamily="34" charset="0"/>
              <a:buChar char="•"/>
            </a:pPr>
            <a:r>
              <a:rPr lang="it-IT" sz="1600" dirty="0">
                <a:latin typeface="Times New Roman" panose="02020603050405020304" pitchFamily="18" charset="0"/>
                <a:cs typeface="Times New Roman" panose="02020603050405020304" pitchFamily="18" charset="0"/>
              </a:rPr>
              <a:t>Động cơ thuê: ED0321, ED0036 và ED0715</a:t>
            </a:r>
          </a:p>
          <a:p>
            <a:pPr marL="380990" indent="-380990">
              <a:spcBef>
                <a:spcPts val="800"/>
              </a:spcBef>
              <a:spcAft>
                <a:spcPts val="800"/>
              </a:spcAft>
              <a:buFont typeface="Arial" panose="020B0604020202020204" pitchFamily="34" charset="0"/>
              <a:buChar char="•"/>
            </a:pPr>
            <a:r>
              <a:rPr lang="it-IT" sz="1600" dirty="0">
                <a:latin typeface="Times New Roman" panose="02020603050405020304" pitchFamily="18" charset="0"/>
                <a:cs typeface="Times New Roman" panose="02020603050405020304" pitchFamily="18" charset="0"/>
              </a:rPr>
              <a:t>Động cơ cao giờ: NIL</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27233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7CEBBF0-4138-B510-1979-FBCC81398ABF}"/>
            </a:ext>
          </a:extLst>
        </p:cNvPr>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xmlns="" id="{3AEDC4A0-D9E4-308A-B81A-C497E56EC867}"/>
              </a:ext>
            </a:extLst>
          </p:cNvPr>
          <p:cNvSpPr>
            <a:spLocks noGrp="1"/>
          </p:cNvSpPr>
          <p:nvPr>
            <p:ph type="sldNum" sz="quarter" idx="12"/>
          </p:nvPr>
        </p:nvSpPr>
        <p:spPr>
          <a:xfrm>
            <a:off x="11469279" y="8154511"/>
            <a:ext cx="3657600" cy="486833"/>
          </a:xfrm>
        </p:spPr>
        <p:txBody>
          <a:bodyPr>
            <a:normAutofit/>
          </a:bodyPr>
          <a:lstStyle/>
          <a:p>
            <a:pPr defTabSz="1219170">
              <a:defRPr/>
            </a:pPr>
            <a:r>
              <a:rPr lang="en-US" sz="1600" dirty="0">
                <a:solidFill>
                  <a:srgbClr val="D2A43B"/>
                </a:solidFill>
                <a:latin typeface="Montserrat" pitchFamily="2" charset="77"/>
              </a:rPr>
              <a:t>1</a:t>
            </a:r>
          </a:p>
        </p:txBody>
      </p:sp>
      <p:sp>
        <p:nvSpPr>
          <p:cNvPr id="4" name="TextBox 3">
            <a:extLst>
              <a:ext uri="{FF2B5EF4-FFF2-40B4-BE49-F238E27FC236}">
                <a16:creationId xmlns:a16="http://schemas.microsoft.com/office/drawing/2014/main" xmlns="" id="{5039FD0F-D84D-F582-FC95-7FD457F3C903}"/>
              </a:ext>
            </a:extLst>
          </p:cNvPr>
          <p:cNvSpPr txBox="1"/>
          <p:nvPr/>
        </p:nvSpPr>
        <p:spPr>
          <a:xfrm>
            <a:off x="61186" y="565752"/>
            <a:ext cx="12054615" cy="1077218"/>
          </a:xfrm>
          <a:prstGeom prst="rect">
            <a:avLst/>
          </a:prstGeom>
          <a:noFill/>
          <a:ln>
            <a:solidFill>
              <a:schemeClr val="tx1"/>
            </a:solidFill>
          </a:ln>
        </p:spPr>
        <p:txBody>
          <a:bodyPr wrap="square" rtlCol="0">
            <a:spAutoFit/>
          </a:bodyPr>
          <a:lstStyle/>
          <a:p>
            <a:pPr defTabSz="1219170">
              <a:defRPr/>
            </a:pPr>
            <a:r>
              <a:rPr lang="en-US" sz="1600" dirty="0" err="1">
                <a:solidFill>
                  <a:prstClr val="black"/>
                </a:solidFill>
                <a:latin typeface="Times New Roman" panose="02020603050405020304" pitchFamily="18" charset="0"/>
                <a:cs typeface="Times New Roman" panose="02020603050405020304" pitchFamily="18" charset="0"/>
              </a:rPr>
              <a:t>Từ</a:t>
            </a:r>
            <a:r>
              <a:rPr lang="en-US" sz="1600" dirty="0">
                <a:solidFill>
                  <a:prstClr val="black"/>
                </a:solidFill>
                <a:latin typeface="Times New Roman" panose="02020603050405020304" pitchFamily="18" charset="0"/>
                <a:cs typeface="Times New Roman" panose="02020603050405020304" pitchFamily="18" charset="0"/>
              </a:rPr>
              <a:t> 06/01/2025 – 12/01/2025:</a:t>
            </a:r>
          </a:p>
          <a:p>
            <a:pPr marL="380990" indent="-380990" defTabSz="1219170">
              <a:buFont typeface="Times New Roman" panose="02020603050405020304" pitchFamily="18" charset="0"/>
              <a:buChar char="⁃"/>
              <a:defRPr/>
            </a:pPr>
            <a:r>
              <a:rPr lang="en-US" sz="1600" dirty="0" err="1">
                <a:solidFill>
                  <a:prstClr val="black"/>
                </a:solidFill>
                <a:latin typeface="Times New Roman" panose="02020603050405020304" pitchFamily="18" charset="0"/>
                <a:cs typeface="Times New Roman" panose="02020603050405020304" pitchFamily="18" charset="0"/>
              </a:rPr>
              <a:t>Phát</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sinh</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trong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tuần</a:t>
            </a:r>
            <a:r>
              <a:rPr lang="en-US" sz="1600" dirty="0">
                <a:solidFill>
                  <a:prstClr val="black"/>
                </a:solidFill>
                <a:latin typeface="Times New Roman" panose="02020603050405020304" pitchFamily="18" charset="0"/>
                <a:cs typeface="Times New Roman" panose="02020603050405020304" pitchFamily="18" charset="0"/>
              </a:rPr>
              <a:t>: NIL.</a:t>
            </a:r>
          </a:p>
          <a:p>
            <a:pPr marL="380990" indent="-380990">
              <a:buFont typeface="Times New Roman" panose="02020603050405020304" pitchFamily="18" charset="0"/>
              <a:buChar char="⁃"/>
              <a:defRPr/>
            </a:pPr>
            <a:r>
              <a:rPr lang="en-US" sz="1600" dirty="0" err="1">
                <a:solidFill>
                  <a:prstClr val="black"/>
                </a:solidFill>
                <a:latin typeface="Times New Roman" panose="02020603050405020304" pitchFamily="18" charset="0"/>
                <a:cs typeface="Times New Roman" panose="02020603050405020304" pitchFamily="18" charset="0"/>
              </a:rPr>
              <a:t>Đã</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khắc</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phục</a:t>
            </a:r>
            <a:r>
              <a:rPr lang="en-US" sz="1600" dirty="0">
                <a:solidFill>
                  <a:prstClr val="black"/>
                </a:solidFill>
                <a:latin typeface="Times New Roman" panose="02020603050405020304" pitchFamily="18" charset="0"/>
                <a:cs typeface="Times New Roman" panose="02020603050405020304" pitchFamily="18" charset="0"/>
              </a:rPr>
              <a:t>: A603 (</a:t>
            </a:r>
            <a:r>
              <a:rPr lang="en-US" sz="1600" dirty="0" err="1">
                <a:solidFill>
                  <a:prstClr val="black"/>
                </a:solidFill>
                <a:latin typeface="Times New Roman" panose="02020603050405020304" pitchFamily="18" charset="0"/>
                <a:cs typeface="Times New Roman" panose="02020603050405020304" pitchFamily="18" charset="0"/>
              </a:rPr>
              <a:t>thay</a:t>
            </a:r>
            <a:r>
              <a:rPr lang="en-US" sz="1600" dirty="0">
                <a:solidFill>
                  <a:prstClr val="black"/>
                </a:solidFill>
                <a:latin typeface="Times New Roman" panose="02020603050405020304" pitchFamily="18" charset="0"/>
                <a:cs typeface="Times New Roman" panose="02020603050405020304" pitchFamily="18" charset="0"/>
              </a:rPr>
              <a:t> APU), A869 (</a:t>
            </a:r>
            <a:r>
              <a:rPr lang="en-US" sz="1600" dirty="0" err="1">
                <a:solidFill>
                  <a:prstClr val="black"/>
                </a:solidFill>
                <a:latin typeface="Times New Roman" panose="02020603050405020304" pitchFamily="18" charset="0"/>
                <a:cs typeface="Times New Roman" panose="02020603050405020304" pitchFamily="18" charset="0"/>
              </a:rPr>
              <a:t>thay</a:t>
            </a:r>
            <a:r>
              <a:rPr lang="en-US" sz="1600" dirty="0">
                <a:solidFill>
                  <a:prstClr val="black"/>
                </a:solidFill>
                <a:latin typeface="Times New Roman" panose="02020603050405020304" pitchFamily="18" charset="0"/>
                <a:cs typeface="Times New Roman" panose="02020603050405020304" pitchFamily="18" charset="0"/>
              </a:rPr>
              <a:t> Fuel Filter), A332 (</a:t>
            </a:r>
            <a:r>
              <a:rPr lang="en-US" sz="1600" dirty="0" err="1">
                <a:solidFill>
                  <a:prstClr val="black"/>
                </a:solidFill>
                <a:latin typeface="Times New Roman" panose="02020603050405020304" pitchFamily="18" charset="0"/>
                <a:cs typeface="Times New Roman" panose="02020603050405020304" pitchFamily="18" charset="0"/>
              </a:rPr>
              <a:t>thay</a:t>
            </a:r>
            <a:r>
              <a:rPr lang="en-US" sz="1600" dirty="0">
                <a:solidFill>
                  <a:prstClr val="black"/>
                </a:solidFill>
                <a:latin typeface="Times New Roman" panose="02020603050405020304" pitchFamily="18" charset="0"/>
                <a:cs typeface="Times New Roman" panose="02020603050405020304" pitchFamily="18" charset="0"/>
              </a:rPr>
              <a:t> Lube Module), A357 (</a:t>
            </a:r>
            <a:r>
              <a:rPr lang="en-US" sz="1600" dirty="0" err="1">
                <a:solidFill>
                  <a:prstClr val="black"/>
                </a:solidFill>
                <a:latin typeface="Times New Roman" panose="02020603050405020304" pitchFamily="18" charset="0"/>
                <a:cs typeface="Times New Roman" panose="02020603050405020304" pitchFamily="18" charset="0"/>
              </a:rPr>
              <a:t>thay</a:t>
            </a:r>
            <a:r>
              <a:rPr lang="en-US" sz="1600" dirty="0">
                <a:solidFill>
                  <a:prstClr val="black"/>
                </a:solidFill>
                <a:latin typeface="Times New Roman" panose="02020603050405020304" pitchFamily="18" charset="0"/>
                <a:cs typeface="Times New Roman" panose="02020603050405020304" pitchFamily="18" charset="0"/>
              </a:rPr>
              <a:t> Starter Motor).</a:t>
            </a:r>
          </a:p>
          <a:p>
            <a:pPr marL="380990" indent="-380990" defTabSz="1219170">
              <a:buFont typeface="Times New Roman" panose="02020603050405020304" pitchFamily="18" charset="0"/>
              <a:buChar char="⁃"/>
              <a:defRPr/>
            </a:pPr>
            <a:r>
              <a:rPr lang="en-US" sz="1600" dirty="0" err="1">
                <a:solidFill>
                  <a:prstClr val="black"/>
                </a:solidFill>
                <a:latin typeface="Times New Roman" panose="02020603050405020304" pitchFamily="18" charset="0"/>
                <a:cs typeface="Times New Roman" panose="02020603050405020304" pitchFamily="18" charset="0"/>
              </a:rPr>
              <a:t>Hiện</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có</a:t>
            </a:r>
            <a:r>
              <a:rPr lang="en-US" sz="1600" dirty="0">
                <a:solidFill>
                  <a:prstClr val="black"/>
                </a:solidFill>
                <a:latin typeface="Times New Roman" panose="02020603050405020304" pitchFamily="18" charset="0"/>
                <a:cs typeface="Times New Roman" panose="02020603050405020304" pitchFamily="18" charset="0"/>
              </a:rPr>
              <a:t> 01 APU </a:t>
            </a:r>
            <a:r>
              <a:rPr lang="en-US" sz="1600" dirty="0" err="1">
                <a:solidFill>
                  <a:prstClr val="black"/>
                </a:solidFill>
                <a:latin typeface="Times New Roman" panose="02020603050405020304" pitchFamily="18" charset="0"/>
                <a:cs typeface="Times New Roman" panose="02020603050405020304" pitchFamily="18" charset="0"/>
              </a:rPr>
              <a:t>chờ</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khắc</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phục</a:t>
            </a:r>
            <a:r>
              <a:rPr lang="en-US" sz="1600" dirty="0">
                <a:solidFill>
                  <a:prstClr val="black"/>
                </a:solidFill>
                <a:latin typeface="Times New Roman" panose="02020603050405020304" pitchFamily="18" charset="0"/>
                <a:cs typeface="Times New Roman" panose="02020603050405020304" pitchFamily="18" charset="0"/>
              </a:rPr>
              <a:t>: A867.</a:t>
            </a:r>
          </a:p>
        </p:txBody>
      </p:sp>
      <p:graphicFrame>
        <p:nvGraphicFramePr>
          <p:cNvPr id="3" name="Table 2">
            <a:extLst>
              <a:ext uri="{FF2B5EF4-FFF2-40B4-BE49-F238E27FC236}">
                <a16:creationId xmlns:a16="http://schemas.microsoft.com/office/drawing/2014/main" xmlns="" id="{6684DBD8-A2D2-50A1-B1FB-698DABA16090}"/>
              </a:ext>
            </a:extLst>
          </p:cNvPr>
          <p:cNvGraphicFramePr>
            <a:graphicFrameLocks noGrp="1"/>
          </p:cNvGraphicFramePr>
          <p:nvPr>
            <p:extLst/>
          </p:nvPr>
        </p:nvGraphicFramePr>
        <p:xfrm>
          <a:off x="61186" y="1787549"/>
          <a:ext cx="12054615" cy="4794833"/>
        </p:xfrm>
        <a:graphic>
          <a:graphicData uri="http://schemas.openxmlformats.org/drawingml/2006/table">
            <a:tbl>
              <a:tblPr firstRow="1" firstCol="1" bandRow="1">
                <a:tableStyleId>{5C22544A-7EE6-4342-B048-85BDC9FD1C3A}</a:tableStyleId>
              </a:tblPr>
              <a:tblGrid>
                <a:gridCol w="635792">
                  <a:extLst>
                    <a:ext uri="{9D8B030D-6E8A-4147-A177-3AD203B41FA5}">
                      <a16:colId xmlns:a16="http://schemas.microsoft.com/office/drawing/2014/main" xmlns="" val="1827702162"/>
                    </a:ext>
                  </a:extLst>
                </a:gridCol>
                <a:gridCol w="1715656">
                  <a:extLst>
                    <a:ext uri="{9D8B030D-6E8A-4147-A177-3AD203B41FA5}">
                      <a16:colId xmlns:a16="http://schemas.microsoft.com/office/drawing/2014/main" xmlns="" val="2395768341"/>
                    </a:ext>
                  </a:extLst>
                </a:gridCol>
                <a:gridCol w="4013376">
                  <a:extLst>
                    <a:ext uri="{9D8B030D-6E8A-4147-A177-3AD203B41FA5}">
                      <a16:colId xmlns:a16="http://schemas.microsoft.com/office/drawing/2014/main" xmlns="" val="4155011410"/>
                    </a:ext>
                  </a:extLst>
                </a:gridCol>
                <a:gridCol w="5689791">
                  <a:extLst>
                    <a:ext uri="{9D8B030D-6E8A-4147-A177-3AD203B41FA5}">
                      <a16:colId xmlns:a16="http://schemas.microsoft.com/office/drawing/2014/main" xmlns="" val="1412321077"/>
                    </a:ext>
                  </a:extLst>
                </a:gridCol>
              </a:tblGrid>
              <a:tr h="304841">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A/C</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pPr>
                      <a:r>
                        <a:rPr lang="en-US" sz="1500" b="1" kern="1200" dirty="0">
                          <a:solidFill>
                            <a:schemeClr val="tx1"/>
                          </a:solidFill>
                          <a:effectLst/>
                          <a:latin typeface="Times New Roman" panose="02020603050405020304" pitchFamily="18" charset="0"/>
                          <a:ea typeface="+mn-ea"/>
                          <a:cs typeface="Times New Roman" panose="02020603050405020304" pitchFamily="18" charset="0"/>
                        </a:rPr>
                        <a:t>Issue</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tabLst>
                          <a:tab pos="388620" algn="l"/>
                        </a:tabLst>
                      </a:pPr>
                      <a:r>
                        <a:rPr lang="en-US" sz="1500" b="1" kern="1200" dirty="0">
                          <a:solidFill>
                            <a:schemeClr val="dk1"/>
                          </a:solidFill>
                          <a:effectLst/>
                          <a:latin typeface="Times New Roman" panose="02020603050405020304" pitchFamily="18" charset="0"/>
                          <a:ea typeface="+mn-ea"/>
                          <a:cs typeface="Times New Roman" panose="02020603050405020304" pitchFamily="18" charset="0"/>
                        </a:rPr>
                        <a:t>Troubleshoot action</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tabLst>
                          <a:tab pos="388620" algn="l"/>
                        </a:tabLst>
                      </a:pPr>
                      <a:r>
                        <a:rPr lang="en-US" sz="1500" b="1" kern="1200" dirty="0">
                          <a:solidFill>
                            <a:schemeClr val="dk1"/>
                          </a:solidFill>
                          <a:effectLst/>
                          <a:latin typeface="Times New Roman" panose="02020603050405020304" pitchFamily="18" charset="0"/>
                          <a:ea typeface="+mn-ea"/>
                          <a:cs typeface="Times New Roman" panose="02020603050405020304" pitchFamily="18" charset="0"/>
                        </a:rPr>
                        <a:t>Note</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435328572"/>
                  </a:ext>
                </a:extLst>
              </a:tr>
              <a:tr h="1496664">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A867</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APU AUTO SHUTDOWN</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Phát</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sinh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ngày</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31/12.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Chờ</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vật</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tư</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FMU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để</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T/S.</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A321:</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Hiện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01 APU Spare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về</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từ</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đã</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lên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kế</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hoạch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cho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tàu</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A321NEO RTS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và</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swap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cho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các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tàu</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khai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1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04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về</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A350: Hiện tại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02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không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Spare.</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B787:</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Hiện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02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không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Spare.</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Triển khai </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TI-2023-1002 </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khi T/S APU bad smell.</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Đề nghị Vaeco cho kiểm tra ngay khi tàu N/S đối với các tàu có báo bad smell và cung cấp WO T/S kịp thời. </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Tổ bay chưa tuân thủ điền và gửi report SIC khi có event, đã nêu trong cuộc họp KT-Khai thác, để nghị nghiêm túc thực hiện.</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Đã thống nhất quy trình khắc phục APU bad smell. Vaeco ra TI mở ADD “APU Bleed bad smell for Air conditioning”, tổ bay được phép sử dụng APU để khởi động động cơ. Hạn ADD 6 tháng, Vaeco tiếp tục lên lịch T/S. Đã cập nhật nội dung vào FON22/061 R03. </a:t>
                      </a: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736034225"/>
                  </a:ext>
                </a:extLst>
              </a:tr>
              <a:tr h="1496664">
                <a:tc>
                  <a:txBody>
                    <a:bodyPr/>
                    <a:lstStyle/>
                    <a:p>
                      <a:pPr marL="0" marR="0" algn="ctr">
                        <a:spcBef>
                          <a:spcPts val="0"/>
                        </a:spcBef>
                        <a:spcAft>
                          <a:spcPts val="0"/>
                        </a:spcAft>
                      </a:pPr>
                      <a:endPar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vi-VN"/>
                    </a:p>
                  </a:txBody>
                  <a:tcPr/>
                </a:tc>
                <a:extLst>
                  <a:ext uri="{0D108BD9-81ED-4DB2-BD59-A6C34878D82A}">
                    <a16:rowId xmlns:a16="http://schemas.microsoft.com/office/drawing/2014/main" xmlns="" val="1073163020"/>
                  </a:ext>
                </a:extLst>
              </a:tr>
              <a:tr h="1496664">
                <a:tc>
                  <a:txBody>
                    <a:bodyPr/>
                    <a:lstStyle/>
                    <a:p>
                      <a:pPr marL="0" marR="0" algn="ctr">
                        <a:spcBef>
                          <a:spcPts val="0"/>
                        </a:spcBef>
                        <a:spcAft>
                          <a:spcPts val="0"/>
                        </a:spcAft>
                      </a:pPr>
                      <a:endPar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vi-VN"/>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xmlns="" val="3636160297"/>
                  </a:ext>
                </a:extLst>
              </a:tr>
            </a:tbl>
          </a:graphicData>
        </a:graphic>
      </p:graphicFrame>
      <p:sp>
        <p:nvSpPr>
          <p:cNvPr id="5" name="TextBox 4">
            <a:extLst>
              <a:ext uri="{FF2B5EF4-FFF2-40B4-BE49-F238E27FC236}">
                <a16:creationId xmlns:a16="http://schemas.microsoft.com/office/drawing/2014/main" xmlns="" id="{C90E461A-8FB3-5729-0D39-FAC90BDE96E0}"/>
              </a:ext>
            </a:extLst>
          </p:cNvPr>
          <p:cNvSpPr txBox="1"/>
          <p:nvPr/>
        </p:nvSpPr>
        <p:spPr>
          <a:xfrm>
            <a:off x="0" y="4175"/>
            <a:ext cx="10155179"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HỎNG HÓC APU TRONG TUẦN</a:t>
            </a:r>
            <a:endParaRPr lang="en-GB"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8461985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0384535-CFCE-183F-8794-12D95900EC70}"/>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xmlns="" id="{44E34AA5-0AD7-89EB-D556-85A4E3C161E2}"/>
              </a:ext>
            </a:extLst>
          </p:cNvPr>
          <p:cNvGraphicFramePr>
            <a:graphicFrameLocks noGrp="1"/>
          </p:cNvGraphicFramePr>
          <p:nvPr>
            <p:extLst/>
          </p:nvPr>
        </p:nvGraphicFramePr>
        <p:xfrm>
          <a:off x="548320" y="609601"/>
          <a:ext cx="11169547" cy="4599134"/>
        </p:xfrm>
        <a:graphic>
          <a:graphicData uri="http://schemas.openxmlformats.org/drawingml/2006/table">
            <a:tbl>
              <a:tblPr firstRow="1" bandRow="1">
                <a:tableStyleId>{7DF18680-E054-41AD-8BC1-D1AEF772440D}</a:tableStyleId>
              </a:tblPr>
              <a:tblGrid>
                <a:gridCol w="1801539">
                  <a:extLst>
                    <a:ext uri="{9D8B030D-6E8A-4147-A177-3AD203B41FA5}">
                      <a16:colId xmlns:a16="http://schemas.microsoft.com/office/drawing/2014/main" xmlns="" val="1598605427"/>
                    </a:ext>
                  </a:extLst>
                </a:gridCol>
                <a:gridCol w="1692295">
                  <a:extLst>
                    <a:ext uri="{9D8B030D-6E8A-4147-A177-3AD203B41FA5}">
                      <a16:colId xmlns:a16="http://schemas.microsoft.com/office/drawing/2014/main" xmlns="" val="3845954792"/>
                    </a:ext>
                  </a:extLst>
                </a:gridCol>
                <a:gridCol w="3352017">
                  <a:extLst>
                    <a:ext uri="{9D8B030D-6E8A-4147-A177-3AD203B41FA5}">
                      <a16:colId xmlns:a16="http://schemas.microsoft.com/office/drawing/2014/main" xmlns="" val="2148822928"/>
                    </a:ext>
                  </a:extLst>
                </a:gridCol>
                <a:gridCol w="2161848">
                  <a:extLst>
                    <a:ext uri="{9D8B030D-6E8A-4147-A177-3AD203B41FA5}">
                      <a16:colId xmlns:a16="http://schemas.microsoft.com/office/drawing/2014/main" xmlns="" val="1106888684"/>
                    </a:ext>
                  </a:extLst>
                </a:gridCol>
                <a:gridCol w="2161848">
                  <a:extLst>
                    <a:ext uri="{9D8B030D-6E8A-4147-A177-3AD203B41FA5}">
                      <a16:colId xmlns:a16="http://schemas.microsoft.com/office/drawing/2014/main" xmlns="" val="571731565"/>
                    </a:ext>
                  </a:extLst>
                </a:gridCol>
              </a:tblGrid>
              <a:tr h="439904">
                <a:tc>
                  <a:txBody>
                    <a:bodyPr/>
                    <a:lstStyle/>
                    <a:p>
                      <a:pPr algn="ctr" fontAlgn="ctr"/>
                      <a:r>
                        <a:rPr lang="en-US" sz="1500" u="none" strike="noStrike">
                          <a:solidFill>
                            <a:schemeClr val="bg1"/>
                          </a:solidFill>
                          <a:effectLst/>
                          <a:latin typeface="Times New Roman" panose="02020603050405020304" pitchFamily="18" charset="0"/>
                          <a:cs typeface="Times New Roman" panose="02020603050405020304" pitchFamily="18" charset="0"/>
                        </a:rPr>
                        <a:t>APU S/N</a:t>
                      </a:r>
                      <a:endParaRPr lang="en-US"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u="none" strike="noStrike">
                          <a:solidFill>
                            <a:schemeClr val="bg1"/>
                          </a:solidFill>
                          <a:effectLst/>
                          <a:latin typeface="Times New Roman" panose="02020603050405020304" pitchFamily="18" charset="0"/>
                          <a:cs typeface="Times New Roman" panose="02020603050405020304" pitchFamily="18" charset="0"/>
                        </a:rPr>
                        <a:t>Shop</a:t>
                      </a:r>
                      <a:endParaRPr lang="en-US"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dirty="0">
                          <a:solidFill>
                            <a:schemeClr val="bg1"/>
                          </a:solidFill>
                          <a:effectLst/>
                          <a:latin typeface="Times New Roman" panose="02020603050405020304" pitchFamily="18" charset="0"/>
                          <a:cs typeface="Times New Roman" panose="02020603050405020304" pitchFamily="18" charset="0"/>
                        </a:rPr>
                        <a:t>Induction date</a:t>
                      </a:r>
                      <a:endParaRPr lang="vi-VN" sz="15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Dự</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kiến</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ngày</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về</a:t>
                      </a:r>
                      <a:endParaRPr lang="vi-VN" sz="15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a:solidFill>
                            <a:schemeClr val="bg1"/>
                          </a:solidFill>
                          <a:effectLst/>
                          <a:latin typeface="Times New Roman" panose="02020603050405020304" pitchFamily="18" charset="0"/>
                          <a:cs typeface="Times New Roman" panose="02020603050405020304" pitchFamily="18" charset="0"/>
                        </a:rPr>
                        <a:t>Dự kiến dùng cho tàu</a:t>
                      </a:r>
                      <a:endParaRPr lang="vi-VN"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extLst>
                  <a:ext uri="{0D108BD9-81ED-4DB2-BD59-A6C34878D82A}">
                    <a16:rowId xmlns:a16="http://schemas.microsoft.com/office/drawing/2014/main" xmlns="" val="1234812354"/>
                  </a:ext>
                </a:extLst>
              </a:tr>
              <a:tr h="415923">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P-4541</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EPCOR</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22-May-24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25-Jan-24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Spare</a:t>
                      </a:r>
                    </a:p>
                  </a:txBody>
                  <a:tcPr marL="12700" marR="12700" marT="12700" marB="0" anchor="ctr">
                    <a:solidFill>
                      <a:schemeClr val="accent1">
                        <a:lumMod val="20000"/>
                        <a:lumOff val="80000"/>
                      </a:schemeClr>
                    </a:solidFill>
                  </a:tcPr>
                </a:tc>
                <a:extLst>
                  <a:ext uri="{0D108BD9-81ED-4DB2-BD59-A6C34878D82A}">
                    <a16:rowId xmlns:a16="http://schemas.microsoft.com/office/drawing/2014/main" xmlns="" val="3716492321"/>
                  </a:ext>
                </a:extLst>
              </a:tr>
              <a:tr h="415923">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P-5361</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28-Oct-24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25-Jan-24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A615</a:t>
                      </a:r>
                    </a:p>
                  </a:txBody>
                  <a:tcPr marL="12700" marR="12700" marT="12700" marB="0" anchor="ctr">
                    <a:solidFill>
                      <a:schemeClr val="accent1">
                        <a:lumMod val="20000"/>
                        <a:lumOff val="80000"/>
                      </a:schemeClr>
                    </a:solidFill>
                  </a:tcPr>
                </a:tc>
                <a:extLst>
                  <a:ext uri="{0D108BD9-81ED-4DB2-BD59-A6C34878D82A}">
                    <a16:rowId xmlns:a16="http://schemas.microsoft.com/office/drawing/2014/main" xmlns="" val="3287019261"/>
                  </a:ext>
                </a:extLst>
              </a:tr>
              <a:tr h="415923">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P-8524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07-Nov-24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25-Jan-25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Spare</a:t>
                      </a:r>
                    </a:p>
                  </a:txBody>
                  <a:tcPr marL="12700" marR="12700" marT="12700" marB="0" anchor="ctr">
                    <a:solidFill>
                      <a:schemeClr val="accent1">
                        <a:lumMod val="20000"/>
                        <a:lumOff val="80000"/>
                      </a:schemeClr>
                    </a:solidFill>
                  </a:tcPr>
                </a:tc>
                <a:extLst>
                  <a:ext uri="{0D108BD9-81ED-4DB2-BD59-A6C34878D82A}">
                    <a16:rowId xmlns:a16="http://schemas.microsoft.com/office/drawing/2014/main" xmlns="" val="3841585950"/>
                  </a:ext>
                </a:extLst>
              </a:tr>
              <a:tr h="415923">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P-5535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AMECO</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19-Aug-24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26-Jan-24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A619</a:t>
                      </a:r>
                    </a:p>
                  </a:txBody>
                  <a:tcPr marL="12700" marR="12700" marT="12700" marB="0" anchor="ctr">
                    <a:solidFill>
                      <a:schemeClr val="accent1">
                        <a:lumMod val="20000"/>
                        <a:lumOff val="80000"/>
                      </a:schemeClr>
                    </a:solidFill>
                  </a:tcPr>
                </a:tc>
                <a:extLst>
                  <a:ext uri="{0D108BD9-81ED-4DB2-BD59-A6C34878D82A}">
                    <a16:rowId xmlns:a16="http://schemas.microsoft.com/office/drawing/2014/main" xmlns="" val="127734706"/>
                  </a:ext>
                </a:extLst>
              </a:tr>
              <a:tr h="415923">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P-4708</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AMECO</a:t>
                      </a:r>
                      <a:endPar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17-Dec-24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17-Feb-25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Spare</a:t>
                      </a:r>
                    </a:p>
                  </a:txBody>
                  <a:tcPr marL="12700" marR="12700" marT="12700" marB="0" anchor="ctr">
                    <a:solidFill>
                      <a:schemeClr val="accent1">
                        <a:lumMod val="20000"/>
                        <a:lumOff val="80000"/>
                      </a:schemeClr>
                    </a:solidFill>
                  </a:tcPr>
                </a:tc>
                <a:extLst>
                  <a:ext uri="{0D108BD9-81ED-4DB2-BD59-A6C34878D82A}">
                    <a16:rowId xmlns:a16="http://schemas.microsoft.com/office/drawing/2014/main" xmlns="" val="702873862"/>
                  </a:ext>
                </a:extLst>
              </a:tr>
              <a:tr h="415923">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P-5222</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AMECO</a:t>
                      </a:r>
                      <a:endPar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17-Dec-24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17-Feb-25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Spare</a:t>
                      </a:r>
                    </a:p>
                  </a:txBody>
                  <a:tcPr marL="12700" marR="12700" marT="12700" marB="0" anchor="ctr">
                    <a:solidFill>
                      <a:schemeClr val="accent1">
                        <a:lumMod val="20000"/>
                        <a:lumOff val="80000"/>
                      </a:schemeClr>
                    </a:solidFill>
                  </a:tcPr>
                </a:tc>
                <a:extLst>
                  <a:ext uri="{0D108BD9-81ED-4DB2-BD59-A6C34878D82A}">
                    <a16:rowId xmlns:a16="http://schemas.microsoft.com/office/drawing/2014/main" xmlns="" val="28517020"/>
                  </a:ext>
                </a:extLst>
              </a:tr>
              <a:tr h="415923">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HSC-</a:t>
                      </a:r>
                      <a:r>
                        <a:rPr lang="en-US" sz="1500" b="0" i="0" u="none" strike="noStrike" dirty="0" err="1">
                          <a:solidFill>
                            <a:schemeClr val="tx1"/>
                          </a:solidFill>
                          <a:effectLst/>
                          <a:latin typeface="Times New Roman" panose="02020603050405020304" pitchFamily="18" charset="0"/>
                          <a:cs typeface="Times New Roman" panose="02020603050405020304" pitchFamily="18" charset="0"/>
                        </a:rPr>
                        <a:t>E1525371PL</a:t>
                      </a:r>
                      <a:endParaRPr lang="en-US" sz="15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03-Dec-24</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25-Feb-25</a:t>
                      </a:r>
                    </a:p>
                  </a:txBody>
                  <a:tcPr marL="12700" marR="12700" marT="12700" marB="0" anchor="ctr">
                    <a:solidFill>
                      <a:schemeClr val="accent6">
                        <a:lumMod val="20000"/>
                        <a:lumOff val="80000"/>
                      </a:schemeClr>
                    </a:solidFill>
                  </a:tcPr>
                </a:tc>
                <a:tc>
                  <a:txBody>
                    <a:bodyPr/>
                    <a:lstStyle/>
                    <a:p>
                      <a:pPr algn="ctr" fontAlgn="ctr"/>
                      <a:r>
                        <a:rPr lang="en-US" sz="1500" b="0" i="0" u="none" strike="noStrike" dirty="0" err="1">
                          <a:solidFill>
                            <a:schemeClr val="tx1"/>
                          </a:solidFill>
                          <a:effectLst/>
                          <a:latin typeface="Times New Roman" panose="02020603050405020304" pitchFamily="18" charset="0"/>
                          <a:cs typeface="Times New Roman" panose="02020603050405020304" pitchFamily="18" charset="0"/>
                        </a:rPr>
                        <a:t>A871</a:t>
                      </a:r>
                      <a:endParaRPr lang="en-US" sz="15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solidFill>
                      <a:schemeClr val="accent6">
                        <a:lumMod val="20000"/>
                        <a:lumOff val="80000"/>
                      </a:schemeClr>
                    </a:solidFill>
                  </a:tcPr>
                </a:tc>
                <a:extLst>
                  <a:ext uri="{0D108BD9-81ED-4DB2-BD59-A6C34878D82A}">
                    <a16:rowId xmlns:a16="http://schemas.microsoft.com/office/drawing/2014/main" xmlns="" val="1251250973"/>
                  </a:ext>
                </a:extLst>
              </a:tr>
              <a:tr h="415923">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PWC-Z925500</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22-Dec-24</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05-Mar-25</a:t>
                      </a:r>
                    </a:p>
                  </a:txBody>
                  <a:tcPr marL="12700" marR="12700" marT="12700" marB="0" anchor="ctr">
                    <a:solidFill>
                      <a:schemeClr val="accent6">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A861</a:t>
                      </a:r>
                    </a:p>
                  </a:txBody>
                  <a:tcPr marL="12700" marR="12700" marT="12700" marB="0" anchor="ctr">
                    <a:solidFill>
                      <a:schemeClr val="accent6">
                        <a:lumMod val="20000"/>
                        <a:lumOff val="80000"/>
                      </a:schemeClr>
                    </a:solidFill>
                  </a:tcPr>
                </a:tc>
                <a:extLst>
                  <a:ext uri="{0D108BD9-81ED-4DB2-BD59-A6C34878D82A}">
                    <a16:rowId xmlns:a16="http://schemas.microsoft.com/office/drawing/2014/main" xmlns="" val="3190860515"/>
                  </a:ext>
                </a:extLst>
              </a:tr>
              <a:tr h="415923">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P-00124</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LUFTHANSA</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02-Oct-24</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20-Feb-25</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A886</a:t>
                      </a:r>
                    </a:p>
                  </a:txBody>
                  <a:tcPr marL="12700" marR="12700" marT="12700" marB="0" anchor="ctr">
                    <a:solidFill>
                      <a:schemeClr val="accent2">
                        <a:lumMod val="40000"/>
                        <a:lumOff val="60000"/>
                      </a:schemeClr>
                    </a:solidFill>
                  </a:tcPr>
                </a:tc>
                <a:extLst>
                  <a:ext uri="{0D108BD9-81ED-4DB2-BD59-A6C34878D82A}">
                    <a16:rowId xmlns:a16="http://schemas.microsoft.com/office/drawing/2014/main" xmlns="" val="2064948272"/>
                  </a:ext>
                </a:extLst>
              </a:tr>
              <a:tr h="415923">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P-00255</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LUFTHANSA</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10-Oct-24</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20-Feb-25</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Spare</a:t>
                      </a:r>
                    </a:p>
                  </a:txBody>
                  <a:tcPr marL="12700" marR="12700" marT="12700" marB="0" anchor="ctr">
                    <a:solidFill>
                      <a:schemeClr val="accent2">
                        <a:lumMod val="40000"/>
                        <a:lumOff val="60000"/>
                      </a:schemeClr>
                    </a:solidFill>
                  </a:tcPr>
                </a:tc>
                <a:extLst>
                  <a:ext uri="{0D108BD9-81ED-4DB2-BD59-A6C34878D82A}">
                    <a16:rowId xmlns:a16="http://schemas.microsoft.com/office/drawing/2014/main" xmlns="" val="148885825"/>
                  </a:ext>
                </a:extLst>
              </a:tr>
            </a:tbl>
          </a:graphicData>
        </a:graphic>
      </p:graphicFrame>
      <p:sp>
        <p:nvSpPr>
          <p:cNvPr id="3" name="TextBox 2">
            <a:extLst>
              <a:ext uri="{FF2B5EF4-FFF2-40B4-BE49-F238E27FC236}">
                <a16:creationId xmlns:a16="http://schemas.microsoft.com/office/drawing/2014/main" xmlns="" id="{683815DC-3726-60C6-9F9A-C1A095C6A727}"/>
              </a:ext>
            </a:extLst>
          </p:cNvPr>
          <p:cNvSpPr txBox="1"/>
          <p:nvPr/>
        </p:nvSpPr>
        <p:spPr>
          <a:xfrm>
            <a:off x="508019" y="5151765"/>
            <a:ext cx="11169547" cy="1241622"/>
          </a:xfrm>
          <a:prstGeom prst="rect">
            <a:avLst/>
          </a:prstGeom>
          <a:noFill/>
        </p:spPr>
        <p:txBody>
          <a:bodyPr wrap="square" rtlCol="0">
            <a:spAutoFit/>
          </a:bodyPr>
          <a:lstStyle/>
          <a:p>
            <a:pPr defTabSz="1219170">
              <a:defRPr/>
            </a:pPr>
            <a:r>
              <a:rPr lang="en-US" sz="1867" b="1" dirty="0" err="1">
                <a:solidFill>
                  <a:prstClr val="black"/>
                </a:solidFill>
                <a:latin typeface="Times New Roman" panose="02020603050405020304" pitchFamily="18" charset="0"/>
                <a:cs typeface="Times New Roman" panose="02020603050405020304" pitchFamily="18" charset="0"/>
              </a:rPr>
              <a:t>Đánh</a:t>
            </a:r>
            <a:r>
              <a:rPr lang="en-US" sz="1867" b="1" dirty="0">
                <a:solidFill>
                  <a:prstClr val="black"/>
                </a:solidFill>
                <a:latin typeface="Times New Roman" panose="02020603050405020304" pitchFamily="18" charset="0"/>
                <a:cs typeface="Times New Roman" panose="02020603050405020304" pitchFamily="18" charset="0"/>
              </a:rPr>
              <a:t> </a:t>
            </a:r>
            <a:r>
              <a:rPr lang="en-US" sz="1867" b="1" dirty="0" err="1">
                <a:solidFill>
                  <a:prstClr val="black"/>
                </a:solidFill>
                <a:latin typeface="Times New Roman" panose="02020603050405020304" pitchFamily="18" charset="0"/>
                <a:cs typeface="Times New Roman" panose="02020603050405020304" pitchFamily="18" charset="0"/>
              </a:rPr>
              <a:t>giá</a:t>
            </a:r>
            <a:r>
              <a:rPr lang="en-US" sz="1867" b="1" dirty="0">
                <a:solidFill>
                  <a:prstClr val="black"/>
                </a:solidFill>
                <a:latin typeface="Times New Roman" panose="02020603050405020304" pitchFamily="18" charset="0"/>
                <a:cs typeface="Times New Roman" panose="02020603050405020304" pitchFamily="18" charset="0"/>
              </a:rPr>
              <a:t>:</a:t>
            </a:r>
          </a:p>
          <a:p>
            <a:pPr marL="990575" lvl="1" indent="-380990" defTabSz="1219170">
              <a:buFont typeface="Arial" panose="020B0604020202020204" pitchFamily="34" charset="0"/>
              <a:buChar char="•"/>
              <a:defRPr/>
            </a:pPr>
            <a:r>
              <a:rPr lang="en-US" sz="1867" dirty="0" err="1">
                <a:solidFill>
                  <a:prstClr val="black"/>
                </a:solidFill>
                <a:latin typeface="Times New Roman" panose="02020603050405020304" pitchFamily="18" charset="0"/>
                <a:cs typeface="Times New Roman" panose="02020603050405020304" pitchFamily="18" charset="0"/>
              </a:rPr>
              <a:t>Đội</a:t>
            </a:r>
            <a:r>
              <a:rPr lang="en-US" sz="1867" dirty="0">
                <a:solidFill>
                  <a:prstClr val="black"/>
                </a:solidFill>
                <a:latin typeface="Times New Roman" panose="02020603050405020304" pitchFamily="18" charset="0"/>
                <a:cs typeface="Times New Roman" panose="02020603050405020304" pitchFamily="18" charset="0"/>
              </a:rPr>
              <a:t> bay A321: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Không</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có</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rủi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ro</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ảnh</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hưởng</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khai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thác</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a:t>
            </a:r>
          </a:p>
          <a:p>
            <a:pPr marL="990575" lvl="1" indent="-380990">
              <a:buFont typeface="Arial" panose="020B0604020202020204" pitchFamily="34" charset="0"/>
              <a:buChar char="•"/>
              <a:defRPr/>
            </a:pP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Đội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bay A350: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Không</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có</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rủi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ro</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ảnh</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hưởng</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khai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thác</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a:t>
            </a:r>
          </a:p>
          <a:p>
            <a:pPr marL="990575" lvl="1" indent="-380990" defTabSz="1219170">
              <a:buFont typeface="Arial" panose="020B0604020202020204" pitchFamily="34" charset="0"/>
              <a:buChar char="•"/>
              <a:defRPr/>
            </a:pP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Đội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bay B787: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Không</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có</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rủi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ro</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ảnh</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hưởng</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khai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thác</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a:t>
            </a:r>
          </a:p>
        </p:txBody>
      </p:sp>
      <p:sp>
        <p:nvSpPr>
          <p:cNvPr id="4" name="TextBox 3">
            <a:extLst>
              <a:ext uri="{FF2B5EF4-FFF2-40B4-BE49-F238E27FC236}">
                <a16:creationId xmlns:a16="http://schemas.microsoft.com/office/drawing/2014/main" xmlns="" id="{2A0F6081-1E4E-10D7-02C6-BC54E456A673}"/>
              </a:ext>
            </a:extLst>
          </p:cNvPr>
          <p:cNvSpPr txBox="1"/>
          <p:nvPr/>
        </p:nvSpPr>
        <p:spPr>
          <a:xfrm>
            <a:off x="1" y="1"/>
            <a:ext cx="7521623"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TÌNH TRẠNG SỬA CHỮA APU TẠI SHOP</a:t>
            </a:r>
            <a:endParaRPr lang="en-GB"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231906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7" name="Google Shape;77;p2"/>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D2A43B"/>
              </a:buClr>
              <a:buSzPts val="1200"/>
              <a:buFont typeface="Montserrat"/>
              <a:buNone/>
            </a:pPr>
            <a:fld id="{00000000-1234-1234-1234-123412341234}" type="slidenum">
              <a:rPr lang="en-US"/>
              <a:t>38</a:t>
            </a:fld>
            <a:endParaRPr dirty="0"/>
          </a:p>
        </p:txBody>
      </p:sp>
      <p:sp>
        <p:nvSpPr>
          <p:cNvPr id="76" name="Google Shape;76;p2"/>
          <p:cNvSpPr txBox="1">
            <a:spLocks noGrp="1"/>
          </p:cNvSpPr>
          <p:nvPr>
            <p:ph type="title"/>
          </p:nvPr>
        </p:nvSpPr>
        <p:spPr>
          <a:xfrm>
            <a:off x="304800" y="290937"/>
            <a:ext cx="9777833" cy="4572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4400"/>
              <a:buNone/>
            </a:pPr>
            <a:r>
              <a:rPr lang="en-US" sz="2400" b="1" dirty="0">
                <a:solidFill>
                  <a:srgbClr val="FFC000"/>
                </a:solidFill>
                <a:latin typeface="Times New Roman" panose="02020603050405020304" pitchFamily="18" charset="0"/>
                <a:cs typeface="Times New Roman" panose="02020603050405020304" pitchFamily="18" charset="0"/>
              </a:rPr>
              <a:t>CÁC TÀU BQDB VÀ ĐANG TRONG BẢO DƯỠNG ĐỊNH KỲ (BD</a:t>
            </a:r>
            <a:r>
              <a:rPr lang="en-US" sz="2400" dirty="0">
                <a:solidFill>
                  <a:srgbClr val="FFC000"/>
                </a:solidFill>
                <a:latin typeface="Times New Roman" panose="02020603050405020304" pitchFamily="18" charset="0"/>
                <a:cs typeface="Times New Roman" panose="02020603050405020304" pitchFamily="18" charset="0"/>
              </a:rPr>
              <a:t>Đ</a:t>
            </a:r>
            <a:r>
              <a:rPr lang="en-US" sz="2400" b="1" dirty="0">
                <a:solidFill>
                  <a:srgbClr val="FFC000"/>
                </a:solidFill>
                <a:latin typeface="Times New Roman" panose="02020603050405020304" pitchFamily="18" charset="0"/>
                <a:cs typeface="Times New Roman" panose="02020603050405020304" pitchFamily="18" charset="0"/>
              </a:rPr>
              <a:t>K)</a:t>
            </a:r>
            <a:endParaRPr sz="2400" b="0" dirty="0">
              <a:solidFill>
                <a:srgbClr val="FFC000"/>
              </a:solidFill>
              <a:latin typeface="Times New Roman" panose="02020603050405020304" pitchFamily="18" charset="0"/>
              <a:cs typeface="Times New Roman" panose="02020603050405020304" pitchFamily="18" charset="0"/>
            </a:endParaRPr>
          </a:p>
        </p:txBody>
      </p:sp>
      <p:sp>
        <p:nvSpPr>
          <p:cNvPr id="5" name="Google Shape;75;p2">
            <a:extLst>
              <a:ext uri="{FF2B5EF4-FFF2-40B4-BE49-F238E27FC236}">
                <a16:creationId xmlns="" xmlns:a16="http://schemas.microsoft.com/office/drawing/2014/main" id="{637BC1EA-95C9-6D4F-9E46-CF744FAC7800}"/>
              </a:ext>
            </a:extLst>
          </p:cNvPr>
          <p:cNvSpPr txBox="1">
            <a:spLocks/>
          </p:cNvSpPr>
          <p:nvPr/>
        </p:nvSpPr>
        <p:spPr>
          <a:xfrm>
            <a:off x="277906" y="725309"/>
            <a:ext cx="10820399" cy="6239851"/>
          </a:xfrm>
          <a:prstGeom prst="rect">
            <a:avLst/>
          </a:prstGeom>
          <a:noFill/>
          <a:ln>
            <a:noFill/>
          </a:ln>
        </p:spPr>
        <p:txBody>
          <a:bodyPr spcFirstLastPara="1" wrap="square" lIns="91425" tIns="45700" rIns="91425" bIns="4570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indent="0" algn="just">
              <a:buSzPts val="1100"/>
              <a:buFont typeface="Arial" panose="020B0604020202020204" pitchFamily="34" charset="0"/>
              <a:buNone/>
            </a:pPr>
            <a:r>
              <a:rPr lang="en-US" sz="1600" b="1" dirty="0">
                <a:cs typeface="Times New Roman" panose="02020603050405020304" pitchFamily="18" charset="0"/>
              </a:rPr>
              <a:t>BQDB: </a:t>
            </a:r>
            <a:r>
              <a:rPr lang="pt-BR" sz="1600" b="1" dirty="0">
                <a:cs typeface="Times New Roman" panose="02020603050405020304" pitchFamily="18" charset="0"/>
              </a:rPr>
              <a:t>HAN (A501/03/05/08/09/10/11, A622/23/24/25, A886/887/895/898) /</a:t>
            </a:r>
            <a:r>
              <a:rPr lang="pt-BR" sz="1600" b="1" dirty="0">
                <a:solidFill>
                  <a:schemeClr val="accent1">
                    <a:lumMod val="75000"/>
                  </a:schemeClr>
                </a:solidFill>
                <a:cs typeface="Times New Roman" panose="02020603050405020304" pitchFamily="18" charset="0"/>
              </a:rPr>
              <a:t> SGN (A616, A617).</a:t>
            </a:r>
            <a:endParaRPr lang="en-US" sz="1600" b="1" dirty="0">
              <a:cs typeface="Times New Roman" panose="02020603050405020304" pitchFamily="18" charset="0"/>
            </a:endParaRPr>
          </a:p>
          <a:p>
            <a:pPr marL="12700" indent="0" algn="just">
              <a:buSzPts val="1100"/>
              <a:buFont typeface="Arial" panose="020B0604020202020204" pitchFamily="34" charset="0"/>
              <a:buNone/>
            </a:pPr>
            <a:r>
              <a:rPr lang="en-US" sz="1600" b="1" dirty="0">
                <a:cs typeface="Times New Roman" panose="02020603050405020304" pitchFamily="18" charset="0"/>
              </a:rPr>
              <a:t>BDĐK: A321: 04 </a:t>
            </a:r>
            <a:r>
              <a:rPr lang="en-US" sz="1600" b="1" dirty="0" err="1">
                <a:cs typeface="Times New Roman" panose="02020603050405020304" pitchFamily="18" charset="0"/>
              </a:rPr>
              <a:t>tàu</a:t>
            </a:r>
            <a:r>
              <a:rPr lang="en-US" sz="1600" b="1" dirty="0">
                <a:cs typeface="Times New Roman" panose="02020603050405020304" pitchFamily="18" charset="0"/>
              </a:rPr>
              <a:t> (A604/336/619/506);</a:t>
            </a:r>
            <a:endParaRPr lang="en-US" sz="1600" b="1" dirty="0">
              <a:solidFill>
                <a:schemeClr val="accent1"/>
              </a:solidFill>
              <a:cs typeface="Times New Roman" panose="02020603050405020304" pitchFamily="18" charset="0"/>
            </a:endParaRPr>
          </a:p>
          <a:p>
            <a:pPr marL="12700" indent="0" algn="just">
              <a:buClr>
                <a:schemeClr val="dk1"/>
              </a:buClr>
              <a:buSzPts val="1100"/>
              <a:buFont typeface="Arial" panose="020B0604020202020204" pitchFamily="34" charset="0"/>
              <a:buNone/>
            </a:pPr>
            <a:r>
              <a:rPr lang="en-US" sz="1600" b="1" dirty="0">
                <a:cs typeface="Times New Roman" panose="02020603050405020304" pitchFamily="18" charset="0"/>
              </a:rPr>
              <a:t>              B787: A866, A863;</a:t>
            </a:r>
            <a:endParaRPr lang="pt-BR" sz="1600" b="1" dirty="0">
              <a:solidFill>
                <a:schemeClr val="accent1">
                  <a:lumMod val="75000"/>
                </a:schemeClr>
              </a:solidFill>
              <a:cs typeface="Times New Roman" panose="02020603050405020304" pitchFamily="18" charset="0"/>
            </a:endParaRPr>
          </a:p>
          <a:p>
            <a:pPr marL="12700" indent="0" algn="just">
              <a:buClr>
                <a:schemeClr val="dk1"/>
              </a:buClr>
              <a:buSzPts val="1100"/>
              <a:buFont typeface="Arial" panose="020B0604020202020204" pitchFamily="34" charset="0"/>
              <a:buNone/>
            </a:pPr>
            <a:r>
              <a:rPr lang="en-US" sz="1600" b="1" dirty="0">
                <a:cs typeface="Times New Roman" panose="02020603050405020304" pitchFamily="18" charset="0"/>
              </a:rPr>
              <a:t>I. A321: </a:t>
            </a:r>
            <a:endParaRPr lang="vi-VN" sz="1600" dirty="0">
              <a:cs typeface="Times New Roman" panose="02020603050405020304" pitchFamily="18" charset="0"/>
              <a:sym typeface="Wingdings" panose="05000000000000000000" pitchFamily="2" charset="2"/>
            </a:endParaRPr>
          </a:p>
          <a:p>
            <a:pPr marL="355600" indent="-342900" algn="just">
              <a:buSzPts val="1100"/>
              <a:buAutoNum type="arabicPeriod"/>
            </a:pPr>
            <a:r>
              <a:rPr lang="es-ES" sz="1600" b="1" dirty="0">
                <a:solidFill>
                  <a:srgbClr val="FF0000"/>
                </a:solidFill>
                <a:cs typeface="Times New Roman" panose="02020603050405020304" pitchFamily="18" charset="0"/>
                <a:sym typeface="Wingdings" panose="05000000000000000000" pitchFamily="2" charset="2"/>
              </a:rPr>
              <a:t>A604: HAN-RPL ENG MOUNT (11/01-12/01): </a:t>
            </a:r>
            <a:r>
              <a:rPr lang="es-ES" sz="1600" b="1" dirty="0" err="1">
                <a:cs typeface="Times New Roman" panose="02020603050405020304" pitchFamily="18" charset="0"/>
                <a:sym typeface="Wingdings" panose="05000000000000000000" pitchFamily="2" charset="2"/>
              </a:rPr>
              <a:t>On</a:t>
            </a:r>
            <a:r>
              <a:rPr lang="es-ES" sz="1600" b="1" dirty="0">
                <a:cs typeface="Times New Roman" panose="02020603050405020304" pitchFamily="18" charset="0"/>
                <a:sym typeface="Wingdings" panose="05000000000000000000" pitchFamily="2" charset="2"/>
              </a:rPr>
              <a:t> </a:t>
            </a:r>
            <a:r>
              <a:rPr lang="es-ES" sz="1600" b="1" dirty="0" err="1">
                <a:cs typeface="Times New Roman" panose="02020603050405020304" pitchFamily="18" charset="0"/>
                <a:sym typeface="Wingdings" panose="05000000000000000000" pitchFamily="2" charset="2"/>
              </a:rPr>
              <a:t>sked</a:t>
            </a:r>
            <a:r>
              <a:rPr lang="es-ES" sz="1600" dirty="0">
                <a:cs typeface="Times New Roman" panose="02020603050405020304" pitchFamily="18" charset="0"/>
                <a:sym typeface="Wingdings" panose="05000000000000000000" pitchFamily="2" charset="2"/>
              </a:rPr>
              <a:t>.</a:t>
            </a:r>
          </a:p>
          <a:p>
            <a:pPr marL="12700" indent="0" algn="just">
              <a:buSzPts val="1100"/>
              <a:buNone/>
            </a:pPr>
            <a:r>
              <a:rPr lang="es-ES" sz="1600" dirty="0">
                <a:cs typeface="Times New Roman" panose="02020603050405020304" pitchFamily="18" charset="0"/>
                <a:sym typeface="Wingdings" panose="05000000000000000000" pitchFamily="2" charset="2"/>
              </a:rPr>
              <a:t>     - </a:t>
            </a:r>
            <a:r>
              <a:rPr lang="es-ES" sz="1600" dirty="0" err="1">
                <a:cs typeface="Times New Roman" panose="02020603050405020304" pitchFamily="18" charset="0"/>
                <a:sym typeface="Wingdings" panose="05000000000000000000" pitchFamily="2" charset="2"/>
              </a:rPr>
              <a:t>Tàu</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đa</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được</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bàn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giao</a:t>
            </a:r>
            <a:r>
              <a:rPr lang="es-ES" sz="1600" dirty="0">
                <a:cs typeface="Times New Roman" panose="02020603050405020304" pitchFamily="18" charset="0"/>
                <a:sym typeface="Wingdings" panose="05000000000000000000" pitchFamily="2" charset="2"/>
              </a:rPr>
              <a:t> cho Line, 17h00, 12-Jan-25.</a:t>
            </a:r>
          </a:p>
          <a:p>
            <a:pPr marL="12700" indent="0" algn="just">
              <a:buSzPts val="1100"/>
              <a:buNone/>
            </a:pPr>
            <a:endParaRPr lang="es-ES" sz="1600" dirty="0">
              <a:cs typeface="Times New Roman" panose="02020603050405020304" pitchFamily="18" charset="0"/>
              <a:sym typeface="Wingdings" panose="05000000000000000000" pitchFamily="2" charset="2"/>
            </a:endParaRPr>
          </a:p>
          <a:p>
            <a:pPr marL="12700" indent="0" algn="just">
              <a:buSzPts val="1100"/>
              <a:buNone/>
            </a:pPr>
            <a:r>
              <a:rPr lang="es-ES" sz="1600" b="1" dirty="0">
                <a:solidFill>
                  <a:srgbClr val="FF0000"/>
                </a:solidFill>
                <a:cs typeface="Times New Roman" panose="02020603050405020304" pitchFamily="18" charset="0"/>
                <a:sym typeface="Wingdings" panose="05000000000000000000" pitchFamily="2" charset="2"/>
              </a:rPr>
              <a:t>2</a:t>
            </a:r>
            <a:r>
              <a:rPr lang="es-ES" sz="1600" dirty="0">
                <a:cs typeface="Times New Roman" panose="02020603050405020304" pitchFamily="18" charset="0"/>
                <a:sym typeface="Wingdings" panose="05000000000000000000" pitchFamily="2" charset="2"/>
              </a:rPr>
              <a:t>. </a:t>
            </a:r>
            <a:r>
              <a:rPr lang="es-ES" sz="1600" b="1" dirty="0">
                <a:solidFill>
                  <a:srgbClr val="FF0000"/>
                </a:solidFill>
                <a:cs typeface="Times New Roman" panose="02020603050405020304" pitchFamily="18" charset="0"/>
                <a:sym typeface="Wingdings" panose="05000000000000000000" pitchFamily="2" charset="2"/>
              </a:rPr>
              <a:t>A336: Y01, EA23 (10/01-14/01): </a:t>
            </a:r>
            <a:r>
              <a:rPr lang="es-ES" sz="1600" b="1" dirty="0" err="1">
                <a:cs typeface="Times New Roman" panose="02020603050405020304" pitchFamily="18" charset="0"/>
                <a:sym typeface="Wingdings" panose="05000000000000000000" pitchFamily="2" charset="2"/>
              </a:rPr>
              <a:t>On</a:t>
            </a:r>
            <a:r>
              <a:rPr lang="es-ES" sz="1600" b="1" dirty="0">
                <a:cs typeface="Times New Roman" panose="02020603050405020304" pitchFamily="18" charset="0"/>
                <a:sym typeface="Wingdings" panose="05000000000000000000" pitchFamily="2" charset="2"/>
              </a:rPr>
              <a:t> </a:t>
            </a:r>
            <a:r>
              <a:rPr lang="es-ES" sz="1600" b="1" dirty="0" err="1">
                <a:cs typeface="Times New Roman" panose="02020603050405020304" pitchFamily="18" charset="0"/>
                <a:sym typeface="Wingdings" panose="05000000000000000000" pitchFamily="2" charset="2"/>
              </a:rPr>
              <a:t>sked</a:t>
            </a:r>
            <a:endParaRPr lang="es-ES" sz="1600" dirty="0">
              <a:cs typeface="Times New Roman" panose="02020603050405020304" pitchFamily="18" charset="0"/>
              <a:sym typeface="Wingdings" panose="05000000000000000000" pitchFamily="2" charset="2"/>
            </a:endParaRPr>
          </a:p>
          <a:p>
            <a:pPr marL="12700" indent="0" algn="just">
              <a:buSzPts val="1100"/>
              <a:buNone/>
            </a:pPr>
            <a:r>
              <a:rPr lang="en-US" sz="1600" dirty="0">
                <a:cs typeface="Times New Roman" panose="02020603050405020304" pitchFamily="18" charset="0"/>
                <a:sym typeface="Wingdings" panose="05000000000000000000" pitchFamily="2" charset="2"/>
              </a:rPr>
              <a:t>    - </a:t>
            </a:r>
            <a:r>
              <a:rPr lang="en-US" sz="1600" dirty="0" err="1">
                <a:cs typeface="Times New Roman" panose="02020603050405020304" pitchFamily="18" charset="0"/>
                <a:sym typeface="Wingdings" panose="05000000000000000000" pitchFamily="2" charset="2"/>
              </a:rPr>
              <a:t>Tàu</a:t>
            </a:r>
            <a:r>
              <a:rPr lang="en-US" sz="1600" dirty="0">
                <a:cs typeface="Times New Roman" panose="02020603050405020304" pitchFamily="18" charset="0"/>
                <a:sym typeface="Wingdings" panose="05000000000000000000" pitchFamily="2" charset="2"/>
              </a:rPr>
              <a:t> có 1 </a:t>
            </a:r>
            <a:r>
              <a:rPr lang="en-US" sz="1600" dirty="0" err="1">
                <a:cs typeface="Times New Roman" panose="02020603050405020304" pitchFamily="18" charset="0"/>
                <a:sym typeface="Wingdings" panose="05000000000000000000" pitchFamily="2" charset="2"/>
              </a:rPr>
              <a:t>sô</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phát</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sinh</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lớn</a:t>
            </a:r>
            <a:r>
              <a:rPr lang="en-US" sz="1600" dirty="0">
                <a:cs typeface="Times New Roman" panose="02020603050405020304" pitchFamily="18" charset="0"/>
                <a:sym typeface="Wingdings" panose="05000000000000000000" pitchFamily="2" charset="2"/>
              </a:rPr>
              <a:t> có </a:t>
            </a:r>
            <a:r>
              <a:rPr lang="en-US" sz="1600" dirty="0" err="1">
                <a:cs typeface="Times New Roman" panose="02020603050405020304" pitchFamily="18" charset="0"/>
                <a:sym typeface="Wingdings" panose="05000000000000000000" pitchFamily="2" charset="2"/>
              </a:rPr>
              <a:t>thê</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ảnh</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hưởng</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tiến</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đô</a:t>
            </a:r>
            <a:r>
              <a:rPr lang="en-US" sz="1600" dirty="0">
                <a:cs typeface="Times New Roman" panose="02020603050405020304" pitchFamily="18" charset="0"/>
                <a:sym typeface="Wingdings" panose="05000000000000000000" pitchFamily="2" charset="2"/>
              </a:rPr>
              <a:t>̣:</a:t>
            </a:r>
          </a:p>
          <a:p>
            <a:pPr marL="12700" indent="0" algn="just">
              <a:buSzPts val="1100"/>
              <a:buNone/>
            </a:pPr>
            <a:r>
              <a:rPr lang="en-US" sz="1600" dirty="0">
                <a:cs typeface="Times New Roman" panose="02020603050405020304" pitchFamily="18" charset="0"/>
                <a:sym typeface="Wingdings" panose="05000000000000000000" pitchFamily="2" charset="2"/>
              </a:rPr>
              <a:t>      + 10/01, WO_6900636: Heatshield At R/H C-duct Eng#1 Deform =&gt;  </a:t>
            </a:r>
            <a:r>
              <a:rPr lang="en-US" sz="1600" dirty="0" err="1">
                <a:cs typeface="Times New Roman" panose="02020603050405020304" pitchFamily="18" charset="0"/>
                <a:sym typeface="Wingdings" panose="05000000000000000000" pitchFamily="2" charset="2"/>
              </a:rPr>
              <a:t>Đa</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tháo</a:t>
            </a:r>
            <a:r>
              <a:rPr lang="en-US" sz="1600" dirty="0">
                <a:cs typeface="Times New Roman" panose="02020603050405020304" pitchFamily="18" charset="0"/>
                <a:sym typeface="Wingdings" panose="05000000000000000000" pitchFamily="2" charset="2"/>
              </a:rPr>
              <a:t> C-Duct. </a:t>
            </a:r>
            <a:r>
              <a:rPr lang="en-US" sz="1600" dirty="0" err="1">
                <a:cs typeface="Times New Roman" panose="02020603050405020304" pitchFamily="18" charset="0"/>
                <a:sym typeface="Wingdings" panose="05000000000000000000" pitchFamily="2" charset="2"/>
              </a:rPr>
              <a:t>Dư</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kiến</a:t>
            </a:r>
            <a:r>
              <a:rPr lang="en-US" sz="1600" dirty="0">
                <a:cs typeface="Times New Roman" panose="02020603050405020304" pitchFamily="18" charset="0"/>
                <a:sym typeface="Wingdings" panose="05000000000000000000" pitchFamily="2" charset="2"/>
              </a:rPr>
              <a:t> 13/01  </a:t>
            </a:r>
            <a:r>
              <a:rPr lang="en-US" sz="1600" dirty="0" err="1">
                <a:cs typeface="Times New Roman" panose="02020603050405020304" pitchFamily="18" charset="0"/>
                <a:sym typeface="Wingdings" panose="05000000000000000000" pitchFamily="2" charset="2"/>
              </a:rPr>
              <a:t>hoàn</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thành</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lắp</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lại</a:t>
            </a:r>
            <a:r>
              <a:rPr lang="en-US" sz="1600" dirty="0">
                <a:cs typeface="Times New Roman" panose="02020603050405020304" pitchFamily="18" charset="0"/>
                <a:sym typeface="Wingdings" panose="05000000000000000000" pitchFamily="2" charset="2"/>
              </a:rPr>
              <a:t>. </a:t>
            </a:r>
          </a:p>
          <a:p>
            <a:pPr marL="12700" indent="0" algn="just">
              <a:buSzPts val="1100"/>
              <a:buNone/>
            </a:pPr>
            <a:r>
              <a:rPr lang="en-US" sz="1600" dirty="0">
                <a:cs typeface="Times New Roman" panose="02020603050405020304" pitchFamily="18" charset="0"/>
                <a:sym typeface="Wingdings" panose="05000000000000000000" pitchFamily="2" charset="2"/>
              </a:rPr>
              <a:t>      + 10/01, 10/01 - Card 9.58: 01 dent at 7h30, Outer barrel-inner perforated skin CN5B1 CNA#1. =&gt; </a:t>
            </a:r>
            <a:r>
              <a:rPr lang="en-US" sz="1600" dirty="0" err="1">
                <a:cs typeface="Times New Roman" panose="02020603050405020304" pitchFamily="18" charset="0"/>
                <a:sym typeface="Wingdings" panose="05000000000000000000" pitchFamily="2" charset="2"/>
              </a:rPr>
              <a:t>Đa</a:t>
            </a:r>
            <a:r>
              <a:rPr lang="en-US" sz="1600" dirty="0">
                <a:cs typeface="Times New Roman" panose="02020603050405020304" pitchFamily="18" charset="0"/>
                <a:sym typeface="Wingdings" panose="05000000000000000000" pitchFamily="2" charset="2"/>
              </a:rPr>
              <a:t>̃ có </a:t>
            </a:r>
            <a:r>
              <a:rPr lang="en-US" sz="1600" dirty="0" err="1">
                <a:cs typeface="Times New Roman" panose="02020603050405020304" pitchFamily="18" charset="0"/>
                <a:sym typeface="Wingdings" panose="05000000000000000000" pitchFamily="2" charset="2"/>
              </a:rPr>
              <a:t>phương</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án</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sửa</a:t>
            </a:r>
            <a:r>
              <a:rPr lang="en-US" sz="1600" dirty="0">
                <a:cs typeface="Times New Roman" panose="02020603050405020304" pitchFamily="18" charset="0"/>
                <a:sym typeface="Wingdings" panose="05000000000000000000" pitchFamily="2" charset="2"/>
              </a:rPr>
              <a:t>.</a:t>
            </a:r>
          </a:p>
          <a:p>
            <a:pPr marL="12700" indent="0" algn="just">
              <a:buSzPts val="1100"/>
              <a:buNone/>
            </a:pPr>
            <a:r>
              <a:rPr lang="en-US" sz="1600" dirty="0">
                <a:cs typeface="Times New Roman" panose="02020603050405020304" pitchFamily="18" charset="0"/>
                <a:sym typeface="Wingdings" panose="05000000000000000000" pitchFamily="2" charset="2"/>
              </a:rPr>
              <a:t>      + 10/01, HPV PN: 6773F010000 Robbed </a:t>
            </a:r>
            <a:r>
              <a:rPr lang="en-US" sz="1600" dirty="0" err="1">
                <a:cs typeface="Times New Roman" panose="02020603050405020304" pitchFamily="18" charset="0"/>
                <a:sym typeface="Wingdings" panose="05000000000000000000" pitchFamily="2" charset="2"/>
              </a:rPr>
              <a:t>cho</a:t>
            </a:r>
            <a:r>
              <a:rPr lang="en-US" sz="1600" dirty="0">
                <a:cs typeface="Times New Roman" panose="02020603050405020304" pitchFamily="18" charset="0"/>
                <a:sym typeface="Wingdings" panose="05000000000000000000" pitchFamily="2" charset="2"/>
              </a:rPr>
              <a:t> A606, </a:t>
            </a:r>
            <a:r>
              <a:rPr lang="en-US" sz="1600" dirty="0" err="1">
                <a:cs typeface="Times New Roman" panose="02020603050405020304" pitchFamily="18" charset="0"/>
                <a:sym typeface="Wingdings" panose="05000000000000000000" pitchFamily="2" charset="2"/>
              </a:rPr>
              <a:t>Dư</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kiến</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sáng</a:t>
            </a:r>
            <a:r>
              <a:rPr lang="en-US" sz="1600" dirty="0">
                <a:cs typeface="Times New Roman" panose="02020603050405020304" pitchFamily="18" charset="0"/>
                <a:sym typeface="Wingdings" panose="05000000000000000000" pitchFamily="2" charset="2"/>
              </a:rPr>
              <a:t> 14/01 có </a:t>
            </a:r>
            <a:r>
              <a:rPr lang="en-US" sz="1600" dirty="0" err="1">
                <a:cs typeface="Times New Roman" panose="02020603050405020304" pitchFamily="18" charset="0"/>
                <a:sym typeface="Wingdings" panose="05000000000000000000" pitchFamily="2" charset="2"/>
              </a:rPr>
              <a:t>hàng</a:t>
            </a:r>
            <a:r>
              <a:rPr lang="en-US" sz="1600" dirty="0">
                <a:cs typeface="Times New Roman" panose="02020603050405020304" pitchFamily="18" charset="0"/>
                <a:sym typeface="Wingdings" panose="05000000000000000000" pitchFamily="2" charset="2"/>
              </a:rPr>
              <a:t>. </a:t>
            </a:r>
          </a:p>
          <a:p>
            <a:pPr marL="12700" indent="0" algn="just">
              <a:buSzPts val="1100"/>
              <a:buNone/>
            </a:pPr>
            <a:r>
              <a:rPr lang="en-US" sz="1600" dirty="0">
                <a:cs typeface="Times New Roman" panose="02020603050405020304" pitchFamily="18" charset="0"/>
                <a:sym typeface="Wingdings" panose="05000000000000000000" pitchFamily="2" charset="2"/>
              </a:rPr>
              <a:t>      + 11/01, WO_6900849: Aft Bracket Hinge R/H C-duct, Engine #1 Damaged. </a:t>
            </a:r>
            <a:r>
              <a:rPr lang="en-US" sz="1600" dirty="0" err="1">
                <a:cs typeface="Times New Roman" panose="02020603050405020304" pitchFamily="18" charset="0"/>
                <a:sym typeface="Wingdings" panose="05000000000000000000" pitchFamily="2" charset="2"/>
              </a:rPr>
              <a:t>Hiện</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thiếu</a:t>
            </a:r>
            <a:r>
              <a:rPr lang="en-US" sz="1600" dirty="0">
                <a:cs typeface="Times New Roman" panose="02020603050405020304" pitchFamily="18" charset="0"/>
                <a:sym typeface="Wingdings" panose="05000000000000000000" pitchFamily="2" charset="2"/>
              </a:rPr>
              <a:t> Rivet PN: CR3223-5-03, CR3223-5-02, CR3223-5-04, HL12VAZ6-27, CR3523-4-2. Đ/n VAECO có </a:t>
            </a:r>
            <a:r>
              <a:rPr lang="en-US" sz="1600" dirty="0" err="1">
                <a:cs typeface="Times New Roman" panose="02020603050405020304" pitchFamily="18" charset="0"/>
                <a:sym typeface="Wingdings" panose="05000000000000000000" pitchFamily="2" charset="2"/>
              </a:rPr>
              <a:t>phương</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án</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cung</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ứng</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hoặc</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sư</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dụng</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vật</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tư</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tương</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đương</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đê</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đảm</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bảo</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tiến</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đô</a:t>
            </a:r>
            <a:r>
              <a:rPr lang="en-US" sz="1600" dirty="0">
                <a:cs typeface="Times New Roman" panose="02020603050405020304" pitchFamily="18" charset="0"/>
                <a:sym typeface="Wingdings" panose="05000000000000000000" pitchFamily="2" charset="2"/>
              </a:rPr>
              <a:t>̣.</a:t>
            </a:r>
          </a:p>
          <a:p>
            <a:pPr marL="12700" indent="0" algn="just">
              <a:buSzPts val="1100"/>
              <a:buNone/>
            </a:pPr>
            <a:r>
              <a:rPr lang="en-US" sz="1600" dirty="0">
                <a:cs typeface="Times New Roman" panose="02020603050405020304" pitchFamily="18" charset="0"/>
                <a:sym typeface="Wingdings" panose="05000000000000000000" pitchFamily="2" charset="2"/>
              </a:rPr>
              <a:t>     =&gt; Đ/n VAECO </a:t>
            </a:r>
            <a:r>
              <a:rPr lang="en-US" sz="1600" dirty="0" err="1">
                <a:cs typeface="Times New Roman" panose="02020603050405020304" pitchFamily="18" charset="0"/>
                <a:sym typeface="Wingdings" panose="05000000000000000000" pitchFamily="2" charset="2"/>
              </a:rPr>
              <a:t>tập</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trung</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tối</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đa</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nguồn</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lực</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đê</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đảm</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bảo</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kê</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hoạch</a:t>
            </a:r>
            <a:r>
              <a:rPr lang="en-US" sz="1600" dirty="0">
                <a:cs typeface="Times New Roman" panose="02020603050405020304" pitchFamily="18" charset="0"/>
                <a:sym typeface="Wingdings" panose="05000000000000000000" pitchFamily="2" charset="2"/>
              </a:rPr>
              <a:t> ban </a:t>
            </a:r>
            <a:r>
              <a:rPr lang="en-US" sz="1600" dirty="0" err="1">
                <a:cs typeface="Times New Roman" panose="02020603050405020304" pitchFamily="18" charset="0"/>
                <a:sym typeface="Wingdings" panose="05000000000000000000" pitchFamily="2" charset="2"/>
              </a:rPr>
              <a:t>đầu</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đáp</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ứng</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nhu</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cầu</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khai</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thác</a:t>
            </a:r>
            <a:r>
              <a:rPr lang="en-US" sz="1600" dirty="0">
                <a:cs typeface="Times New Roman" panose="02020603050405020304" pitchFamily="18" charset="0"/>
                <a:sym typeface="Wingdings" panose="05000000000000000000" pitchFamily="2" charset="2"/>
              </a:rPr>
              <a:t>. </a:t>
            </a:r>
          </a:p>
          <a:p>
            <a:pPr marL="12700" indent="0" algn="just">
              <a:buSzPts val="1100"/>
              <a:buNone/>
            </a:pPr>
            <a:r>
              <a:rPr lang="en-US" sz="1600" dirty="0">
                <a:cs typeface="Times New Roman" panose="02020603050405020304" pitchFamily="18" charset="0"/>
                <a:sym typeface="Wingdings" panose="05000000000000000000" pitchFamily="2" charset="2"/>
              </a:rPr>
              <a:t>       </a:t>
            </a:r>
            <a:endParaRPr lang="es-ES" sz="1600" dirty="0">
              <a:cs typeface="Times New Roman" panose="02020603050405020304" pitchFamily="18" charset="0"/>
              <a:sym typeface="Wingdings" panose="05000000000000000000" pitchFamily="2" charset="2"/>
            </a:endParaRPr>
          </a:p>
        </p:txBody>
      </p:sp>
    </p:spTree>
    <p:extLst>
      <p:ext uri="{BB962C8B-B14F-4D97-AF65-F5344CB8AC3E}">
        <p14:creationId xmlns:p14="http://schemas.microsoft.com/office/powerpoint/2010/main" val="18110127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7" name="Google Shape;77;p2"/>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D2A43B"/>
              </a:buClr>
              <a:buSzPts val="1200"/>
              <a:buFont typeface="Montserrat"/>
              <a:buNone/>
            </a:pPr>
            <a:fld id="{00000000-1234-1234-1234-123412341234}" type="slidenum">
              <a:rPr lang="en-US"/>
              <a:t>39</a:t>
            </a:fld>
            <a:endParaRPr dirty="0"/>
          </a:p>
        </p:txBody>
      </p:sp>
      <p:sp>
        <p:nvSpPr>
          <p:cNvPr id="76" name="Google Shape;76;p2"/>
          <p:cNvSpPr txBox="1">
            <a:spLocks noGrp="1"/>
          </p:cNvSpPr>
          <p:nvPr>
            <p:ph type="title"/>
          </p:nvPr>
        </p:nvSpPr>
        <p:spPr>
          <a:xfrm>
            <a:off x="431216" y="457200"/>
            <a:ext cx="9777833" cy="4572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4400"/>
              <a:buNone/>
            </a:pPr>
            <a:r>
              <a:rPr lang="en-US" sz="2400" b="1" dirty="0">
                <a:solidFill>
                  <a:srgbClr val="FFC000"/>
                </a:solidFill>
                <a:latin typeface="Times New Roman" panose="02020603050405020304" pitchFamily="18" charset="0"/>
                <a:cs typeface="Times New Roman" panose="02020603050405020304" pitchFamily="18" charset="0"/>
              </a:rPr>
              <a:t>CÁC TÀU BQDB VÀ ĐANG TRONG BẢO DƯỠNG ĐỊNH KỲ (BD</a:t>
            </a:r>
            <a:r>
              <a:rPr lang="en-US" sz="2400" dirty="0">
                <a:solidFill>
                  <a:srgbClr val="FFC000"/>
                </a:solidFill>
                <a:latin typeface="Times New Roman" panose="02020603050405020304" pitchFamily="18" charset="0"/>
                <a:cs typeface="Times New Roman" panose="02020603050405020304" pitchFamily="18" charset="0"/>
              </a:rPr>
              <a:t>Đ</a:t>
            </a:r>
            <a:r>
              <a:rPr lang="en-US" sz="2400" b="1" dirty="0">
                <a:solidFill>
                  <a:srgbClr val="FFC000"/>
                </a:solidFill>
                <a:latin typeface="Times New Roman" panose="02020603050405020304" pitchFamily="18" charset="0"/>
                <a:cs typeface="Times New Roman" panose="02020603050405020304" pitchFamily="18" charset="0"/>
              </a:rPr>
              <a:t>K)</a:t>
            </a:r>
            <a:endParaRPr sz="2400" b="0" dirty="0">
              <a:solidFill>
                <a:srgbClr val="FFC000"/>
              </a:solidFill>
              <a:latin typeface="Times New Roman" panose="02020603050405020304" pitchFamily="18" charset="0"/>
              <a:cs typeface="Times New Roman" panose="02020603050405020304" pitchFamily="18" charset="0"/>
            </a:endParaRPr>
          </a:p>
        </p:txBody>
      </p:sp>
      <p:sp>
        <p:nvSpPr>
          <p:cNvPr id="4" name="Text Placeholder 1">
            <a:extLst>
              <a:ext uri="{FF2B5EF4-FFF2-40B4-BE49-F238E27FC236}">
                <a16:creationId xmlns="" xmlns:a16="http://schemas.microsoft.com/office/drawing/2014/main" id="{312CF2C2-6EB0-B14C-95A4-C4BAAE6ACB25}"/>
              </a:ext>
            </a:extLst>
          </p:cNvPr>
          <p:cNvSpPr txBox="1">
            <a:spLocks/>
          </p:cNvSpPr>
          <p:nvPr/>
        </p:nvSpPr>
        <p:spPr>
          <a:xfrm>
            <a:off x="431216" y="1146023"/>
            <a:ext cx="10591800" cy="533400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indent="0" algn="just">
              <a:buSzPts val="1100"/>
              <a:buNone/>
            </a:pPr>
            <a:r>
              <a:rPr lang="es-ES" sz="1600" b="1" dirty="0">
                <a:solidFill>
                  <a:srgbClr val="FF0000"/>
                </a:solidFill>
                <a:cs typeface="Times New Roman" panose="02020603050405020304" pitchFamily="18" charset="0"/>
                <a:sym typeface="Wingdings" panose="05000000000000000000" pitchFamily="2" charset="2"/>
              </a:rPr>
              <a:t>3</a:t>
            </a:r>
            <a:r>
              <a:rPr lang="es-ES" sz="1600" dirty="0">
                <a:cs typeface="Times New Roman" panose="02020603050405020304" pitchFamily="18" charset="0"/>
                <a:sym typeface="Wingdings" panose="05000000000000000000" pitchFamily="2" charset="2"/>
              </a:rPr>
              <a:t>. </a:t>
            </a:r>
            <a:r>
              <a:rPr lang="es-ES" sz="1600" b="1" dirty="0">
                <a:solidFill>
                  <a:srgbClr val="FF0000"/>
                </a:solidFill>
                <a:cs typeface="Times New Roman" panose="02020603050405020304" pitchFamily="18" charset="0"/>
                <a:sym typeface="Wingdings" panose="05000000000000000000" pitchFamily="2" charset="2"/>
              </a:rPr>
              <a:t>A619: ENG CHG (10/01-14/01):</a:t>
            </a:r>
            <a:r>
              <a:rPr lang="en-US" sz="1600" dirty="0">
                <a:cs typeface="Times New Roman" panose="02020603050405020304" pitchFamily="18" charset="0"/>
                <a:sym typeface="Wingdings" panose="05000000000000000000" pitchFamily="2" charset="2"/>
              </a:rPr>
              <a:t>   </a:t>
            </a:r>
            <a:r>
              <a:rPr lang="en-US" sz="1600" b="1" dirty="0">
                <a:cs typeface="Times New Roman" panose="02020603050405020304" pitchFamily="18" charset="0"/>
                <a:sym typeface="Wingdings" panose="05000000000000000000" pitchFamily="2" charset="2"/>
              </a:rPr>
              <a:t>On Sked</a:t>
            </a:r>
          </a:p>
          <a:p>
            <a:pPr marL="12700" indent="0" algn="just">
              <a:buSzPts val="1100"/>
              <a:buNone/>
            </a:pPr>
            <a:endParaRPr lang="en-US" sz="1600" dirty="0">
              <a:cs typeface="Times New Roman" panose="02020603050405020304" pitchFamily="18" charset="0"/>
              <a:sym typeface="Wingdings" panose="05000000000000000000" pitchFamily="2" charset="2"/>
            </a:endParaRPr>
          </a:p>
          <a:p>
            <a:pPr marL="12700" indent="0" algn="just">
              <a:buSzPts val="1100"/>
              <a:buNone/>
            </a:pPr>
            <a:r>
              <a:rPr lang="es-ES" sz="1600" b="1" dirty="0">
                <a:solidFill>
                  <a:srgbClr val="FF0000"/>
                </a:solidFill>
                <a:cs typeface="Times New Roman" panose="02020603050405020304" pitchFamily="18" charset="0"/>
                <a:sym typeface="Wingdings" panose="05000000000000000000" pitchFamily="2" charset="2"/>
              </a:rPr>
              <a:t>4</a:t>
            </a:r>
            <a:r>
              <a:rPr lang="es-ES" sz="1600" dirty="0">
                <a:cs typeface="Times New Roman" panose="02020603050405020304" pitchFamily="18" charset="0"/>
                <a:sym typeface="Wingdings" panose="05000000000000000000" pitchFamily="2" charset="2"/>
              </a:rPr>
              <a:t>. </a:t>
            </a:r>
            <a:r>
              <a:rPr lang="es-ES" sz="1600" b="1" dirty="0">
                <a:solidFill>
                  <a:srgbClr val="FF0000"/>
                </a:solidFill>
                <a:cs typeface="Times New Roman" panose="02020603050405020304" pitchFamily="18" charset="0"/>
                <a:sym typeface="Wingdings" panose="05000000000000000000" pitchFamily="2" charset="2"/>
              </a:rPr>
              <a:t>A506: EA22, EA23, RTS (07/01-14/01): </a:t>
            </a:r>
            <a:r>
              <a:rPr lang="es-ES" sz="1600" b="1" dirty="0" err="1">
                <a:cs typeface="Times New Roman" panose="02020603050405020304" pitchFamily="18" charset="0"/>
                <a:sym typeface="Wingdings" panose="05000000000000000000" pitchFamily="2" charset="2"/>
              </a:rPr>
              <a:t>On</a:t>
            </a:r>
            <a:r>
              <a:rPr lang="es-ES" sz="1600" b="1" dirty="0">
                <a:cs typeface="Times New Roman" panose="02020603050405020304" pitchFamily="18" charset="0"/>
                <a:sym typeface="Wingdings" panose="05000000000000000000" pitchFamily="2" charset="2"/>
              </a:rPr>
              <a:t> </a:t>
            </a:r>
            <a:r>
              <a:rPr lang="es-ES" sz="1600" b="1" dirty="0" err="1">
                <a:cs typeface="Times New Roman" panose="02020603050405020304" pitchFamily="18" charset="0"/>
                <a:sym typeface="Wingdings" panose="05000000000000000000" pitchFamily="2" charset="2"/>
              </a:rPr>
              <a:t>Sked</a:t>
            </a:r>
            <a:endParaRPr lang="es-ES" sz="1600" b="1" dirty="0">
              <a:cs typeface="Times New Roman" panose="02020603050405020304" pitchFamily="18" charset="0"/>
              <a:sym typeface="Wingdings" panose="05000000000000000000" pitchFamily="2" charset="2"/>
            </a:endParaRPr>
          </a:p>
          <a:p>
            <a:pPr marL="12700" indent="0" algn="just">
              <a:buSzPts val="1100"/>
              <a:buNone/>
            </a:pPr>
            <a:r>
              <a:rPr lang="es-ES" sz="1600" b="1" dirty="0">
                <a:solidFill>
                  <a:srgbClr val="FF0000"/>
                </a:solidFill>
                <a:cs typeface="Times New Roman" panose="02020603050405020304" pitchFamily="18" charset="0"/>
                <a:sym typeface="Wingdings" panose="05000000000000000000" pitchFamily="2" charset="2"/>
              </a:rPr>
              <a:t>   </a:t>
            </a:r>
            <a:r>
              <a:rPr lang="es-E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Phát</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sinh</a:t>
            </a:r>
            <a:r>
              <a:rPr lang="en-US" sz="1600" dirty="0">
                <a:cs typeface="Times New Roman" panose="02020603050405020304" pitchFamily="18" charset="0"/>
                <a:sym typeface="Wingdings" panose="05000000000000000000" pitchFamily="2" charset="2"/>
              </a:rPr>
              <a:t> Fuel Leak  </a:t>
            </a:r>
            <a:r>
              <a:rPr lang="en-US" sz="1600" dirty="0" err="1">
                <a:cs typeface="Times New Roman" panose="02020603050405020304" pitchFamily="18" charset="0"/>
                <a:sym typeface="Wingdings" panose="05000000000000000000" pitchFamily="2" charset="2"/>
              </a:rPr>
              <a:t>Drybay</a:t>
            </a:r>
            <a:r>
              <a:rPr lang="en-US" sz="1600" dirty="0">
                <a:cs typeface="Times New Roman" panose="02020603050405020304" pitchFamily="18" charset="0"/>
                <a:sym typeface="Wingdings" panose="05000000000000000000" pitchFamily="2" charset="2"/>
              </a:rPr>
              <a:t> RH WING 12/01/25. </a:t>
            </a:r>
          </a:p>
          <a:p>
            <a:pPr marL="12700" indent="0" algn="just">
              <a:buSzPts val="1100"/>
              <a:buNone/>
            </a:pPr>
            <a:r>
              <a:rPr lang="en-US" sz="1600" dirty="0">
                <a:cs typeface="Times New Roman" panose="02020603050405020304" pitchFamily="18" charset="0"/>
                <a:sym typeface="Wingdings" panose="05000000000000000000" pitchFamily="2" charset="2"/>
              </a:rPr>
              <a:t>   = &gt; Đ/n HAN Base </a:t>
            </a:r>
            <a:r>
              <a:rPr lang="en-US" sz="1600" dirty="0" err="1">
                <a:cs typeface="Times New Roman" panose="02020603050405020304" pitchFamily="18" charset="0"/>
                <a:sym typeface="Wingdings" panose="05000000000000000000" pitchFamily="2" charset="2"/>
              </a:rPr>
              <a:t>tập</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trung</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khắc</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phục</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sớm</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tránh</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ảnh</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hưởng</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tiến</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đô</a:t>
            </a:r>
            <a:r>
              <a:rPr lang="en-US" sz="1600" dirty="0">
                <a:cs typeface="Times New Roman" panose="02020603050405020304" pitchFamily="18" charset="0"/>
                <a:sym typeface="Wingdings" panose="05000000000000000000" pitchFamily="2" charset="2"/>
              </a:rPr>
              <a:t>̣.</a:t>
            </a:r>
          </a:p>
          <a:p>
            <a:pPr marL="12700" indent="0" algn="just">
              <a:buSzPts val="1100"/>
              <a:buNone/>
            </a:pPr>
            <a:endParaRPr lang="en-US" sz="1600" dirty="0">
              <a:cs typeface="Times New Roman" panose="02020603050405020304" pitchFamily="18" charset="0"/>
              <a:sym typeface="Wingdings" panose="05000000000000000000" pitchFamily="2" charset="2"/>
            </a:endParaRPr>
          </a:p>
          <a:p>
            <a:pPr marL="12700" indent="0" algn="just">
              <a:buSzPts val="1100"/>
              <a:buFont typeface="Arial" panose="020B0604020202020204" pitchFamily="34" charset="0"/>
              <a:buNone/>
            </a:pPr>
            <a:r>
              <a:rPr lang="es-ES" sz="1600" b="1" dirty="0">
                <a:solidFill>
                  <a:srgbClr val="FF0000"/>
                </a:solidFill>
                <a:cs typeface="Times New Roman" panose="02020603050405020304" pitchFamily="18" charset="0"/>
                <a:sym typeface="Wingdings" panose="05000000000000000000" pitchFamily="2" charset="2"/>
              </a:rPr>
              <a:t>5. </a:t>
            </a:r>
            <a:r>
              <a:rPr lang="es-ES" sz="1600" b="1" dirty="0" err="1">
                <a:solidFill>
                  <a:srgbClr val="FF0000"/>
                </a:solidFill>
                <a:cs typeface="Times New Roman" panose="02020603050405020304" pitchFamily="18" charset="0"/>
                <a:sym typeface="Wingdings" panose="05000000000000000000" pitchFamily="2" charset="2"/>
              </a:rPr>
              <a:t>Vấn</a:t>
            </a:r>
            <a:r>
              <a:rPr lang="es-ES" sz="1600" b="1" dirty="0">
                <a:solidFill>
                  <a:srgbClr val="FF0000"/>
                </a:solidFill>
                <a:cs typeface="Times New Roman" panose="02020603050405020304" pitchFamily="18" charset="0"/>
                <a:sym typeface="Wingdings" panose="05000000000000000000" pitchFamily="2" charset="2"/>
              </a:rPr>
              <a:t> </a:t>
            </a:r>
            <a:r>
              <a:rPr lang="es-ES" sz="1600" b="1" dirty="0" err="1">
                <a:solidFill>
                  <a:srgbClr val="FF0000"/>
                </a:solidFill>
                <a:cs typeface="Times New Roman" panose="02020603050405020304" pitchFamily="18" charset="0"/>
                <a:sym typeface="Wingdings" panose="05000000000000000000" pitchFamily="2" charset="2"/>
              </a:rPr>
              <a:t>đề</a:t>
            </a:r>
            <a:r>
              <a:rPr lang="es-ES" sz="1600" b="1" dirty="0">
                <a:solidFill>
                  <a:srgbClr val="FF0000"/>
                </a:solidFill>
                <a:cs typeface="Times New Roman" panose="02020603050405020304" pitchFamily="18" charset="0"/>
                <a:sym typeface="Wingdings" panose="05000000000000000000" pitchFamily="2" charset="2"/>
              </a:rPr>
              <a:t> </a:t>
            </a:r>
            <a:r>
              <a:rPr lang="es-ES" sz="1600" b="1" dirty="0" err="1">
                <a:solidFill>
                  <a:srgbClr val="FF0000"/>
                </a:solidFill>
                <a:cs typeface="Times New Roman" panose="02020603050405020304" pitchFamily="18" charset="0"/>
                <a:sym typeface="Wingdings" panose="05000000000000000000" pitchFamily="2" charset="2"/>
              </a:rPr>
              <a:t>ảnh</a:t>
            </a:r>
            <a:r>
              <a:rPr lang="es-ES" sz="1600" b="1" dirty="0">
                <a:solidFill>
                  <a:srgbClr val="FF0000"/>
                </a:solidFill>
                <a:cs typeface="Times New Roman" panose="02020603050405020304" pitchFamily="18" charset="0"/>
                <a:sym typeface="Wingdings" panose="05000000000000000000" pitchFamily="2" charset="2"/>
              </a:rPr>
              <a:t> </a:t>
            </a:r>
            <a:r>
              <a:rPr lang="es-ES" sz="1600" b="1" dirty="0" err="1">
                <a:solidFill>
                  <a:srgbClr val="FF0000"/>
                </a:solidFill>
                <a:cs typeface="Times New Roman" panose="02020603050405020304" pitchFamily="18" charset="0"/>
                <a:sym typeface="Wingdings" panose="05000000000000000000" pitchFamily="2" charset="2"/>
              </a:rPr>
              <a:t>hưởng</a:t>
            </a:r>
            <a:r>
              <a:rPr lang="es-ES" sz="1600" b="1" dirty="0">
                <a:solidFill>
                  <a:srgbClr val="FF0000"/>
                </a:solidFill>
                <a:cs typeface="Times New Roman" panose="02020603050405020304" pitchFamily="18" charset="0"/>
                <a:sym typeface="Wingdings" panose="05000000000000000000" pitchFamily="2" charset="2"/>
              </a:rPr>
              <a:t> </a:t>
            </a:r>
            <a:r>
              <a:rPr lang="es-ES" sz="1600" b="1" dirty="0" err="1">
                <a:solidFill>
                  <a:srgbClr val="FF0000"/>
                </a:solidFill>
                <a:cs typeface="Times New Roman" panose="02020603050405020304" pitchFamily="18" charset="0"/>
                <a:sym typeface="Wingdings" panose="05000000000000000000" pitchFamily="2" charset="2"/>
              </a:rPr>
              <a:t>đến</a:t>
            </a:r>
            <a:r>
              <a:rPr lang="es-ES" sz="1600" b="1" dirty="0">
                <a:solidFill>
                  <a:srgbClr val="FF0000"/>
                </a:solidFill>
                <a:cs typeface="Times New Roman" panose="02020603050405020304" pitchFamily="18" charset="0"/>
                <a:sym typeface="Wingdings" panose="05000000000000000000" pitchFamily="2" charset="2"/>
              </a:rPr>
              <a:t> </a:t>
            </a:r>
            <a:r>
              <a:rPr lang="es-ES" sz="1600" b="1" dirty="0" err="1">
                <a:solidFill>
                  <a:srgbClr val="FF0000"/>
                </a:solidFill>
                <a:cs typeface="Times New Roman" panose="02020603050405020304" pitchFamily="18" charset="0"/>
                <a:sym typeface="Wingdings" panose="05000000000000000000" pitchFamily="2" charset="2"/>
              </a:rPr>
              <a:t>kế</a:t>
            </a:r>
            <a:r>
              <a:rPr lang="es-ES" sz="1600" b="1" dirty="0">
                <a:solidFill>
                  <a:srgbClr val="FF0000"/>
                </a:solidFill>
                <a:cs typeface="Times New Roman" panose="02020603050405020304" pitchFamily="18" charset="0"/>
                <a:sym typeface="Wingdings" panose="05000000000000000000" pitchFamily="2" charset="2"/>
              </a:rPr>
              <a:t> </a:t>
            </a:r>
            <a:r>
              <a:rPr lang="es-ES" sz="1600" b="1" dirty="0" err="1">
                <a:solidFill>
                  <a:srgbClr val="FF0000"/>
                </a:solidFill>
                <a:cs typeface="Times New Roman" panose="02020603050405020304" pitchFamily="18" charset="0"/>
                <a:sym typeface="Wingdings" panose="05000000000000000000" pitchFamily="2" charset="2"/>
              </a:rPr>
              <a:t>hoạch</a:t>
            </a:r>
            <a:r>
              <a:rPr lang="es-ES" sz="1600" b="1" dirty="0">
                <a:solidFill>
                  <a:srgbClr val="FF0000"/>
                </a:solidFill>
                <a:cs typeface="Times New Roman" panose="02020603050405020304" pitchFamily="18" charset="0"/>
                <a:sym typeface="Wingdings" panose="05000000000000000000" pitchFamily="2" charset="2"/>
              </a:rPr>
              <a:t> </a:t>
            </a:r>
            <a:r>
              <a:rPr lang="es-ES" sz="1600" b="1" dirty="0" err="1">
                <a:solidFill>
                  <a:srgbClr val="FF0000"/>
                </a:solidFill>
                <a:cs typeface="Times New Roman" panose="02020603050405020304" pitchFamily="18" charset="0"/>
                <a:sym typeface="Wingdings" panose="05000000000000000000" pitchFamily="2" charset="2"/>
              </a:rPr>
              <a:t>hoàn</a:t>
            </a:r>
            <a:r>
              <a:rPr lang="es-ES" sz="1600" b="1" dirty="0">
                <a:solidFill>
                  <a:srgbClr val="FF0000"/>
                </a:solidFill>
                <a:cs typeface="Times New Roman" panose="02020603050405020304" pitchFamily="18" charset="0"/>
                <a:sym typeface="Wingdings" panose="05000000000000000000" pitchFamily="2" charset="2"/>
              </a:rPr>
              <a:t> </a:t>
            </a:r>
            <a:r>
              <a:rPr lang="es-ES" sz="1600" b="1" dirty="0" err="1">
                <a:solidFill>
                  <a:srgbClr val="FF0000"/>
                </a:solidFill>
                <a:cs typeface="Times New Roman" panose="02020603050405020304" pitchFamily="18" charset="0"/>
                <a:sym typeface="Wingdings" panose="05000000000000000000" pitchFamily="2" charset="2"/>
              </a:rPr>
              <a:t>thành</a:t>
            </a:r>
            <a:r>
              <a:rPr lang="es-ES" sz="1600" b="1" dirty="0">
                <a:solidFill>
                  <a:srgbClr val="FF0000"/>
                </a:solidFill>
                <a:cs typeface="Times New Roman" panose="02020603050405020304" pitchFamily="18" charset="0"/>
                <a:sym typeface="Wingdings" panose="05000000000000000000" pitchFamily="2" charset="2"/>
              </a:rPr>
              <a:t> </a:t>
            </a:r>
            <a:r>
              <a:rPr lang="es-ES" sz="1600" b="1" dirty="0" err="1">
                <a:solidFill>
                  <a:srgbClr val="FF0000"/>
                </a:solidFill>
                <a:cs typeface="Times New Roman" panose="02020603050405020304" pitchFamily="18" charset="0"/>
                <a:sym typeface="Wingdings" panose="05000000000000000000" pitchFamily="2" charset="2"/>
              </a:rPr>
              <a:t>định</a:t>
            </a:r>
            <a:r>
              <a:rPr lang="es-ES" sz="1600" b="1" dirty="0">
                <a:solidFill>
                  <a:srgbClr val="FF0000"/>
                </a:solidFill>
                <a:cs typeface="Times New Roman" panose="02020603050405020304" pitchFamily="18" charset="0"/>
                <a:sym typeface="Wingdings" panose="05000000000000000000" pitchFamily="2" charset="2"/>
              </a:rPr>
              <a:t> </a:t>
            </a:r>
            <a:r>
              <a:rPr lang="es-ES" sz="1600" b="1" dirty="0" err="1">
                <a:solidFill>
                  <a:srgbClr val="FF0000"/>
                </a:solidFill>
                <a:cs typeface="Times New Roman" panose="02020603050405020304" pitchFamily="18" charset="0"/>
                <a:sym typeface="Wingdings" panose="05000000000000000000" pitchFamily="2" charset="2"/>
              </a:rPr>
              <a:t>kỳ</a:t>
            </a:r>
            <a:r>
              <a:rPr lang="es-ES" sz="1600" b="1" dirty="0">
                <a:solidFill>
                  <a:srgbClr val="FF0000"/>
                </a:solidFill>
                <a:cs typeface="Times New Roman" panose="02020603050405020304" pitchFamily="18" charset="0"/>
                <a:sym typeface="Wingdings" panose="05000000000000000000" pitchFamily="2" charset="2"/>
              </a:rPr>
              <a:t> </a:t>
            </a:r>
            <a:r>
              <a:rPr lang="es-ES" sz="1600" b="1" dirty="0" err="1">
                <a:solidFill>
                  <a:srgbClr val="FF0000"/>
                </a:solidFill>
                <a:cs typeface="Times New Roman" panose="02020603050405020304" pitchFamily="18" charset="0"/>
                <a:sym typeface="Wingdings" panose="05000000000000000000" pitchFamily="2" charset="2"/>
              </a:rPr>
              <a:t>đội</a:t>
            </a:r>
            <a:r>
              <a:rPr lang="es-ES" sz="1600" b="1" dirty="0">
                <a:solidFill>
                  <a:srgbClr val="FF0000"/>
                </a:solidFill>
                <a:cs typeface="Times New Roman" panose="02020603050405020304" pitchFamily="18" charset="0"/>
                <a:sym typeface="Wingdings" panose="05000000000000000000" pitchFamily="2" charset="2"/>
              </a:rPr>
              <a:t> </a:t>
            </a:r>
            <a:r>
              <a:rPr lang="es-ES" sz="1600" b="1" dirty="0" err="1">
                <a:solidFill>
                  <a:srgbClr val="FF0000"/>
                </a:solidFill>
                <a:cs typeface="Times New Roman" panose="02020603050405020304" pitchFamily="18" charset="0"/>
                <a:sym typeface="Wingdings" panose="05000000000000000000" pitchFamily="2" charset="2"/>
              </a:rPr>
              <a:t>tàu</a:t>
            </a:r>
            <a:r>
              <a:rPr lang="es-ES" sz="1600" b="1" dirty="0">
                <a:solidFill>
                  <a:srgbClr val="FF0000"/>
                </a:solidFill>
                <a:cs typeface="Times New Roman" panose="02020603050405020304" pitchFamily="18" charset="0"/>
                <a:sym typeface="Wingdings" panose="05000000000000000000" pitchFamily="2" charset="2"/>
              </a:rPr>
              <a:t> A321.</a:t>
            </a:r>
            <a:endParaRPr lang="en-US" sz="1600" dirty="0">
              <a:cs typeface="Times New Roman" panose="02020603050405020304" pitchFamily="18" charset="0"/>
            </a:endParaRPr>
          </a:p>
          <a:p>
            <a:pPr marL="12700" indent="0" algn="just">
              <a:lnSpc>
                <a:spcPct val="150000"/>
              </a:lnSpc>
              <a:spcBef>
                <a:spcPts val="600"/>
              </a:spcBef>
              <a:buSzPts val="1100"/>
              <a:buNone/>
            </a:pPr>
            <a:r>
              <a:rPr lang="en-US" sz="1600" dirty="0">
                <a:cs typeface="Times New Roman" panose="02020603050405020304" pitchFamily="18" charset="0"/>
                <a:sym typeface="Wingdings" panose="05000000000000000000" pitchFamily="2" charset="2"/>
              </a:rPr>
              <a:t>    - </a:t>
            </a:r>
            <a:r>
              <a:rPr lang="en-US" sz="1600" dirty="0" err="1">
                <a:cs typeface="Times New Roman" panose="02020603050405020304" pitchFamily="18" charset="0"/>
                <a:sym typeface="Wingdings" panose="05000000000000000000" pitchFamily="2" charset="2"/>
              </a:rPr>
              <a:t>Một</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sô</a:t>
            </a:r>
            <a:r>
              <a:rPr lang="en-US" sz="1600" dirty="0">
                <a:cs typeface="Times New Roman" panose="02020603050405020304" pitchFamily="18" charset="0"/>
                <a:sym typeface="Wingdings" panose="05000000000000000000" pitchFamily="2" charset="2"/>
              </a:rPr>
              <a:t>́ Anti Ice Duct có </a:t>
            </a:r>
            <a:r>
              <a:rPr lang="en-US" sz="1600" dirty="0" err="1">
                <a:cs typeface="Times New Roman" panose="02020603050405020304" pitchFamily="18" charset="0"/>
                <a:sym typeface="Wingdings" panose="05000000000000000000" pitchFamily="2" charset="2"/>
              </a:rPr>
              <a:t>dấu</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hiệu</a:t>
            </a:r>
            <a:r>
              <a:rPr lang="en-US" sz="1600" dirty="0">
                <a:cs typeface="Times New Roman" panose="02020603050405020304" pitchFamily="18" charset="0"/>
                <a:sym typeface="Wingdings" panose="05000000000000000000" pitchFamily="2" charset="2"/>
              </a:rPr>
              <a:t> có </a:t>
            </a:r>
            <a:r>
              <a:rPr lang="en-US" sz="1600" dirty="0" err="1">
                <a:cs typeface="Times New Roman" panose="02020603050405020304" pitchFamily="18" charset="0"/>
                <a:sym typeface="Wingdings" panose="05000000000000000000" pitchFamily="2" charset="2"/>
              </a:rPr>
              <a:t>thê</a:t>
            </a:r>
            <a:r>
              <a:rPr lang="en-US" sz="1600" dirty="0">
                <a:cs typeface="Times New Roman" panose="02020603050405020304" pitchFamily="18" charset="0"/>
                <a:sym typeface="Wingdings" panose="05000000000000000000" pitchFamily="2" charset="2"/>
              </a:rPr>
              <a:t>̉ bị </a:t>
            </a:r>
            <a:r>
              <a:rPr lang="en-US" sz="1600" dirty="0" err="1">
                <a:cs typeface="Times New Roman" panose="02020603050405020304" pitchFamily="18" charset="0"/>
                <a:sym typeface="Wingdings" panose="05000000000000000000" pitchFamily="2" charset="2"/>
              </a:rPr>
              <a:t>hỏng</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hóc</a:t>
            </a:r>
            <a:r>
              <a:rPr lang="en-US" sz="1600" dirty="0">
                <a:cs typeface="Times New Roman" panose="02020603050405020304" pitchFamily="18" charset="0"/>
                <a:sym typeface="Wingdings" panose="05000000000000000000" pitchFamily="2" charset="2"/>
              </a:rPr>
              <a:t> =&gt; Đ/n QLVT </a:t>
            </a:r>
            <a:r>
              <a:rPr lang="en-US" sz="1600" dirty="0" err="1">
                <a:cs typeface="Times New Roman" panose="02020603050405020304" pitchFamily="18" charset="0"/>
                <a:sym typeface="Wingdings" panose="05000000000000000000" pitchFamily="2" charset="2"/>
              </a:rPr>
              <a:t>lên</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phương</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án</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dư</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phòng</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sớm</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chuẩn</a:t>
            </a:r>
            <a:r>
              <a:rPr lang="en-US" sz="1600" dirty="0">
                <a:cs typeface="Times New Roman" panose="02020603050405020304" pitchFamily="18" charset="0"/>
                <a:sym typeface="Wingdings" panose="05000000000000000000" pitchFamily="2" charset="2"/>
              </a:rPr>
              <a:t> bị </a:t>
            </a:r>
            <a:r>
              <a:rPr lang="en-US" sz="1600" dirty="0" err="1">
                <a:cs typeface="Times New Roman" panose="02020603050405020304" pitchFamily="18" charset="0"/>
                <a:sym typeface="Wingdings" panose="05000000000000000000" pitchFamily="2" charset="2"/>
              </a:rPr>
              <a:t>cho</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các</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trường</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hợp</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phát</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sinh</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hỏng</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hóc</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không</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thể</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khắc</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phục</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được</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khi</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khai</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thác</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cao</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điểm</a:t>
            </a:r>
            <a:r>
              <a:rPr lang="en-US" sz="1600" dirty="0">
                <a:cs typeface="Times New Roman" panose="02020603050405020304" pitchFamily="18" charset="0"/>
                <a:sym typeface="Wingdings" panose="05000000000000000000" pitchFamily="2" charset="2"/>
              </a:rPr>
              <a:t>.</a:t>
            </a:r>
          </a:p>
          <a:p>
            <a:pPr marL="12700" indent="0" algn="just">
              <a:lnSpc>
                <a:spcPct val="150000"/>
              </a:lnSpc>
              <a:spcBef>
                <a:spcPts val="600"/>
              </a:spcBef>
              <a:buSzPts val="1100"/>
              <a:buNone/>
            </a:pPr>
            <a:r>
              <a:rPr lang="en-US" sz="1600" b="1" dirty="0">
                <a:cs typeface="Times New Roman" panose="02020603050405020304" pitchFamily="18" charset="0"/>
                <a:sym typeface="Wingdings" panose="05000000000000000000" pitchFamily="2" charset="2"/>
              </a:rPr>
              <a:t>    </a:t>
            </a:r>
            <a:r>
              <a:rPr lang="en-US" sz="1600" dirty="0">
                <a:cs typeface="Times New Roman" panose="02020603050405020304" pitchFamily="18" charset="0"/>
                <a:sym typeface="Wingdings" panose="05000000000000000000" pitchFamily="2" charset="2"/>
              </a:rPr>
              <a:t>- Đ/n QLVT, CƯVT </a:t>
            </a:r>
            <a:r>
              <a:rPr lang="en-US" sz="1600" dirty="0" err="1">
                <a:cs typeface="Times New Roman" panose="02020603050405020304" pitchFamily="18" charset="0"/>
                <a:sym typeface="Wingdings" panose="05000000000000000000" pitchFamily="2" charset="2"/>
              </a:rPr>
              <a:t>đảm</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bảo</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tiến</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đô</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của</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các</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vật</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tư</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phát</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sinh</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tránh</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ảnh</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hưởng</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kê</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hoạch</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ra</a:t>
            </a:r>
            <a:r>
              <a:rPr lang="en-US" sz="1600" dirty="0">
                <a:cs typeface="Times New Roman" panose="02020603050405020304" pitchFamily="18" charset="0"/>
                <a:sym typeface="Wingdings" panose="05000000000000000000" pitchFamily="2" charset="2"/>
              </a:rPr>
              <a:t> Check. </a:t>
            </a:r>
            <a:endParaRPr lang="en-US" sz="1600" dirty="0">
              <a:cs typeface="Times New Roman" panose="02020603050405020304" pitchFamily="18" charset="0"/>
            </a:endParaRPr>
          </a:p>
          <a:p>
            <a:pPr marL="12700" indent="0">
              <a:lnSpc>
                <a:spcPct val="120000"/>
              </a:lnSpc>
              <a:buSzPts val="1100"/>
              <a:buFont typeface="Arial" panose="020B0604020202020204" pitchFamily="34" charset="0"/>
              <a:buNone/>
            </a:pPr>
            <a:r>
              <a:rPr lang="en-US" sz="1600" b="1" dirty="0">
                <a:cs typeface="Times New Roman" panose="02020603050405020304" pitchFamily="18" charset="0"/>
              </a:rPr>
              <a:t>III. A350:</a:t>
            </a:r>
            <a:r>
              <a:rPr lang="es-ES" sz="1600" i="1" dirty="0">
                <a:cs typeface="Times New Roman" panose="02020603050405020304" pitchFamily="18" charset="0"/>
                <a:sym typeface="Wingdings" panose="05000000000000000000" pitchFamily="2" charset="2"/>
              </a:rPr>
              <a:t> </a:t>
            </a:r>
          </a:p>
          <a:p>
            <a:pPr marL="12700" indent="0">
              <a:lnSpc>
                <a:spcPct val="120000"/>
              </a:lnSpc>
              <a:buSzPts val="1100"/>
              <a:buFont typeface="Arial" panose="020B0604020202020204" pitchFamily="34" charset="0"/>
              <a:buNone/>
            </a:pPr>
            <a:r>
              <a:rPr lang="en-US" sz="1600" b="1" i="1" dirty="0">
                <a:solidFill>
                  <a:srgbClr val="FF0000"/>
                </a:solidFill>
                <a:cs typeface="Times New Roman" panose="02020603050405020304" pitchFamily="18" charset="0"/>
                <a:sym typeface="Wingdings" panose="05000000000000000000" pitchFamily="2" charset="2"/>
              </a:rPr>
              <a:t>Nil</a:t>
            </a:r>
            <a:endParaRPr lang="en-US" sz="1600" dirty="0">
              <a:cs typeface="Times New Roman" panose="02020603050405020304" pitchFamily="18" charset="0"/>
            </a:endParaRPr>
          </a:p>
          <a:p>
            <a:pPr marL="12700" indent="0">
              <a:buSzPts val="1100"/>
              <a:buFont typeface="Arial" panose="020B0604020202020204" pitchFamily="34" charset="0"/>
              <a:buNone/>
            </a:pPr>
            <a:endParaRPr lang="es-ES" sz="1600" b="1" dirty="0">
              <a:solidFill>
                <a:srgbClr val="FF0000"/>
              </a:solidFill>
              <a:cs typeface="Times New Roman" panose="02020603050405020304" pitchFamily="18" charset="0"/>
              <a:sym typeface="Wingdings" panose="05000000000000000000" pitchFamily="2" charset="2"/>
            </a:endParaRPr>
          </a:p>
          <a:p>
            <a:pPr marL="50800" indent="0">
              <a:buFont typeface="Arial" panose="020B0604020202020204" pitchFamily="34" charset="0"/>
              <a:buNone/>
            </a:pPr>
            <a:endParaRPr lang="x-none" sz="1600" dirty="0"/>
          </a:p>
        </p:txBody>
      </p:sp>
    </p:spTree>
    <p:extLst>
      <p:ext uri="{BB962C8B-B14F-4D97-AF65-F5344CB8AC3E}">
        <p14:creationId xmlns:p14="http://schemas.microsoft.com/office/powerpoint/2010/main" val="34851890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7" name="Google Shape;77;p2"/>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D2A43B"/>
              </a:buClr>
              <a:buSzPts val="1200"/>
              <a:buFont typeface="Montserrat"/>
              <a:buNone/>
            </a:pPr>
            <a:fld id="{00000000-1234-1234-1234-123412341234}" type="slidenum">
              <a:rPr lang="en-US"/>
              <a:t>40</a:t>
            </a:fld>
            <a:endParaRPr dirty="0"/>
          </a:p>
        </p:txBody>
      </p:sp>
      <p:sp>
        <p:nvSpPr>
          <p:cNvPr id="76" name="Google Shape;76;p2"/>
          <p:cNvSpPr txBox="1">
            <a:spLocks noGrp="1"/>
          </p:cNvSpPr>
          <p:nvPr>
            <p:ph type="title"/>
          </p:nvPr>
        </p:nvSpPr>
        <p:spPr>
          <a:xfrm>
            <a:off x="381000" y="382213"/>
            <a:ext cx="9777833" cy="4572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4400"/>
              <a:buNone/>
            </a:pPr>
            <a:r>
              <a:rPr lang="en-US" sz="2400" b="1" dirty="0">
                <a:solidFill>
                  <a:srgbClr val="FFC000"/>
                </a:solidFill>
                <a:latin typeface="Times New Roman" panose="02020603050405020304" pitchFamily="18" charset="0"/>
                <a:cs typeface="Times New Roman" panose="02020603050405020304" pitchFamily="18" charset="0"/>
              </a:rPr>
              <a:t>CÁC TÀU BQDB VÀ ĐANG TRONG BẢO DƯỠNG ĐỊNH KỲ (BD</a:t>
            </a:r>
            <a:r>
              <a:rPr lang="en-US" sz="2400" dirty="0">
                <a:solidFill>
                  <a:srgbClr val="FFC000"/>
                </a:solidFill>
                <a:latin typeface="Times New Roman" panose="02020603050405020304" pitchFamily="18" charset="0"/>
                <a:cs typeface="Times New Roman" panose="02020603050405020304" pitchFamily="18" charset="0"/>
              </a:rPr>
              <a:t>Đ</a:t>
            </a:r>
            <a:r>
              <a:rPr lang="en-US" sz="2400" b="1" dirty="0">
                <a:solidFill>
                  <a:srgbClr val="FFC000"/>
                </a:solidFill>
                <a:latin typeface="Times New Roman" panose="02020603050405020304" pitchFamily="18" charset="0"/>
                <a:cs typeface="Times New Roman" panose="02020603050405020304" pitchFamily="18" charset="0"/>
              </a:rPr>
              <a:t>K)</a:t>
            </a:r>
            <a:endParaRPr sz="2400" b="0" dirty="0">
              <a:solidFill>
                <a:srgbClr val="FFC000"/>
              </a:solidFill>
              <a:latin typeface="Times New Roman" panose="02020603050405020304" pitchFamily="18" charset="0"/>
              <a:cs typeface="Times New Roman" panose="02020603050405020304" pitchFamily="18" charset="0"/>
            </a:endParaRPr>
          </a:p>
        </p:txBody>
      </p:sp>
      <p:sp>
        <p:nvSpPr>
          <p:cNvPr id="4" name="Text Placeholder 1">
            <a:extLst>
              <a:ext uri="{FF2B5EF4-FFF2-40B4-BE49-F238E27FC236}">
                <a16:creationId xmlns="" xmlns:a16="http://schemas.microsoft.com/office/drawing/2014/main" id="{B9199712-3F74-CE43-A89F-22D9CF338BBE}"/>
              </a:ext>
            </a:extLst>
          </p:cNvPr>
          <p:cNvSpPr txBox="1">
            <a:spLocks/>
          </p:cNvSpPr>
          <p:nvPr/>
        </p:nvSpPr>
        <p:spPr>
          <a:xfrm>
            <a:off x="412376" y="856975"/>
            <a:ext cx="10744201" cy="562304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indent="0">
              <a:lnSpc>
                <a:spcPct val="120000"/>
              </a:lnSpc>
              <a:spcBef>
                <a:spcPts val="600"/>
              </a:spcBef>
              <a:buSzPts val="1100"/>
              <a:buFont typeface="Arial" panose="020B0604020202020204" pitchFamily="34" charset="0"/>
              <a:buNone/>
            </a:pPr>
            <a:r>
              <a:rPr lang="en-US" sz="1600" b="1" dirty="0" smtClean="0">
                <a:cs typeface="Times New Roman" panose="02020603050405020304" pitchFamily="18" charset="0"/>
              </a:rPr>
              <a:t>IV. B787: </a:t>
            </a:r>
          </a:p>
          <a:p>
            <a:pPr marL="12700" indent="0">
              <a:lnSpc>
                <a:spcPct val="120000"/>
              </a:lnSpc>
              <a:spcBef>
                <a:spcPts val="600"/>
              </a:spcBef>
              <a:buSzPts val="1100"/>
              <a:buFont typeface="Arial" panose="020B0604020202020204" pitchFamily="34" charset="0"/>
              <a:buNone/>
            </a:pPr>
            <a:r>
              <a:rPr lang="es-ES" sz="1600" b="1" dirty="0" smtClean="0">
                <a:solidFill>
                  <a:srgbClr val="FF0000"/>
                </a:solidFill>
                <a:cs typeface="Times New Roman" panose="02020603050405020304" pitchFamily="18" charset="0"/>
                <a:sym typeface="Wingdings" panose="05000000000000000000" pitchFamily="2" charset="2"/>
              </a:rPr>
              <a:t>1. A866: SGN – Y03 (12/01-18/01): </a:t>
            </a:r>
            <a:r>
              <a:rPr lang="es-ES" sz="1600" b="1" dirty="0" smtClean="0">
                <a:cs typeface="Times New Roman" panose="02020603050405020304" pitchFamily="18" charset="0"/>
                <a:sym typeface="Wingdings" panose="05000000000000000000" pitchFamily="2" charset="2"/>
              </a:rPr>
              <a:t>On </a:t>
            </a:r>
            <a:r>
              <a:rPr lang="es-ES" sz="1600" b="1" dirty="0" err="1" smtClean="0">
                <a:cs typeface="Times New Roman" panose="02020603050405020304" pitchFamily="18" charset="0"/>
                <a:sym typeface="Wingdings" panose="05000000000000000000" pitchFamily="2" charset="2"/>
              </a:rPr>
              <a:t>Sked</a:t>
            </a:r>
            <a:endParaRPr lang="es-ES" sz="1600" b="1" dirty="0" smtClean="0">
              <a:cs typeface="Times New Roman" panose="02020603050405020304" pitchFamily="18" charset="0"/>
              <a:sym typeface="Wingdings" panose="05000000000000000000" pitchFamily="2" charset="2"/>
            </a:endParaRPr>
          </a:p>
          <a:p>
            <a:pPr marL="12700" indent="0">
              <a:lnSpc>
                <a:spcPct val="120000"/>
              </a:lnSpc>
              <a:spcBef>
                <a:spcPts val="600"/>
              </a:spcBef>
              <a:buSzPts val="1100"/>
              <a:buFont typeface="Arial" panose="020B0604020202020204" pitchFamily="34" charset="0"/>
              <a:buNone/>
            </a:pPr>
            <a:r>
              <a:rPr lang="es-ES" sz="1600" dirty="0" err="1" smtClean="0">
                <a:cs typeface="Times New Roman" panose="02020603050405020304" pitchFamily="18" charset="0"/>
                <a:sym typeface="Wingdings" panose="05000000000000000000" pitchFamily="2" charset="2"/>
              </a:rPr>
              <a:t>Thông</a:t>
            </a:r>
            <a:r>
              <a:rPr lang="es-ES" sz="1600" dirty="0" smtClean="0">
                <a:cs typeface="Times New Roman" panose="02020603050405020304" pitchFamily="18" charset="0"/>
                <a:sym typeface="Wingdings" panose="05000000000000000000" pitchFamily="2" charset="2"/>
              </a:rPr>
              <a:t> </a:t>
            </a:r>
            <a:r>
              <a:rPr lang="es-ES" sz="1600" dirty="0" err="1" smtClean="0">
                <a:cs typeface="Times New Roman" panose="02020603050405020304" pitchFamily="18" charset="0"/>
                <a:sym typeface="Wingdings" panose="05000000000000000000" pitchFamily="2" charset="2"/>
              </a:rPr>
              <a:t>tin</a:t>
            </a:r>
            <a:r>
              <a:rPr lang="es-ES" sz="1600" dirty="0" smtClean="0">
                <a:cs typeface="Times New Roman" panose="02020603050405020304" pitchFamily="18" charset="0"/>
                <a:sym typeface="Wingdings" panose="05000000000000000000" pitchFamily="2" charset="2"/>
              </a:rPr>
              <a:t> </a:t>
            </a:r>
            <a:r>
              <a:rPr lang="es-ES" sz="1600" dirty="0" err="1" smtClean="0">
                <a:cs typeface="Times New Roman" panose="02020603050405020304" pitchFamily="18" charset="0"/>
                <a:sym typeface="Wingdings" panose="05000000000000000000" pitchFamily="2" charset="2"/>
              </a:rPr>
              <a:t>ảnh</a:t>
            </a:r>
            <a:r>
              <a:rPr lang="es-ES" sz="1600" dirty="0" smtClean="0">
                <a:cs typeface="Times New Roman" panose="02020603050405020304" pitchFamily="18" charset="0"/>
                <a:sym typeface="Wingdings" panose="05000000000000000000" pitchFamily="2" charset="2"/>
              </a:rPr>
              <a:t> </a:t>
            </a:r>
            <a:r>
              <a:rPr lang="es-ES" sz="1600" dirty="0" err="1" smtClean="0">
                <a:cs typeface="Times New Roman" panose="02020603050405020304" pitchFamily="18" charset="0"/>
                <a:sym typeface="Wingdings" panose="05000000000000000000" pitchFamily="2" charset="2"/>
              </a:rPr>
              <a:t>hưởng</a:t>
            </a:r>
            <a:r>
              <a:rPr lang="es-ES" sz="1600" dirty="0" smtClean="0">
                <a:cs typeface="Times New Roman" panose="02020603050405020304" pitchFamily="18" charset="0"/>
                <a:sym typeface="Wingdings" panose="05000000000000000000" pitchFamily="2" charset="2"/>
              </a:rPr>
              <a:t> </a:t>
            </a:r>
            <a:r>
              <a:rPr lang="es-ES" sz="1600" dirty="0" err="1" smtClean="0">
                <a:cs typeface="Times New Roman" panose="02020603050405020304" pitchFamily="18" charset="0"/>
                <a:sym typeface="Wingdings" panose="05000000000000000000" pitchFamily="2" charset="2"/>
              </a:rPr>
              <a:t>định</a:t>
            </a:r>
            <a:r>
              <a:rPr lang="es-ES" sz="1600" dirty="0" smtClean="0">
                <a:cs typeface="Times New Roman" panose="02020603050405020304" pitchFamily="18" charset="0"/>
                <a:sym typeface="Wingdings" panose="05000000000000000000" pitchFamily="2" charset="2"/>
              </a:rPr>
              <a:t> </a:t>
            </a:r>
            <a:r>
              <a:rPr lang="es-ES" sz="1600" dirty="0" err="1" smtClean="0">
                <a:cs typeface="Times New Roman" panose="02020603050405020304" pitchFamily="18" charset="0"/>
                <a:sym typeface="Wingdings" panose="05000000000000000000" pitchFamily="2" charset="2"/>
              </a:rPr>
              <a:t>kỳ</a:t>
            </a:r>
            <a:r>
              <a:rPr lang="es-ES" sz="1600" dirty="0" smtClean="0">
                <a:cs typeface="Times New Roman" panose="02020603050405020304" pitchFamily="18" charset="0"/>
                <a:sym typeface="Wingdings" panose="05000000000000000000" pitchFamily="2" charset="2"/>
              </a:rPr>
              <a:t>:</a:t>
            </a:r>
          </a:p>
          <a:p>
            <a:pPr marL="298450" indent="-285750">
              <a:lnSpc>
                <a:spcPct val="120000"/>
              </a:lnSpc>
              <a:spcBef>
                <a:spcPts val="600"/>
              </a:spcBef>
              <a:buSzPts val="1100"/>
              <a:buFontTx/>
              <a:buChar char="-"/>
            </a:pPr>
            <a:r>
              <a:rPr lang="en-US" sz="1600" dirty="0" smtClean="0">
                <a:cs typeface="Times New Roman" panose="02020603050405020304" pitchFamily="18" charset="0"/>
                <a:sym typeface="Wingdings" panose="05000000000000000000" pitchFamily="2" charset="2"/>
              </a:rPr>
              <a:t>01 Thrust Control Module PN: </a:t>
            </a:r>
            <a:r>
              <a:rPr lang="en-US" sz="1600" dirty="0" err="1" smtClean="0">
                <a:cs typeface="Times New Roman" panose="02020603050405020304" pitchFamily="18" charset="0"/>
                <a:sym typeface="Wingdings" panose="05000000000000000000" pitchFamily="2" charset="2"/>
              </a:rPr>
              <a:t>p/n</a:t>
            </a:r>
            <a:r>
              <a:rPr lang="en-US" sz="1600" dirty="0" smtClean="0">
                <a:cs typeface="Times New Roman" panose="02020603050405020304" pitchFamily="18" charset="0"/>
                <a:sym typeface="Wingdings" panose="05000000000000000000" pitchFamily="2" charset="2"/>
              </a:rPr>
              <a:t> 4260-0029-8 bị Rob </a:t>
            </a:r>
            <a:r>
              <a:rPr lang="en-US" sz="1600" dirty="0" err="1" smtClean="0">
                <a:cs typeface="Times New Roman" panose="02020603050405020304" pitchFamily="18" charset="0"/>
                <a:sym typeface="Wingdings" panose="05000000000000000000" pitchFamily="2" charset="2"/>
              </a:rPr>
              <a:t>cho</a:t>
            </a:r>
            <a:r>
              <a:rPr lang="en-US" sz="1600" dirty="0" smtClean="0">
                <a:cs typeface="Times New Roman" panose="02020603050405020304" pitchFamily="18" charset="0"/>
                <a:sym typeface="Wingdings" panose="05000000000000000000" pitchFamily="2" charset="2"/>
              </a:rPr>
              <a:t> A873 </a:t>
            </a:r>
            <a:r>
              <a:rPr lang="en-US" sz="1600" dirty="0" err="1" smtClean="0">
                <a:cs typeface="Times New Roman" panose="02020603050405020304" pitchFamily="18" charset="0"/>
                <a:sym typeface="Wingdings" panose="05000000000000000000" pitchFamily="2" charset="2"/>
              </a:rPr>
              <a:t>cần</a:t>
            </a:r>
            <a:r>
              <a:rPr lang="en-US" sz="1600" dirty="0" smtClean="0">
                <a:cs typeface="Times New Roman" panose="02020603050405020304" pitchFamily="18" charset="0"/>
                <a:sym typeface="Wingdings" panose="05000000000000000000" pitchFamily="2" charset="2"/>
              </a:rPr>
              <a:t> </a:t>
            </a:r>
            <a:r>
              <a:rPr lang="en-US" sz="1600" dirty="0" err="1" smtClean="0">
                <a:cs typeface="Times New Roman" panose="02020603050405020304" pitchFamily="18" charset="0"/>
                <a:sym typeface="Wingdings" panose="05000000000000000000" pitchFamily="2" charset="2"/>
              </a:rPr>
              <a:t>vê</a:t>
            </a:r>
            <a:r>
              <a:rPr lang="en-US" sz="1600" dirty="0" smtClean="0">
                <a:cs typeface="Times New Roman" panose="02020603050405020304" pitchFamily="18" charset="0"/>
                <a:sym typeface="Wingdings" panose="05000000000000000000" pitchFamily="2" charset="2"/>
              </a:rPr>
              <a:t>̀ </a:t>
            </a:r>
            <a:r>
              <a:rPr lang="en-US" sz="1600" dirty="0" err="1" smtClean="0">
                <a:cs typeface="Times New Roman" panose="02020603050405020304" pitchFamily="18" charset="0"/>
                <a:sym typeface="Wingdings" panose="05000000000000000000" pitchFamily="2" charset="2"/>
              </a:rPr>
              <a:t>trước</a:t>
            </a:r>
            <a:r>
              <a:rPr lang="en-US" sz="1600" dirty="0" smtClean="0">
                <a:cs typeface="Times New Roman" panose="02020603050405020304" pitchFamily="18" charset="0"/>
                <a:sym typeface="Wingdings" panose="05000000000000000000" pitchFamily="2" charset="2"/>
              </a:rPr>
              <a:t> 16/01.</a:t>
            </a:r>
          </a:p>
          <a:p>
            <a:pPr marL="12700" indent="0">
              <a:lnSpc>
                <a:spcPct val="120000"/>
              </a:lnSpc>
              <a:spcBef>
                <a:spcPts val="600"/>
              </a:spcBef>
              <a:buSzPts val="1100"/>
              <a:buNone/>
            </a:pPr>
            <a:r>
              <a:rPr lang="es-ES" sz="1600" b="1" dirty="0" smtClean="0">
                <a:solidFill>
                  <a:srgbClr val="FF0000"/>
                </a:solidFill>
                <a:cs typeface="Times New Roman" panose="02020603050405020304" pitchFamily="18" charset="0"/>
                <a:sym typeface="Wingdings" panose="05000000000000000000" pitchFamily="2" charset="2"/>
              </a:rPr>
              <a:t>2. A863: SGN – A05 (12/01): </a:t>
            </a:r>
            <a:r>
              <a:rPr lang="es-ES" sz="1600" b="1" dirty="0" smtClean="0">
                <a:cs typeface="Times New Roman" panose="02020603050405020304" pitchFamily="18" charset="0"/>
                <a:sym typeface="Wingdings" panose="05000000000000000000" pitchFamily="2" charset="2"/>
              </a:rPr>
              <a:t>On </a:t>
            </a:r>
            <a:r>
              <a:rPr lang="es-ES" sz="1600" b="1" dirty="0" err="1" smtClean="0">
                <a:cs typeface="Times New Roman" panose="02020603050405020304" pitchFamily="18" charset="0"/>
                <a:sym typeface="Wingdings" panose="05000000000000000000" pitchFamily="2" charset="2"/>
              </a:rPr>
              <a:t>sked</a:t>
            </a:r>
            <a:endParaRPr lang="es-ES" sz="1600" b="1" dirty="0" smtClean="0">
              <a:cs typeface="Times New Roman" panose="02020603050405020304" pitchFamily="18" charset="0"/>
              <a:sym typeface="Wingdings" panose="05000000000000000000" pitchFamily="2" charset="2"/>
            </a:endParaRPr>
          </a:p>
          <a:p>
            <a:pPr marL="12700" indent="0">
              <a:lnSpc>
                <a:spcPct val="120000"/>
              </a:lnSpc>
              <a:spcBef>
                <a:spcPts val="600"/>
              </a:spcBef>
              <a:buSzPts val="1100"/>
              <a:buNone/>
            </a:pPr>
            <a:endParaRPr lang="es-ES" sz="1600" b="1" dirty="0" smtClean="0">
              <a:cs typeface="Times New Roman" panose="02020603050405020304" pitchFamily="18" charset="0"/>
              <a:sym typeface="Wingdings" panose="05000000000000000000" pitchFamily="2" charset="2"/>
            </a:endParaRPr>
          </a:p>
          <a:p>
            <a:pPr marL="12700" indent="0" algn="just">
              <a:buSzPts val="1100"/>
              <a:buFont typeface="Arial" panose="020B0604020202020204" pitchFamily="34" charset="0"/>
              <a:buNone/>
            </a:pPr>
            <a:r>
              <a:rPr lang="es-ES" sz="1600" b="1" dirty="0" smtClean="0">
                <a:cs typeface="Times New Roman" panose="02020603050405020304" pitchFamily="18" charset="0"/>
                <a:sym typeface="Wingdings" panose="05000000000000000000" pitchFamily="2" charset="2"/>
              </a:rPr>
              <a:t>V. ATR72</a:t>
            </a:r>
          </a:p>
          <a:p>
            <a:pPr marL="12700" indent="0" algn="just">
              <a:buSzPts val="1100"/>
              <a:buFont typeface="Arial" panose="020B0604020202020204" pitchFamily="34" charset="0"/>
              <a:buNone/>
            </a:pPr>
            <a:r>
              <a:rPr lang="es-ES" sz="1600" b="1" dirty="0" err="1" smtClean="0">
                <a:solidFill>
                  <a:srgbClr val="FF0000"/>
                </a:solidFill>
                <a:cs typeface="Times New Roman" panose="02020603050405020304" pitchFamily="18" charset="0"/>
                <a:sym typeface="Wingdings" panose="05000000000000000000" pitchFamily="2" charset="2"/>
              </a:rPr>
              <a:t>Nil</a:t>
            </a:r>
            <a:endParaRPr lang="es-ES" sz="1600" dirty="0" smtClean="0">
              <a:cs typeface="Times New Roman" panose="02020603050405020304" pitchFamily="18" charset="0"/>
              <a:sym typeface="Wingdings" panose="05000000000000000000" pitchFamily="2" charset="2"/>
            </a:endParaRPr>
          </a:p>
          <a:p>
            <a:pPr marL="50800" indent="0">
              <a:buFont typeface="Arial" panose="020B0604020202020204" pitchFamily="34" charset="0"/>
              <a:buNone/>
            </a:pPr>
            <a:endParaRPr lang="x-none" sz="1600" dirty="0"/>
          </a:p>
        </p:txBody>
      </p:sp>
    </p:spTree>
    <p:extLst>
      <p:ext uri="{BB962C8B-B14F-4D97-AF65-F5344CB8AC3E}">
        <p14:creationId xmlns:p14="http://schemas.microsoft.com/office/powerpoint/2010/main" val="38599452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lide Number Placeholder 3"/>
          <p:cNvSpPr>
            <a:spLocks noGrp="1"/>
          </p:cNvSpPr>
          <p:nvPr>
            <p:ph type="sldNum" sz="quarter" idx="12"/>
          </p:nvPr>
        </p:nvSpPr>
        <p:spPr>
          <a:xfrm>
            <a:off x="8581061" y="6162545"/>
            <a:ext cx="2743200" cy="365125"/>
          </a:xfrm>
        </p:spPr>
        <p:txBody>
          <a:bodyPr>
            <a:normAutofit/>
          </a:bodyPr>
          <a:lstStyle/>
          <a:p>
            <a:fld id="{6C6B6B8D-D74E-47CD-B5EE-156060B7CD17}" type="slidenum">
              <a:rPr lang="en-US" sz="1100" smtClean="0"/>
              <a:pPr/>
              <a:t>41</a:t>
            </a:fld>
            <a:endParaRPr lang="en-US" sz="1100" dirty="0"/>
          </a:p>
        </p:txBody>
      </p:sp>
      <p:sp>
        <p:nvSpPr>
          <p:cNvPr id="21" name="TextBox 20"/>
          <p:cNvSpPr txBox="1"/>
          <p:nvPr/>
        </p:nvSpPr>
        <p:spPr>
          <a:xfrm>
            <a:off x="-170830" y="36637"/>
            <a:ext cx="11937647" cy="492443"/>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lvl1pPr algn="ctr" eaLnBrk="0" fontAlgn="auto" hangingPunct="0">
              <a:spcBef>
                <a:spcPts val="0"/>
              </a:spcBef>
              <a:spcAft>
                <a:spcPts val="0"/>
              </a:spcAft>
              <a:defRPr sz="3600" b="1" i="0">
                <a:ln w="0"/>
                <a:solidFill>
                  <a:srgbClr val="FFC000"/>
                </a:solidFill>
                <a:latin typeface="Times New Roman" panose="02020603050405020304" pitchFamily="18" charset="0"/>
                <a:ea typeface="+mn-ea"/>
                <a:cs typeface="Times New Roman" panose="02020603050405020304" pitchFamily="18" charset="0"/>
              </a:defRPr>
            </a:lvl1pPr>
            <a:lvl2pPr algn="ctr" eaLnBrk="0" hangingPunct="0">
              <a:defRPr sz="4400">
                <a:solidFill>
                  <a:srgbClr val="404040"/>
                </a:solidFill>
                <a:latin typeface="Calibri" pitchFamily="34" charset="0"/>
                <a:cs typeface="ＭＳ Ｐゴシック" charset="0"/>
              </a:defRPr>
            </a:lvl2pPr>
            <a:lvl3pPr algn="ctr" eaLnBrk="0" hangingPunct="0">
              <a:defRPr sz="4400">
                <a:solidFill>
                  <a:srgbClr val="404040"/>
                </a:solidFill>
                <a:latin typeface="Calibri" pitchFamily="34" charset="0"/>
                <a:cs typeface="ＭＳ Ｐゴシック" charset="0"/>
              </a:defRPr>
            </a:lvl3pPr>
            <a:lvl4pPr algn="ctr" eaLnBrk="0" hangingPunct="0">
              <a:defRPr sz="4400">
                <a:solidFill>
                  <a:srgbClr val="404040"/>
                </a:solidFill>
                <a:latin typeface="Calibri" pitchFamily="34" charset="0"/>
                <a:cs typeface="ＭＳ Ｐゴシック" charset="0"/>
              </a:defRPr>
            </a:lvl4pPr>
            <a:lvl5pPr algn="ctr" eaLnBrk="0" hangingPunct="0">
              <a:defRPr sz="4400">
                <a:solidFill>
                  <a:srgbClr val="404040"/>
                </a:solidFill>
                <a:latin typeface="Calibri" pitchFamily="34" charset="0"/>
                <a:cs typeface="ＭＳ Ｐゴシック" charset="0"/>
              </a:defRPr>
            </a:lvl5pPr>
            <a:lvl6pPr marL="457200" algn="ctr" fontAlgn="base">
              <a:spcBef>
                <a:spcPct val="0"/>
              </a:spcBef>
              <a:spcAft>
                <a:spcPct val="0"/>
              </a:spcAft>
              <a:defRPr sz="4400">
                <a:solidFill>
                  <a:schemeClr val="bg1"/>
                </a:solidFill>
                <a:latin typeface="Calibri" pitchFamily="34" charset="0"/>
              </a:defRPr>
            </a:lvl6pPr>
            <a:lvl7pPr marL="914400" algn="ctr" fontAlgn="base">
              <a:spcBef>
                <a:spcPct val="0"/>
              </a:spcBef>
              <a:spcAft>
                <a:spcPct val="0"/>
              </a:spcAft>
              <a:defRPr sz="4400">
                <a:solidFill>
                  <a:schemeClr val="bg1"/>
                </a:solidFill>
                <a:latin typeface="Calibri" pitchFamily="34" charset="0"/>
              </a:defRPr>
            </a:lvl7pPr>
            <a:lvl8pPr marL="1371600" algn="ctr" fontAlgn="base">
              <a:spcBef>
                <a:spcPct val="0"/>
              </a:spcBef>
              <a:spcAft>
                <a:spcPct val="0"/>
              </a:spcAft>
              <a:defRPr sz="4400">
                <a:solidFill>
                  <a:schemeClr val="bg1"/>
                </a:solidFill>
                <a:latin typeface="Calibri" pitchFamily="34" charset="0"/>
              </a:defRPr>
            </a:lvl8pPr>
            <a:lvl9pPr marL="1828800" algn="ctr" fontAlgn="base">
              <a:spcBef>
                <a:spcPct val="0"/>
              </a:spcBef>
              <a:spcAft>
                <a:spcPct val="0"/>
              </a:spcAft>
              <a:defRPr sz="4400">
                <a:solidFill>
                  <a:schemeClr val="bg1"/>
                </a:solidFill>
                <a:latin typeface="Calibri" pitchFamily="34" charset="0"/>
              </a:defRPr>
            </a:lvl9pPr>
          </a:lstStyle>
          <a:p>
            <a:r>
              <a:rPr lang="en-US" sz="2600" dirty="0"/>
              <a:t>HỎNG HÓC CABIN ẢNH HƯỞNG KHAI THÁC VÀ PTVT – TUẦN 02/2025</a:t>
            </a:r>
            <a:endParaRPr lang="vi-VN" sz="2600" dirty="0"/>
          </a:p>
        </p:txBody>
      </p:sp>
      <p:sp>
        <p:nvSpPr>
          <p:cNvPr id="24" name="TextBox 23"/>
          <p:cNvSpPr txBox="1"/>
          <p:nvPr/>
        </p:nvSpPr>
        <p:spPr>
          <a:xfrm>
            <a:off x="358725" y="3722281"/>
            <a:ext cx="10876298" cy="3173176"/>
          </a:xfrm>
          <a:prstGeom prst="rect">
            <a:avLst/>
          </a:prstGeom>
          <a:noFill/>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ct val="130000"/>
              </a:lnSpc>
            </a:pPr>
            <a:r>
              <a:rPr lang="en-US" sz="1100" b="1" dirty="0" err="1">
                <a:latin typeface="Times New Roman" panose="02020603050405020304" pitchFamily="18" charset="0"/>
                <a:cs typeface="Times New Roman" panose="02020603050405020304" pitchFamily="18" charset="0"/>
              </a:rPr>
              <a:t>Nội</a:t>
            </a:r>
            <a:r>
              <a:rPr lang="en-US" sz="1100" b="1" dirty="0">
                <a:latin typeface="Times New Roman" panose="02020603050405020304" pitchFamily="18" charset="0"/>
                <a:cs typeface="Times New Roman" panose="02020603050405020304" pitchFamily="18" charset="0"/>
              </a:rPr>
              <a:t> dung </a:t>
            </a:r>
            <a:r>
              <a:rPr lang="en-US" sz="1100" b="1" dirty="0" err="1">
                <a:latin typeface="Times New Roman" panose="02020603050405020304" pitchFamily="18" charset="0"/>
                <a:cs typeface="Times New Roman" panose="02020603050405020304" pitchFamily="18" charset="0"/>
              </a:rPr>
              <a:t>khác</a:t>
            </a:r>
            <a:r>
              <a:rPr lang="en-US" sz="1100" b="1" dirty="0">
                <a:latin typeface="Times New Roman" panose="02020603050405020304" pitchFamily="18" charset="0"/>
                <a:cs typeface="Times New Roman" panose="02020603050405020304" pitchFamily="18" charset="0"/>
              </a:rPr>
              <a:t>:</a:t>
            </a:r>
          </a:p>
          <a:p>
            <a:pPr marL="285750" indent="-285750">
              <a:lnSpc>
                <a:spcPct val="130000"/>
              </a:lnSpc>
              <a:buFontTx/>
              <a:buChar char="-"/>
            </a:pPr>
            <a:r>
              <a:rPr lang="en-US" sz="1100" b="1" dirty="0">
                <a:solidFill>
                  <a:schemeClr val="tx1"/>
                </a:solidFill>
                <a:latin typeface="Times New Roman" panose="02020603050405020304" pitchFamily="18" charset="0"/>
                <a:cs typeface="Times New Roman" panose="02020603050405020304" pitchFamily="18" charset="0"/>
              </a:rPr>
              <a:t>Tháo PCU 787: </a:t>
            </a:r>
            <a:r>
              <a:rPr lang="en-US" sz="1100" dirty="0">
                <a:solidFill>
                  <a:schemeClr val="tx1"/>
                </a:solidFill>
                <a:latin typeface="Times New Roman" panose="02020603050405020304" pitchFamily="18" charset="0"/>
                <a:cs typeface="Times New Roman" panose="02020603050405020304" pitchFamily="18" charset="0"/>
              </a:rPr>
              <a:t>Đã thực hiện 07 tàu A861, A862 ,A863, A865, A866, A867, A868 (trong tuần thực hiện 01 tàu ) =&gt; tiếp tục thực hiện 04 tàu còn lại sau cao điểm</a:t>
            </a:r>
          </a:p>
          <a:p>
            <a:pPr marL="285750" indent="-285750">
              <a:lnSpc>
                <a:spcPct val="130000"/>
              </a:lnSpc>
              <a:buFontTx/>
              <a:buChar char="-"/>
            </a:pPr>
            <a:r>
              <a:rPr lang="en-US" sz="1100" b="1" dirty="0">
                <a:solidFill>
                  <a:schemeClr val="tx1"/>
                </a:solidFill>
                <a:latin typeface="Times New Roman" panose="02020603050405020304" pitchFamily="18" charset="0"/>
                <a:cs typeface="Times New Roman" panose="02020603050405020304" pitchFamily="18" charset="0"/>
              </a:rPr>
              <a:t>Interchange SVDU 787&amp;350: </a:t>
            </a:r>
          </a:p>
          <a:p>
            <a:pPr marL="742950" lvl="1" indent="-285750">
              <a:lnSpc>
                <a:spcPct val="130000"/>
              </a:lnSpc>
              <a:buFontTx/>
              <a:buChar char="-"/>
            </a:pPr>
            <a:r>
              <a:rPr lang="en-US" sz="1100" dirty="0">
                <a:solidFill>
                  <a:schemeClr val="tx1"/>
                </a:solidFill>
                <a:latin typeface="Times New Roman" panose="02020603050405020304" pitchFamily="18" charset="0"/>
                <a:cs typeface="Times New Roman" panose="02020603050405020304" pitchFamily="18" charset="0"/>
              </a:rPr>
              <a:t>Đã chuyển hồ sơ sang SQD tiếp </a:t>
            </a:r>
            <a:r>
              <a:rPr lang="en-US" sz="1100" dirty="0" err="1">
                <a:solidFill>
                  <a:schemeClr val="tx1"/>
                </a:solidFill>
                <a:latin typeface="Times New Roman" panose="02020603050405020304" pitchFamily="18" charset="0"/>
                <a:cs typeface="Times New Roman" panose="02020603050405020304" pitchFamily="18" charset="0"/>
              </a:rPr>
              <a:t>trình</a:t>
            </a:r>
            <a:r>
              <a:rPr lang="en-US" sz="1100" dirty="0">
                <a:solidFill>
                  <a:schemeClr val="tx1"/>
                </a:solidFill>
                <a:latin typeface="Times New Roman" panose="02020603050405020304" pitchFamily="18" charset="0"/>
                <a:cs typeface="Times New Roman" panose="02020603050405020304" pitchFamily="18" charset="0"/>
              </a:rPr>
              <a:t> CAAV,  CAAV </a:t>
            </a:r>
            <a:r>
              <a:rPr lang="en-US" sz="1100" dirty="0" err="1">
                <a:solidFill>
                  <a:schemeClr val="tx1"/>
                </a:solidFill>
                <a:latin typeface="Times New Roman" panose="02020603050405020304" pitchFamily="18" charset="0"/>
                <a:cs typeface="Times New Roman" panose="02020603050405020304" pitchFamily="18" charset="0"/>
              </a:rPr>
              <a:t>chưa</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đồng</a:t>
            </a:r>
            <a:r>
              <a:rPr lang="en-US" sz="1100" dirty="0">
                <a:solidFill>
                  <a:schemeClr val="tx1"/>
                </a:solidFill>
                <a:latin typeface="Times New Roman" panose="02020603050405020304" pitchFamily="18" charset="0"/>
                <a:cs typeface="Times New Roman" panose="02020603050405020304" pitchFamily="18" charset="0"/>
              </a:rPr>
              <a:t> ý </a:t>
            </a:r>
            <a:r>
              <a:rPr lang="en-US" sz="1100" dirty="0" err="1">
                <a:solidFill>
                  <a:schemeClr val="tx1"/>
                </a:solidFill>
                <a:latin typeface="Times New Roman" panose="02020603050405020304" pitchFamily="18" charset="0"/>
                <a:cs typeface="Times New Roman" panose="02020603050405020304" pitchFamily="18" charset="0"/>
              </a:rPr>
              <a:t>phương</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án</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đánh</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giá</a:t>
            </a:r>
            <a:r>
              <a:rPr lang="en-US" sz="1100" dirty="0">
                <a:solidFill>
                  <a:schemeClr val="tx1"/>
                </a:solidFill>
                <a:latin typeface="Times New Roman" panose="02020603050405020304" pitchFamily="18" charset="0"/>
                <a:cs typeface="Times New Roman" panose="02020603050405020304" pitchFamily="18" charset="0"/>
              </a:rPr>
              <a:t> interchange </a:t>
            </a:r>
            <a:r>
              <a:rPr lang="en-US" sz="1100" dirty="0" err="1">
                <a:solidFill>
                  <a:schemeClr val="tx1"/>
                </a:solidFill>
                <a:latin typeface="Times New Roman" panose="02020603050405020304" pitchFamily="18" charset="0"/>
                <a:cs typeface="Times New Roman" panose="02020603050405020304" pitchFamily="18" charset="0"/>
              </a:rPr>
              <a:t>của</a:t>
            </a:r>
            <a:r>
              <a:rPr lang="en-US" sz="1100" dirty="0">
                <a:solidFill>
                  <a:schemeClr val="tx1"/>
                </a:solidFill>
                <a:latin typeface="Times New Roman" panose="02020603050405020304" pitchFamily="18" charset="0"/>
                <a:cs typeface="Times New Roman" panose="02020603050405020304" pitchFamily="18" charset="0"/>
              </a:rPr>
              <a:t> VNA </a:t>
            </a:r>
            <a:r>
              <a:rPr lang="en-US" sz="1100" dirty="0" err="1">
                <a:solidFill>
                  <a:schemeClr val="tx1"/>
                </a:solidFill>
                <a:latin typeface="Times New Roman" panose="02020603050405020304" pitchFamily="18" charset="0"/>
                <a:cs typeface="Times New Roman" panose="02020603050405020304" pitchFamily="18" charset="0"/>
              </a:rPr>
              <a:t>và</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yêu</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cầu</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có</a:t>
            </a:r>
            <a:r>
              <a:rPr lang="en-US" sz="1100" dirty="0">
                <a:solidFill>
                  <a:schemeClr val="tx1"/>
                </a:solidFill>
                <a:latin typeface="Times New Roman" panose="02020603050405020304" pitchFamily="18" charset="0"/>
                <a:cs typeface="Times New Roman" panose="02020603050405020304" pitchFamily="18" charset="0"/>
              </a:rPr>
              <a:t> ý </a:t>
            </a:r>
            <a:r>
              <a:rPr lang="en-US" sz="1100" dirty="0" err="1">
                <a:solidFill>
                  <a:schemeClr val="tx1"/>
                </a:solidFill>
                <a:latin typeface="Times New Roman" panose="02020603050405020304" pitchFamily="18" charset="0"/>
                <a:cs typeface="Times New Roman" panose="02020603050405020304" pitchFamily="18" charset="0"/>
              </a:rPr>
              <a:t>kiến</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của</a:t>
            </a:r>
            <a:r>
              <a:rPr lang="en-US" sz="1100" dirty="0">
                <a:solidFill>
                  <a:schemeClr val="tx1"/>
                </a:solidFill>
                <a:latin typeface="Times New Roman" panose="02020603050405020304" pitchFamily="18" charset="0"/>
                <a:cs typeface="Times New Roman" panose="02020603050405020304" pitchFamily="18" charset="0"/>
              </a:rPr>
              <a:t>  Boeing;</a:t>
            </a:r>
          </a:p>
          <a:p>
            <a:pPr marL="742950" lvl="1" indent="-285750">
              <a:lnSpc>
                <a:spcPct val="130000"/>
              </a:lnSpc>
              <a:buFontTx/>
              <a:buChar char="-"/>
            </a:pPr>
            <a:r>
              <a:rPr lang="en-US" sz="1100" dirty="0">
                <a:solidFill>
                  <a:schemeClr val="tx1"/>
                </a:solidFill>
                <a:latin typeface="Times New Roman" panose="02020603050405020304" pitchFamily="18" charset="0"/>
                <a:cs typeface="Times New Roman" panose="02020603050405020304" pitchFamily="18" charset="0"/>
              </a:rPr>
              <a:t>KT đồng thời tiếp tục làm việc Boeing, Thales, Collins giải pháp SB =&gt; chờ seat Collins ban hành NTO và chỉnh sửa CMM để làm việc với Boeing (dự kiến cuối tháng 1/2025 Collins có phản hồi chính thức)</a:t>
            </a:r>
          </a:p>
          <a:p>
            <a:pPr marL="285750" indent="-285750">
              <a:lnSpc>
                <a:spcPct val="130000"/>
              </a:lnSpc>
              <a:buFontTx/>
              <a:buChar char="-"/>
            </a:pPr>
            <a:r>
              <a:rPr lang="en-US" sz="1100" b="1" dirty="0">
                <a:solidFill>
                  <a:schemeClr val="tx1"/>
                </a:solidFill>
                <a:latin typeface="Times New Roman" panose="02020603050405020304" pitchFamily="18" charset="0"/>
                <a:cs typeface="Times New Roman" panose="02020603050405020304" pitchFamily="18" charset="0"/>
              </a:rPr>
              <a:t>IFC 10 tàu A350: </a:t>
            </a:r>
          </a:p>
          <a:p>
            <a:pPr marL="742950" lvl="1" indent="-285750">
              <a:lnSpc>
                <a:spcPct val="130000"/>
              </a:lnSpc>
              <a:buFontTx/>
              <a:buChar char="-"/>
            </a:pPr>
            <a:r>
              <a:rPr lang="en-US" sz="1100" dirty="0">
                <a:solidFill>
                  <a:schemeClr val="tx1"/>
                </a:solidFill>
                <a:latin typeface="Times New Roman" panose="02020603050405020304" pitchFamily="18" charset="0"/>
                <a:cs typeface="Times New Roman" panose="02020603050405020304" pitchFamily="18" charset="0"/>
              </a:rPr>
              <a:t>Đã phát PO mua vật tư dự phòng, PO mua tài liệu TSM. Vật tư dự phòng bắt đâu giao 2/2025, MPS và FSAT ban giao 3/2025.</a:t>
            </a:r>
          </a:p>
          <a:p>
            <a:pPr marL="742950" lvl="1" indent="-285750">
              <a:lnSpc>
                <a:spcPct val="130000"/>
              </a:lnSpc>
              <a:buFontTx/>
              <a:buChar char="-"/>
            </a:pPr>
            <a:r>
              <a:rPr lang="en-US" sz="1100" dirty="0">
                <a:solidFill>
                  <a:schemeClr val="tx1"/>
                </a:solidFill>
                <a:latin typeface="Times New Roman" panose="02020603050405020304" pitchFamily="18" charset="0"/>
                <a:cs typeface="Times New Roman" panose="02020603050405020304" pitchFamily="18" charset="0"/>
              </a:rPr>
              <a:t>Đã gửi 02 shipset tàu bảo quản đi nâng cấp firmwarre, TAT 60-70 ngày =&gt; tiếp tục giục Thales &amp; Honeywell</a:t>
            </a:r>
          </a:p>
          <a:p>
            <a:pPr marL="742950" lvl="1" indent="-285750">
              <a:lnSpc>
                <a:spcPct val="130000"/>
              </a:lnSpc>
              <a:buFontTx/>
              <a:buChar char="-"/>
            </a:pPr>
            <a:r>
              <a:rPr lang="en-US" sz="1100" dirty="0">
                <a:solidFill>
                  <a:schemeClr val="tx1"/>
                </a:solidFill>
                <a:latin typeface="Times New Roman" panose="02020603050405020304" pitchFamily="18" charset="0"/>
                <a:cs typeface="Times New Roman" panose="02020603050405020304" pitchFamily="18" charset="0"/>
              </a:rPr>
              <a:t>02 antena gửi sửa chữa shop dự kiến về đầu tháng 2/2025</a:t>
            </a:r>
          </a:p>
          <a:p>
            <a:pPr marL="742950" lvl="1" indent="-285750">
              <a:lnSpc>
                <a:spcPct val="130000"/>
              </a:lnSpc>
              <a:buFontTx/>
              <a:buChar char="-"/>
            </a:pPr>
            <a:r>
              <a:rPr lang="en-US" sz="1100" dirty="0">
                <a:solidFill>
                  <a:schemeClr val="tx1"/>
                </a:solidFill>
                <a:latin typeface="Times New Roman" panose="02020603050405020304" pitchFamily="18" charset="0"/>
                <a:cs typeface="Times New Roman" panose="02020603050405020304" pitchFamily="18" charset="0"/>
              </a:rPr>
              <a:t>Đào tạo IFC VAECO dự kiến tháng 2/2025</a:t>
            </a:r>
          </a:p>
          <a:p>
            <a:pPr marL="285750" indent="-285750">
              <a:lnSpc>
                <a:spcPct val="130000"/>
              </a:lnSpc>
              <a:buFontTx/>
              <a:buChar char="-"/>
            </a:pPr>
            <a:r>
              <a:rPr lang="en-US" sz="1100" b="1" dirty="0">
                <a:solidFill>
                  <a:schemeClr val="tx1"/>
                </a:solidFill>
                <a:latin typeface="Times New Roman" panose="02020603050405020304" pitchFamily="18" charset="0"/>
                <a:cs typeface="Times New Roman" panose="02020603050405020304" pitchFamily="18" charset="0"/>
              </a:rPr>
              <a:t>CĐCH ghế 23 tàu A321CEO:</a:t>
            </a:r>
          </a:p>
          <a:p>
            <a:pPr marL="742950" lvl="1" indent="-285750">
              <a:lnSpc>
                <a:spcPct val="130000"/>
              </a:lnSpc>
              <a:buFontTx/>
              <a:buChar char="-"/>
            </a:pPr>
            <a:r>
              <a:rPr lang="en-US" sz="1100" dirty="0">
                <a:solidFill>
                  <a:schemeClr val="tx1"/>
                </a:solidFill>
                <a:latin typeface="Times New Roman" panose="02020603050405020304" pitchFamily="18" charset="0"/>
                <a:cs typeface="Times New Roman" panose="02020603050405020304" pitchFamily="18" charset="0"/>
              </a:rPr>
              <a:t>Đã phát HSYC lần 1, tổ đang làm rõ bản chào lần 1 của đối tác. Trong các đối tác tham gia chào giá, AIB: chưa đưa giá chào firm và chưa gửi thông tin làm rõ cho tổ. </a:t>
            </a:r>
          </a:p>
          <a:p>
            <a:pPr marL="742950" lvl="1" indent="-285750">
              <a:lnSpc>
                <a:spcPct val="130000"/>
              </a:lnSpc>
              <a:buFontTx/>
              <a:buChar char="-"/>
            </a:pPr>
            <a:r>
              <a:rPr lang="en-US" sz="1100" dirty="0">
                <a:solidFill>
                  <a:schemeClr val="tx1"/>
                </a:solidFill>
                <a:latin typeface="Times New Roman" panose="02020603050405020304" pitchFamily="18" charset="0"/>
                <a:cs typeface="Times New Roman" panose="02020603050405020304" pitchFamily="18" charset="0"/>
              </a:rPr>
              <a:t>Tổ dự kiến gửi bản chào lần 2 trong tuần 03/2025</a:t>
            </a:r>
          </a:p>
        </p:txBody>
      </p:sp>
      <p:sp>
        <p:nvSpPr>
          <p:cNvPr id="22" name="TextBox 21"/>
          <p:cNvSpPr txBox="1"/>
          <p:nvPr/>
        </p:nvSpPr>
        <p:spPr>
          <a:xfrm>
            <a:off x="366570" y="2796267"/>
            <a:ext cx="10862852" cy="938719"/>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100" b="1" dirty="0">
                <a:latin typeface="Times New Roman" panose="02020603050405020304" pitchFamily="18" charset="0"/>
                <a:cs typeface="Times New Roman" panose="02020603050405020304" pitchFamily="18" charset="0"/>
              </a:rPr>
              <a:t>Galley:</a:t>
            </a:r>
          </a:p>
          <a:p>
            <a:pPr marL="285750" indent="-285750">
              <a:buFontTx/>
              <a:buChar char="-"/>
            </a:pPr>
            <a:r>
              <a:rPr lang="en-US" sz="1100" b="1" dirty="0">
                <a:latin typeface="Times New Roman" panose="02020603050405020304" pitchFamily="18" charset="0"/>
                <a:cs typeface="Times New Roman" panose="02020603050405020304" pitchFamily="18" charset="0"/>
              </a:rPr>
              <a:t>Hỏng hóc wine chiller</a:t>
            </a:r>
            <a:r>
              <a:rPr lang="en-US" sz="1100" dirty="0">
                <a:latin typeface="Times New Roman" panose="02020603050405020304" pitchFamily="18" charset="0"/>
                <a:cs typeface="Times New Roman" panose="02020603050405020304" pitchFamily="18" charset="0"/>
              </a:rPr>
              <a:t>: </a:t>
            </a:r>
            <a:r>
              <a:rPr lang="en-US" sz="1100" dirty="0">
                <a:solidFill>
                  <a:srgbClr val="FF0000"/>
                </a:solidFill>
                <a:latin typeface="Times New Roman" panose="02020603050405020304" pitchFamily="18" charset="0"/>
                <a:cs typeface="Times New Roman" panose="02020603050405020304" pitchFamily="18" charset="0"/>
              </a:rPr>
              <a:t>còn hỏng 06 ea. </a:t>
            </a:r>
            <a:r>
              <a:rPr lang="en-US" sz="1100" dirty="0" err="1">
                <a:solidFill>
                  <a:schemeClr val="tx1"/>
                </a:solidFill>
                <a:latin typeface="Times New Roman" panose="02020603050405020304" pitchFamily="18" charset="0"/>
                <a:cs typeface="Times New Roman" panose="02020603050405020304" pitchFamily="18" charset="0"/>
              </a:rPr>
              <a:t>Hỏng</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hóc</a:t>
            </a:r>
            <a:r>
              <a:rPr lang="en-US" sz="1100" dirty="0">
                <a:solidFill>
                  <a:schemeClr val="tx1"/>
                </a:solidFill>
                <a:latin typeface="Times New Roman" panose="02020603050405020304" pitchFamily="18" charset="0"/>
                <a:cs typeface="Times New Roman" panose="02020603050405020304" pitchFamily="18" charset="0"/>
              </a:rPr>
              <a:t> chiller </a:t>
            </a:r>
            <a:r>
              <a:rPr lang="en-US" sz="1100" dirty="0" err="1">
                <a:solidFill>
                  <a:schemeClr val="tx1"/>
                </a:solidFill>
                <a:latin typeface="Times New Roman" panose="02020603050405020304" pitchFamily="18" charset="0"/>
                <a:cs typeface="Times New Roman" panose="02020603050405020304" pitchFamily="18" charset="0"/>
              </a:rPr>
              <a:t>đã</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được</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kiểm</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soát</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Tiến</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độ</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sửa</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chữa</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tại</a:t>
            </a:r>
            <a:r>
              <a:rPr lang="en-US" sz="1100" dirty="0">
                <a:solidFill>
                  <a:schemeClr val="tx1"/>
                </a:solidFill>
                <a:latin typeface="Times New Roman" panose="02020603050405020304" pitchFamily="18" charset="0"/>
                <a:cs typeface="Times New Roman" panose="02020603050405020304" pitchFamily="18" charset="0"/>
              </a:rPr>
              <a:t> shop</a:t>
            </a:r>
          </a:p>
          <a:p>
            <a:pPr marL="742950" lvl="1" indent="-285750">
              <a:buClr>
                <a:srgbClr val="000000"/>
              </a:buClr>
              <a:buSzPts val="1300"/>
              <a:buFont typeface="Arial" panose="020B0604020202020204" pitchFamily="34" charset="0"/>
              <a:buChar char="•"/>
            </a:pPr>
            <a:r>
              <a:rPr lang="vi-VN" sz="1100" dirty="0">
                <a:latin typeface="Times New Roman" panose="02020603050405020304" pitchFamily="18" charset="0"/>
                <a:cs typeface="Times New Roman" panose="02020603050405020304" pitchFamily="18" charset="0"/>
              </a:rPr>
              <a:t>Chiller B787: </a:t>
            </a:r>
            <a:r>
              <a:rPr lang="en-US" sz="1100" dirty="0">
                <a:latin typeface="Times New Roman" panose="02020603050405020304" pitchFamily="18" charset="0"/>
                <a:cs typeface="Times New Roman" panose="02020603050405020304" pitchFamily="18" charset="0"/>
              </a:rPr>
              <a:t>03</a:t>
            </a:r>
            <a:r>
              <a:rPr lang="vi-VN" sz="1100" dirty="0">
                <a:latin typeface="Times New Roman" panose="02020603050405020304" pitchFamily="18" charset="0"/>
                <a:cs typeface="Times New Roman" panose="02020603050405020304" pitchFamily="18" charset="0"/>
              </a:rPr>
              <a:t> ADD; </a:t>
            </a:r>
            <a:r>
              <a:rPr lang="en-US" sz="1100" dirty="0">
                <a:latin typeface="Times New Roman"/>
                <a:ea typeface="Times New Roman"/>
                <a:cs typeface="Times New Roman"/>
                <a:sym typeface="Times New Roman"/>
              </a:rPr>
              <a:t>02RO </a:t>
            </a:r>
            <a:r>
              <a:rPr lang="vi-VN" sz="1100" dirty="0">
                <a:latin typeface="Times New Roman" panose="02020603050405020304" pitchFamily="18" charset="0"/>
                <a:cs typeface="Times New Roman" panose="02020603050405020304" pitchFamily="18" charset="0"/>
              </a:rPr>
              <a:t>chưa có EDD</a:t>
            </a:r>
            <a:endParaRPr lang="en-US" sz="1100" dirty="0">
              <a:solidFill>
                <a:schemeClr val="tx1"/>
              </a:solidFill>
              <a:latin typeface="Times New Roman" panose="02020603050405020304" pitchFamily="18" charset="0"/>
              <a:cs typeface="Times New Roman" panose="02020603050405020304" pitchFamily="18" charset="0"/>
            </a:endParaRPr>
          </a:p>
          <a:p>
            <a:pPr marL="742950" lvl="1" indent="-285750">
              <a:buClr>
                <a:srgbClr val="000000"/>
              </a:buClr>
              <a:buSzPts val="1300"/>
              <a:buFont typeface="Arial" panose="020B0604020202020204" pitchFamily="34" charset="0"/>
              <a:buChar char="•"/>
            </a:pPr>
            <a:r>
              <a:rPr lang="vi-VN" sz="1100" dirty="0">
                <a:latin typeface="Times New Roman" panose="02020603050405020304" pitchFamily="18" charset="0"/>
                <a:cs typeface="Times New Roman" panose="02020603050405020304" pitchFamily="18" charset="0"/>
              </a:rPr>
              <a:t>Chiller A350: </a:t>
            </a:r>
            <a:r>
              <a:rPr lang="en-US" sz="1100" dirty="0">
                <a:latin typeface="Times New Roman" panose="02020603050405020304" pitchFamily="18" charset="0"/>
                <a:cs typeface="Times New Roman" panose="02020603050405020304" pitchFamily="18" charset="0"/>
              </a:rPr>
              <a:t>03  ADD; </a:t>
            </a:r>
            <a:r>
              <a:rPr lang="en-US" sz="1100" dirty="0">
                <a:latin typeface="Times New Roman"/>
                <a:cs typeface="Times New Roman"/>
                <a:sym typeface="Times New Roman"/>
              </a:rPr>
              <a:t>05</a:t>
            </a:r>
            <a:r>
              <a:rPr lang="en-US" sz="1100" dirty="0">
                <a:latin typeface="Times New Roman"/>
                <a:ea typeface="Times New Roman"/>
                <a:cs typeface="Times New Roman"/>
                <a:sym typeface="Times New Roman"/>
              </a:rPr>
              <a:t> RO, </a:t>
            </a:r>
            <a:r>
              <a:rPr lang="vi-VN" sz="1100" dirty="0">
                <a:latin typeface="Times New Roman" panose="02020603050405020304" pitchFamily="18" charset="0"/>
                <a:cs typeface="Times New Roman" panose="02020603050405020304" pitchFamily="18" charset="0"/>
              </a:rPr>
              <a:t>chưa có EDD</a:t>
            </a:r>
            <a:endParaRPr lang="en-US" sz="1100" dirty="0">
              <a:latin typeface="Times New Roman"/>
              <a:cs typeface="Times New Roman"/>
              <a:sym typeface="Times New Roman"/>
            </a:endParaRPr>
          </a:p>
          <a:p>
            <a:pPr marL="285750" indent="-285750">
              <a:buClr>
                <a:srgbClr val="000000"/>
              </a:buClr>
              <a:buSzPts val="1300"/>
              <a:buFont typeface="Times New Roman" panose="02020603050405020304" pitchFamily="18" charset="0"/>
              <a:buChar char="⁃"/>
            </a:pPr>
            <a:r>
              <a:rPr lang="en-US" sz="1100" dirty="0">
                <a:latin typeface="Times New Roman" panose="02020603050405020304" pitchFamily="18" charset="0"/>
                <a:cs typeface="Times New Roman" panose="02020603050405020304" pitchFamily="18" charset="0"/>
              </a:rPr>
              <a:t>Hỏng hóc oven: </a:t>
            </a:r>
            <a:r>
              <a:rPr lang="en-US" sz="1100" dirty="0">
                <a:solidFill>
                  <a:srgbClr val="FF0000"/>
                </a:solidFill>
                <a:latin typeface="Times New Roman" panose="02020603050405020304" pitchFamily="18" charset="0"/>
                <a:cs typeface="Times New Roman" panose="02020603050405020304" pitchFamily="18" charset="0"/>
              </a:rPr>
              <a:t>hỏng hóc 10ea, khắc phục 06ea, tồn 04ea</a:t>
            </a:r>
          </a:p>
        </p:txBody>
      </p:sp>
      <p:sp>
        <p:nvSpPr>
          <p:cNvPr id="23" name="TextBox 22"/>
          <p:cNvSpPr txBox="1"/>
          <p:nvPr/>
        </p:nvSpPr>
        <p:spPr>
          <a:xfrm>
            <a:off x="366570" y="1515160"/>
            <a:ext cx="10867915" cy="600164"/>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100" b="1" dirty="0">
                <a:latin typeface="Times New Roman" panose="02020603050405020304" pitchFamily="18" charset="0"/>
                <a:cs typeface="Times New Roman" panose="02020603050405020304" pitchFamily="18" charset="0"/>
              </a:rPr>
              <a:t>IFE: Thales SVDU (A350/B787): </a:t>
            </a:r>
            <a:r>
              <a:rPr lang="en-US" sz="1100" dirty="0">
                <a:latin typeface="Times New Roman" panose="02020603050405020304" pitchFamily="18" charset="0"/>
                <a:cs typeface="Times New Roman" panose="02020603050405020304" pitchFamily="18" charset="0"/>
              </a:rPr>
              <a:t>replaced </a:t>
            </a:r>
            <a:r>
              <a:rPr lang="en-US" sz="1100" b="1" dirty="0">
                <a:latin typeface="Times New Roman" panose="02020603050405020304" pitchFamily="18" charset="0"/>
                <a:cs typeface="Times New Roman" panose="02020603050405020304" pitchFamily="18" charset="0"/>
              </a:rPr>
              <a:t>2750/3228 SVDU (còn 528 INOP SVDU). </a:t>
            </a:r>
            <a:r>
              <a:rPr lang="en-US" sz="1100">
                <a:solidFill>
                  <a:srgbClr val="FF0000"/>
                </a:solidFill>
                <a:latin typeface="Times New Roman" panose="02020603050405020304" pitchFamily="18" charset="0"/>
                <a:cs typeface="Times New Roman" panose="02020603050405020304" pitchFamily="18" charset="0"/>
              </a:rPr>
              <a:t>Trong tuần:  </a:t>
            </a:r>
            <a:r>
              <a:rPr lang="en-US" sz="1100" dirty="0">
                <a:solidFill>
                  <a:srgbClr val="FF0000"/>
                </a:solidFill>
                <a:latin typeface="Times New Roman" panose="02020603050405020304" pitchFamily="18" charset="0"/>
                <a:cs typeface="Times New Roman" panose="02020603050405020304" pitchFamily="18" charset="0"/>
              </a:rPr>
              <a:t>hỏng </a:t>
            </a:r>
            <a:r>
              <a:rPr lang="en-US" sz="1100">
                <a:solidFill>
                  <a:srgbClr val="FF0000"/>
                </a:solidFill>
                <a:latin typeface="Times New Roman" panose="02020603050405020304" pitchFamily="18" charset="0"/>
                <a:cs typeface="Times New Roman" panose="02020603050405020304" pitchFamily="18" charset="0"/>
              </a:rPr>
              <a:t>mới 08ea</a:t>
            </a:r>
            <a:r>
              <a:rPr lang="en-US" sz="1100" dirty="0">
                <a:solidFill>
                  <a:srgbClr val="FF0000"/>
                </a:solidFill>
                <a:latin typeface="Times New Roman" panose="02020603050405020304" pitchFamily="18" charset="0"/>
                <a:cs typeface="Times New Roman" panose="02020603050405020304" pitchFamily="18" charset="0"/>
              </a:rPr>
              <a:t>, khắc </a:t>
            </a:r>
            <a:r>
              <a:rPr lang="en-US" sz="1100">
                <a:solidFill>
                  <a:srgbClr val="FF0000"/>
                </a:solidFill>
                <a:latin typeface="Times New Roman" panose="02020603050405020304" pitchFamily="18" charset="0"/>
                <a:cs typeface="Times New Roman" panose="02020603050405020304" pitchFamily="18" charset="0"/>
              </a:rPr>
              <a:t>phục 12ea</a:t>
            </a:r>
            <a:r>
              <a:rPr lang="en-US" sz="1100" dirty="0">
                <a:solidFill>
                  <a:schemeClr val="tx1"/>
                </a:solidFill>
                <a:latin typeface="Times New Roman" panose="02020603050405020304" pitchFamily="18" charset="0"/>
                <a:cs typeface="Times New Roman" panose="02020603050405020304" pitchFamily="18" charset="0"/>
              </a:rPr>
              <a:t>. </a:t>
            </a:r>
            <a:endParaRPr lang="en-GB" sz="1100" dirty="0">
              <a:solidFill>
                <a:schemeClr val="tx1"/>
              </a:solidFill>
              <a:latin typeface="Times New Roman" panose="02020603050405020304" pitchFamily="18" charset="0"/>
              <a:cs typeface="Times New Roman" panose="02020603050405020304" pitchFamily="18" charset="0"/>
            </a:endParaRPr>
          </a:p>
          <a:p>
            <a:r>
              <a:rPr lang="en-US" sz="1100" dirty="0">
                <a:latin typeface="Times New Roman" panose="02020603050405020304" pitchFamily="18" charset="0"/>
                <a:cs typeface="Times New Roman" panose="02020603050405020304" pitchFamily="18" charset="0"/>
              </a:rPr>
              <a:t> -       Hỏng hóc đội bay A350: đã được khắc phục và kiểm soát</a:t>
            </a:r>
          </a:p>
          <a:p>
            <a:r>
              <a:rPr lang="en-US" sz="1100" dirty="0">
                <a:solidFill>
                  <a:schemeClr val="tx1"/>
                </a:solidFill>
                <a:latin typeface="Times New Roman" panose="02020603050405020304" pitchFamily="18" charset="0"/>
                <a:cs typeface="Times New Roman" panose="02020603050405020304" pitchFamily="18" charset="0"/>
              </a:rPr>
              <a:t>-        Hỏng hóc tồn đọng: tập trung đội bay B787, số lượng quay vòng ít (50ea).</a:t>
            </a:r>
          </a:p>
        </p:txBody>
      </p:sp>
      <p:sp>
        <p:nvSpPr>
          <p:cNvPr id="25" name="TextBox 24"/>
          <p:cNvSpPr txBox="1"/>
          <p:nvPr/>
        </p:nvSpPr>
        <p:spPr>
          <a:xfrm>
            <a:off x="366570" y="2173984"/>
            <a:ext cx="10860609" cy="600164"/>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100" b="1" dirty="0">
                <a:latin typeface="Times New Roman" panose="02020603050405020304" pitchFamily="18" charset="0"/>
                <a:cs typeface="Times New Roman" panose="02020603050405020304" pitchFamily="18" charset="0"/>
              </a:rPr>
              <a:t>LAV:</a:t>
            </a:r>
          </a:p>
          <a:p>
            <a:pPr marL="285750" indent="-285750">
              <a:buFontTx/>
              <a:buChar char="-"/>
            </a:pPr>
            <a:r>
              <a:rPr lang="en-US" sz="1100" b="1" dirty="0">
                <a:latin typeface="Times New Roman" panose="02020603050405020304" pitchFamily="18" charset="0"/>
                <a:cs typeface="Times New Roman" panose="02020603050405020304" pitchFamily="18" charset="0"/>
              </a:rPr>
              <a:t>Toilet Assy</a:t>
            </a:r>
            <a:r>
              <a:rPr lang="en-US" sz="1100" b="1" dirty="0">
                <a:solidFill>
                  <a:srgbClr val="FF0000"/>
                </a:solidFill>
                <a:latin typeface="Times New Roman" panose="02020603050405020304" pitchFamily="18" charset="0"/>
                <a:cs typeface="Times New Roman" panose="02020603050405020304" pitchFamily="18" charset="0"/>
              </a:rPr>
              <a:t>: </a:t>
            </a:r>
            <a:r>
              <a:rPr lang="en-US" sz="1100" dirty="0">
                <a:solidFill>
                  <a:srgbClr val="FF0000"/>
                </a:solidFill>
                <a:latin typeface="Times New Roman" panose="02020603050405020304" pitchFamily="18" charset="0"/>
                <a:cs typeface="Times New Roman" panose="02020603050405020304" pitchFamily="18" charset="0"/>
              </a:rPr>
              <a:t>hỏng 01 ea, khắc phục 01ea, tồn 00ea</a:t>
            </a:r>
            <a:endParaRPr lang="en-US" sz="1100" dirty="0">
              <a:solidFill>
                <a:schemeClr val="tx1"/>
              </a:solidFill>
              <a:latin typeface="Times New Roman" panose="02020603050405020304" pitchFamily="18" charset="0"/>
              <a:cs typeface="Times New Roman" panose="02020603050405020304" pitchFamily="18" charset="0"/>
            </a:endParaRPr>
          </a:p>
          <a:p>
            <a:pPr marL="285750" indent="-285750">
              <a:buFontTx/>
              <a:buChar char="-"/>
            </a:pPr>
            <a:r>
              <a:rPr lang="en-US" sz="1100" b="1" dirty="0">
                <a:latin typeface="Times New Roman" panose="02020603050405020304" pitchFamily="18" charset="0"/>
                <a:cs typeface="Times New Roman" panose="02020603050405020304" pitchFamily="18" charset="0"/>
              </a:rPr>
              <a:t>Faucet Assy: </a:t>
            </a:r>
            <a:r>
              <a:rPr lang="en-US" sz="1100" dirty="0">
                <a:solidFill>
                  <a:srgbClr val="FF0000"/>
                </a:solidFill>
                <a:latin typeface="Times New Roman" panose="02020603050405020304" pitchFamily="18" charset="0"/>
                <a:cs typeface="Times New Roman" panose="02020603050405020304" pitchFamily="18" charset="0"/>
              </a:rPr>
              <a:t>hỏng 03ea, khắc phục 02, tồn 01ea</a:t>
            </a:r>
          </a:p>
        </p:txBody>
      </p:sp>
      <p:sp>
        <p:nvSpPr>
          <p:cNvPr id="26" name="TextBox 25"/>
          <p:cNvSpPr txBox="1"/>
          <p:nvPr/>
        </p:nvSpPr>
        <p:spPr>
          <a:xfrm>
            <a:off x="375533" y="577246"/>
            <a:ext cx="10844923" cy="261610"/>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100" b="1" dirty="0">
                <a:latin typeface="Times New Roman" panose="02020603050405020304" pitchFamily="18" charset="0"/>
                <a:cs typeface="Times New Roman" panose="02020603050405020304" pitchFamily="18" charset="0"/>
              </a:rPr>
              <a:t>ADD ảnh hưởng dịch vụ tuần 02: </a:t>
            </a:r>
            <a:r>
              <a:rPr lang="en-US" sz="1100" dirty="0">
                <a:latin typeface="Times New Roman" panose="02020603050405020304" pitchFamily="18" charset="0"/>
                <a:cs typeface="Times New Roman" panose="02020603050405020304" pitchFamily="18" charset="0"/>
              </a:rPr>
              <a:t>Tổng 217, khắc phục 72ADD =&gt; tồn đọng </a:t>
            </a:r>
            <a:r>
              <a:rPr lang="en-US" sz="1100" b="1" dirty="0">
                <a:latin typeface="Times New Roman" panose="02020603050405020304" pitchFamily="18" charset="0"/>
                <a:cs typeface="Times New Roman" panose="02020603050405020304" pitchFamily="18" charset="0"/>
              </a:rPr>
              <a:t>145ADD</a:t>
            </a:r>
            <a:r>
              <a:rPr lang="en-US" sz="1100" dirty="0">
                <a:latin typeface="Times New Roman" panose="02020603050405020304" pitchFamily="18" charset="0"/>
                <a:cs typeface="Times New Roman" panose="02020603050405020304" pitchFamily="18" charset="0"/>
              </a:rPr>
              <a:t> </a:t>
            </a:r>
            <a:r>
              <a:rPr lang="en-US" sz="1100" dirty="0">
                <a:solidFill>
                  <a:srgbClr val="FF0000"/>
                </a:solidFill>
                <a:latin typeface="Times New Roman" panose="02020603050405020304" pitchFamily="18" charset="0"/>
                <a:cs typeface="Times New Roman" panose="02020603050405020304" pitchFamily="18" charset="0"/>
              </a:rPr>
              <a:t>(không đổi so với tuần 1/2025)</a:t>
            </a:r>
            <a:r>
              <a:rPr lang="en-US" sz="1100" dirty="0">
                <a:solidFill>
                  <a:schemeClr val="tx1"/>
                </a:solidFill>
                <a:latin typeface="Times New Roman" panose="02020603050405020304" pitchFamily="18" charset="0"/>
                <a:cs typeface="Times New Roman" panose="02020603050405020304" pitchFamily="18" charset="0"/>
              </a:rPr>
              <a:t>.</a:t>
            </a:r>
            <a:r>
              <a:rPr lang="en-US" sz="1100" dirty="0">
                <a:solidFill>
                  <a:srgbClr val="FF0000"/>
                </a:solidFill>
                <a:latin typeface="Times New Roman" panose="02020603050405020304" pitchFamily="18" charset="0"/>
                <a:cs typeface="Times New Roman" panose="02020603050405020304" pitchFamily="18" charset="0"/>
              </a:rPr>
              <a:t> </a:t>
            </a:r>
            <a:endParaRPr lang="en-US" sz="1100" dirty="0">
              <a:solidFill>
                <a:schemeClr val="tx1"/>
              </a:solidFill>
              <a:latin typeface="Times New Roman" panose="02020603050405020304" pitchFamily="18" charset="0"/>
              <a:cs typeface="Times New Roman" panose="02020603050405020304" pitchFamily="18" charset="0"/>
            </a:endParaRPr>
          </a:p>
        </p:txBody>
      </p:sp>
      <p:sp>
        <p:nvSpPr>
          <p:cNvPr id="27" name="TextBox 26"/>
          <p:cNvSpPr txBox="1"/>
          <p:nvPr/>
        </p:nvSpPr>
        <p:spPr>
          <a:xfrm>
            <a:off x="375533" y="887822"/>
            <a:ext cx="10867915" cy="600164"/>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100" b="1" dirty="0">
                <a:latin typeface="Times New Roman" panose="02020603050405020304" pitchFamily="18" charset="0"/>
                <a:cs typeface="Times New Roman" panose="02020603050405020304" pitchFamily="18" charset="0"/>
              </a:rPr>
              <a:t>Hỏng hóc Ghế thuộc diện cắt khách tuần 02</a:t>
            </a:r>
          </a:p>
          <a:p>
            <a:pPr marL="285750" indent="-285750">
              <a:buFontTx/>
              <a:buChar char="-"/>
            </a:pPr>
            <a:r>
              <a:rPr lang="en-US" sz="1100" b="1" dirty="0">
                <a:latin typeface="Times New Roman" panose="02020603050405020304" pitchFamily="18" charset="0"/>
                <a:cs typeface="Times New Roman" panose="02020603050405020304" pitchFamily="18" charset="0"/>
              </a:rPr>
              <a:t>Ghế C</a:t>
            </a:r>
            <a:r>
              <a:rPr lang="en-US" sz="1100" dirty="0">
                <a:solidFill>
                  <a:srgbClr val="FF0000"/>
                </a:solidFill>
                <a:latin typeface="Times New Roman" panose="02020603050405020304" pitchFamily="18" charset="0"/>
                <a:cs typeface="Times New Roman" panose="02020603050405020304" pitchFamily="18" charset="0"/>
              </a:rPr>
              <a:t>: hỏng 01, đã khắc phục 01, tồn 00.</a:t>
            </a:r>
          </a:p>
          <a:p>
            <a:pPr marL="285750" indent="-285750">
              <a:buFontTx/>
              <a:buChar char="-"/>
            </a:pPr>
            <a:r>
              <a:rPr lang="en-US" sz="1100" b="1" dirty="0">
                <a:latin typeface="Times New Roman" panose="02020603050405020304" pitchFamily="18" charset="0"/>
                <a:cs typeface="Times New Roman" panose="02020603050405020304" pitchFamily="18" charset="0"/>
              </a:rPr>
              <a:t>Ghế Y</a:t>
            </a:r>
            <a:r>
              <a:rPr lang="en-US" sz="1100" b="1" dirty="0">
                <a:solidFill>
                  <a:srgbClr val="FF0000"/>
                </a:solidFill>
                <a:latin typeface="Times New Roman" panose="02020603050405020304" pitchFamily="18" charset="0"/>
                <a:cs typeface="Times New Roman" panose="02020603050405020304" pitchFamily="18" charset="0"/>
              </a:rPr>
              <a:t>: </a:t>
            </a:r>
            <a:r>
              <a:rPr lang="en-US" sz="1100" dirty="0">
                <a:solidFill>
                  <a:srgbClr val="FF0000"/>
                </a:solidFill>
                <a:latin typeface="Times New Roman" panose="02020603050405020304" pitchFamily="18" charset="0"/>
                <a:cs typeface="Times New Roman" panose="02020603050405020304" pitchFamily="18" charset="0"/>
              </a:rPr>
              <a:t>hỏng 09, đã khắc phục 06, tồn 03</a:t>
            </a:r>
            <a:r>
              <a:rPr lang="en-US" sz="1100" dirty="0">
                <a:solidFill>
                  <a:schemeClr val="tx1"/>
                </a:solidFill>
                <a:latin typeface="Times New Roman" panose="02020603050405020304" pitchFamily="18" charset="0"/>
                <a:cs typeface="Times New Roman" panose="02020603050405020304" pitchFamily="18" charset="0"/>
              </a:rPr>
              <a:t>.</a:t>
            </a:r>
            <a:r>
              <a:rPr lang="en-US" sz="1100" dirty="0">
                <a:solidFill>
                  <a:srgbClr val="FF0000"/>
                </a:solidFill>
                <a:latin typeface="Times New Roman" panose="02020603050405020304" pitchFamily="18" charset="0"/>
                <a:cs typeface="Times New Roman" panose="02020603050405020304" pitchFamily="18" charset="0"/>
              </a:rPr>
              <a:t> </a:t>
            </a:r>
            <a:endParaRPr lang="en-US" sz="11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43671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5" name="Title 1">
            <a:extLst>
              <a:ext uri="{FF2B5EF4-FFF2-40B4-BE49-F238E27FC236}">
                <a16:creationId xmlns:a16="http://schemas.microsoft.com/office/drawing/2014/main" xmlns="" id="{5781951A-75AB-4FD9-911A-99894057CF57}"/>
              </a:ext>
            </a:extLst>
          </p:cNvPr>
          <p:cNvSpPr txBox="1">
            <a:spLocks/>
          </p:cNvSpPr>
          <p:nvPr/>
        </p:nvSpPr>
        <p:spPr>
          <a:xfrm>
            <a:off x="369435" y="214911"/>
            <a:ext cx="10730211"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dirty="0">
                <a:ln>
                  <a:noFill/>
                </a:ln>
                <a:solidFill>
                  <a:srgbClr val="D2A43B"/>
                </a:solidFill>
                <a:effectLst/>
                <a:uLnTx/>
                <a:uFillTx/>
                <a:latin typeface="Times New Roman" panose="02020603050405020304" pitchFamily="18" charset="0"/>
                <a:ea typeface="Tahoma" pitchFamily="34" charset="0"/>
                <a:cs typeface="Times New Roman" panose="02020603050405020304" pitchFamily="18" charset="0"/>
              </a:rPr>
              <a:t>NGUỒN LỰC TÀU BAY – A321</a:t>
            </a:r>
          </a:p>
        </p:txBody>
      </p:sp>
      <p:graphicFrame>
        <p:nvGraphicFramePr>
          <p:cNvPr id="4" name="Table 3"/>
          <p:cNvGraphicFramePr>
            <a:graphicFrameLocks noGrp="1"/>
          </p:cNvGraphicFramePr>
          <p:nvPr>
            <p:extLst>
              <p:ext uri="{D42A27DB-BD31-4B8C-83A1-F6EECF244321}">
                <p14:modId xmlns:p14="http://schemas.microsoft.com/office/powerpoint/2010/main" val="1152125090"/>
              </p:ext>
            </p:extLst>
          </p:nvPr>
        </p:nvGraphicFramePr>
        <p:xfrm>
          <a:off x="228600" y="838200"/>
          <a:ext cx="11593962" cy="5195447"/>
        </p:xfrm>
        <a:graphic>
          <a:graphicData uri="http://schemas.openxmlformats.org/drawingml/2006/table">
            <a:tbl>
              <a:tblPr/>
              <a:tblGrid>
                <a:gridCol w="322772">
                  <a:extLst>
                    <a:ext uri="{9D8B030D-6E8A-4147-A177-3AD203B41FA5}">
                      <a16:colId xmlns:a16="http://schemas.microsoft.com/office/drawing/2014/main" xmlns="" val="3363301013"/>
                    </a:ext>
                  </a:extLst>
                </a:gridCol>
                <a:gridCol w="2272314">
                  <a:extLst>
                    <a:ext uri="{9D8B030D-6E8A-4147-A177-3AD203B41FA5}">
                      <a16:colId xmlns:a16="http://schemas.microsoft.com/office/drawing/2014/main" xmlns="" val="2040270993"/>
                    </a:ext>
                  </a:extLst>
                </a:gridCol>
                <a:gridCol w="490613">
                  <a:extLst>
                    <a:ext uri="{9D8B030D-6E8A-4147-A177-3AD203B41FA5}">
                      <a16:colId xmlns:a16="http://schemas.microsoft.com/office/drawing/2014/main" xmlns="" val="426032902"/>
                    </a:ext>
                  </a:extLst>
                </a:gridCol>
                <a:gridCol w="464791">
                  <a:extLst>
                    <a:ext uri="{9D8B030D-6E8A-4147-A177-3AD203B41FA5}">
                      <a16:colId xmlns:a16="http://schemas.microsoft.com/office/drawing/2014/main" xmlns="" val="2626241433"/>
                    </a:ext>
                  </a:extLst>
                </a:gridCol>
                <a:gridCol w="477702">
                  <a:extLst>
                    <a:ext uri="{9D8B030D-6E8A-4147-A177-3AD203B41FA5}">
                      <a16:colId xmlns:a16="http://schemas.microsoft.com/office/drawing/2014/main" xmlns="" val="1240100025"/>
                    </a:ext>
                  </a:extLst>
                </a:gridCol>
                <a:gridCol w="477702">
                  <a:extLst>
                    <a:ext uri="{9D8B030D-6E8A-4147-A177-3AD203B41FA5}">
                      <a16:colId xmlns:a16="http://schemas.microsoft.com/office/drawing/2014/main" xmlns="" val="3725669426"/>
                    </a:ext>
                  </a:extLst>
                </a:gridCol>
                <a:gridCol w="490613">
                  <a:extLst>
                    <a:ext uri="{9D8B030D-6E8A-4147-A177-3AD203B41FA5}">
                      <a16:colId xmlns:a16="http://schemas.microsoft.com/office/drawing/2014/main" xmlns="" val="691575350"/>
                    </a:ext>
                  </a:extLst>
                </a:gridCol>
                <a:gridCol w="490613">
                  <a:extLst>
                    <a:ext uri="{9D8B030D-6E8A-4147-A177-3AD203B41FA5}">
                      <a16:colId xmlns:a16="http://schemas.microsoft.com/office/drawing/2014/main" xmlns="" val="681942277"/>
                    </a:ext>
                  </a:extLst>
                </a:gridCol>
                <a:gridCol w="490613">
                  <a:extLst>
                    <a:ext uri="{9D8B030D-6E8A-4147-A177-3AD203B41FA5}">
                      <a16:colId xmlns:a16="http://schemas.microsoft.com/office/drawing/2014/main" xmlns="" val="3424580853"/>
                    </a:ext>
                  </a:extLst>
                </a:gridCol>
                <a:gridCol w="490613">
                  <a:extLst>
                    <a:ext uri="{9D8B030D-6E8A-4147-A177-3AD203B41FA5}">
                      <a16:colId xmlns:a16="http://schemas.microsoft.com/office/drawing/2014/main" xmlns="" val="1511376717"/>
                    </a:ext>
                  </a:extLst>
                </a:gridCol>
                <a:gridCol w="490613">
                  <a:extLst>
                    <a:ext uri="{9D8B030D-6E8A-4147-A177-3AD203B41FA5}">
                      <a16:colId xmlns:a16="http://schemas.microsoft.com/office/drawing/2014/main" xmlns="" val="3042494988"/>
                    </a:ext>
                  </a:extLst>
                </a:gridCol>
                <a:gridCol w="490613">
                  <a:extLst>
                    <a:ext uri="{9D8B030D-6E8A-4147-A177-3AD203B41FA5}">
                      <a16:colId xmlns:a16="http://schemas.microsoft.com/office/drawing/2014/main" xmlns="" val="3732356743"/>
                    </a:ext>
                  </a:extLst>
                </a:gridCol>
                <a:gridCol w="490613">
                  <a:extLst>
                    <a:ext uri="{9D8B030D-6E8A-4147-A177-3AD203B41FA5}">
                      <a16:colId xmlns:a16="http://schemas.microsoft.com/office/drawing/2014/main" xmlns="" val="886631350"/>
                    </a:ext>
                  </a:extLst>
                </a:gridCol>
                <a:gridCol w="490613">
                  <a:extLst>
                    <a:ext uri="{9D8B030D-6E8A-4147-A177-3AD203B41FA5}">
                      <a16:colId xmlns:a16="http://schemas.microsoft.com/office/drawing/2014/main" xmlns="" val="444195080"/>
                    </a:ext>
                  </a:extLst>
                </a:gridCol>
                <a:gridCol w="490613">
                  <a:extLst>
                    <a:ext uri="{9D8B030D-6E8A-4147-A177-3AD203B41FA5}">
                      <a16:colId xmlns:a16="http://schemas.microsoft.com/office/drawing/2014/main" xmlns="" val="2386791822"/>
                    </a:ext>
                  </a:extLst>
                </a:gridCol>
                <a:gridCol w="2672551">
                  <a:extLst>
                    <a:ext uri="{9D8B030D-6E8A-4147-A177-3AD203B41FA5}">
                      <a16:colId xmlns:a16="http://schemas.microsoft.com/office/drawing/2014/main" xmlns="" val="1954650445"/>
                    </a:ext>
                  </a:extLst>
                </a:gridCol>
              </a:tblGrid>
              <a:tr h="475992">
                <a:tc gridSpan="16">
                  <a:txBody>
                    <a:bodyPr/>
                    <a:lstStyle/>
                    <a:p>
                      <a:pPr algn="ctr" fontAlgn="ctr"/>
                      <a:r>
                        <a:rPr lang="en-US" sz="1400" b="1" i="0" u="none" strike="noStrike" dirty="0">
                          <a:solidFill>
                            <a:srgbClr val="000000"/>
                          </a:solidFill>
                          <a:effectLst/>
                          <a:latin typeface="Times New Roman" panose="02020603050405020304" pitchFamily="18" charset="0"/>
                          <a:cs typeface="Times New Roman" panose="02020603050405020304" pitchFamily="18" charset="0"/>
                        </a:rPr>
                        <a:t>NGUỒN LỰC KỸ THUÂT FLEET A321 (UPDATED 12/01)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425270979"/>
                  </a:ext>
                </a:extLst>
              </a:tr>
              <a:tr h="438409">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STT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A/C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Dec-24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Jan-25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Feb-25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100" b="1" i="0" u="none" strike="noStrike" dirty="0">
                          <a:solidFill>
                            <a:srgbClr val="000000"/>
                          </a:solidFill>
                          <a:effectLst/>
                          <a:latin typeface="Times New Roman" panose="02020603050405020304" pitchFamily="18" charset="0"/>
                          <a:cs typeface="Times New Roman" panose="02020603050405020304" pitchFamily="18" charset="0"/>
                        </a:rPr>
                        <a:t>Mar-25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Apr-25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May-25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Jun-25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Jul-25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Aug-25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Sep-25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Oct-25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Nov-25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Note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xmlns="" val="333188196"/>
                  </a:ext>
                </a:extLst>
              </a:tr>
              <a:tr h="888519">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100" b="1" i="0" u="none" strike="noStrike" dirty="0">
                          <a:solidFill>
                            <a:srgbClr val="000000"/>
                          </a:solidFill>
                          <a:effectLst/>
                          <a:latin typeface="Times New Roman" panose="02020603050405020304" pitchFamily="18" charset="0"/>
                          <a:cs typeface="Times New Roman" panose="02020603050405020304" pitchFamily="18" charset="0"/>
                        </a:rPr>
                        <a:t>A321 NEO AOG</a:t>
                      </a:r>
                      <a:br>
                        <a:rPr lang="pt-BR" sz="1100" b="1" i="0" u="none" strike="noStrike" dirty="0">
                          <a:solidFill>
                            <a:srgbClr val="000000"/>
                          </a:solidFill>
                          <a:effectLst/>
                          <a:latin typeface="Times New Roman" panose="02020603050405020304" pitchFamily="18" charset="0"/>
                          <a:cs typeface="Times New Roman" panose="02020603050405020304" pitchFamily="18" charset="0"/>
                        </a:rPr>
                      </a:br>
                      <a:r>
                        <a:rPr lang="pt-BR" sz="1100" b="1" i="0" u="none" strike="noStrike" dirty="0">
                          <a:solidFill>
                            <a:srgbClr val="000000"/>
                          </a:solidFill>
                          <a:effectLst/>
                          <a:latin typeface="Times New Roman" panose="02020603050405020304" pitchFamily="18" charset="0"/>
                          <a:cs typeface="Times New Roman" panose="02020603050405020304" pitchFamily="18" charset="0"/>
                        </a:rPr>
                        <a:t> do thiếu ENG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15.00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14.00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14.00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14.00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12.00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12.00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11.00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11.00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11.00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1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773561654"/>
                  </a:ext>
                </a:extLst>
              </a:tr>
              <a:tr h="807745">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pt-BR" sz="1100" b="1" i="0" u="none" strike="noStrike">
                          <a:solidFill>
                            <a:srgbClr val="000000"/>
                          </a:solidFill>
                          <a:effectLst/>
                          <a:latin typeface="Times New Roman" panose="02020603050405020304" pitchFamily="18" charset="0"/>
                          <a:cs typeface="Times New Roman" panose="02020603050405020304" pitchFamily="18" charset="0"/>
                        </a:rPr>
                        <a:t>A321 CEO AOG do thiếu ENG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xmlns="" val="2324718174"/>
                  </a:ext>
                </a:extLst>
              </a:tr>
              <a:tr h="1061606">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A321 dừng thực hiện BD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1.70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0.70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0.50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17.00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2.00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1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100" b="0" i="0" u="none" strike="noStrike" dirty="0">
                          <a:solidFill>
                            <a:schemeClr val="tx1"/>
                          </a:solidFill>
                          <a:effectLst/>
                          <a:latin typeface="Times New Roman" panose="02020603050405020304" pitchFamily="18" charset="0"/>
                          <a:cs typeface="Times New Roman" panose="02020603050405020304" pitchFamily="18" charset="0"/>
                        </a:rPr>
                        <a:t>03/2025: </a:t>
                      </a:r>
                      <a:r>
                        <a:rPr lang="vi-VN" sz="1100" b="0" i="0" u="none" strike="noStrike" dirty="0">
                          <a:solidFill>
                            <a:schemeClr val="tx1"/>
                          </a:solidFill>
                          <a:effectLst/>
                          <a:latin typeface="Times New Roman" panose="02020603050405020304" pitchFamily="18" charset="0"/>
                          <a:cs typeface="Times New Roman" panose="02020603050405020304" pitchFamily="18" charset="0"/>
                        </a:rPr>
                        <a:t>Giảm 0.3 tàu dừng BD từ 18-27/03 để bay bù A870 sơn cánh.</a:t>
                      </a:r>
                      <a:br>
                        <a:rPr lang="vi-VN" sz="1100" b="0" i="0" u="none" strike="noStrike" dirty="0">
                          <a:solidFill>
                            <a:schemeClr val="tx1"/>
                          </a:solidFill>
                          <a:effectLst/>
                          <a:latin typeface="Times New Roman" panose="02020603050405020304" pitchFamily="18" charset="0"/>
                          <a:cs typeface="Times New Roman" panose="02020603050405020304" pitchFamily="18" charset="0"/>
                        </a:rPr>
                      </a:br>
                      <a:r>
                        <a:rPr lang="vi-VN" sz="1100" b="0" i="0" u="none" strike="noStrike" dirty="0">
                          <a:solidFill>
                            <a:schemeClr val="tx1"/>
                          </a:solidFill>
                          <a:effectLst/>
                          <a:latin typeface="Times New Roman" panose="02020603050405020304" pitchFamily="18" charset="0"/>
                          <a:cs typeface="Times New Roman" panose="02020603050405020304" pitchFamily="18" charset="0"/>
                        </a:rPr>
                        <a:t>- 12/2024: thêm 0.5 tàu dừng do A614 AOG do xe thang va frame 17 từ 15-2</a:t>
                      </a:r>
                      <a:r>
                        <a:rPr lang="en-US" sz="1100" b="0" i="0" u="none" strike="noStrike" dirty="0">
                          <a:solidFill>
                            <a:schemeClr val="tx1"/>
                          </a:solidFill>
                          <a:effectLst/>
                          <a:latin typeface="Times New Roman" panose="02020603050405020304" pitchFamily="18" charset="0"/>
                          <a:cs typeface="Times New Roman" panose="02020603050405020304" pitchFamily="18" charset="0"/>
                        </a:rPr>
                        <a:t>8</a:t>
                      </a:r>
                      <a:r>
                        <a:rPr lang="vi-VN" sz="1100" b="0" i="0" u="none" strike="noStrike" dirty="0">
                          <a:solidFill>
                            <a:schemeClr val="tx1"/>
                          </a:solidFill>
                          <a:effectLst/>
                          <a:latin typeface="Times New Roman" panose="02020603050405020304" pitchFamily="18" charset="0"/>
                          <a:cs typeface="Times New Roman" panose="02020603050405020304" pitchFamily="18" charset="0"/>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73361226"/>
                  </a:ext>
                </a:extLst>
              </a:tr>
              <a:tr h="761588">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Tổng số tàu A321 Dừng</a:t>
                      </a:r>
                      <a:br>
                        <a:rPr lang="en-US" sz="1100" b="1" i="0" u="none" strike="noStrike">
                          <a:solidFill>
                            <a:srgbClr val="000000"/>
                          </a:solidFill>
                          <a:effectLst/>
                          <a:latin typeface="Times New Roman" panose="02020603050405020304" pitchFamily="18" charset="0"/>
                          <a:cs typeface="Times New Roman" panose="02020603050405020304" pitchFamily="18" charset="0"/>
                        </a:rPr>
                      </a:br>
                      <a:r>
                        <a:rPr lang="en-US" sz="1100" b="1" i="0" u="none" strike="noStrike">
                          <a:solidFill>
                            <a:srgbClr val="000000"/>
                          </a:solidFill>
                          <a:effectLst/>
                          <a:latin typeface="Times New Roman" panose="02020603050405020304" pitchFamily="18" charset="0"/>
                          <a:cs typeface="Times New Roman" panose="02020603050405020304" pitchFamily="18" charset="0"/>
                        </a:rPr>
                        <a:t>(Do thiếu ENG + BD)</a:t>
                      </a:r>
                      <a:br>
                        <a:rPr lang="en-US" sz="1100" b="1" i="0" u="none" strike="noStrike">
                          <a:solidFill>
                            <a:srgbClr val="000000"/>
                          </a:solidFill>
                          <a:effectLst/>
                          <a:latin typeface="Times New Roman" panose="02020603050405020304" pitchFamily="18" charset="0"/>
                          <a:cs typeface="Times New Roman" panose="02020603050405020304" pitchFamily="18" charset="0"/>
                        </a:rPr>
                      </a:br>
                      <a:r>
                        <a:rPr lang="en-US" sz="1100" b="1" i="0" u="none" strike="noStrike">
                          <a:solidFill>
                            <a:srgbClr val="000000"/>
                          </a:solidFill>
                          <a:effectLst/>
                          <a:latin typeface="Times New Roman" panose="02020603050405020304" pitchFamily="18" charset="0"/>
                          <a:cs typeface="Times New Roman" panose="02020603050405020304" pitchFamily="18" charset="0"/>
                        </a:rPr>
                        <a:t>(4) = (1) + (2) + (3)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16.70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14.70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14.50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31.00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15.00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16.00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13.50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12.00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12.50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14.00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14.00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xmlns="" val="3882449563"/>
                  </a:ext>
                </a:extLst>
              </a:tr>
              <a:tr h="761588">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Tổng số tàu A321 thực tế có thể khai thác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47.0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50.3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50.5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34.0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50.0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49.0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51.5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53.0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52.5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51.0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51.0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52.0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52.0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dirty="0">
                          <a:solidFill>
                            <a:srgbClr val="FF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FF0000"/>
                          </a:solidFill>
                          <a:effectLst/>
                          <a:latin typeface="Times New Roman" panose="02020603050405020304" pitchFamily="18" charset="0"/>
                          <a:cs typeface="Times New Roman" panose="02020603050405020304" pitchFamily="18" charset="0"/>
                        </a:rPr>
                        <a:t>Chưa</a:t>
                      </a:r>
                      <a:r>
                        <a:rPr lang="en-US" sz="1100" b="0" i="0" u="none" strike="noStrike" baseline="0" dirty="0">
                          <a:solidFill>
                            <a:srgbClr val="FF0000"/>
                          </a:solidFill>
                          <a:effectLst/>
                          <a:latin typeface="Times New Roman" panose="02020603050405020304" pitchFamily="18" charset="0"/>
                          <a:cs typeface="Times New Roman" panose="02020603050405020304" pitchFamily="18" charset="0"/>
                        </a:rPr>
                        <a:t> </a:t>
                      </a:r>
                      <a:r>
                        <a:rPr lang="en-US" sz="1100" b="0" i="0" u="none" strike="noStrike" baseline="0" dirty="0" err="1">
                          <a:solidFill>
                            <a:srgbClr val="FF0000"/>
                          </a:solidFill>
                          <a:effectLst/>
                          <a:latin typeface="Times New Roman" panose="02020603050405020304" pitchFamily="18" charset="0"/>
                          <a:cs typeface="Times New Roman" panose="02020603050405020304" pitchFamily="18" charset="0"/>
                        </a:rPr>
                        <a:t>bao</a:t>
                      </a:r>
                      <a:r>
                        <a:rPr lang="en-US" sz="1100" b="0" i="0" u="none" strike="noStrike" baseline="0" dirty="0">
                          <a:solidFill>
                            <a:srgbClr val="FF0000"/>
                          </a:solidFill>
                          <a:effectLst/>
                          <a:latin typeface="Times New Roman" panose="02020603050405020304" pitchFamily="18" charset="0"/>
                          <a:cs typeface="Times New Roman" panose="02020603050405020304" pitchFamily="18" charset="0"/>
                        </a:rPr>
                        <a:t> </a:t>
                      </a:r>
                      <a:r>
                        <a:rPr lang="en-US" sz="1100" b="0" i="0" u="none" strike="noStrike" baseline="0" dirty="0" err="1">
                          <a:solidFill>
                            <a:srgbClr val="FF0000"/>
                          </a:solidFill>
                          <a:effectLst/>
                          <a:latin typeface="Times New Roman" panose="02020603050405020304" pitchFamily="18" charset="0"/>
                          <a:cs typeface="Times New Roman" panose="02020603050405020304" pitchFamily="18" charset="0"/>
                        </a:rPr>
                        <a:t>gồm</a:t>
                      </a:r>
                      <a:r>
                        <a:rPr lang="en-US" sz="1100" b="0" i="0" u="none" strike="noStrike" baseline="0" dirty="0">
                          <a:solidFill>
                            <a:srgbClr val="FF0000"/>
                          </a:solidFill>
                          <a:effectLst/>
                          <a:latin typeface="Times New Roman" panose="02020603050405020304" pitchFamily="18" charset="0"/>
                          <a:cs typeface="Times New Roman" panose="02020603050405020304" pitchFamily="18" charset="0"/>
                        </a:rPr>
                        <a:t> </a:t>
                      </a:r>
                      <a:r>
                        <a:rPr lang="en-US" sz="1100" b="0" i="0" u="none" strike="noStrike" baseline="0" dirty="0" err="1">
                          <a:solidFill>
                            <a:srgbClr val="FF0000"/>
                          </a:solidFill>
                          <a:effectLst/>
                          <a:latin typeface="Times New Roman" panose="02020603050405020304" pitchFamily="18" charset="0"/>
                          <a:cs typeface="Times New Roman" panose="02020603050405020304" pitchFamily="18" charset="0"/>
                        </a:rPr>
                        <a:t>các</a:t>
                      </a:r>
                      <a:r>
                        <a:rPr lang="en-US" sz="1100" b="0" i="0" u="none" strike="noStrike" baseline="0" dirty="0">
                          <a:solidFill>
                            <a:srgbClr val="FF0000"/>
                          </a:solidFill>
                          <a:effectLst/>
                          <a:latin typeface="Times New Roman" panose="02020603050405020304" pitchFamily="18" charset="0"/>
                          <a:cs typeface="Times New Roman" panose="02020603050405020304" pitchFamily="18" charset="0"/>
                        </a:rPr>
                        <a:t> </a:t>
                      </a:r>
                      <a:r>
                        <a:rPr lang="en-US" sz="1100" b="0" i="0" u="none" strike="noStrike" baseline="0" dirty="0" err="1">
                          <a:solidFill>
                            <a:srgbClr val="FF0000"/>
                          </a:solidFill>
                          <a:effectLst/>
                          <a:latin typeface="Times New Roman" panose="02020603050405020304" pitchFamily="18" charset="0"/>
                          <a:cs typeface="Times New Roman" panose="02020603050405020304" pitchFamily="18" charset="0"/>
                        </a:rPr>
                        <a:t>tàu</a:t>
                      </a:r>
                      <a:r>
                        <a:rPr lang="en-US" sz="1100" b="0" i="0" u="none" strike="noStrike" baseline="0" dirty="0">
                          <a:solidFill>
                            <a:srgbClr val="FF0000"/>
                          </a:solidFill>
                          <a:effectLst/>
                          <a:latin typeface="Times New Roman" panose="02020603050405020304" pitchFamily="18" charset="0"/>
                          <a:cs typeface="Times New Roman" panose="02020603050405020304" pitchFamily="18" charset="0"/>
                        </a:rPr>
                        <a:t> </a:t>
                      </a:r>
                      <a:r>
                        <a:rPr lang="en-US" sz="1100" b="0" i="0" u="none" strike="noStrike" baseline="0" dirty="0" err="1">
                          <a:solidFill>
                            <a:srgbClr val="FF0000"/>
                          </a:solidFill>
                          <a:effectLst/>
                          <a:latin typeface="Times New Roman" panose="02020603050405020304" pitchFamily="18" charset="0"/>
                          <a:cs typeface="Times New Roman" panose="02020603050405020304" pitchFamily="18" charset="0"/>
                        </a:rPr>
                        <a:t>thuê</a:t>
                      </a:r>
                      <a:r>
                        <a:rPr lang="en-US" sz="1100" b="0" i="0" u="none" strike="noStrike" baseline="0" dirty="0">
                          <a:solidFill>
                            <a:srgbClr val="FF0000"/>
                          </a:solidFill>
                          <a:effectLst/>
                          <a:latin typeface="Times New Roman" panose="02020603050405020304" pitchFamily="18" charset="0"/>
                          <a:cs typeface="Times New Roman" panose="02020603050405020304" pitchFamily="18" charset="0"/>
                        </a:rPr>
                        <a:t> </a:t>
                      </a:r>
                      <a:r>
                        <a:rPr lang="en-US" sz="1100" b="0" i="0" u="none" strike="noStrike" baseline="0" dirty="0" err="1">
                          <a:solidFill>
                            <a:srgbClr val="FF0000"/>
                          </a:solidFill>
                          <a:effectLst/>
                          <a:latin typeface="Times New Roman" panose="02020603050405020304" pitchFamily="18" charset="0"/>
                          <a:cs typeface="Times New Roman" panose="02020603050405020304" pitchFamily="18" charset="0"/>
                        </a:rPr>
                        <a:t>ướt</a:t>
                      </a:r>
                      <a:r>
                        <a:rPr lang="en-US" sz="1100" b="0" i="0" u="none" strike="noStrike" baseline="0" dirty="0">
                          <a:solidFill>
                            <a:srgbClr val="FF0000"/>
                          </a:solidFill>
                          <a:effectLst/>
                          <a:latin typeface="Times New Roman" panose="02020603050405020304" pitchFamily="18" charset="0"/>
                          <a:cs typeface="Times New Roman" panose="02020603050405020304" pitchFamily="18" charset="0"/>
                        </a:rPr>
                        <a:t> </a:t>
                      </a:r>
                      <a:r>
                        <a:rPr lang="en-US" sz="1100" b="0" i="0" u="none" strike="noStrike" baseline="0" dirty="0" err="1">
                          <a:solidFill>
                            <a:srgbClr val="FF0000"/>
                          </a:solidFill>
                          <a:effectLst/>
                          <a:latin typeface="Times New Roman" panose="02020603050405020304" pitchFamily="18" charset="0"/>
                          <a:cs typeface="Times New Roman" panose="02020603050405020304" pitchFamily="18" charset="0"/>
                        </a:rPr>
                        <a:t>khai</a:t>
                      </a:r>
                      <a:r>
                        <a:rPr lang="en-US" sz="1100" b="0" i="0" u="none" strike="noStrike" baseline="0" dirty="0">
                          <a:solidFill>
                            <a:srgbClr val="FF0000"/>
                          </a:solidFill>
                          <a:effectLst/>
                          <a:latin typeface="Times New Roman" panose="02020603050405020304" pitchFamily="18" charset="0"/>
                          <a:cs typeface="Times New Roman" panose="02020603050405020304" pitchFamily="18" charset="0"/>
                        </a:rPr>
                        <a:t> </a:t>
                      </a:r>
                      <a:r>
                        <a:rPr lang="en-US" sz="1100" b="0" i="0" u="none" strike="noStrike" baseline="0" dirty="0" err="1">
                          <a:solidFill>
                            <a:srgbClr val="FF0000"/>
                          </a:solidFill>
                          <a:effectLst/>
                          <a:latin typeface="Times New Roman" panose="02020603050405020304" pitchFamily="18" charset="0"/>
                          <a:cs typeface="Times New Roman" panose="02020603050405020304" pitchFamily="18" charset="0"/>
                        </a:rPr>
                        <a:t>thác</a:t>
                      </a:r>
                      <a:r>
                        <a:rPr lang="en-US" sz="1100" b="0" i="0" u="none" strike="noStrike" baseline="0" dirty="0">
                          <a:solidFill>
                            <a:srgbClr val="FF0000"/>
                          </a:solidFill>
                          <a:effectLst/>
                          <a:latin typeface="Times New Roman" panose="02020603050405020304" pitchFamily="18" charset="0"/>
                          <a:cs typeface="Times New Roman" panose="02020603050405020304" pitchFamily="18" charset="0"/>
                        </a:rPr>
                        <a:t> </a:t>
                      </a:r>
                      <a:r>
                        <a:rPr lang="en-US" sz="1100" b="0" i="0" u="none" strike="noStrike" baseline="0" dirty="0" err="1">
                          <a:solidFill>
                            <a:srgbClr val="FF0000"/>
                          </a:solidFill>
                          <a:effectLst/>
                          <a:latin typeface="Times New Roman" panose="02020603050405020304" pitchFamily="18" charset="0"/>
                          <a:cs typeface="Times New Roman" panose="02020603050405020304" pitchFamily="18" charset="0"/>
                        </a:rPr>
                        <a:t>cao</a:t>
                      </a:r>
                      <a:r>
                        <a:rPr lang="en-US" sz="1100" b="0" i="0" u="none" strike="noStrike" baseline="0" dirty="0">
                          <a:solidFill>
                            <a:srgbClr val="FF0000"/>
                          </a:solidFill>
                          <a:effectLst/>
                          <a:latin typeface="Times New Roman" panose="02020603050405020304" pitchFamily="18" charset="0"/>
                          <a:cs typeface="Times New Roman" panose="02020603050405020304" pitchFamily="18" charset="0"/>
                        </a:rPr>
                        <a:t> </a:t>
                      </a:r>
                      <a:r>
                        <a:rPr lang="en-US" sz="1100" b="0" i="0" u="none" strike="noStrike" baseline="0" dirty="0" err="1">
                          <a:solidFill>
                            <a:srgbClr val="FF0000"/>
                          </a:solidFill>
                          <a:effectLst/>
                          <a:latin typeface="Times New Roman" panose="02020603050405020304" pitchFamily="18" charset="0"/>
                          <a:cs typeface="Times New Roman" panose="02020603050405020304" pitchFamily="18" charset="0"/>
                        </a:rPr>
                        <a:t>điểm</a:t>
                      </a:r>
                      <a:r>
                        <a:rPr lang="en-US" sz="1100" b="0" i="0" u="none" strike="noStrike" baseline="0" dirty="0">
                          <a:solidFill>
                            <a:srgbClr val="FF0000"/>
                          </a:solidFill>
                          <a:effectLst/>
                          <a:latin typeface="Times New Roman" panose="02020603050405020304" pitchFamily="18" charset="0"/>
                          <a:cs typeface="Times New Roman" panose="02020603050405020304" pitchFamily="18" charset="0"/>
                        </a:rPr>
                        <a:t> </a:t>
                      </a:r>
                      <a:r>
                        <a:rPr lang="en-US" sz="1100" b="0" i="0" u="none" strike="noStrike" baseline="0" dirty="0" err="1">
                          <a:solidFill>
                            <a:srgbClr val="FF0000"/>
                          </a:solidFill>
                          <a:effectLst/>
                          <a:latin typeface="Times New Roman" panose="02020603050405020304" pitchFamily="18" charset="0"/>
                          <a:cs typeface="Times New Roman" panose="02020603050405020304" pitchFamily="18" charset="0"/>
                        </a:rPr>
                        <a:t>têt</a:t>
                      </a:r>
                      <a:endParaRPr lang="en-US" sz="1100" b="0" i="0" u="none" strike="noStrike" dirty="0">
                        <a:solidFill>
                          <a:srgbClr val="FF0000"/>
                        </a:solidFill>
                        <a:effectLst/>
                        <a:latin typeface="Times New Roman" panose="02020603050405020304" pitchFamily="18" charset="0"/>
                        <a:cs typeface="Times New Roman" panose="02020603050405020304"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273218087"/>
                  </a:ext>
                </a:extLst>
              </a:tr>
            </a:tbl>
          </a:graphicData>
        </a:graphic>
      </p:graphicFrame>
    </p:spTree>
    <p:extLst>
      <p:ext uri="{BB962C8B-B14F-4D97-AF65-F5344CB8AC3E}">
        <p14:creationId xmlns:p14="http://schemas.microsoft.com/office/powerpoint/2010/main" val="38309922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4" name="Title 1">
            <a:extLst>
              <a:ext uri="{FF2B5EF4-FFF2-40B4-BE49-F238E27FC236}">
                <a16:creationId xmlns:a16="http://schemas.microsoft.com/office/drawing/2014/main" xmlns="" id="{5781951A-75AB-4FD9-911A-99894057CF57}"/>
              </a:ext>
            </a:extLst>
          </p:cNvPr>
          <p:cNvSpPr txBox="1">
            <a:spLocks/>
          </p:cNvSpPr>
          <p:nvPr/>
        </p:nvSpPr>
        <p:spPr>
          <a:xfrm>
            <a:off x="457200" y="152400"/>
            <a:ext cx="9792802"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dirty="0">
                <a:ln>
                  <a:noFill/>
                </a:ln>
                <a:solidFill>
                  <a:srgbClr val="D2A43B"/>
                </a:solidFill>
                <a:effectLst/>
                <a:uLnTx/>
                <a:uFillTx/>
                <a:latin typeface="Times New Roman" panose="02020603050405020304" pitchFamily="18" charset="0"/>
                <a:ea typeface="Tahoma" pitchFamily="34" charset="0"/>
                <a:cs typeface="Times New Roman" panose="02020603050405020304" pitchFamily="18" charset="0"/>
              </a:rPr>
              <a:t>NGUỒN LỰC TÀU BAY – A350/B787</a:t>
            </a:r>
          </a:p>
        </p:txBody>
      </p:sp>
      <p:graphicFrame>
        <p:nvGraphicFramePr>
          <p:cNvPr id="3" name="Table 2"/>
          <p:cNvGraphicFramePr>
            <a:graphicFrameLocks noGrp="1"/>
          </p:cNvGraphicFramePr>
          <p:nvPr>
            <p:extLst>
              <p:ext uri="{D42A27DB-BD31-4B8C-83A1-F6EECF244321}">
                <p14:modId xmlns:p14="http://schemas.microsoft.com/office/powerpoint/2010/main" val="2931769562"/>
              </p:ext>
            </p:extLst>
          </p:nvPr>
        </p:nvGraphicFramePr>
        <p:xfrm>
          <a:off x="228600" y="685800"/>
          <a:ext cx="11582409" cy="5638797"/>
        </p:xfrm>
        <a:graphic>
          <a:graphicData uri="http://schemas.openxmlformats.org/drawingml/2006/table">
            <a:tbl>
              <a:tblPr/>
              <a:tblGrid>
                <a:gridCol w="360497">
                  <a:extLst>
                    <a:ext uri="{9D8B030D-6E8A-4147-A177-3AD203B41FA5}">
                      <a16:colId xmlns:a16="http://schemas.microsoft.com/office/drawing/2014/main" xmlns="" val="2328303508"/>
                    </a:ext>
                  </a:extLst>
                </a:gridCol>
                <a:gridCol w="2465330">
                  <a:extLst>
                    <a:ext uri="{9D8B030D-6E8A-4147-A177-3AD203B41FA5}">
                      <a16:colId xmlns:a16="http://schemas.microsoft.com/office/drawing/2014/main" xmlns="" val="2357433016"/>
                    </a:ext>
                  </a:extLst>
                </a:gridCol>
                <a:gridCol w="465157">
                  <a:extLst>
                    <a:ext uri="{9D8B030D-6E8A-4147-A177-3AD203B41FA5}">
                      <a16:colId xmlns:a16="http://schemas.microsoft.com/office/drawing/2014/main" xmlns="" val="3710569427"/>
                    </a:ext>
                  </a:extLst>
                </a:gridCol>
                <a:gridCol w="465157">
                  <a:extLst>
                    <a:ext uri="{9D8B030D-6E8A-4147-A177-3AD203B41FA5}">
                      <a16:colId xmlns:a16="http://schemas.microsoft.com/office/drawing/2014/main" xmlns="" val="1040126446"/>
                    </a:ext>
                  </a:extLst>
                </a:gridCol>
                <a:gridCol w="430270">
                  <a:extLst>
                    <a:ext uri="{9D8B030D-6E8A-4147-A177-3AD203B41FA5}">
                      <a16:colId xmlns:a16="http://schemas.microsoft.com/office/drawing/2014/main" xmlns="" val="4289197608"/>
                    </a:ext>
                  </a:extLst>
                </a:gridCol>
                <a:gridCol w="465157">
                  <a:extLst>
                    <a:ext uri="{9D8B030D-6E8A-4147-A177-3AD203B41FA5}">
                      <a16:colId xmlns:a16="http://schemas.microsoft.com/office/drawing/2014/main" xmlns="" val="852764194"/>
                    </a:ext>
                  </a:extLst>
                </a:gridCol>
                <a:gridCol w="441900">
                  <a:extLst>
                    <a:ext uri="{9D8B030D-6E8A-4147-A177-3AD203B41FA5}">
                      <a16:colId xmlns:a16="http://schemas.microsoft.com/office/drawing/2014/main" xmlns="" val="235071892"/>
                    </a:ext>
                  </a:extLst>
                </a:gridCol>
                <a:gridCol w="476785">
                  <a:extLst>
                    <a:ext uri="{9D8B030D-6E8A-4147-A177-3AD203B41FA5}">
                      <a16:colId xmlns:a16="http://schemas.microsoft.com/office/drawing/2014/main" xmlns="" val="1071112044"/>
                    </a:ext>
                  </a:extLst>
                </a:gridCol>
                <a:gridCol w="441900">
                  <a:extLst>
                    <a:ext uri="{9D8B030D-6E8A-4147-A177-3AD203B41FA5}">
                      <a16:colId xmlns:a16="http://schemas.microsoft.com/office/drawing/2014/main" xmlns="" val="1539598932"/>
                    </a:ext>
                  </a:extLst>
                </a:gridCol>
                <a:gridCol w="441900">
                  <a:extLst>
                    <a:ext uri="{9D8B030D-6E8A-4147-A177-3AD203B41FA5}">
                      <a16:colId xmlns:a16="http://schemas.microsoft.com/office/drawing/2014/main" xmlns="" val="2158283057"/>
                    </a:ext>
                  </a:extLst>
                </a:gridCol>
                <a:gridCol w="465157">
                  <a:extLst>
                    <a:ext uri="{9D8B030D-6E8A-4147-A177-3AD203B41FA5}">
                      <a16:colId xmlns:a16="http://schemas.microsoft.com/office/drawing/2014/main" xmlns="" val="3441075533"/>
                    </a:ext>
                  </a:extLst>
                </a:gridCol>
                <a:gridCol w="465157">
                  <a:extLst>
                    <a:ext uri="{9D8B030D-6E8A-4147-A177-3AD203B41FA5}">
                      <a16:colId xmlns:a16="http://schemas.microsoft.com/office/drawing/2014/main" xmlns="" val="2411120827"/>
                    </a:ext>
                  </a:extLst>
                </a:gridCol>
                <a:gridCol w="441900">
                  <a:extLst>
                    <a:ext uri="{9D8B030D-6E8A-4147-A177-3AD203B41FA5}">
                      <a16:colId xmlns:a16="http://schemas.microsoft.com/office/drawing/2014/main" xmlns="" val="2852226683"/>
                    </a:ext>
                  </a:extLst>
                </a:gridCol>
                <a:gridCol w="441900">
                  <a:extLst>
                    <a:ext uri="{9D8B030D-6E8A-4147-A177-3AD203B41FA5}">
                      <a16:colId xmlns:a16="http://schemas.microsoft.com/office/drawing/2014/main" xmlns="" val="2047896649"/>
                    </a:ext>
                  </a:extLst>
                </a:gridCol>
                <a:gridCol w="465157">
                  <a:extLst>
                    <a:ext uri="{9D8B030D-6E8A-4147-A177-3AD203B41FA5}">
                      <a16:colId xmlns:a16="http://schemas.microsoft.com/office/drawing/2014/main" xmlns="" val="764803274"/>
                    </a:ext>
                  </a:extLst>
                </a:gridCol>
                <a:gridCol w="2849085">
                  <a:extLst>
                    <a:ext uri="{9D8B030D-6E8A-4147-A177-3AD203B41FA5}">
                      <a16:colId xmlns:a16="http://schemas.microsoft.com/office/drawing/2014/main" xmlns="" val="2867458965"/>
                    </a:ext>
                  </a:extLst>
                </a:gridCol>
              </a:tblGrid>
              <a:tr h="383354">
                <a:tc gridSpan="16">
                  <a:txBody>
                    <a:bodyPr/>
                    <a:lstStyle/>
                    <a:p>
                      <a:pPr algn="ctr" fontAlgn="ctr"/>
                      <a:r>
                        <a:rPr lang="en-US" sz="1400" b="1" i="0" u="none" strike="noStrike" dirty="0">
                          <a:solidFill>
                            <a:srgbClr val="000000"/>
                          </a:solidFill>
                          <a:effectLst/>
                          <a:latin typeface="Times New Roman" panose="02020603050405020304" pitchFamily="18" charset="0"/>
                          <a:cs typeface="Times New Roman" panose="02020603050405020304" pitchFamily="18" charset="0"/>
                        </a:rPr>
                        <a:t>NGUỒN LỰC KỸ THUÂT A350/B787 (UPDATED 12/01)</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1222107851"/>
                  </a:ext>
                </a:extLst>
              </a:tr>
              <a:tr h="362444">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STT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A/C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100" b="1" i="0" u="none" strike="noStrike" dirty="0">
                          <a:solidFill>
                            <a:srgbClr val="000000"/>
                          </a:solidFill>
                          <a:effectLst/>
                          <a:latin typeface="Times New Roman" panose="02020603050405020304" pitchFamily="18" charset="0"/>
                          <a:cs typeface="Times New Roman" panose="02020603050405020304" pitchFamily="18" charset="0"/>
                        </a:rPr>
                        <a:t>Dec-24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Jan-25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Feb-25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Mar-25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Apr-25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May-25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Jun-25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Jul-25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Aug-25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Sep-25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Oct-25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Nov-25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Note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xmlns="" val="939487252"/>
                  </a:ext>
                </a:extLst>
              </a:tr>
              <a:tr h="501847">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100" b="1" i="0" u="none" strike="noStrike">
                          <a:solidFill>
                            <a:srgbClr val="000000"/>
                          </a:solidFill>
                          <a:effectLst/>
                          <a:latin typeface="Times New Roman" panose="02020603050405020304" pitchFamily="18" charset="0"/>
                          <a:cs typeface="Times New Roman" panose="02020603050405020304" pitchFamily="18" charset="0"/>
                        </a:rPr>
                        <a:t>A350 AOG do thiếu ENG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vi-VN"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026247348"/>
                  </a:ext>
                </a:extLst>
              </a:tr>
              <a:tr h="464672">
                <a:tc>
                  <a:txBody>
                    <a:bodyPr/>
                    <a:lstStyle/>
                    <a:p>
                      <a:pPr algn="ctr"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A350 dừng BD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xmlns="" val="3599448090"/>
                  </a:ext>
                </a:extLst>
              </a:tr>
              <a:tr h="464672">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A350 Dừng (ENG + BD)</a:t>
                      </a:r>
                      <a:br>
                        <a:rPr lang="en-US" sz="1100" b="1" i="0" u="none" strike="noStrike">
                          <a:solidFill>
                            <a:srgbClr val="000000"/>
                          </a:solidFill>
                          <a:effectLst/>
                          <a:latin typeface="Times New Roman" panose="02020603050405020304" pitchFamily="18" charset="0"/>
                          <a:cs typeface="Times New Roman" panose="02020603050405020304" pitchFamily="18" charset="0"/>
                        </a:rPr>
                      </a:br>
                      <a:r>
                        <a:rPr lang="en-US" sz="1100" b="1" i="0" u="none" strike="noStrike">
                          <a:solidFill>
                            <a:srgbClr val="000000"/>
                          </a:solidFill>
                          <a:effectLst/>
                          <a:latin typeface="Times New Roman" panose="02020603050405020304" pitchFamily="18" charset="0"/>
                          <a:cs typeface="Times New Roman" panose="02020603050405020304" pitchFamily="18" charset="0"/>
                        </a:rPr>
                        <a:t>(3) = (1) + (2)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5.5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5.3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125725728"/>
                  </a:ext>
                </a:extLst>
              </a:tr>
              <a:tr h="464672">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A350 thực tế có thể khai thác</a:t>
                      </a:r>
                      <a:br>
                        <a:rPr lang="en-US" sz="1100" b="1" i="0" u="none" strike="noStrike">
                          <a:solidFill>
                            <a:srgbClr val="000000"/>
                          </a:solidFill>
                          <a:effectLst/>
                          <a:latin typeface="Times New Roman" panose="02020603050405020304" pitchFamily="18" charset="0"/>
                          <a:cs typeface="Times New Roman" panose="02020603050405020304" pitchFamily="18" charset="0"/>
                        </a:rPr>
                      </a:br>
                      <a:r>
                        <a:rPr lang="en-US" sz="1100" b="1" i="0" u="none" strike="noStrike">
                          <a:solidFill>
                            <a:srgbClr val="000000"/>
                          </a:solidFill>
                          <a:effectLst/>
                          <a:latin typeface="Times New Roman" panose="02020603050405020304" pitchFamily="18" charset="0"/>
                          <a:cs typeface="Times New Roman" panose="02020603050405020304" pitchFamily="18" charset="0"/>
                        </a:rPr>
                        <a:t>(4) = 14 - (3)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8.5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9.5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9.0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8.8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9.0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9.5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xmlns="" val="3203465466"/>
                  </a:ext>
                </a:extLst>
              </a:tr>
              <a:tr h="673776">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100" b="1" i="0" u="none" strike="noStrike">
                          <a:solidFill>
                            <a:srgbClr val="000000"/>
                          </a:solidFill>
                          <a:effectLst/>
                          <a:latin typeface="Times New Roman" panose="02020603050405020304" pitchFamily="18" charset="0"/>
                          <a:cs typeface="Times New Roman" panose="02020603050405020304" pitchFamily="18" charset="0"/>
                        </a:rPr>
                        <a:t>B787 rủi ro AOG do ENG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pt-BR"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625562536"/>
                  </a:ext>
                </a:extLst>
              </a:tr>
              <a:tr h="464672">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B787 dừng BD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100" b="0" i="0" u="none" strike="noStrike" dirty="0">
                          <a:solidFill>
                            <a:schemeClr val="tx1"/>
                          </a:solidFill>
                          <a:effectLst/>
                          <a:latin typeface="Times New Roman" panose="02020603050405020304" pitchFamily="18" charset="0"/>
                          <a:cs typeface="Times New Roman" panose="02020603050405020304" pitchFamily="18" charset="0"/>
                        </a:rPr>
                        <a:t>03/2025: </a:t>
                      </a:r>
                      <a:r>
                        <a:rPr lang="en-US" sz="1100" b="0" i="0" u="none" strike="noStrike" dirty="0" err="1">
                          <a:solidFill>
                            <a:schemeClr val="tx1"/>
                          </a:solidFill>
                          <a:effectLst/>
                          <a:latin typeface="Times New Roman" panose="02020603050405020304" pitchFamily="18" charset="0"/>
                          <a:cs typeface="Times New Roman" panose="02020603050405020304" pitchFamily="18" charset="0"/>
                        </a:rPr>
                        <a:t>tăng</a:t>
                      </a:r>
                      <a:r>
                        <a:rPr lang="en-US" sz="1100" b="0" i="0" u="none" strike="noStrike" baseline="0" dirty="0">
                          <a:solidFill>
                            <a:schemeClr val="tx1"/>
                          </a:solidFill>
                          <a:effectLst/>
                          <a:latin typeface="Times New Roman" panose="02020603050405020304" pitchFamily="18" charset="0"/>
                          <a:cs typeface="Times New Roman" panose="02020603050405020304" pitchFamily="18" charset="0"/>
                        </a:rPr>
                        <a:t> 0.3 </a:t>
                      </a:r>
                      <a:r>
                        <a:rPr lang="en-US" sz="1100" b="0" i="0" u="none" strike="noStrike" baseline="0" dirty="0" err="1">
                          <a:solidFill>
                            <a:schemeClr val="tx1"/>
                          </a:solidFill>
                          <a:effectLst/>
                          <a:latin typeface="Times New Roman" panose="02020603050405020304" pitchFamily="18" charset="0"/>
                          <a:cs typeface="Times New Roman" panose="02020603050405020304" pitchFamily="18" charset="0"/>
                        </a:rPr>
                        <a:t>tàu</a:t>
                      </a:r>
                      <a:r>
                        <a:rPr lang="en-US" sz="1100" b="0" i="0" u="none" strike="noStrike" baseline="0" dirty="0">
                          <a:solidFill>
                            <a:schemeClr val="tx1"/>
                          </a:solidFill>
                          <a:effectLst/>
                          <a:latin typeface="Times New Roman" panose="02020603050405020304" pitchFamily="18" charset="0"/>
                          <a:cs typeface="Times New Roman" panose="02020603050405020304" pitchFamily="18" charset="0"/>
                        </a:rPr>
                        <a:t> </a:t>
                      </a:r>
                      <a:r>
                        <a:rPr lang="en-US" sz="1100" b="0" i="0" u="none" strike="noStrike" baseline="0" dirty="0" err="1">
                          <a:solidFill>
                            <a:schemeClr val="tx1"/>
                          </a:solidFill>
                          <a:effectLst/>
                          <a:latin typeface="Times New Roman" panose="02020603050405020304" pitchFamily="18" charset="0"/>
                          <a:cs typeface="Times New Roman" panose="02020603050405020304" pitchFamily="18" charset="0"/>
                        </a:rPr>
                        <a:t>dừng</a:t>
                      </a:r>
                      <a:r>
                        <a:rPr lang="en-US" sz="1100" b="0" i="0" u="none" strike="noStrike" baseline="0" dirty="0">
                          <a:solidFill>
                            <a:schemeClr val="tx1"/>
                          </a:solidFill>
                          <a:effectLst/>
                          <a:latin typeface="Times New Roman" panose="02020603050405020304" pitchFamily="18" charset="0"/>
                          <a:cs typeface="Times New Roman" panose="02020603050405020304" pitchFamily="18" charset="0"/>
                        </a:rPr>
                        <a:t> do b</a:t>
                      </a:r>
                      <a:r>
                        <a:rPr lang="vi-VN" sz="1100" b="0" i="0" u="none" strike="noStrike" dirty="0">
                          <a:solidFill>
                            <a:schemeClr val="tx1"/>
                          </a:solidFill>
                          <a:effectLst/>
                          <a:latin typeface="Times New Roman" panose="02020603050405020304" pitchFamily="18" charset="0"/>
                          <a:cs typeface="Times New Roman" panose="02020603050405020304" pitchFamily="18" charset="0"/>
                        </a:rPr>
                        <a:t>ổ sung sơn cánh A870 từ 18-27/03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xmlns="" val="2175287393"/>
                  </a:ext>
                </a:extLst>
              </a:tr>
              <a:tr h="464672">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nb-NO" sz="1100" b="1" i="0" u="none" strike="noStrike">
                          <a:solidFill>
                            <a:srgbClr val="000000"/>
                          </a:solidFill>
                          <a:effectLst/>
                          <a:latin typeface="Times New Roman" panose="02020603050405020304" pitchFamily="18" charset="0"/>
                          <a:cs typeface="Times New Roman" panose="02020603050405020304" pitchFamily="18" charset="0"/>
                        </a:rPr>
                        <a:t>B787 Dừng (ENG + BD)</a:t>
                      </a:r>
                      <a:br>
                        <a:rPr lang="nb-NO" sz="1100" b="1" i="0" u="none" strike="noStrike">
                          <a:solidFill>
                            <a:srgbClr val="000000"/>
                          </a:solidFill>
                          <a:effectLst/>
                          <a:latin typeface="Times New Roman" panose="02020603050405020304" pitchFamily="18" charset="0"/>
                          <a:cs typeface="Times New Roman" panose="02020603050405020304" pitchFamily="18" charset="0"/>
                        </a:rPr>
                      </a:br>
                      <a:r>
                        <a:rPr lang="nb-NO" sz="1100" b="1" i="0" u="none" strike="noStrike">
                          <a:solidFill>
                            <a:srgbClr val="000000"/>
                          </a:solidFill>
                          <a:effectLst/>
                          <a:latin typeface="Times New Roman" panose="02020603050405020304" pitchFamily="18" charset="0"/>
                          <a:cs typeface="Times New Roman" panose="02020603050405020304" pitchFamily="18" charset="0"/>
                        </a:rPr>
                        <a:t>(7) = (5) + (6)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859771950"/>
                  </a:ext>
                </a:extLst>
              </a:tr>
              <a:tr h="464672">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B787 thực tế có thể khai thác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15.3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16.1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16.3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15.7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16.5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xmlns="" val="3320910836"/>
                  </a:ext>
                </a:extLst>
              </a:tr>
              <a:tr h="464672">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A350/B787 dừng ( ENG + BD)</a:t>
                      </a:r>
                      <a:br>
                        <a:rPr lang="en-US" sz="1100" b="1" i="0" u="none" strike="noStrike">
                          <a:solidFill>
                            <a:srgbClr val="000000"/>
                          </a:solidFill>
                          <a:effectLst/>
                          <a:latin typeface="Times New Roman" panose="02020603050405020304" pitchFamily="18" charset="0"/>
                          <a:cs typeface="Times New Roman" panose="02020603050405020304" pitchFamily="18" charset="0"/>
                        </a:rPr>
                      </a:br>
                      <a:r>
                        <a:rPr lang="en-US" sz="1100" b="1" i="0" u="none" strike="noStrike">
                          <a:solidFill>
                            <a:srgbClr val="000000"/>
                          </a:solidFill>
                          <a:effectLst/>
                          <a:latin typeface="Times New Roman" panose="02020603050405020304" pitchFamily="18" charset="0"/>
                          <a:cs typeface="Times New Roman" panose="02020603050405020304" pitchFamily="18" charset="0"/>
                        </a:rPr>
                        <a:t>(9) = (3) + (7)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6.9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5.4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5.7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6.6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5.5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541926528"/>
                  </a:ext>
                </a:extLst>
              </a:tr>
              <a:tr h="464672">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A350/B787 thực tế có thể khai thác</a:t>
                      </a:r>
                      <a:br>
                        <a:rPr lang="en-US" sz="1100" b="1" i="0" u="none" strike="noStrike">
                          <a:solidFill>
                            <a:srgbClr val="000000"/>
                          </a:solidFill>
                          <a:effectLst/>
                          <a:latin typeface="Times New Roman" panose="02020603050405020304" pitchFamily="18" charset="0"/>
                          <a:cs typeface="Times New Roman" panose="02020603050405020304" pitchFamily="18" charset="0"/>
                        </a:rPr>
                      </a:br>
                      <a:r>
                        <a:rPr lang="en-US" sz="1100" b="1" i="0" u="none" strike="noStrike">
                          <a:solidFill>
                            <a:srgbClr val="000000"/>
                          </a:solidFill>
                          <a:effectLst/>
                          <a:latin typeface="Times New Roman" panose="02020603050405020304" pitchFamily="18" charset="0"/>
                          <a:cs typeface="Times New Roman" panose="02020603050405020304" pitchFamily="18" charset="0"/>
                        </a:rPr>
                        <a:t>(10) = (8) + (4)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23.8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25.6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25.3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24.5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25.0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24.5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29.0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28.5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26.5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26.5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26.5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27.5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xmlns="" val="3553312171"/>
                  </a:ext>
                </a:extLst>
              </a:tr>
            </a:tbl>
          </a:graphicData>
        </a:graphic>
      </p:graphicFrame>
    </p:spTree>
    <p:extLst>
      <p:ext uri="{BB962C8B-B14F-4D97-AF65-F5344CB8AC3E}">
        <p14:creationId xmlns:p14="http://schemas.microsoft.com/office/powerpoint/2010/main" val="18643587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6"/>
          <p:cNvSpPr txBox="1"/>
          <p:nvPr/>
        </p:nvSpPr>
        <p:spPr>
          <a:xfrm>
            <a:off x="372872" y="527600"/>
            <a:ext cx="10715339" cy="543635"/>
          </a:xfrm>
          <a:prstGeom prst="rect">
            <a:avLst/>
          </a:prstGeom>
          <a:noFill/>
          <a:ln>
            <a:noFill/>
          </a:ln>
        </p:spPr>
        <p:txBody>
          <a:bodyPr spcFirstLastPara="1" wrap="square" lIns="91433" tIns="45700" rIns="91433" bIns="45700" anchor="t" anchorCtr="0">
            <a:spAutoFit/>
          </a:bodyPr>
          <a:lstStyle/>
          <a:p>
            <a:pPr lvl="0"/>
            <a:r>
              <a:rPr lang="en-US" sz="2933" b="1" dirty="0">
                <a:ln w="0"/>
                <a:solidFill>
                  <a:srgbClr val="FBAC00"/>
                </a:solidFill>
                <a:latin typeface="Times New Roman" panose="02020603050405020304" pitchFamily="18" charset="0"/>
                <a:cs typeface="Times New Roman" panose="02020603050405020304" pitchFamily="18" charset="0"/>
              </a:rPr>
              <a:t>CÔNG TÁC BÁN TRẢ/TIẾP NHẬN/BÀN GIAO TÀU BAY</a:t>
            </a:r>
            <a:endParaRPr sz="2933" dirty="0"/>
          </a:p>
        </p:txBody>
      </p:sp>
      <p:sp>
        <p:nvSpPr>
          <p:cNvPr id="76" name="Google Shape;76;p6"/>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vi"/>
              <a:pPr/>
              <a:t>44</a:t>
            </a:fld>
            <a:endParaRPr/>
          </a:p>
        </p:txBody>
      </p:sp>
      <p:sp>
        <p:nvSpPr>
          <p:cNvPr id="5" name="Google Shape;66;p6">
            <a:extLst>
              <a:ext uri="{FF2B5EF4-FFF2-40B4-BE49-F238E27FC236}">
                <a16:creationId xmlns:a16="http://schemas.microsoft.com/office/drawing/2014/main" xmlns="" id="{AA9B0D3D-0DAD-44FC-823C-85BE98B011B3}"/>
              </a:ext>
            </a:extLst>
          </p:cNvPr>
          <p:cNvSpPr txBox="1"/>
          <p:nvPr/>
        </p:nvSpPr>
        <p:spPr>
          <a:xfrm>
            <a:off x="457200" y="1371600"/>
            <a:ext cx="11337043" cy="6083676"/>
          </a:xfrm>
          <a:prstGeom prst="rect">
            <a:avLst/>
          </a:prstGeom>
          <a:noFill/>
          <a:ln>
            <a:noFill/>
          </a:ln>
        </p:spPr>
        <p:txBody>
          <a:bodyPr spcFirstLastPara="1" wrap="square" lIns="91433" tIns="45700" rIns="91433" bIns="45700" anchor="t" anchorCtr="0">
            <a:spAutoFit/>
          </a:bodyPr>
          <a:lstStyle/>
          <a:p>
            <a:pPr marL="342900" indent="-342900">
              <a:buAutoNum type="arabicPeriod"/>
            </a:pPr>
            <a:r>
              <a:rPr lang="en-US" sz="1600" b="1" dirty="0" smtClean="0">
                <a:latin typeface="Times New Roman" panose="02020603050405020304" pitchFamily="18" charset="0"/>
                <a:cs typeface="Times New Roman" panose="02020603050405020304" pitchFamily="18" charset="0"/>
              </a:rPr>
              <a:t>TÀU </a:t>
            </a:r>
            <a:r>
              <a:rPr lang="en-US" sz="1600" b="1" dirty="0">
                <a:latin typeface="Times New Roman" panose="02020603050405020304" pitchFamily="18" charset="0"/>
                <a:cs typeface="Times New Roman" panose="02020603050405020304" pitchFamily="18" charset="0"/>
              </a:rPr>
              <a:t>BAY THUÊ ƯỚT </a:t>
            </a:r>
            <a:endParaRPr lang="en-US" sz="1600" b="1" dirty="0" smtClean="0">
              <a:latin typeface="Times New Roman" panose="02020603050405020304" pitchFamily="18" charset="0"/>
              <a:cs typeface="Times New Roman" panose="02020603050405020304" pitchFamily="18" charset="0"/>
            </a:endParaRPr>
          </a:p>
          <a:p>
            <a:pPr marL="285750" indent="-285750">
              <a:buFontTx/>
              <a:buChar char="-"/>
            </a:pPr>
            <a:r>
              <a:rPr lang="en-US" sz="1600" dirty="0" smtClean="0">
                <a:latin typeface="Times New Roman" panose="02020603050405020304" pitchFamily="18" charset="0"/>
                <a:cs typeface="Times New Roman" panose="02020603050405020304" pitchFamily="18" charset="0"/>
              </a:rPr>
              <a:t>VNA </a:t>
            </a:r>
            <a:r>
              <a:rPr lang="en-US" sz="1600" dirty="0" err="1">
                <a:latin typeface="Times New Roman" panose="02020603050405020304" pitchFamily="18" charset="0"/>
                <a:cs typeface="Times New Roman" panose="02020603050405020304" pitchFamily="18" charset="0"/>
              </a:rPr>
              <a:t>thuê</a:t>
            </a:r>
            <a:r>
              <a:rPr lang="en-US" sz="1600" dirty="0">
                <a:latin typeface="Times New Roman" panose="02020603050405020304" pitchFamily="18" charset="0"/>
                <a:cs typeface="Times New Roman" panose="02020603050405020304" pitchFamily="18" charset="0"/>
              </a:rPr>
              <a:t> 03 </a:t>
            </a:r>
            <a:r>
              <a:rPr lang="en-US" sz="1600" dirty="0" err="1">
                <a:latin typeface="Times New Roman" panose="02020603050405020304" pitchFamily="18" charset="0"/>
                <a:cs typeface="Times New Roman" panose="02020603050405020304" pitchFamily="18" charset="0"/>
              </a:rPr>
              <a:t>tàu</a:t>
            </a:r>
            <a:r>
              <a:rPr lang="en-US" sz="1600" dirty="0">
                <a:latin typeface="Times New Roman" panose="02020603050405020304" pitchFamily="18" charset="0"/>
                <a:cs typeface="Times New Roman" panose="02020603050405020304" pitchFamily="18" charset="0"/>
              </a:rPr>
              <a:t> bay A320 </a:t>
            </a:r>
            <a:r>
              <a:rPr lang="en-US" sz="1600" dirty="0" err="1">
                <a:latin typeface="Times New Roman" panose="02020603050405020304" pitchFamily="18" charset="0"/>
                <a:cs typeface="Times New Roman" panose="02020603050405020304" pitchFamily="18" charset="0"/>
              </a:rPr>
              <a:t>thuê</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ướt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của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Avion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dự</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kiến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có</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thể</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thuê</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tiếp</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thêm</a:t>
            </a:r>
            <a:r>
              <a:rPr lang="en-US" sz="1600" dirty="0">
                <a:latin typeface="Times New Roman" panose="02020603050405020304" pitchFamily="18" charset="0"/>
                <a:cs typeface="Times New Roman" panose="02020603050405020304" pitchFamily="18" charset="0"/>
              </a:rPr>
              <a:t> 01 </a:t>
            </a:r>
            <a:r>
              <a:rPr lang="en-US" sz="1600" dirty="0" err="1">
                <a:latin typeface="Times New Roman" panose="02020603050405020304" pitchFamily="18" charset="0"/>
                <a:cs typeface="Times New Roman" panose="02020603050405020304" pitchFamily="18" charset="0"/>
              </a:rPr>
              <a:t>tàu</a:t>
            </a:r>
            <a:r>
              <a:rPr lang="en-US" sz="1600" dirty="0">
                <a:latin typeface="Times New Roman" panose="02020603050405020304" pitchFamily="18" charset="0"/>
                <a:cs typeface="Times New Roman" panose="02020603050405020304" pitchFamily="18" charset="0"/>
              </a:rPr>
              <a:t> bay </a:t>
            </a:r>
            <a:r>
              <a:rPr lang="en-US" sz="1600" dirty="0" err="1">
                <a:latin typeface="Times New Roman" panose="02020603050405020304" pitchFamily="18" charset="0"/>
                <a:cs typeface="Times New Roman" panose="02020603050405020304" pitchFamily="18" charset="0"/>
              </a:rPr>
              <a:t>nữa</a:t>
            </a:r>
            <a:r>
              <a:rPr lang="en-US" sz="1600" dirty="0">
                <a:latin typeface="Times New Roman" panose="02020603050405020304" pitchFamily="18" charset="0"/>
                <a:cs typeface="Times New Roman" panose="02020603050405020304" pitchFamily="18" charset="0"/>
              </a:rPr>
              <a:t>) </a:t>
            </a:r>
            <a:endParaRPr lang="en-US" sz="1600" dirty="0" smtClean="0">
              <a:latin typeface="Times New Roman" panose="02020603050405020304" pitchFamily="18" charset="0"/>
              <a:cs typeface="Times New Roman" panose="02020603050405020304" pitchFamily="18" charset="0"/>
            </a:endParaRPr>
          </a:p>
          <a:p>
            <a:pPr marL="285750" indent="-285750">
              <a:buFontTx/>
              <a:buChar char="-"/>
            </a:pPr>
            <a:r>
              <a:rPr lang="en-US" sz="1600" dirty="0" smtClean="0">
                <a:latin typeface="Times New Roman" panose="02020603050405020304" pitchFamily="18" charset="0"/>
                <a:cs typeface="Times New Roman" panose="02020603050405020304" pitchFamily="18" charset="0"/>
              </a:rPr>
              <a:t>02 </a:t>
            </a:r>
            <a:r>
              <a:rPr lang="en-US" sz="1600" dirty="0" err="1">
                <a:latin typeface="Times New Roman" panose="02020603050405020304" pitchFamily="18" charset="0"/>
                <a:cs typeface="Times New Roman" panose="02020603050405020304" pitchFamily="18" charset="0"/>
              </a:rPr>
              <a:t>tàu</a:t>
            </a:r>
            <a:r>
              <a:rPr lang="en-US" sz="1600" dirty="0">
                <a:latin typeface="Times New Roman" panose="02020603050405020304" pitchFamily="18" charset="0"/>
                <a:cs typeface="Times New Roman" panose="02020603050405020304" pitchFamily="18" charset="0"/>
              </a:rPr>
              <a:t> bay </a:t>
            </a:r>
            <a:r>
              <a:rPr lang="en-US" sz="1600" dirty="0" err="1">
                <a:latin typeface="Times New Roman" panose="02020603050405020304" pitchFamily="18" charset="0"/>
                <a:cs typeface="Times New Roman" panose="02020603050405020304" pitchFamily="18" charset="0"/>
              </a:rPr>
              <a:t>số</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đăng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ký</a:t>
            </a:r>
            <a:r>
              <a:rPr lang="en-US" sz="1600" dirty="0">
                <a:latin typeface="Times New Roman" panose="02020603050405020304" pitchFamily="18" charset="0"/>
                <a:cs typeface="Times New Roman" panose="02020603050405020304" pitchFamily="18" charset="0"/>
              </a:rPr>
              <a:t> 9H-MLE </a:t>
            </a:r>
            <a:r>
              <a:rPr lang="en-US" sz="1600" dirty="0" err="1">
                <a:latin typeface="Times New Roman" panose="02020603050405020304" pitchFamily="18" charset="0"/>
                <a:cs typeface="Times New Roman" panose="02020603050405020304" pitchFamily="18" charset="0"/>
              </a:rPr>
              <a:t>và</a:t>
            </a:r>
            <a:r>
              <a:rPr lang="en-US" sz="1600" dirty="0">
                <a:latin typeface="Times New Roman" panose="02020603050405020304" pitchFamily="18" charset="0"/>
                <a:cs typeface="Times New Roman" panose="02020603050405020304" pitchFamily="18" charset="0"/>
              </a:rPr>
              <a:t> 9H-MLO 10/01 </a:t>
            </a:r>
            <a:r>
              <a:rPr lang="en-US" sz="1600" dirty="0" err="1">
                <a:latin typeface="Times New Roman" panose="02020603050405020304" pitchFamily="18" charset="0"/>
                <a:cs typeface="Times New Roman" panose="02020603050405020304" pitchFamily="18" charset="0"/>
              </a:rPr>
              <a:t>đã</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hạ</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cánh</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tại</a:t>
            </a:r>
            <a:r>
              <a:rPr lang="en-US" sz="1600" dirty="0">
                <a:latin typeface="Times New Roman" panose="02020603050405020304" pitchFamily="18" charset="0"/>
                <a:cs typeface="Times New Roman" panose="02020603050405020304" pitchFamily="18" charset="0"/>
              </a:rPr>
              <a:t> SGN, </a:t>
            </a:r>
            <a:r>
              <a:rPr lang="en-US" sz="1600" dirty="0" err="1">
                <a:latin typeface="Times New Roman" panose="02020603050405020304" pitchFamily="18" charset="0"/>
                <a:cs typeface="Times New Roman" panose="02020603050405020304" pitchFamily="18" charset="0"/>
              </a:rPr>
              <a:t>Cục</a:t>
            </a:r>
            <a:r>
              <a:rPr lang="en-US" sz="1600" dirty="0">
                <a:latin typeface="Times New Roman" panose="02020603050405020304" pitchFamily="18" charset="0"/>
                <a:cs typeface="Times New Roman" panose="02020603050405020304" pitchFamily="18" charset="0"/>
              </a:rPr>
              <a:t> HK </a:t>
            </a:r>
            <a:r>
              <a:rPr lang="en-US" sz="1600" dirty="0" err="1">
                <a:latin typeface="Times New Roman" panose="02020603050405020304" pitchFamily="18" charset="0"/>
                <a:cs typeface="Times New Roman" panose="02020603050405020304" pitchFamily="18" charset="0"/>
              </a:rPr>
              <a:t>đang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thực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hiện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các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thủ</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tục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kiểm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đánh</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giá</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tàu</a:t>
            </a:r>
            <a:r>
              <a:rPr lang="en-US" sz="1600" dirty="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bay.</a:t>
            </a:r>
          </a:p>
          <a:p>
            <a:pPr marL="285750" indent="-285750">
              <a:buFontTx/>
              <a:buChar char="-"/>
            </a:pPr>
            <a:r>
              <a:rPr lang="en-US" sz="1600" dirty="0" smtClean="0">
                <a:latin typeface="Times New Roman" panose="02020603050405020304" pitchFamily="18" charset="0"/>
                <a:cs typeface="Times New Roman" panose="02020603050405020304" pitchFamily="18" charset="0"/>
              </a:rPr>
              <a:t>01 </a:t>
            </a:r>
            <a:r>
              <a:rPr lang="en-US" sz="1600" dirty="0" err="1">
                <a:latin typeface="Times New Roman" panose="02020603050405020304" pitchFamily="18" charset="0"/>
                <a:cs typeface="Times New Roman" panose="02020603050405020304" pitchFamily="18" charset="0"/>
              </a:rPr>
              <a:t>tàu</a:t>
            </a:r>
            <a:r>
              <a:rPr lang="en-US" sz="1600" dirty="0">
                <a:latin typeface="Times New Roman" panose="02020603050405020304" pitchFamily="18" charset="0"/>
                <a:cs typeface="Times New Roman" panose="02020603050405020304" pitchFamily="18" charset="0"/>
              </a:rPr>
              <a:t> bay </a:t>
            </a:r>
            <a:r>
              <a:rPr lang="en-US" sz="1600" dirty="0" err="1">
                <a:latin typeface="Times New Roman" panose="02020603050405020304" pitchFamily="18" charset="0"/>
                <a:cs typeface="Times New Roman" panose="02020603050405020304" pitchFamily="18" charset="0"/>
              </a:rPr>
              <a:t>số</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đăng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ký</a:t>
            </a:r>
            <a:r>
              <a:rPr lang="en-US" sz="1600" dirty="0">
                <a:latin typeface="Times New Roman" panose="02020603050405020304" pitchFamily="18" charset="0"/>
                <a:cs typeface="Times New Roman" panose="02020603050405020304" pitchFamily="18" charset="0"/>
              </a:rPr>
              <a:t> 9H-MLY </a:t>
            </a:r>
            <a:r>
              <a:rPr lang="en-US" sz="1600" dirty="0" err="1">
                <a:latin typeface="Times New Roman" panose="02020603050405020304" pitchFamily="18" charset="0"/>
                <a:cs typeface="Times New Roman" panose="02020603050405020304" pitchFamily="18" charset="0"/>
              </a:rPr>
              <a:t>dự</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kiến</a:t>
            </a:r>
            <a:r>
              <a:rPr lang="en-US" sz="1600" dirty="0">
                <a:latin typeface="Times New Roman" panose="02020603050405020304" pitchFamily="18" charset="0"/>
                <a:cs typeface="Times New Roman" panose="02020603050405020304" pitchFamily="18" charset="0"/>
              </a:rPr>
              <a:t> 13/01 </a:t>
            </a:r>
            <a:r>
              <a:rPr lang="en-US" sz="1600" dirty="0" err="1">
                <a:latin typeface="Times New Roman" panose="02020603050405020304" pitchFamily="18" charset="0"/>
                <a:cs typeface="Times New Roman" panose="02020603050405020304" pitchFamily="18" charset="0"/>
              </a:rPr>
              <a:t>hạ</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cánh</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tại</a:t>
            </a:r>
            <a:r>
              <a:rPr lang="en-US" sz="1600" dirty="0">
                <a:latin typeface="Times New Roman" panose="02020603050405020304" pitchFamily="18" charset="0"/>
                <a:cs typeface="Times New Roman" panose="02020603050405020304" pitchFamily="18" charset="0"/>
              </a:rPr>
              <a:t> SGN</a:t>
            </a:r>
            <a:r>
              <a:rPr lang="en-US" sz="1600" dirty="0" smtClean="0">
                <a:latin typeface="Times New Roman" panose="02020603050405020304" pitchFamily="18" charset="0"/>
                <a:cs typeface="Times New Roman" panose="02020603050405020304" pitchFamily="18" charset="0"/>
              </a:rPr>
              <a:t>.</a:t>
            </a:r>
          </a:p>
          <a:p>
            <a:endParaRPr lang="en-US" sz="1600" dirty="0">
              <a:latin typeface="Times New Roman" panose="02020603050405020304" pitchFamily="18" charset="0"/>
              <a:cs typeface="Times New Roman" panose="02020603050405020304" pitchFamily="18" charset="0"/>
            </a:endParaRPr>
          </a:p>
          <a:p>
            <a:r>
              <a:rPr lang="en-US" sz="1600" b="1" dirty="0" smtClean="0">
                <a:latin typeface="Times New Roman" panose="02020603050405020304" pitchFamily="18" charset="0"/>
                <a:cs typeface="Times New Roman" panose="02020603050405020304" pitchFamily="18" charset="0"/>
              </a:rPr>
              <a:t>2</a:t>
            </a:r>
            <a:r>
              <a:rPr lang="en-US" sz="1600" b="1" dirty="0">
                <a:latin typeface="Times New Roman" panose="02020603050405020304" pitchFamily="18" charset="0"/>
                <a:cs typeface="Times New Roman" panose="02020603050405020304" pitchFamily="18" charset="0"/>
              </a:rPr>
              <a:t>. </a:t>
            </a:r>
            <a:r>
              <a:rPr lang="en-US" sz="1600" b="1" dirty="0" smtClean="0">
                <a:latin typeface="Times New Roman" panose="02020603050405020304" pitchFamily="18" charset="0"/>
                <a:cs typeface="Times New Roman" panose="02020603050405020304" pitchFamily="18" charset="0"/>
              </a:rPr>
              <a:t>   GIA </a:t>
            </a:r>
            <a:r>
              <a:rPr lang="en-US" sz="1600" b="1" dirty="0">
                <a:latin typeface="Times New Roman" panose="02020603050405020304" pitchFamily="18" charset="0"/>
                <a:cs typeface="Times New Roman" panose="02020603050405020304" pitchFamily="18" charset="0"/>
              </a:rPr>
              <a:t>HẠN THUÊ 10 TÀU VALC </a:t>
            </a:r>
          </a:p>
          <a:p>
            <a:r>
              <a:rPr lang="en-US" sz="1600" dirty="0">
                <a:latin typeface="Times New Roman" panose="02020603050405020304" pitchFamily="18" charset="0"/>
                <a:cs typeface="Times New Roman" panose="02020603050405020304" pitchFamily="18" charset="0"/>
              </a:rPr>
              <a:t>VNA </a:t>
            </a:r>
            <a:r>
              <a:rPr lang="en-US" sz="1600" dirty="0" err="1">
                <a:latin typeface="Times New Roman" panose="02020603050405020304" pitchFamily="18" charset="0"/>
                <a:cs typeface="Times New Roman" panose="02020603050405020304" pitchFamily="18" charset="0"/>
              </a:rPr>
              <a:t>và</a:t>
            </a:r>
            <a:r>
              <a:rPr lang="en-US" sz="1600" dirty="0">
                <a:latin typeface="Times New Roman" panose="02020603050405020304" pitchFamily="18" charset="0"/>
                <a:cs typeface="Times New Roman" panose="02020603050405020304" pitchFamily="18" charset="0"/>
              </a:rPr>
              <a:t> VALC </a:t>
            </a:r>
            <a:r>
              <a:rPr lang="en-US" sz="1600" dirty="0" err="1">
                <a:latin typeface="Times New Roman" panose="02020603050405020304" pitchFamily="18" charset="0"/>
                <a:cs typeface="Times New Roman" panose="02020603050405020304" pitchFamily="18" charset="0"/>
              </a:rPr>
              <a:t>đã</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đồng</a:t>
            </a:r>
            <a:r>
              <a:rPr lang="en-US" sz="1600" dirty="0">
                <a:latin typeface="Times New Roman" panose="02020603050405020304" pitchFamily="18" charset="0"/>
                <a:cs typeface="Times New Roman" panose="02020603050405020304" pitchFamily="18" charset="0"/>
              </a:rPr>
              <a:t> ý </a:t>
            </a:r>
            <a:r>
              <a:rPr lang="en-US" sz="1600" dirty="0" err="1">
                <a:latin typeface="Times New Roman" panose="02020603050405020304" pitchFamily="18" charset="0"/>
                <a:cs typeface="Times New Roman" panose="02020603050405020304" pitchFamily="18" charset="0"/>
              </a:rPr>
              <a:t>gia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hạn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tạm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thời</a:t>
            </a:r>
            <a:r>
              <a:rPr lang="en-US" sz="1600" dirty="0">
                <a:latin typeface="Times New Roman" panose="02020603050405020304" pitchFamily="18" charset="0"/>
                <a:cs typeface="Times New Roman" panose="02020603050405020304" pitchFamily="18" charset="0"/>
              </a:rPr>
              <a:t> 10 </a:t>
            </a:r>
            <a:r>
              <a:rPr lang="en-US" sz="1600" dirty="0" err="1">
                <a:latin typeface="Times New Roman" panose="02020603050405020304" pitchFamily="18" charset="0"/>
                <a:cs typeface="Times New Roman" panose="02020603050405020304" pitchFamily="18" charset="0"/>
              </a:rPr>
              <a:t>tàu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thuê</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đến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hết</a:t>
            </a:r>
            <a:r>
              <a:rPr lang="en-US" sz="1600" dirty="0">
                <a:latin typeface="Times New Roman" panose="02020603050405020304" pitchFamily="18" charset="0"/>
                <a:cs typeface="Times New Roman" panose="02020603050405020304" pitchFamily="18" charset="0"/>
              </a:rPr>
              <a:t> 31/03/2025. </a:t>
            </a:r>
            <a:r>
              <a:rPr lang="en-US" sz="1600" dirty="0" err="1">
                <a:latin typeface="Times New Roman" panose="02020603050405020304" pitchFamily="18" charset="0"/>
                <a:cs typeface="Times New Roman" panose="02020603050405020304" pitchFamily="18" charset="0"/>
              </a:rPr>
              <a:t>Hiện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có</a:t>
            </a:r>
            <a:r>
              <a:rPr lang="en-US" sz="1600" dirty="0">
                <a:latin typeface="Times New Roman" panose="02020603050405020304" pitchFamily="18" charset="0"/>
                <a:cs typeface="Times New Roman" panose="02020603050405020304" pitchFamily="18" charset="0"/>
              </a:rPr>
              <a:t> 02 </a:t>
            </a:r>
            <a:r>
              <a:rPr lang="en-US" sz="1600" dirty="0" err="1">
                <a:latin typeface="Times New Roman" panose="02020603050405020304" pitchFamily="18" charset="0"/>
                <a:cs typeface="Times New Roman" panose="02020603050405020304" pitchFamily="18" charset="0"/>
              </a:rPr>
              <a:t>đối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tác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quan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tâm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tới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mua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và</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cho</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thuê</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lại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tàu</a:t>
            </a:r>
            <a:r>
              <a:rPr lang="en-US" sz="1600" dirty="0">
                <a:latin typeface="Times New Roman" panose="02020603050405020304" pitchFamily="18" charset="0"/>
                <a:cs typeface="Times New Roman" panose="02020603050405020304" pitchFamily="18" charset="0"/>
              </a:rPr>
              <a:t> bay </a:t>
            </a:r>
            <a:r>
              <a:rPr lang="en-US" sz="1600" dirty="0" err="1">
                <a:latin typeface="Times New Roman" panose="02020603050405020304" pitchFamily="18" charset="0"/>
                <a:cs typeface="Times New Roman" panose="02020603050405020304" pitchFamily="18" charset="0"/>
              </a:rPr>
              <a:t>là</a:t>
            </a:r>
            <a:r>
              <a:rPr lang="en-US" sz="1600" dirty="0">
                <a:latin typeface="Times New Roman" panose="02020603050405020304" pitchFamily="18" charset="0"/>
                <a:cs typeface="Times New Roman" panose="02020603050405020304" pitchFamily="18" charset="0"/>
              </a:rPr>
              <a:t> Arena </a:t>
            </a:r>
            <a:r>
              <a:rPr lang="en-US" sz="1600" dirty="0" err="1">
                <a:latin typeface="Times New Roman" panose="02020603050405020304" pitchFamily="18" charset="0"/>
                <a:cs typeface="Times New Roman" panose="02020603050405020304" pitchFamily="18" charset="0"/>
              </a:rPr>
              <a:t>và</a:t>
            </a:r>
            <a:r>
              <a:rPr lang="en-US" sz="1600" dirty="0">
                <a:latin typeface="Times New Roman" panose="02020603050405020304" pitchFamily="18" charset="0"/>
                <a:cs typeface="Times New Roman" panose="02020603050405020304" pitchFamily="18" charset="0"/>
              </a:rPr>
              <a:t> FTAI</a:t>
            </a:r>
          </a:p>
          <a:p>
            <a:r>
              <a:rPr lang="en-US" sz="1600" dirty="0" smtClean="0">
                <a:latin typeface="Times New Roman" panose="02020603050405020304" pitchFamily="18" charset="0"/>
                <a:cs typeface="Times New Roman" panose="02020603050405020304" pitchFamily="18" charset="0"/>
              </a:rPr>
              <a:t>-    Arena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Bản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chào</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gia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hạn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thuê</a:t>
            </a:r>
            <a:r>
              <a:rPr lang="en-US" sz="1600" dirty="0">
                <a:latin typeface="Times New Roman" panose="02020603050405020304" pitchFamily="18" charset="0"/>
                <a:cs typeface="Times New Roman" panose="02020603050405020304" pitchFamily="18" charset="0"/>
              </a:rPr>
              <a:t> 10 </a:t>
            </a:r>
            <a:r>
              <a:rPr lang="en-US" sz="1600" dirty="0" err="1">
                <a:latin typeface="Times New Roman" panose="02020603050405020304" pitchFamily="18" charset="0"/>
                <a:cs typeface="Times New Roman" panose="02020603050405020304" pitchFamily="18" charset="0"/>
              </a:rPr>
              <a:t>tàu</a:t>
            </a:r>
            <a:r>
              <a:rPr lang="en-US" sz="1600" dirty="0">
                <a:latin typeface="Times New Roman" panose="02020603050405020304" pitchFamily="18" charset="0"/>
                <a:cs typeface="Times New Roman" panose="02020603050405020304" pitchFamily="18" charset="0"/>
              </a:rPr>
              <a:t> A321 </a:t>
            </a:r>
            <a:r>
              <a:rPr lang="en-US" sz="1600" dirty="0" err="1">
                <a:latin typeface="Times New Roman" panose="02020603050405020304" pitchFamily="18" charset="0"/>
                <a:cs typeface="Times New Roman" panose="02020603050405020304" pitchFamily="18" charset="0"/>
              </a:rPr>
              <a:t>với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thời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gian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trung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bình</a:t>
            </a:r>
            <a:r>
              <a:rPr lang="en-US" sz="1600" dirty="0">
                <a:latin typeface="Times New Roman" panose="02020603050405020304" pitchFamily="18" charset="0"/>
                <a:cs typeface="Times New Roman" panose="02020603050405020304" pitchFamily="18" charset="0"/>
              </a:rPr>
              <a:t> 5 </a:t>
            </a:r>
            <a:r>
              <a:rPr lang="en-US" sz="1600" dirty="0" err="1">
                <a:latin typeface="Times New Roman" panose="02020603050405020304" pitchFamily="18" charset="0"/>
                <a:cs typeface="Times New Roman" panose="02020603050405020304" pitchFamily="18" charset="0"/>
              </a:rPr>
              <a:t>năm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hiện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đang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trong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quá</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trình</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đàm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phán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gia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hạn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Cơ</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bản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đã</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đàm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phán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thống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nhất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các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nội</a:t>
            </a:r>
            <a:r>
              <a:rPr lang="en-US" sz="1600" dirty="0">
                <a:latin typeface="Times New Roman" panose="02020603050405020304" pitchFamily="18" charset="0"/>
                <a:cs typeface="Times New Roman" panose="02020603050405020304" pitchFamily="18" charset="0"/>
              </a:rPr>
              <a:t> dung </a:t>
            </a:r>
            <a:r>
              <a:rPr lang="en-US" sz="1600" dirty="0" err="1">
                <a:latin typeface="Times New Roman" panose="02020603050405020304" pitchFamily="18" charset="0"/>
                <a:cs typeface="Times New Roman" panose="02020603050405020304" pitchFamily="18" charset="0"/>
              </a:rPr>
              <a:t>liên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quan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tới</a:t>
            </a:r>
            <a:r>
              <a:rPr lang="en-US" sz="1600" dirty="0">
                <a:latin typeface="Times New Roman" panose="02020603050405020304" pitchFamily="18" charset="0"/>
                <a:cs typeface="Times New Roman" panose="02020603050405020304" pitchFamily="18" charset="0"/>
              </a:rPr>
              <a:t> KT</a:t>
            </a:r>
          </a:p>
          <a:p>
            <a:r>
              <a:rPr lang="en-US" sz="1600" dirty="0" err="1">
                <a:latin typeface="Times New Roman" panose="02020603050405020304" pitchFamily="18" charset="0"/>
                <a:cs typeface="Times New Roman" panose="02020603050405020304" pitchFamily="18" charset="0"/>
              </a:rPr>
              <a:t>Các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vấn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đề</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lớn</a:t>
            </a:r>
            <a:r>
              <a:rPr lang="en-US" sz="1600" dirty="0">
                <a:latin typeface="Times New Roman" panose="02020603050405020304" pitchFamily="18" charset="0"/>
                <a:cs typeface="Times New Roman" panose="02020603050405020304" pitchFamily="18" charset="0"/>
              </a:rPr>
              <a:t> / </a:t>
            </a:r>
            <a:r>
              <a:rPr lang="en-US" sz="1600" dirty="0" err="1">
                <a:latin typeface="Times New Roman" panose="02020603050405020304" pitchFamily="18" charset="0"/>
                <a:cs typeface="Times New Roman" panose="02020603050405020304" pitchFamily="18" charset="0"/>
              </a:rPr>
              <a:t>cơ</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bản</a:t>
            </a:r>
            <a:r>
              <a:rPr lang="en-US" sz="1600" dirty="0">
                <a:latin typeface="Times New Roman" panose="02020603050405020304" pitchFamily="18" charset="0"/>
                <a:cs typeface="Times New Roman" panose="02020603050405020304" pitchFamily="18" charset="0"/>
              </a:rPr>
              <a:t> Arena </a:t>
            </a:r>
            <a:r>
              <a:rPr lang="en-US" sz="1600" dirty="0" err="1">
                <a:latin typeface="Times New Roman" panose="02020603050405020304" pitchFamily="18" charset="0"/>
                <a:cs typeface="Times New Roman" panose="02020603050405020304" pitchFamily="18" charset="0"/>
              </a:rPr>
              <a:t>đang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đề</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xuất</a:t>
            </a:r>
            <a:r>
              <a:rPr lang="en-US" sz="1600" dirty="0">
                <a:latin typeface="Times New Roman" panose="02020603050405020304" pitchFamily="18" charset="0"/>
                <a:cs typeface="Times New Roman" panose="02020603050405020304" pitchFamily="18" charset="0"/>
              </a:rPr>
              <a:t>:</a:t>
            </a:r>
          </a:p>
          <a:p>
            <a:pPr algn="just">
              <a:spcBef>
                <a:spcPts val="800"/>
              </a:spcBef>
              <a:spcAft>
                <a:spcPts val="800"/>
              </a:spcAft>
            </a:pPr>
            <a:r>
              <a:rPr lang="en-US" sz="1600" dirty="0">
                <a:latin typeface="Times New Roman" panose="02020603050405020304" pitchFamily="18" charset="0"/>
                <a:cs typeface="Times New Roman" panose="02020603050405020304" pitchFamily="18" charset="0"/>
              </a:rPr>
              <a:t>a. </a:t>
            </a:r>
            <a:r>
              <a:rPr lang="vi-VN" sz="1600" dirty="0">
                <a:latin typeface="Times New Roman" panose="02020603050405020304" pitchFamily="18" charset="0"/>
                <a:cs typeface="Times New Roman" panose="02020603050405020304" pitchFamily="18" charset="0"/>
              </a:rPr>
              <a:t>10 tàu bay cần được duy trì khả năng khai thác sau khi hết hợp đồng gia hạn với Arena.</a:t>
            </a:r>
          </a:p>
          <a:p>
            <a:pPr algn="just">
              <a:spcBef>
                <a:spcPts val="800"/>
              </a:spcBef>
              <a:spcAft>
                <a:spcPts val="800"/>
              </a:spcAft>
            </a:pPr>
            <a:r>
              <a:rPr lang="en-US" sz="1600" dirty="0">
                <a:latin typeface="Times New Roman" panose="02020603050405020304" pitchFamily="18" charset="0"/>
                <a:cs typeface="Times New Roman" panose="02020603050405020304" pitchFamily="18" charset="0"/>
              </a:rPr>
              <a:t>b</a:t>
            </a:r>
            <a:r>
              <a:rPr lang="en-US" sz="1600" dirty="0" smtClean="0">
                <a:latin typeface="Times New Roman" panose="02020603050405020304" pitchFamily="18" charset="0"/>
                <a:cs typeface="Times New Roman" panose="02020603050405020304" pitchFamily="18" charset="0"/>
              </a:rPr>
              <a:t>. </a:t>
            </a:r>
            <a:r>
              <a:rPr lang="vi-VN" sz="1600" dirty="0" smtClean="0">
                <a:latin typeface="Times New Roman" panose="02020603050405020304" pitchFamily="18" charset="0"/>
                <a:cs typeface="Times New Roman" panose="02020603050405020304" pitchFamily="18" charset="0"/>
              </a:rPr>
              <a:t>Thực </a:t>
            </a:r>
            <a:r>
              <a:rPr lang="vi-VN" sz="1600" dirty="0">
                <a:latin typeface="Times New Roman" panose="02020603050405020304" pitchFamily="18" charset="0"/>
                <a:cs typeface="Times New Roman" panose="02020603050405020304" pitchFamily="18" charset="0"/>
              </a:rPr>
              <a:t>hiện balancing quỹ bảo dưỡng sau khi kết thúc gia hạn thuê.</a:t>
            </a:r>
          </a:p>
          <a:p>
            <a:pPr algn="just">
              <a:spcBef>
                <a:spcPts val="800"/>
              </a:spcBef>
              <a:spcAft>
                <a:spcPts val="800"/>
              </a:spcAft>
            </a:pPr>
            <a:r>
              <a:rPr lang="en-US" sz="1600" dirty="0">
                <a:latin typeface="Times New Roman" panose="02020603050405020304" pitchFamily="18" charset="0"/>
                <a:cs typeface="Times New Roman" panose="02020603050405020304" pitchFamily="18" charset="0"/>
              </a:rPr>
              <a:t>c</a:t>
            </a:r>
            <a:r>
              <a:rPr lang="en-US" sz="1600" dirty="0" smtClean="0">
                <a:latin typeface="Times New Roman" panose="02020603050405020304" pitchFamily="18" charset="0"/>
                <a:cs typeface="Times New Roman" panose="02020603050405020304" pitchFamily="18" charset="0"/>
              </a:rPr>
              <a:t>. </a:t>
            </a:r>
            <a:r>
              <a:rPr lang="vi-VN" sz="1600" dirty="0" smtClean="0">
                <a:latin typeface="Times New Roman" panose="02020603050405020304" pitchFamily="18" charset="0"/>
                <a:cs typeface="Times New Roman" panose="02020603050405020304" pitchFamily="18" charset="0"/>
              </a:rPr>
              <a:t>Đồng </a:t>
            </a:r>
            <a:r>
              <a:rPr lang="vi-VN" sz="1600" dirty="0">
                <a:latin typeface="Times New Roman" panose="02020603050405020304" pitchFamily="18" charset="0"/>
                <a:cs typeface="Times New Roman" panose="02020603050405020304" pitchFamily="18" charset="0"/>
              </a:rPr>
              <a:t>ý giảm MR và đề xuất phương án buy-out</a:t>
            </a:r>
            <a:r>
              <a:rPr lang="en-US" sz="1600" dirty="0">
                <a:latin typeface="Times New Roman" panose="02020603050405020304" pitchFamily="18" charset="0"/>
                <a:cs typeface="Times New Roman" panose="02020603050405020304" pitchFamily="18" charset="0"/>
              </a:rPr>
              <a:t> </a:t>
            </a:r>
            <a:r>
              <a:rPr lang="vi-VN" sz="1600" dirty="0">
                <a:latin typeface="Times New Roman" panose="02020603050405020304" pitchFamily="18" charset="0"/>
                <a:cs typeface="Times New Roman" panose="02020603050405020304" pitchFamily="18" charset="0"/>
              </a:rPr>
              <a:t>cho </a:t>
            </a:r>
            <a:r>
              <a:rPr lang="en-US" sz="1600" dirty="0" err="1">
                <a:latin typeface="Times New Roman" panose="02020603050405020304" pitchFamily="18" charset="0"/>
                <a:cs typeface="Times New Roman" panose="02020603050405020304" pitchFamily="18" charset="0"/>
              </a:rPr>
              <a:t>một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số</a:t>
            </a:r>
            <a:r>
              <a:rPr lang="en-US" sz="1600" dirty="0">
                <a:latin typeface="Times New Roman" panose="02020603050405020304" pitchFamily="18" charset="0"/>
                <a:cs typeface="Times New Roman" panose="02020603050405020304" pitchFamily="18" charset="0"/>
              </a:rPr>
              <a:t> </a:t>
            </a:r>
            <a:r>
              <a:rPr lang="vi-VN" sz="1600" dirty="0">
                <a:latin typeface="Times New Roman" panose="02020603050405020304" pitchFamily="18" charset="0"/>
                <a:cs typeface="Times New Roman" panose="02020603050405020304" pitchFamily="18" charset="0"/>
              </a:rPr>
              <a:t>điều kiện trả</a:t>
            </a:r>
            <a:r>
              <a:rPr lang="en-US" sz="1600" dirty="0" smtClean="0">
                <a:latin typeface="Times New Roman" panose="02020603050405020304" pitchFamily="18" charset="0"/>
                <a:cs typeface="Times New Roman" panose="02020603050405020304" pitchFamily="18" charset="0"/>
              </a:rPr>
              <a:t>.</a:t>
            </a:r>
          </a:p>
          <a:p>
            <a:pPr>
              <a:spcBef>
                <a:spcPts val="800"/>
              </a:spcBef>
              <a:spcAft>
                <a:spcPts val="800"/>
              </a:spcAft>
            </a:pPr>
            <a:r>
              <a:rPr lang="en-US" sz="1600" dirty="0" smtClean="0">
                <a:latin typeface="Times New Roman" panose="02020603050405020304" pitchFamily="18" charset="0"/>
                <a:cs typeface="Times New Roman" panose="02020603050405020304" pitchFamily="18" charset="0"/>
              </a:rPr>
              <a:t>-    FTAI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Bản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chào</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thuê</a:t>
            </a:r>
            <a:r>
              <a:rPr lang="en-US" sz="1600" dirty="0">
                <a:latin typeface="Times New Roman" panose="02020603050405020304" pitchFamily="18" charset="0"/>
                <a:cs typeface="Times New Roman" panose="02020603050405020304" pitchFamily="18" charset="0"/>
              </a:rPr>
              <a:t> 10 </a:t>
            </a:r>
            <a:r>
              <a:rPr lang="en-US" sz="1600" dirty="0" err="1">
                <a:latin typeface="Times New Roman" panose="02020603050405020304" pitchFamily="18" charset="0"/>
                <a:cs typeface="Times New Roman" panose="02020603050405020304" pitchFamily="18" charset="0"/>
              </a:rPr>
              <a:t>tàu</a:t>
            </a:r>
            <a:r>
              <a:rPr lang="en-US" sz="1600" dirty="0">
                <a:latin typeface="Times New Roman" panose="02020603050405020304" pitchFamily="18" charset="0"/>
                <a:cs typeface="Times New Roman" panose="02020603050405020304" pitchFamily="18" charset="0"/>
              </a:rPr>
              <a:t> A321 </a:t>
            </a:r>
            <a:r>
              <a:rPr lang="en-US" sz="1600" dirty="0" err="1">
                <a:latin typeface="Times New Roman" panose="02020603050405020304" pitchFamily="18" charset="0"/>
                <a:cs typeface="Times New Roman" panose="02020603050405020304" pitchFamily="18" charset="0"/>
              </a:rPr>
              <a:t>với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điều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kiện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trả</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là</a:t>
            </a:r>
            <a:r>
              <a:rPr lang="en-US" sz="1600" dirty="0">
                <a:latin typeface="Times New Roman" panose="02020603050405020304" pitchFamily="18" charset="0"/>
                <a:cs typeface="Times New Roman" panose="02020603050405020304" pitchFamily="18" charset="0"/>
              </a:rPr>
              <a:t> As-is, </a:t>
            </a:r>
            <a:r>
              <a:rPr lang="en-US" sz="1600" dirty="0" err="1">
                <a:latin typeface="Times New Roman" panose="02020603050405020304" pitchFamily="18" charset="0"/>
                <a:cs typeface="Times New Roman" panose="02020603050405020304" pitchFamily="18" charset="0"/>
              </a:rPr>
              <a:t>có</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đảm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bảo</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hỗ</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trợ</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động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cơ</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khai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thác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đến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hết</a:t>
            </a:r>
            <a:r>
              <a:rPr lang="en-US" sz="1600" dirty="0">
                <a:latin typeface="Times New Roman" panose="02020603050405020304" pitchFamily="18" charset="0"/>
                <a:cs typeface="Times New Roman" panose="02020603050405020304" pitchFamily="18" charset="0"/>
              </a:rPr>
              <a:t> run-out. </a:t>
            </a:r>
            <a:r>
              <a:rPr lang="en-US" sz="1600" dirty="0" err="1">
                <a:latin typeface="Times New Roman" panose="02020603050405020304" pitchFamily="18" charset="0"/>
                <a:cs typeface="Times New Roman" panose="02020603050405020304" pitchFamily="18" charset="0"/>
              </a:rPr>
              <a:t>Không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phải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thực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hiện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đóng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quỹ</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ngoại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trừ</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động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cơ</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Bàn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chào</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có</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nhiều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thuận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lợi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cho</a:t>
            </a:r>
            <a:r>
              <a:rPr lang="en-US" sz="1600" dirty="0">
                <a:latin typeface="Times New Roman" panose="02020603050405020304" pitchFamily="18" charset="0"/>
                <a:cs typeface="Times New Roman" panose="02020603050405020304" pitchFamily="18" charset="0"/>
              </a:rPr>
              <a:t> VNA </a:t>
            </a:r>
            <a:r>
              <a:rPr lang="en-US" sz="1600" dirty="0" err="1">
                <a:latin typeface="Times New Roman" panose="02020603050405020304" pitchFamily="18" charset="0"/>
                <a:cs typeface="Times New Roman" panose="02020603050405020304" pitchFamily="18" charset="0"/>
              </a:rPr>
              <a:t>trong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quá</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trình</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khai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thác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và</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trả</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tàu</a:t>
            </a:r>
            <a:r>
              <a:rPr lang="en-US" sz="1600" dirty="0">
                <a:latin typeface="Times New Roman" panose="02020603050405020304" pitchFamily="18" charset="0"/>
                <a:cs typeface="Times New Roman" panose="02020603050405020304" pitchFamily="18" charset="0"/>
              </a:rPr>
              <a:t> bay. </a:t>
            </a:r>
          </a:p>
          <a:p>
            <a:pPr lvl="0"/>
            <a:endParaRPr lang="en-US" sz="1600" dirty="0">
              <a:latin typeface="Times New Roman" panose="02020603050405020304" pitchFamily="18" charset="0"/>
              <a:cs typeface="Times New Roman" panose="02020603050405020304" pitchFamily="18" charset="0"/>
            </a:endParaRPr>
          </a:p>
          <a:p>
            <a:pPr marL="304792" indent="-304792">
              <a:buFont typeface="Arial" panose="020B0604020202020204" pitchFamily="34" charset="0"/>
              <a:buChar char="•"/>
            </a:pPr>
            <a:endParaRPr lang="en-US" sz="1600" b="1" dirty="0">
              <a:solidFill>
                <a:srgbClr val="006880"/>
              </a:solidFill>
              <a:latin typeface="Times New Roman" panose="02020603050405020304" pitchFamily="18" charset="0"/>
              <a:cs typeface="Times New Roman" panose="02020603050405020304" pitchFamily="18" charset="0"/>
            </a:endParaRPr>
          </a:p>
          <a:p>
            <a:pPr marL="304792" indent="-304792">
              <a:buFont typeface="+mj-lt"/>
              <a:buAutoNum type="alphaUcPeriod"/>
            </a:pPr>
            <a:endParaRPr lang="en-US" sz="1600" b="1" dirty="0">
              <a:solidFill>
                <a:srgbClr val="006880"/>
              </a:solidFill>
              <a:latin typeface="Times New Roman" panose="02020603050405020304" pitchFamily="18" charset="0"/>
              <a:cs typeface="Times New Roman" panose="02020603050405020304" pitchFamily="18" charset="0"/>
            </a:endParaRPr>
          </a:p>
          <a:p>
            <a:endParaRPr sz="1600" b="1" dirty="0">
              <a:solidFill>
                <a:srgbClr val="00688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4942573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45</a:t>
            </a:fld>
            <a:endParaRPr lang="en-US"/>
          </a:p>
        </p:txBody>
      </p:sp>
      <p:sp>
        <p:nvSpPr>
          <p:cNvPr id="5" name="Title 4"/>
          <p:cNvSpPr>
            <a:spLocks noGrp="1"/>
          </p:cNvSpPr>
          <p:nvPr>
            <p:ph type="title"/>
          </p:nvPr>
        </p:nvSpPr>
        <p:spPr>
          <a:xfrm>
            <a:off x="509151" y="457200"/>
            <a:ext cx="5663033" cy="815200"/>
          </a:xfrm>
        </p:spPr>
        <p:txBody>
          <a:bodyPr>
            <a:normAutofit/>
          </a:bodyPr>
          <a:lstStyle/>
          <a:p>
            <a:r>
              <a:rPr lang="en-US" sz="2800" dirty="0" err="1">
                <a:ln w="0"/>
                <a:solidFill>
                  <a:srgbClr val="FFC000"/>
                </a:solidFill>
                <a:latin typeface="Times New Roman" panose="02020603050405020304" pitchFamily="18" charset="0"/>
                <a:cs typeface="Times New Roman" panose="02020603050405020304" pitchFamily="18" charset="0"/>
              </a:rPr>
              <a:t>Nhân</a:t>
            </a:r>
            <a:r>
              <a:rPr lang="en-US" sz="2800" dirty="0">
                <a:ln w="0"/>
                <a:solidFill>
                  <a:srgbClr val="FFC000"/>
                </a:solidFill>
                <a:latin typeface="Times New Roman" panose="02020603050405020304" pitchFamily="18" charset="0"/>
                <a:cs typeface="Times New Roman" panose="02020603050405020304" pitchFamily="18" charset="0"/>
              </a:rPr>
              <a:t> </a:t>
            </a:r>
            <a:r>
              <a:rPr lang="en-US" sz="2800" dirty="0" err="1">
                <a:ln w="0"/>
                <a:solidFill>
                  <a:srgbClr val="FFC000"/>
                </a:solidFill>
                <a:latin typeface="Times New Roman" panose="02020603050405020304" pitchFamily="18" charset="0"/>
                <a:cs typeface="Times New Roman" panose="02020603050405020304" pitchFamily="18" charset="0"/>
              </a:rPr>
              <a:t>nhượng</a:t>
            </a:r>
            <a:r>
              <a:rPr lang="en-US" sz="2800" dirty="0">
                <a:ln w="0"/>
                <a:solidFill>
                  <a:srgbClr val="FFC000"/>
                </a:solidFill>
                <a:latin typeface="Times New Roman" panose="02020603050405020304" pitchFamily="18" charset="0"/>
                <a:cs typeface="Times New Roman" panose="02020603050405020304" pitchFamily="18" charset="0"/>
              </a:rPr>
              <a:t> </a:t>
            </a:r>
            <a:r>
              <a:rPr lang="en-US" sz="2800" dirty="0" err="1">
                <a:ln w="0"/>
                <a:solidFill>
                  <a:srgbClr val="FFC000"/>
                </a:solidFill>
                <a:latin typeface="Times New Roman" panose="02020603050405020304" pitchFamily="18" charset="0"/>
                <a:cs typeface="Times New Roman" panose="02020603050405020304" pitchFamily="18" charset="0"/>
              </a:rPr>
              <a:t>trong</a:t>
            </a:r>
            <a:r>
              <a:rPr lang="en-US" sz="2800" dirty="0">
                <a:ln w="0"/>
                <a:solidFill>
                  <a:srgbClr val="FFC000"/>
                </a:solidFill>
                <a:latin typeface="Times New Roman" panose="02020603050405020304" pitchFamily="18" charset="0"/>
                <a:cs typeface="Times New Roman" panose="02020603050405020304" pitchFamily="18" charset="0"/>
              </a:rPr>
              <a:t> </a:t>
            </a:r>
            <a:r>
              <a:rPr lang="en-US" sz="2800" dirty="0" err="1">
                <a:ln w="0"/>
                <a:solidFill>
                  <a:srgbClr val="FFC000"/>
                </a:solidFill>
                <a:latin typeface="Times New Roman" panose="02020603050405020304" pitchFamily="18" charset="0"/>
                <a:cs typeface="Times New Roman" panose="02020603050405020304" pitchFamily="18" charset="0"/>
              </a:rPr>
              <a:t>tuần</a:t>
            </a:r>
            <a:endParaRPr lang="vi-VN" sz="28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6" name="Chart 5">
            <a:extLst>
              <a:ext uri="{FF2B5EF4-FFF2-40B4-BE49-F238E27FC236}">
                <a16:creationId xmlns:xdr="http://schemas.openxmlformats.org/drawingml/2006/spreadsheetDrawing" xmlns="" xmlns:a16="http://schemas.microsoft.com/office/drawing/2014/main" xmlns:lc="http://schemas.openxmlformats.org/drawingml/2006/lockedCanvas" id="{00000000-0008-0000-0900-000007000000}"/>
              </a:ext>
            </a:extLst>
          </p:cNvPr>
          <p:cNvGraphicFramePr>
            <a:graphicFrameLocks/>
          </p:cNvGraphicFramePr>
          <p:nvPr>
            <p:extLst>
              <p:ext uri="{D42A27DB-BD31-4B8C-83A1-F6EECF244321}">
                <p14:modId xmlns:p14="http://schemas.microsoft.com/office/powerpoint/2010/main" val="4087228430"/>
              </p:ext>
            </p:extLst>
          </p:nvPr>
        </p:nvGraphicFramePr>
        <p:xfrm>
          <a:off x="4038600" y="1066800"/>
          <a:ext cx="4116876" cy="235937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Table 7"/>
          <p:cNvGraphicFramePr>
            <a:graphicFrameLocks noGrp="1"/>
          </p:cNvGraphicFramePr>
          <p:nvPr>
            <p:extLst>
              <p:ext uri="{D42A27DB-BD31-4B8C-83A1-F6EECF244321}">
                <p14:modId xmlns:p14="http://schemas.microsoft.com/office/powerpoint/2010/main" val="744234771"/>
              </p:ext>
            </p:extLst>
          </p:nvPr>
        </p:nvGraphicFramePr>
        <p:xfrm>
          <a:off x="914384" y="3505200"/>
          <a:ext cx="10515600" cy="3274614"/>
        </p:xfrm>
        <a:graphic>
          <a:graphicData uri="http://schemas.openxmlformats.org/drawingml/2006/table">
            <a:tbl>
              <a:tblPr/>
              <a:tblGrid>
                <a:gridCol w="193899"/>
                <a:gridCol w="1547276"/>
                <a:gridCol w="399549"/>
                <a:gridCol w="430887"/>
                <a:gridCol w="4994371"/>
                <a:gridCol w="481810"/>
                <a:gridCol w="783431"/>
                <a:gridCol w="1214318"/>
                <a:gridCol w="470059"/>
              </a:tblGrid>
              <a:tr h="225846">
                <a:tc gridSpan="9">
                  <a:txBody>
                    <a:bodyPr/>
                    <a:lstStyle/>
                    <a:p>
                      <a:pPr algn="ctr" fontAlgn="ctr"/>
                      <a:r>
                        <a:rPr lang="vi-VN" sz="1000" b="1" i="0" u="none" strike="noStrike">
                          <a:solidFill>
                            <a:srgbClr val="000000"/>
                          </a:solidFill>
                          <a:effectLst/>
                          <a:latin typeface="+mn-lt"/>
                        </a:rPr>
                        <a:t>BẢNG TỔNG HỢP VÀ THEO DÕI NHÂN NHƯỢNG - VIETNAM AIRLINES</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225846">
                <a:tc>
                  <a:txBody>
                    <a:bodyPr/>
                    <a:lstStyle/>
                    <a:p>
                      <a:pPr algn="ctr" fontAlgn="ctr"/>
                      <a:r>
                        <a:rPr lang="en-US" sz="1000" b="1" i="0" u="none" strike="noStrike">
                          <a:solidFill>
                            <a:srgbClr val="000000"/>
                          </a:solidFill>
                          <a:effectLst/>
                          <a:latin typeface="+mn-lt"/>
                        </a:rPr>
                        <a:t>No</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mn-lt"/>
                        </a:rPr>
                        <a:t>Concession No.</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mn-lt"/>
                        </a:rPr>
                        <a:t>Type</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mn-lt"/>
                        </a:rPr>
                        <a:t>Reg</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mn-lt"/>
                        </a:rPr>
                        <a:t>Description</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mn-lt"/>
                        </a:rPr>
                        <a:t>Issued By</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mn-lt"/>
                        </a:rPr>
                        <a:t>Issued Date</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mn-lt"/>
                        </a:rPr>
                        <a:t>ADD/CHK/Task No</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mn-lt"/>
                        </a:rPr>
                        <a:t>Status</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89332">
                <a:tc>
                  <a:txBody>
                    <a:bodyPr/>
                    <a:lstStyle/>
                    <a:p>
                      <a:pPr algn="ctr" fontAlgn="ctr"/>
                      <a:r>
                        <a:rPr lang="en-US" sz="1050" b="0" i="0" u="none" strike="noStrike">
                          <a:solidFill>
                            <a:srgbClr val="000000"/>
                          </a:solidFill>
                          <a:effectLst/>
                          <a:latin typeface="+mn-lt"/>
                        </a:rPr>
                        <a:t>1</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dirty="0">
                          <a:solidFill>
                            <a:srgbClr val="000000"/>
                          </a:solidFill>
                          <a:effectLst/>
                          <a:latin typeface="Times New Roman" panose="02020603050405020304" pitchFamily="18" charset="0"/>
                          <a:cs typeface="Times New Roman" panose="02020603050405020304" pitchFamily="18" charset="0"/>
                        </a:rPr>
                        <a:t>606-01/25</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mn-lt"/>
                        </a:rPr>
                        <a:t>ADD</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mn-lt"/>
                        </a:rPr>
                        <a:t>A606</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50" b="0" i="0" u="none" strike="noStrike">
                          <a:solidFill>
                            <a:srgbClr val="000000"/>
                          </a:solidFill>
                          <a:effectLst/>
                          <a:latin typeface="+mn-lt"/>
                        </a:rPr>
                        <a:t>ADD B1792 : AIR ENG #2 HPVALVE FAULT, IAW MEL 36-11- 07B (REV6/24), CAT C, DEADLINE: 06-JAN - 2025</a:t>
                      </a:r>
                    </a:p>
                  </a:txBody>
                  <a:tcPr marL="5664" marR="5664" marT="566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mn-lt"/>
                        </a:rPr>
                        <a:t>SQD</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50" b="0" i="0" u="none" strike="noStrike">
                          <a:solidFill>
                            <a:srgbClr val="000000"/>
                          </a:solidFill>
                          <a:effectLst/>
                          <a:latin typeface="+mn-lt"/>
                        </a:rPr>
                        <a:t>6-Jan-2025</a:t>
                      </a:r>
                    </a:p>
                  </a:txBody>
                  <a:tcPr marL="5664" marR="5664" marT="566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50" b="0" i="0" u="none" strike="noStrike">
                          <a:solidFill>
                            <a:srgbClr val="000000"/>
                          </a:solidFill>
                          <a:effectLst/>
                          <a:latin typeface="+mn-lt"/>
                        </a:rPr>
                        <a:t>ADD B1792</a:t>
                      </a:r>
                    </a:p>
                  </a:txBody>
                  <a:tcPr marL="5664" marR="5664" marT="566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50" b="0" i="0" u="none" strike="noStrike">
                          <a:solidFill>
                            <a:srgbClr val="000000"/>
                          </a:solidFill>
                          <a:effectLst/>
                          <a:latin typeface="+mn-lt"/>
                        </a:rPr>
                        <a:t> </a:t>
                      </a:r>
                    </a:p>
                  </a:txBody>
                  <a:tcPr marL="5664" marR="5664" marT="566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44666">
                <a:tc>
                  <a:txBody>
                    <a:bodyPr/>
                    <a:lstStyle/>
                    <a:p>
                      <a:pPr algn="ctr" fontAlgn="ctr"/>
                      <a:r>
                        <a:rPr lang="en-US" sz="1050" b="0" i="0" u="none" strike="noStrike">
                          <a:solidFill>
                            <a:srgbClr val="000000"/>
                          </a:solidFill>
                          <a:effectLst/>
                          <a:latin typeface="+mn-lt"/>
                        </a:rPr>
                        <a:t>2</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dirty="0">
                          <a:solidFill>
                            <a:srgbClr val="000000"/>
                          </a:solidFill>
                          <a:effectLst/>
                          <a:latin typeface="Times New Roman" panose="02020603050405020304" pitchFamily="18" charset="0"/>
                          <a:cs typeface="Times New Roman" panose="02020603050405020304" pitchFamily="18" charset="0"/>
                        </a:rPr>
                        <a:t>867-01/25</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mn-lt"/>
                        </a:rPr>
                        <a:t>ADD</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mn-lt"/>
                        </a:rPr>
                        <a:t>A867</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dirty="0">
                          <a:solidFill>
                            <a:srgbClr val="000000"/>
                          </a:solidFill>
                          <a:effectLst/>
                          <a:latin typeface="+mn-lt"/>
                        </a:rPr>
                        <a:t>ADD B1511:APU INOP IS RAISED IAW MEL 49-11-01. CAT C. DEADLINE 09- JAN-2025</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mn-lt"/>
                        </a:rPr>
                        <a:t>SQD</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mn-lt"/>
                        </a:rPr>
                        <a:t>9-Jan-2025</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mn-lt"/>
                        </a:rPr>
                        <a:t>ADD B1511</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mn-lt"/>
                        </a:rPr>
                        <a:t> </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89332">
                <a:tc>
                  <a:txBody>
                    <a:bodyPr/>
                    <a:lstStyle/>
                    <a:p>
                      <a:pPr algn="ctr" fontAlgn="ctr"/>
                      <a:r>
                        <a:rPr lang="en-US" sz="1050" b="0" i="0" u="none" strike="noStrike">
                          <a:solidFill>
                            <a:srgbClr val="000000"/>
                          </a:solidFill>
                          <a:effectLst/>
                          <a:latin typeface="+mn-lt"/>
                        </a:rPr>
                        <a:t>3</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dirty="0">
                          <a:solidFill>
                            <a:srgbClr val="000000"/>
                          </a:solidFill>
                          <a:effectLst/>
                          <a:latin typeface="Times New Roman" panose="02020603050405020304" pitchFamily="18" charset="0"/>
                          <a:cs typeface="Times New Roman" panose="02020603050405020304" pitchFamily="18" charset="0"/>
                        </a:rPr>
                        <a:t>513-01/25</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mn-lt"/>
                        </a:rPr>
                        <a:t>ADD</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mn-lt"/>
                        </a:rPr>
                        <a:t>A513</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mn-lt"/>
                        </a:rPr>
                        <a:t>ADD B043: "MAIN WHEEL BRAKE#1 INOP WITH BRAKE REMOVED" IAW MEL: 32-42-01A,EXP 11/01/2025</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mn-lt"/>
                        </a:rPr>
                        <a:t>SQD</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mn-lt"/>
                        </a:rPr>
                        <a:t>10-Jan-2025</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mn-lt"/>
                        </a:rPr>
                        <a:t>ADD B043</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mn-lt"/>
                        </a:rPr>
                        <a:t> </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89332">
                <a:tc>
                  <a:txBody>
                    <a:bodyPr/>
                    <a:lstStyle/>
                    <a:p>
                      <a:pPr algn="ctr" fontAlgn="ctr"/>
                      <a:r>
                        <a:rPr lang="en-US" sz="1050" b="0" i="0" u="none" strike="noStrike">
                          <a:solidFill>
                            <a:srgbClr val="000000"/>
                          </a:solidFill>
                          <a:effectLst/>
                          <a:latin typeface="+mn-lt"/>
                        </a:rPr>
                        <a:t>4</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dirty="0">
                          <a:solidFill>
                            <a:srgbClr val="000000"/>
                          </a:solidFill>
                          <a:effectLst/>
                          <a:latin typeface="Times New Roman" panose="02020603050405020304" pitchFamily="18" charset="0"/>
                          <a:cs typeface="Times New Roman" panose="02020603050405020304" pitchFamily="18" charset="0"/>
                        </a:rPr>
                        <a:t>861-01/25</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mn-lt"/>
                        </a:rPr>
                        <a:t>ADD</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mn-lt"/>
                        </a:rPr>
                        <a:t>A861</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dirty="0">
                          <a:solidFill>
                            <a:srgbClr val="000000"/>
                          </a:solidFill>
                          <a:effectLst/>
                          <a:latin typeface="+mn-lt"/>
                        </a:rPr>
                        <a:t>ADD B1505 “CCR GPM 8L” RAISED I.A.W MEL 42-21-01-01- 01, CAT C, REV09. DEADLINE11-JAN- 25</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mn-lt"/>
                        </a:rPr>
                        <a:t>SQD</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mn-lt"/>
                        </a:rPr>
                        <a:t>10-Jan-2025</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mn-lt"/>
                        </a:rPr>
                        <a:t>ADD B1505</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mn-lt"/>
                        </a:rPr>
                        <a:t> </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44666">
                <a:tc>
                  <a:txBody>
                    <a:bodyPr/>
                    <a:lstStyle/>
                    <a:p>
                      <a:pPr algn="ctr" fontAlgn="ctr"/>
                      <a:r>
                        <a:rPr lang="en-US" sz="1050" b="0" i="0" u="none" strike="noStrike">
                          <a:solidFill>
                            <a:srgbClr val="000000"/>
                          </a:solidFill>
                          <a:effectLst/>
                          <a:latin typeface="+mn-lt"/>
                        </a:rPr>
                        <a:t>5</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Times New Roman" panose="02020603050405020304" pitchFamily="18" charset="0"/>
                          <a:cs typeface="Times New Roman" panose="02020603050405020304" pitchFamily="18" charset="0"/>
                        </a:rPr>
                        <a:t>863-01/25</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mn-lt"/>
                        </a:rPr>
                        <a:t>Check</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mn-lt"/>
                        </a:rPr>
                        <a:t>A863</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mn-lt"/>
                        </a:rPr>
                        <a:t>NN Check A05</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mn-lt"/>
                        </a:rPr>
                        <a:t>SQD</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mn-lt"/>
                        </a:rPr>
                        <a:t>09-01-2025</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mn-lt"/>
                        </a:rPr>
                        <a:t> </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50" b="0" i="0" u="none" strike="noStrike">
                          <a:solidFill>
                            <a:srgbClr val="000000"/>
                          </a:solidFill>
                          <a:effectLst/>
                          <a:latin typeface="+mn-lt"/>
                        </a:rPr>
                        <a:t> </a:t>
                      </a:r>
                    </a:p>
                  </a:txBody>
                  <a:tcPr marL="5664" marR="5664" marT="566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44666">
                <a:tc>
                  <a:txBody>
                    <a:bodyPr/>
                    <a:lstStyle/>
                    <a:p>
                      <a:pPr algn="ctr" fontAlgn="ctr"/>
                      <a:r>
                        <a:rPr lang="en-US" sz="1050" b="0" i="0" u="none" strike="noStrike">
                          <a:solidFill>
                            <a:srgbClr val="000000"/>
                          </a:solidFill>
                          <a:effectLst/>
                          <a:latin typeface="+mn-lt"/>
                        </a:rPr>
                        <a:t>6</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Times New Roman" panose="02020603050405020304" pitchFamily="18" charset="0"/>
                          <a:cs typeface="Times New Roman" panose="02020603050405020304" pitchFamily="18" charset="0"/>
                        </a:rPr>
                        <a:t>HVN/VN-A873/2025-01-09/01</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mn-lt"/>
                        </a:rPr>
                        <a:t>Task</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mn-lt"/>
                        </a:rPr>
                        <a:t>A873</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mn-lt"/>
                        </a:rPr>
                        <a:t>NN AMP task 21-070-00</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mn-lt"/>
                        </a:rPr>
                        <a:t>CAAV</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mn-lt"/>
                        </a:rPr>
                        <a:t>09-01-2025</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mn-lt"/>
                        </a:rPr>
                        <a:t> </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50" b="0" i="0" u="none" strike="noStrike">
                          <a:solidFill>
                            <a:srgbClr val="000000"/>
                          </a:solidFill>
                          <a:effectLst/>
                          <a:latin typeface="+mn-lt"/>
                        </a:rPr>
                        <a:t> </a:t>
                      </a:r>
                    </a:p>
                  </a:txBody>
                  <a:tcPr marL="5664" marR="5664" marT="566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44666">
                <a:tc>
                  <a:txBody>
                    <a:bodyPr/>
                    <a:lstStyle/>
                    <a:p>
                      <a:pPr algn="ctr" fontAlgn="ctr"/>
                      <a:r>
                        <a:rPr lang="en-US" sz="1050" b="0" i="0" u="none" strike="noStrike">
                          <a:solidFill>
                            <a:srgbClr val="000000"/>
                          </a:solidFill>
                          <a:effectLst/>
                          <a:latin typeface="+mn-lt"/>
                        </a:rPr>
                        <a:t>7</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Times New Roman" panose="02020603050405020304" pitchFamily="18" charset="0"/>
                          <a:cs typeface="Times New Roman" panose="02020603050405020304" pitchFamily="18" charset="0"/>
                        </a:rPr>
                        <a:t>891-01/25</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mn-lt"/>
                        </a:rPr>
                        <a:t>Task</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mn-lt"/>
                        </a:rPr>
                        <a:t>A891</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mn-lt"/>
                        </a:rPr>
                        <a:t>Extending Task 215200-00M03-01 due to Lack of Spare</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mn-lt"/>
                        </a:rPr>
                        <a:t>SQD</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mn-lt"/>
                        </a:rPr>
                        <a:t>08-01-2025</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mn-lt"/>
                        </a:rPr>
                        <a:t> </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50" b="0" i="0" u="none" strike="noStrike">
                          <a:solidFill>
                            <a:srgbClr val="000000"/>
                          </a:solidFill>
                          <a:effectLst/>
                          <a:latin typeface="+mn-lt"/>
                        </a:rPr>
                        <a:t> </a:t>
                      </a:r>
                    </a:p>
                  </a:txBody>
                  <a:tcPr marL="5664" marR="5664" marT="566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25846">
                <a:tc>
                  <a:txBody>
                    <a:bodyPr/>
                    <a:lstStyle/>
                    <a:p>
                      <a:pPr algn="ctr" fontAlgn="b"/>
                      <a:r>
                        <a:rPr lang="en-US" sz="1000" b="0" i="0" u="none" strike="noStrike">
                          <a:solidFill>
                            <a:srgbClr val="000000"/>
                          </a:solidFill>
                          <a:effectLst/>
                          <a:latin typeface="+mn-lt"/>
                        </a:rPr>
                        <a:t>8</a:t>
                      </a:r>
                    </a:p>
                  </a:txBody>
                  <a:tcPr marL="5664" marR="5664" marT="566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Times New Roman" panose="02020603050405020304" pitchFamily="18" charset="0"/>
                          <a:cs typeface="Times New Roman" panose="02020603050405020304" pitchFamily="18" charset="0"/>
                        </a:rPr>
                        <a:t>888-01/25</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mn-lt"/>
                        </a:rPr>
                        <a:t>Task</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mn-lt"/>
                        </a:rPr>
                        <a:t>A888</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mn-lt"/>
                        </a:rPr>
                        <a:t>Extending task 215200-00M03-01 due to lack of Spare</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mn-lt"/>
                        </a:rPr>
                        <a:t>SQD</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mn-lt"/>
                        </a:rPr>
                        <a:t>08-01-2025</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mn-lt"/>
                        </a:rPr>
                        <a:t> </a:t>
                      </a:r>
                    </a:p>
                  </a:txBody>
                  <a:tcPr marL="5664" marR="5664" marT="566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mn-lt"/>
                        </a:rPr>
                        <a:t> </a:t>
                      </a:r>
                    </a:p>
                  </a:txBody>
                  <a:tcPr marL="5664" marR="5664" marT="566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58501819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7" name="Title 4"/>
          <p:cNvSpPr>
            <a:spLocks noGrp="1"/>
          </p:cNvSpPr>
          <p:nvPr>
            <p:ph type="title"/>
          </p:nvPr>
        </p:nvSpPr>
        <p:spPr>
          <a:xfrm>
            <a:off x="1059507" y="520783"/>
            <a:ext cx="10370492" cy="560972"/>
          </a:xfrm>
        </p:spPr>
        <p:txBody>
          <a:bodyPr>
            <a:noAutofit/>
          </a:bodyPr>
          <a:lstStyle/>
          <a:p>
            <a:pPr algn="ctr"/>
            <a:r>
              <a:rPr lang="en-US" sz="2400" smtClean="0">
                <a:ln w="0"/>
                <a:solidFill>
                  <a:schemeClr val="accent4"/>
                </a:solidFill>
                <a:latin typeface="Times New Roman" panose="02020603050405020304" pitchFamily="18" charset="0"/>
                <a:cs typeface="Times New Roman" panose="02020603050405020304" pitchFamily="18" charset="0"/>
              </a:rPr>
              <a:t>Giờ bay trung bình trong tuần các đội tàu</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8" name="Table 7"/>
          <p:cNvGraphicFramePr>
            <a:graphicFrameLocks noGrp="1"/>
          </p:cNvGraphicFramePr>
          <p:nvPr>
            <p:extLst/>
          </p:nvPr>
        </p:nvGraphicFramePr>
        <p:xfrm>
          <a:off x="1059507" y="3904055"/>
          <a:ext cx="4954432" cy="2793501"/>
        </p:xfrm>
        <a:graphic>
          <a:graphicData uri="http://schemas.openxmlformats.org/drawingml/2006/table">
            <a:tbl>
              <a:tblPr/>
              <a:tblGrid>
                <a:gridCol w="792709">
                  <a:extLst>
                    <a:ext uri="{9D8B030D-6E8A-4147-A177-3AD203B41FA5}">
                      <a16:colId xmlns:a16="http://schemas.microsoft.com/office/drawing/2014/main" xmlns="" val="4293334556"/>
                    </a:ext>
                  </a:extLst>
                </a:gridCol>
                <a:gridCol w="1118287">
                  <a:extLst>
                    <a:ext uri="{9D8B030D-6E8A-4147-A177-3AD203B41FA5}">
                      <a16:colId xmlns:a16="http://schemas.microsoft.com/office/drawing/2014/main" xmlns="" val="3593396119"/>
                    </a:ext>
                  </a:extLst>
                </a:gridCol>
                <a:gridCol w="948420">
                  <a:extLst>
                    <a:ext uri="{9D8B030D-6E8A-4147-A177-3AD203B41FA5}">
                      <a16:colId xmlns:a16="http://schemas.microsoft.com/office/drawing/2014/main" xmlns="" val="1444269426"/>
                    </a:ext>
                  </a:extLst>
                </a:gridCol>
                <a:gridCol w="990886">
                  <a:extLst>
                    <a:ext uri="{9D8B030D-6E8A-4147-A177-3AD203B41FA5}">
                      <a16:colId xmlns:a16="http://schemas.microsoft.com/office/drawing/2014/main" xmlns="" val="2696731085"/>
                    </a:ext>
                  </a:extLst>
                </a:gridCol>
                <a:gridCol w="1104130">
                  <a:extLst>
                    <a:ext uri="{9D8B030D-6E8A-4147-A177-3AD203B41FA5}">
                      <a16:colId xmlns:a16="http://schemas.microsoft.com/office/drawing/2014/main" xmlns="" val="2360079028"/>
                    </a:ext>
                  </a:extLst>
                </a:gridCol>
              </a:tblGrid>
              <a:tr h="249598">
                <a:tc gridSpan="5">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400" b="1" i="0" u="none" strike="noStrike" smtClean="0">
                          <a:solidFill>
                            <a:srgbClr val="000000"/>
                          </a:solidFill>
                          <a:effectLst/>
                          <a:latin typeface="Times New Roman" panose="02020603050405020304" pitchFamily="18" charset="0"/>
                        </a:rPr>
                        <a:t>This Week</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hMerge="1">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975929344"/>
                  </a:ext>
                </a:extLst>
              </a:tr>
              <a:tr h="297521">
                <a:tc>
                  <a:txBody>
                    <a:bodyPr/>
                    <a:lstStyle/>
                    <a:p>
                      <a:pPr algn="ctr" fontAlgn="ctr"/>
                      <a:r>
                        <a:rPr lang="en-US" sz="1400" b="1" i="0" u="none" strike="noStrike">
                          <a:solidFill>
                            <a:srgbClr val="000000"/>
                          </a:solidFill>
                          <a:effectLst/>
                          <a:latin typeface="Times New Roman" panose="02020603050405020304" pitchFamily="18" charset="0"/>
                        </a:rPr>
                        <a:t>Fleet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FH/FC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532964238"/>
                  </a:ext>
                </a:extLst>
              </a:tr>
              <a:tr h="249598">
                <a:tc>
                  <a:txBody>
                    <a:bodyPr/>
                    <a:lstStyle/>
                    <a:p>
                      <a:pPr algn="ctr" fontAlgn="ctr"/>
                      <a:r>
                        <a:rPr lang="en-US" sz="1400" b="1" i="0" u="none" strike="noStrike" smtClean="0">
                          <a:solidFill>
                            <a:srgbClr val="000000"/>
                          </a:solidFill>
                          <a:effectLst/>
                          <a:latin typeface="Times New Roman" panose="02020603050405020304" pitchFamily="18" charset="0"/>
                        </a:rPr>
                        <a:t>A320</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i="0" u="none" strike="noStrike" kern="1200" smtClean="0">
                          <a:solidFill>
                            <a:srgbClr val="000000"/>
                          </a:solidFill>
                          <a:effectLst/>
                          <a:latin typeface="Times New Roman" panose="02020603050405020304" pitchFamily="18" charset="0"/>
                          <a:ea typeface="+mn-ea"/>
                          <a:cs typeface="+mn-cs"/>
                        </a:rPr>
                        <a:t>A320NEO</a:t>
                      </a:r>
                      <a:endParaRPr lang="en-US" sz="1400" b="0" i="0" u="none" strike="noStrike" kern="1200">
                        <a:solidFill>
                          <a:srgbClr val="000000"/>
                        </a:solidFill>
                        <a:effectLst/>
                        <a:latin typeface="Times New Roman" panose="02020603050405020304" pitchFamily="18"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209:15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36789633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CEO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121.96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1496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661775603"/>
                  </a:ext>
                </a:extLst>
              </a:tr>
              <a:tr h="249598">
                <a:tc v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NEO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391:10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176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2:13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724455108"/>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135:35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4:22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664274135"/>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35B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900:05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6:37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545172352"/>
                  </a:ext>
                </a:extLst>
              </a:tr>
              <a:tr h="249598">
                <a:tc rowSpan="3">
                  <a:txBody>
                    <a:bodyPr/>
                    <a:lstStyle/>
                    <a:p>
                      <a:pPr algn="ctr" fontAlgn="ctr"/>
                      <a:r>
                        <a:rPr lang="en-US" sz="1400" b="1" i="0" u="none" strike="noStrike">
                          <a:solidFill>
                            <a:srgbClr val="000000"/>
                          </a:solidFill>
                          <a:effectLst/>
                          <a:latin typeface="Times New Roman" panose="02020603050405020304" pitchFamily="18" charset="0"/>
                        </a:rPr>
                        <a:t>B787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860:05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074341854"/>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270:25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3:33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38993120"/>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444:00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474780528"/>
                  </a:ext>
                </a:extLst>
              </a:tr>
              <a:tr h="249598">
                <a:tc>
                  <a:txBody>
                    <a:bodyPr/>
                    <a:lstStyle/>
                    <a:p>
                      <a:pPr algn="ctr" fontAlgn="ctr"/>
                      <a:r>
                        <a:rPr lang="en-US" sz="1400" b="1"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231:40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083284901"/>
                  </a:ext>
                </a:extLst>
              </a:tr>
            </a:tbl>
          </a:graphicData>
        </a:graphic>
      </p:graphicFrame>
      <p:graphicFrame>
        <p:nvGraphicFramePr>
          <p:cNvPr id="9" name="Table 8"/>
          <p:cNvGraphicFramePr>
            <a:graphicFrameLocks noGrp="1"/>
          </p:cNvGraphicFramePr>
          <p:nvPr>
            <p:extLst/>
          </p:nvPr>
        </p:nvGraphicFramePr>
        <p:xfrm>
          <a:off x="6312510" y="3904053"/>
          <a:ext cx="5117489" cy="2793501"/>
        </p:xfrm>
        <a:graphic>
          <a:graphicData uri="http://schemas.openxmlformats.org/drawingml/2006/table">
            <a:tbl>
              <a:tblPr/>
              <a:tblGrid>
                <a:gridCol w="818798">
                  <a:extLst>
                    <a:ext uri="{9D8B030D-6E8A-4147-A177-3AD203B41FA5}">
                      <a16:colId xmlns:a16="http://schemas.microsoft.com/office/drawing/2014/main" xmlns="" val="4293334556"/>
                    </a:ext>
                  </a:extLst>
                </a:gridCol>
                <a:gridCol w="1155092">
                  <a:extLst>
                    <a:ext uri="{9D8B030D-6E8A-4147-A177-3AD203B41FA5}">
                      <a16:colId xmlns:a16="http://schemas.microsoft.com/office/drawing/2014/main" xmlns="" val="3593396119"/>
                    </a:ext>
                  </a:extLst>
                </a:gridCol>
                <a:gridCol w="979634">
                  <a:extLst>
                    <a:ext uri="{9D8B030D-6E8A-4147-A177-3AD203B41FA5}">
                      <a16:colId xmlns:a16="http://schemas.microsoft.com/office/drawing/2014/main" xmlns="" val="1444269426"/>
                    </a:ext>
                  </a:extLst>
                </a:gridCol>
                <a:gridCol w="1023497">
                  <a:extLst>
                    <a:ext uri="{9D8B030D-6E8A-4147-A177-3AD203B41FA5}">
                      <a16:colId xmlns:a16="http://schemas.microsoft.com/office/drawing/2014/main" xmlns="" val="2696731085"/>
                    </a:ext>
                  </a:extLst>
                </a:gridCol>
                <a:gridCol w="1140468">
                  <a:extLst>
                    <a:ext uri="{9D8B030D-6E8A-4147-A177-3AD203B41FA5}">
                      <a16:colId xmlns:a16="http://schemas.microsoft.com/office/drawing/2014/main" xmlns="" val="2360079028"/>
                    </a:ext>
                  </a:extLst>
                </a:gridCol>
              </a:tblGrid>
              <a:tr h="249598">
                <a:tc gridSpan="5">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400" b="1" i="0" u="none" strike="noStrike" smtClean="0">
                          <a:solidFill>
                            <a:srgbClr val="000000"/>
                          </a:solidFill>
                          <a:effectLst/>
                          <a:latin typeface="Times New Roman" panose="02020603050405020304" pitchFamily="18" charset="0"/>
                        </a:rPr>
                        <a:t>Next Week</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hMerge="1">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038078206"/>
                  </a:ext>
                </a:extLst>
              </a:tr>
              <a:tr h="297521">
                <a:tc>
                  <a:txBody>
                    <a:bodyPr/>
                    <a:lstStyle/>
                    <a:p>
                      <a:pPr algn="ctr" fontAlgn="ctr"/>
                      <a:r>
                        <a:rPr lang="en-US" sz="1400" b="1" i="0" u="none" strike="noStrike">
                          <a:solidFill>
                            <a:srgbClr val="000000"/>
                          </a:solidFill>
                          <a:effectLst/>
                          <a:latin typeface="Times New Roman" panose="02020603050405020304" pitchFamily="18" charset="0"/>
                        </a:rPr>
                        <a:t>Fleet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FH/FC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82051267"/>
                  </a:ext>
                </a:extLst>
              </a:tr>
              <a:tr h="249598">
                <a:tc>
                  <a:txBody>
                    <a:bodyPr/>
                    <a:lstStyle/>
                    <a:p>
                      <a:pPr algn="ctr" fontAlgn="ctr"/>
                      <a:r>
                        <a:rPr lang="en-US" sz="1400" b="1" i="0" u="none" strike="noStrike" smtClean="0">
                          <a:solidFill>
                            <a:srgbClr val="000000"/>
                          </a:solidFill>
                          <a:effectLst/>
                          <a:latin typeface="Times New Roman" panose="02020603050405020304" pitchFamily="18" charset="0"/>
                        </a:rPr>
                        <a:t>A320</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i="0" u="none" strike="noStrike" kern="1200" smtClean="0">
                          <a:solidFill>
                            <a:srgbClr val="000000"/>
                          </a:solidFill>
                          <a:effectLst/>
                          <a:latin typeface="Times New Roman" panose="02020603050405020304" pitchFamily="18" charset="0"/>
                          <a:ea typeface="+mn-ea"/>
                          <a:cs typeface="+mn-cs"/>
                        </a:rPr>
                        <a:t>A320NEO</a:t>
                      </a:r>
                      <a:endParaRPr lang="en-US" sz="1400" b="0" i="0" u="none" strike="noStrike" kern="1200">
                        <a:solidFill>
                          <a:srgbClr val="000000"/>
                        </a:solidFill>
                        <a:effectLst/>
                        <a:latin typeface="Times New Roman" panose="02020603050405020304" pitchFamily="18"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274:00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173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36789633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CEO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142.62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1808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661775603"/>
                  </a:ext>
                </a:extLst>
              </a:tr>
              <a:tr h="249598">
                <a:tc v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NEO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548:15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258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77884690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212:30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3:43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664274135"/>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35B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898:55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6:28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545172352"/>
                  </a:ext>
                </a:extLst>
              </a:tr>
              <a:tr h="249598">
                <a:tc rowSpan="3">
                  <a:txBody>
                    <a:bodyPr/>
                    <a:lstStyle/>
                    <a:p>
                      <a:pPr algn="ctr" fontAlgn="ctr"/>
                      <a:r>
                        <a:rPr lang="en-US" sz="1400" b="1" i="0" u="none" strike="noStrike">
                          <a:solidFill>
                            <a:srgbClr val="000000"/>
                          </a:solidFill>
                          <a:effectLst/>
                          <a:latin typeface="Times New Roman" panose="02020603050405020304" pitchFamily="18" charset="0"/>
                        </a:rPr>
                        <a:t>B787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889:55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5:51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074341854"/>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223:45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3:33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38993120"/>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477:55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474780528"/>
                  </a:ext>
                </a:extLst>
              </a:tr>
              <a:tr h="249598">
                <a:tc>
                  <a:txBody>
                    <a:bodyPr/>
                    <a:lstStyle/>
                    <a:p>
                      <a:pPr algn="ctr" fontAlgn="ctr"/>
                      <a:r>
                        <a:rPr lang="en-US" sz="1400" b="1"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257:30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238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083284901"/>
                  </a:ext>
                </a:extLst>
              </a:tr>
            </a:tbl>
          </a:graphicData>
        </a:graphic>
      </p:graphicFrame>
      <p:graphicFrame>
        <p:nvGraphicFramePr>
          <p:cNvPr id="11" name="Chart 10"/>
          <p:cNvGraphicFramePr>
            <a:graphicFrameLocks/>
          </p:cNvGraphicFramePr>
          <p:nvPr>
            <p:extLst/>
          </p:nvPr>
        </p:nvGraphicFramePr>
        <p:xfrm>
          <a:off x="990600" y="1219201"/>
          <a:ext cx="10439399" cy="24384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92010776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4" name="Title 4"/>
          <p:cNvSpPr>
            <a:spLocks noGrp="1"/>
          </p:cNvSpPr>
          <p:nvPr>
            <p:ph type="title"/>
          </p:nvPr>
        </p:nvSpPr>
        <p:spPr>
          <a:xfrm>
            <a:off x="1068301" y="441128"/>
            <a:ext cx="10515600" cy="558906"/>
          </a:xfrm>
        </p:spPr>
        <p:txBody>
          <a:bodyPr>
            <a:noAutofit/>
          </a:bodyPr>
          <a:lstStyle/>
          <a:p>
            <a:pPr algn="ctr"/>
            <a:r>
              <a:rPr lang="en-US" sz="2400" smtClean="0">
                <a:ln w="0"/>
                <a:solidFill>
                  <a:schemeClr val="accent4"/>
                </a:solidFill>
                <a:latin typeface="Times New Roman" panose="02020603050405020304" pitchFamily="18" charset="0"/>
                <a:cs typeface="Times New Roman" panose="02020603050405020304" pitchFamily="18" charset="0"/>
              </a:rPr>
              <a:t>Số chuyến bay theo ngày trong </a:t>
            </a:r>
            <a:r>
              <a:rPr lang="en-US" sz="2400">
                <a:ln w="0"/>
                <a:solidFill>
                  <a:schemeClr val="accent4"/>
                </a:solidFill>
                <a:latin typeface="Times New Roman" panose="02020603050405020304" pitchFamily="18" charset="0"/>
                <a:cs typeface="Times New Roman" panose="02020603050405020304" pitchFamily="18" charset="0"/>
              </a:rPr>
              <a:t>tuần các đội tàu</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extLst/>
          </p:nvPr>
        </p:nvGraphicFramePr>
        <p:xfrm>
          <a:off x="925417" y="3601492"/>
          <a:ext cx="5166913" cy="3074728"/>
        </p:xfrm>
        <a:graphic>
          <a:graphicData uri="http://schemas.openxmlformats.org/drawingml/2006/table">
            <a:tbl>
              <a:tblPr/>
              <a:tblGrid>
                <a:gridCol w="508916">
                  <a:extLst>
                    <a:ext uri="{9D8B030D-6E8A-4147-A177-3AD203B41FA5}">
                      <a16:colId xmlns:a16="http://schemas.microsoft.com/office/drawing/2014/main" xmlns="" val="4007203340"/>
                    </a:ext>
                  </a:extLst>
                </a:gridCol>
                <a:gridCol w="664419">
                  <a:extLst>
                    <a:ext uri="{9D8B030D-6E8A-4147-A177-3AD203B41FA5}">
                      <a16:colId xmlns:a16="http://schemas.microsoft.com/office/drawing/2014/main" xmlns="" val="426832351"/>
                    </a:ext>
                  </a:extLst>
                </a:gridCol>
                <a:gridCol w="558394">
                  <a:extLst>
                    <a:ext uri="{9D8B030D-6E8A-4147-A177-3AD203B41FA5}">
                      <a16:colId xmlns:a16="http://schemas.microsoft.com/office/drawing/2014/main" xmlns="" val="1721542108"/>
                    </a:ext>
                  </a:extLst>
                </a:gridCol>
                <a:gridCol w="558394">
                  <a:extLst>
                    <a:ext uri="{9D8B030D-6E8A-4147-A177-3AD203B41FA5}">
                      <a16:colId xmlns:a16="http://schemas.microsoft.com/office/drawing/2014/main" xmlns="" val="1471932876"/>
                    </a:ext>
                  </a:extLst>
                </a:gridCol>
                <a:gridCol w="558394">
                  <a:extLst>
                    <a:ext uri="{9D8B030D-6E8A-4147-A177-3AD203B41FA5}">
                      <a16:colId xmlns:a16="http://schemas.microsoft.com/office/drawing/2014/main" xmlns="" val="4014421323"/>
                    </a:ext>
                  </a:extLst>
                </a:gridCol>
                <a:gridCol w="558394">
                  <a:extLst>
                    <a:ext uri="{9D8B030D-6E8A-4147-A177-3AD203B41FA5}">
                      <a16:colId xmlns:a16="http://schemas.microsoft.com/office/drawing/2014/main" xmlns="" val="3056975398"/>
                    </a:ext>
                  </a:extLst>
                </a:gridCol>
                <a:gridCol w="558394">
                  <a:extLst>
                    <a:ext uri="{9D8B030D-6E8A-4147-A177-3AD203B41FA5}">
                      <a16:colId xmlns:a16="http://schemas.microsoft.com/office/drawing/2014/main" xmlns="" val="3963358169"/>
                    </a:ext>
                  </a:extLst>
                </a:gridCol>
                <a:gridCol w="643214">
                  <a:extLst>
                    <a:ext uri="{9D8B030D-6E8A-4147-A177-3AD203B41FA5}">
                      <a16:colId xmlns:a16="http://schemas.microsoft.com/office/drawing/2014/main" xmlns="" val="2287965264"/>
                    </a:ext>
                  </a:extLst>
                </a:gridCol>
                <a:gridCol w="558394">
                  <a:extLst>
                    <a:ext uri="{9D8B030D-6E8A-4147-A177-3AD203B41FA5}">
                      <a16:colId xmlns:a16="http://schemas.microsoft.com/office/drawing/2014/main" xmlns="" val="280549794"/>
                    </a:ext>
                  </a:extLst>
                </a:gridCol>
              </a:tblGrid>
              <a:tr h="316070">
                <a:tc gridSpan="9">
                  <a:txBody>
                    <a:bodyPr/>
                    <a:lstStyle/>
                    <a:p>
                      <a:pPr algn="ctr" fontAlgn="ctr"/>
                      <a:r>
                        <a:rPr lang="en-US" sz="1400" b="0" i="0" u="none" strike="noStrike">
                          <a:solidFill>
                            <a:srgbClr val="000000"/>
                          </a:solidFill>
                          <a:effectLst/>
                          <a:latin typeface="Times New Roman" panose="02020603050405020304" pitchFamily="18" charset="0"/>
                        </a:rPr>
                        <a:t>This Week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2151903382"/>
                  </a:ext>
                </a:extLst>
              </a:tr>
              <a:tr h="316070">
                <a:tc>
                  <a:txBody>
                    <a:bodyPr/>
                    <a:lstStyle/>
                    <a:p>
                      <a:pPr algn="ctr" fontAlgn="ctr"/>
                      <a:r>
                        <a:rPr lang="en-US" sz="1200" b="0" i="0" u="none" strike="noStrike">
                          <a:solidFill>
                            <a:srgbClr val="000000"/>
                          </a:solidFill>
                          <a:effectLst/>
                          <a:latin typeface="Times New Roman" panose="02020603050405020304" pitchFamily="18" charset="0"/>
                        </a:rPr>
                        <a:t>Fleet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06-Jan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07-Jan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08-Jan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09-Jan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10-Jan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11-Jan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12-Jan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Avg.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75160127"/>
                  </a:ext>
                </a:extLst>
              </a:tr>
              <a:tr h="498126">
                <a:tc>
                  <a:txBody>
                    <a:bodyPr/>
                    <a:lstStyle/>
                    <a:p>
                      <a:pPr algn="ctr" fontAlgn="ctr"/>
                      <a:r>
                        <a:rPr lang="en-US" sz="1200" b="0" i="0" u="none" strike="noStrike" smtClean="0">
                          <a:solidFill>
                            <a:srgbClr val="000000"/>
                          </a:solidFill>
                          <a:effectLst/>
                          <a:latin typeface="Times New Roman" panose="02020603050405020304" pitchFamily="18" charset="0"/>
                        </a:rPr>
                        <a:t>A320</a:t>
                      </a:r>
                    </a:p>
                    <a:p>
                      <a:pPr algn="ctr" fontAlgn="ctr"/>
                      <a:r>
                        <a:rPr lang="en-US" sz="1200" b="0" i="0" u="none" strike="noStrike" smtClean="0">
                          <a:solidFill>
                            <a:srgbClr val="000000"/>
                          </a:solidFill>
                          <a:effectLst/>
                          <a:latin typeface="Times New Roman" panose="02020603050405020304" pitchFamily="18" charset="0"/>
                        </a:rPr>
                        <a:t>NEO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6.57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801804899"/>
                  </a:ext>
                </a:extLst>
              </a:tr>
              <a:tr h="498126">
                <a:tc>
                  <a:txBody>
                    <a:bodyPr/>
                    <a:lstStyle/>
                    <a:p>
                      <a:pPr algn="ctr" fontAlgn="ctr"/>
                      <a:r>
                        <a:rPr lang="en-US" sz="1200" b="0" i="0" u="none" strike="noStrike" smtClean="0">
                          <a:solidFill>
                            <a:srgbClr val="000000"/>
                          </a:solidFill>
                          <a:effectLst/>
                          <a:latin typeface="Times New Roman" panose="02020603050405020304" pitchFamily="18" charset="0"/>
                        </a:rPr>
                        <a:t>A321</a:t>
                      </a:r>
                    </a:p>
                    <a:p>
                      <a:pPr algn="ctr" fontAlgn="ctr"/>
                      <a:r>
                        <a:rPr lang="en-US" sz="1200" b="0" i="0" u="none" strike="noStrike" smtClean="0">
                          <a:solidFill>
                            <a:srgbClr val="000000"/>
                          </a:solidFill>
                          <a:effectLst/>
                          <a:latin typeface="Times New Roman" panose="02020603050405020304" pitchFamily="18" charset="0"/>
                        </a:rPr>
                        <a:t>CEO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5.51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5.44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5.36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5.49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5.51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5.46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5.59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5.48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085196478"/>
                  </a:ext>
                </a:extLst>
              </a:tr>
              <a:tr h="498126">
                <a:tc>
                  <a:txBody>
                    <a:bodyPr/>
                    <a:lstStyle/>
                    <a:p>
                      <a:pPr algn="ctr" fontAlgn="ctr"/>
                      <a:r>
                        <a:rPr lang="en-US" sz="1200" b="0" i="0" u="none" strike="noStrike" smtClean="0">
                          <a:solidFill>
                            <a:srgbClr val="000000"/>
                          </a:solidFill>
                          <a:effectLst/>
                          <a:latin typeface="Times New Roman" panose="02020603050405020304" pitchFamily="18" charset="0"/>
                        </a:rPr>
                        <a:t>A321</a:t>
                      </a:r>
                    </a:p>
                    <a:p>
                      <a:pPr algn="ctr" fontAlgn="ctr"/>
                      <a:r>
                        <a:rPr lang="en-US" sz="1200" b="0" i="0" u="none" strike="noStrike" smtClean="0">
                          <a:solidFill>
                            <a:srgbClr val="000000"/>
                          </a:solidFill>
                          <a:effectLst/>
                          <a:latin typeface="Times New Roman" panose="02020603050405020304" pitchFamily="18" charset="0"/>
                        </a:rPr>
                        <a:t>NEO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655283256"/>
                  </a:ext>
                </a:extLst>
              </a:tr>
              <a:tr h="316070">
                <a:tc>
                  <a:txBody>
                    <a:bodyPr/>
                    <a:lstStyle/>
                    <a:p>
                      <a:pPr algn="ctr" fontAlgn="ctr"/>
                      <a:r>
                        <a:rPr lang="en-US" sz="1200" b="0" i="0" u="none" strike="noStrike">
                          <a:solidFill>
                            <a:srgbClr val="00000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2.39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792940620"/>
                  </a:ext>
                </a:extLst>
              </a:tr>
              <a:tr h="316070">
                <a:tc>
                  <a:txBody>
                    <a:bodyPr/>
                    <a:lstStyle/>
                    <a:p>
                      <a:pPr algn="ctr" fontAlgn="ctr"/>
                      <a:r>
                        <a:rPr lang="en-US" sz="1200" b="0" i="0" u="none" strike="noStrike">
                          <a:solidFill>
                            <a:srgbClr val="00000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2.94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2.94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2.94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2.91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3001083"/>
                  </a:ext>
                </a:extLst>
              </a:tr>
              <a:tr h="316070">
                <a:tc>
                  <a:txBody>
                    <a:bodyPr/>
                    <a:lstStyle/>
                    <a:p>
                      <a:pPr algn="ctr" fontAlgn="ctr"/>
                      <a:r>
                        <a:rPr lang="en-US" sz="1200" b="0" i="0" u="none" strike="noStrike">
                          <a:solidFill>
                            <a:srgbClr val="00000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478332843"/>
                  </a:ext>
                </a:extLst>
              </a:tr>
            </a:tbl>
          </a:graphicData>
        </a:graphic>
      </p:graphicFrame>
      <p:graphicFrame>
        <p:nvGraphicFramePr>
          <p:cNvPr id="6" name="Table 5"/>
          <p:cNvGraphicFramePr>
            <a:graphicFrameLocks noGrp="1"/>
          </p:cNvGraphicFramePr>
          <p:nvPr>
            <p:extLst/>
          </p:nvPr>
        </p:nvGraphicFramePr>
        <p:xfrm>
          <a:off x="6323684" y="3601491"/>
          <a:ext cx="5122840" cy="3074728"/>
        </p:xfrm>
        <a:graphic>
          <a:graphicData uri="http://schemas.openxmlformats.org/drawingml/2006/table">
            <a:tbl>
              <a:tblPr/>
              <a:tblGrid>
                <a:gridCol w="594680">
                  <a:extLst>
                    <a:ext uri="{9D8B030D-6E8A-4147-A177-3AD203B41FA5}">
                      <a16:colId xmlns:a16="http://schemas.microsoft.com/office/drawing/2014/main" xmlns="" val="3551115474"/>
                    </a:ext>
                  </a:extLst>
                </a:gridCol>
                <a:gridCol w="566020">
                  <a:extLst>
                    <a:ext uri="{9D8B030D-6E8A-4147-A177-3AD203B41FA5}">
                      <a16:colId xmlns:a16="http://schemas.microsoft.com/office/drawing/2014/main" xmlns="" val="1314180557"/>
                    </a:ext>
                  </a:extLst>
                </a:gridCol>
                <a:gridCol w="566020">
                  <a:extLst>
                    <a:ext uri="{9D8B030D-6E8A-4147-A177-3AD203B41FA5}">
                      <a16:colId xmlns:a16="http://schemas.microsoft.com/office/drawing/2014/main" xmlns="" val="2680264810"/>
                    </a:ext>
                  </a:extLst>
                </a:gridCol>
                <a:gridCol w="566020">
                  <a:extLst>
                    <a:ext uri="{9D8B030D-6E8A-4147-A177-3AD203B41FA5}">
                      <a16:colId xmlns:a16="http://schemas.microsoft.com/office/drawing/2014/main" xmlns="" val="184617242"/>
                    </a:ext>
                  </a:extLst>
                </a:gridCol>
                <a:gridCol w="566020">
                  <a:extLst>
                    <a:ext uri="{9D8B030D-6E8A-4147-A177-3AD203B41FA5}">
                      <a16:colId xmlns:a16="http://schemas.microsoft.com/office/drawing/2014/main" xmlns="" val="3552461699"/>
                    </a:ext>
                  </a:extLst>
                </a:gridCol>
                <a:gridCol w="566020">
                  <a:extLst>
                    <a:ext uri="{9D8B030D-6E8A-4147-A177-3AD203B41FA5}">
                      <a16:colId xmlns:a16="http://schemas.microsoft.com/office/drawing/2014/main" xmlns="" val="3621213656"/>
                    </a:ext>
                  </a:extLst>
                </a:gridCol>
                <a:gridCol w="566020">
                  <a:extLst>
                    <a:ext uri="{9D8B030D-6E8A-4147-A177-3AD203B41FA5}">
                      <a16:colId xmlns:a16="http://schemas.microsoft.com/office/drawing/2014/main" xmlns="" val="4002416887"/>
                    </a:ext>
                  </a:extLst>
                </a:gridCol>
                <a:gridCol w="566020">
                  <a:extLst>
                    <a:ext uri="{9D8B030D-6E8A-4147-A177-3AD203B41FA5}">
                      <a16:colId xmlns:a16="http://schemas.microsoft.com/office/drawing/2014/main" xmlns="" val="2192548362"/>
                    </a:ext>
                  </a:extLst>
                </a:gridCol>
                <a:gridCol w="566020">
                  <a:extLst>
                    <a:ext uri="{9D8B030D-6E8A-4147-A177-3AD203B41FA5}">
                      <a16:colId xmlns:a16="http://schemas.microsoft.com/office/drawing/2014/main" xmlns="" val="604295541"/>
                    </a:ext>
                  </a:extLst>
                </a:gridCol>
              </a:tblGrid>
              <a:tr h="273744">
                <a:tc gridSpan="9">
                  <a:txBody>
                    <a:bodyPr/>
                    <a:lstStyle/>
                    <a:p>
                      <a:pPr algn="ctr" fontAlgn="ctr"/>
                      <a:r>
                        <a:rPr lang="en-US" sz="1400" b="0" i="0" u="none" strike="noStrike" smtClean="0">
                          <a:solidFill>
                            <a:srgbClr val="000000"/>
                          </a:solidFill>
                          <a:effectLst/>
                          <a:latin typeface="Times New Roman" panose="02020603050405020304" pitchFamily="18" charset="0"/>
                        </a:rPr>
                        <a:t>Next </a:t>
                      </a:r>
                      <a:r>
                        <a:rPr lang="en-US" sz="1400" b="0" i="0" u="none" strike="noStrike">
                          <a:solidFill>
                            <a:srgbClr val="000000"/>
                          </a:solidFill>
                          <a:effectLst/>
                          <a:latin typeface="Times New Roman" panose="02020603050405020304" pitchFamily="18" charset="0"/>
                        </a:rPr>
                        <a:t>Week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573633610"/>
                  </a:ext>
                </a:extLst>
              </a:tr>
              <a:tr h="338389">
                <a:tc>
                  <a:txBody>
                    <a:bodyPr/>
                    <a:lstStyle/>
                    <a:p>
                      <a:pPr algn="ctr" fontAlgn="ctr"/>
                      <a:r>
                        <a:rPr lang="en-US" sz="1200" b="0" i="0" u="none" strike="noStrike">
                          <a:solidFill>
                            <a:srgbClr val="000000"/>
                          </a:solidFill>
                          <a:effectLst/>
                          <a:latin typeface="Times New Roman" panose="02020603050405020304" pitchFamily="18" charset="0"/>
                        </a:rPr>
                        <a:t>Fleet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13-Jan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14-Jan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15-Jan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16-Jan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17-Jan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18-Jan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19-Jan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Avg.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614169036"/>
                  </a:ext>
                </a:extLst>
              </a:tr>
              <a:tr h="501500">
                <a:tc>
                  <a:txBody>
                    <a:bodyPr/>
                    <a:lstStyle/>
                    <a:p>
                      <a:pPr algn="ctr" fontAlgn="ctr"/>
                      <a:r>
                        <a:rPr lang="en-US" sz="1200" b="0" i="0" u="none" strike="noStrike" smtClean="0">
                          <a:solidFill>
                            <a:srgbClr val="000000"/>
                          </a:solidFill>
                          <a:effectLst/>
                          <a:latin typeface="Times New Roman" panose="02020603050405020304" pitchFamily="18" charset="0"/>
                        </a:rPr>
                        <a:t>A320</a:t>
                      </a:r>
                    </a:p>
                    <a:p>
                      <a:pPr algn="ctr" fontAlgn="ctr"/>
                      <a:r>
                        <a:rPr lang="en-US" sz="1200" b="0" i="0" u="none" strike="noStrike" smtClean="0">
                          <a:solidFill>
                            <a:srgbClr val="000000"/>
                          </a:solidFill>
                          <a:effectLst/>
                          <a:latin typeface="Times New Roman" panose="02020603050405020304" pitchFamily="18" charset="0"/>
                        </a:rPr>
                        <a:t>NEO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9.00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613065108"/>
                  </a:ext>
                </a:extLst>
              </a:tr>
              <a:tr h="501500">
                <a:tc>
                  <a:txBody>
                    <a:bodyPr/>
                    <a:lstStyle/>
                    <a:p>
                      <a:pPr algn="ctr" fontAlgn="ctr"/>
                      <a:r>
                        <a:rPr lang="en-US" sz="1200" b="0" i="0" u="none" strike="noStrike" smtClean="0">
                          <a:solidFill>
                            <a:srgbClr val="000000"/>
                          </a:solidFill>
                          <a:effectLst/>
                          <a:latin typeface="Times New Roman" panose="02020603050405020304" pitchFamily="18" charset="0"/>
                        </a:rPr>
                        <a:t>A321</a:t>
                      </a:r>
                    </a:p>
                    <a:p>
                      <a:pPr algn="ctr" fontAlgn="ctr"/>
                      <a:r>
                        <a:rPr lang="en-US" sz="1200" b="0" i="0" u="none" strike="noStrike" smtClean="0">
                          <a:solidFill>
                            <a:srgbClr val="000000"/>
                          </a:solidFill>
                          <a:effectLst/>
                          <a:latin typeface="Times New Roman" panose="02020603050405020304" pitchFamily="18" charset="0"/>
                        </a:rPr>
                        <a:t>CEO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6.56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6.59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6.85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6.62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6.82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6.82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6.62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257632801"/>
                  </a:ext>
                </a:extLst>
              </a:tr>
              <a:tr h="501500">
                <a:tc>
                  <a:txBody>
                    <a:bodyPr/>
                    <a:lstStyle/>
                    <a:p>
                      <a:pPr algn="ctr" fontAlgn="ctr"/>
                      <a:r>
                        <a:rPr lang="en-US" sz="1200" b="0" i="0" u="none" strike="noStrike" smtClean="0">
                          <a:solidFill>
                            <a:srgbClr val="000000"/>
                          </a:solidFill>
                          <a:effectLst/>
                          <a:latin typeface="Times New Roman" panose="02020603050405020304" pitchFamily="18" charset="0"/>
                        </a:rPr>
                        <a:t>A321</a:t>
                      </a:r>
                    </a:p>
                    <a:p>
                      <a:pPr algn="ctr" fontAlgn="ctr"/>
                      <a:r>
                        <a:rPr lang="en-US" sz="1200" b="0" i="0" u="none" strike="noStrike" smtClean="0">
                          <a:solidFill>
                            <a:srgbClr val="000000"/>
                          </a:solidFill>
                          <a:effectLst/>
                          <a:latin typeface="Times New Roman" panose="02020603050405020304" pitchFamily="18" charset="0"/>
                        </a:rPr>
                        <a:t>NEO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4.71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4.14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4.86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5.57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4.86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6.71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5.27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938142930"/>
                  </a:ext>
                </a:extLst>
              </a:tr>
              <a:tr h="339912">
                <a:tc>
                  <a:txBody>
                    <a:bodyPr/>
                    <a:lstStyle/>
                    <a:p>
                      <a:pPr algn="ctr" fontAlgn="ctr"/>
                      <a:r>
                        <a:rPr lang="en-US" sz="1200" b="0" i="0" u="none" strike="noStrike">
                          <a:solidFill>
                            <a:srgbClr val="00000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2.90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2.70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2.70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2.90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2.70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2.90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829221019"/>
                  </a:ext>
                </a:extLst>
              </a:tr>
              <a:tr h="344439">
                <a:tc>
                  <a:txBody>
                    <a:bodyPr/>
                    <a:lstStyle/>
                    <a:p>
                      <a:pPr algn="ctr" fontAlgn="ctr"/>
                      <a:r>
                        <a:rPr lang="en-US" sz="1200" b="0" i="0" u="none" strike="noStrike">
                          <a:solidFill>
                            <a:srgbClr val="00000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2.76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2.88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2.82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2.88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2.96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152154933"/>
                  </a:ext>
                </a:extLst>
              </a:tr>
              <a:tr h="273744">
                <a:tc>
                  <a:txBody>
                    <a:bodyPr/>
                    <a:lstStyle/>
                    <a:p>
                      <a:pPr algn="ctr" fontAlgn="ctr"/>
                      <a:r>
                        <a:rPr lang="en-US" sz="1200" b="0" i="0" u="none" strike="noStrike">
                          <a:solidFill>
                            <a:srgbClr val="00000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855859539"/>
                  </a:ext>
                </a:extLst>
              </a:tr>
            </a:tbl>
          </a:graphicData>
        </a:graphic>
      </p:graphicFrame>
      <p:graphicFrame>
        <p:nvGraphicFramePr>
          <p:cNvPr id="9" name="Chart 8"/>
          <p:cNvGraphicFramePr>
            <a:graphicFrameLocks/>
          </p:cNvGraphicFramePr>
          <p:nvPr>
            <p:extLst/>
          </p:nvPr>
        </p:nvGraphicFramePr>
        <p:xfrm>
          <a:off x="925418" y="1066800"/>
          <a:ext cx="10521106" cy="2352907"/>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9773035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4" name="Title 4"/>
          <p:cNvSpPr>
            <a:spLocks noGrp="1"/>
          </p:cNvSpPr>
          <p:nvPr>
            <p:ph type="title"/>
          </p:nvPr>
        </p:nvSpPr>
        <p:spPr>
          <a:xfrm>
            <a:off x="983673" y="508342"/>
            <a:ext cx="10549845" cy="552707"/>
          </a:xfrm>
        </p:spPr>
        <p:txBody>
          <a:bodyPr>
            <a:noAutofit/>
          </a:bodyPr>
          <a:lstStyle/>
          <a:p>
            <a:pPr algn="ctr"/>
            <a:r>
              <a:rPr lang="en-GB" sz="2400">
                <a:ln w="0"/>
                <a:solidFill>
                  <a:schemeClr val="accent4"/>
                </a:solidFill>
                <a:latin typeface="Times New Roman" panose="02020603050405020304" pitchFamily="18" charset="0"/>
                <a:cs typeface="Times New Roman" panose="02020603050405020304" pitchFamily="18" charset="0"/>
              </a:rPr>
              <a:t>S</a:t>
            </a:r>
            <a:r>
              <a:rPr lang="en-GB" sz="2400" smtClean="0">
                <a:ln w="0"/>
                <a:solidFill>
                  <a:schemeClr val="accent4"/>
                </a:solidFill>
                <a:latin typeface="Times New Roman" panose="02020603050405020304" pitchFamily="18" charset="0"/>
                <a:cs typeface="Times New Roman" panose="02020603050405020304" pitchFamily="18" charset="0"/>
              </a:rPr>
              <a:t>ố chuyến bay khai thác theo ngày</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6" name="Chart 5"/>
          <p:cNvGraphicFramePr>
            <a:graphicFrameLocks/>
          </p:cNvGraphicFramePr>
          <p:nvPr>
            <p:extLst/>
          </p:nvPr>
        </p:nvGraphicFramePr>
        <p:xfrm>
          <a:off x="838200" y="1219200"/>
          <a:ext cx="10896600" cy="53340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52642997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g31ccdae391d_0_248"/>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a:t>
            </a:r>
            <a:endParaRPr sz="2800">
              <a:solidFill>
                <a:srgbClr val="FFC000"/>
              </a:solidFill>
              <a:latin typeface="Times New Roman"/>
              <a:ea typeface="Times New Roman"/>
              <a:cs typeface="Times New Roman"/>
              <a:sym typeface="Times New Roman"/>
            </a:endParaRPr>
          </a:p>
        </p:txBody>
      </p:sp>
      <p:sp>
        <p:nvSpPr>
          <p:cNvPr id="157" name="Google Shape;157;g31ccdae391d_0_24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49</a:t>
            </a:fld>
            <a:endParaRPr/>
          </a:p>
        </p:txBody>
      </p:sp>
      <p:sp>
        <p:nvSpPr>
          <p:cNvPr id="158" name="Google Shape;158;g31ccdae391d_0_248"/>
          <p:cNvSpPr/>
          <p:nvPr/>
        </p:nvSpPr>
        <p:spPr>
          <a:xfrm>
            <a:off x="475582" y="569557"/>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dirty="0" err="1">
                <a:solidFill>
                  <a:srgbClr val="FF0000"/>
                </a:solidFill>
                <a:latin typeface="Times New Roman"/>
                <a:ea typeface="Times New Roman"/>
                <a:cs typeface="Times New Roman"/>
                <a:sym typeface="Times New Roman"/>
              </a:rPr>
              <a:t>Tình</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trạng</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vật</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tư</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cho</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hỏng</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hóc</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trên</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đội</a:t>
            </a:r>
            <a:r>
              <a:rPr lang="en-US" sz="2000" b="1" i="0" u="none" strike="noStrike" cap="none" dirty="0">
                <a:solidFill>
                  <a:srgbClr val="FF0000"/>
                </a:solidFill>
                <a:latin typeface="Times New Roman"/>
                <a:ea typeface="Times New Roman"/>
                <a:cs typeface="Times New Roman"/>
                <a:sym typeface="Times New Roman"/>
              </a:rPr>
              <a:t> bay</a:t>
            </a:r>
            <a:endParaRPr sz="2000" b="1" i="0" u="none" strike="noStrike" cap="none" dirty="0">
              <a:solidFill>
                <a:srgbClr val="FF0000"/>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dirty="0" err="1">
                <a:solidFill>
                  <a:schemeClr val="dk1"/>
                </a:solidFill>
                <a:latin typeface="Times New Roman"/>
                <a:ea typeface="Times New Roman"/>
                <a:cs typeface="Times New Roman"/>
                <a:sym typeface="Times New Roman"/>
              </a:rPr>
              <a:t>Tàu</a:t>
            </a:r>
            <a:r>
              <a:rPr lang="en-US" sz="1500" b="1" i="0" u="none" strike="noStrike" cap="none" dirty="0">
                <a:solidFill>
                  <a:schemeClr val="dk1"/>
                </a:solidFill>
                <a:latin typeface="Times New Roman"/>
                <a:ea typeface="Times New Roman"/>
                <a:cs typeface="Times New Roman"/>
                <a:sym typeface="Times New Roman"/>
              </a:rPr>
              <a:t> AOG: </a:t>
            </a:r>
            <a:r>
              <a:rPr lang="en-US" sz="1500" b="1" dirty="0">
                <a:solidFill>
                  <a:schemeClr val="dk1"/>
                </a:solidFill>
                <a:latin typeface="Times New Roman"/>
                <a:ea typeface="Times New Roman"/>
                <a:cs typeface="Times New Roman"/>
                <a:sym typeface="Times New Roman"/>
              </a:rPr>
              <a:t>NIL</a:t>
            </a:r>
            <a:endParaRPr sz="1500" b="0" i="0" u="none" strike="noStrike" cap="none" dirty="0">
              <a:solidFill>
                <a:schemeClr val="dk1"/>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dirty="0" err="1">
                <a:solidFill>
                  <a:schemeClr val="dk1"/>
                </a:solidFill>
                <a:latin typeface="Times New Roman"/>
                <a:ea typeface="Times New Roman"/>
                <a:cs typeface="Times New Roman"/>
                <a:sym typeface="Times New Roman"/>
              </a:rPr>
              <a:t>Tình</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hình</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tàu</a:t>
            </a:r>
            <a:r>
              <a:rPr lang="en-US" sz="1500" b="1" i="0" u="none" strike="noStrike" cap="none" dirty="0">
                <a:solidFill>
                  <a:schemeClr val="dk1"/>
                </a:solidFill>
                <a:latin typeface="Times New Roman"/>
                <a:ea typeface="Times New Roman"/>
                <a:cs typeface="Times New Roman"/>
                <a:sym typeface="Times New Roman"/>
              </a:rPr>
              <a:t> check: </a:t>
            </a:r>
            <a:endParaRPr sz="1500" b="0" i="0" u="none" strike="noStrike" cap="none" dirty="0">
              <a:solidFill>
                <a:schemeClr val="dk1"/>
              </a:solidFill>
              <a:latin typeface="Times New Roman"/>
              <a:ea typeface="Times New Roman"/>
              <a:cs typeface="Times New Roman"/>
              <a:sym typeface="Times New Roman"/>
            </a:endParaRPr>
          </a:p>
          <a:p>
            <a:pPr marL="914400" marR="0" lvl="0" indent="-323850" algn="just" rtl="0">
              <a:lnSpc>
                <a:spcPct val="110000"/>
              </a:lnSpc>
              <a:spcBef>
                <a:spcPts val="0"/>
              </a:spcBef>
              <a:spcAft>
                <a:spcPts val="0"/>
              </a:spcAft>
              <a:buClr>
                <a:schemeClr val="dk1"/>
              </a:buClr>
              <a:buSzPts val="1500"/>
              <a:buFont typeface="Times New Roman"/>
              <a:buChar char="+"/>
            </a:pPr>
            <a:r>
              <a:rPr lang="en-US" sz="1500" dirty="0">
                <a:solidFill>
                  <a:schemeClr val="dk1"/>
                </a:solidFill>
                <a:latin typeface="Times New Roman"/>
                <a:ea typeface="Times New Roman"/>
                <a:cs typeface="Times New Roman"/>
                <a:sym typeface="Times New Roman"/>
              </a:rPr>
              <a:t>A336/HAN-Y01 (10/1-14/1): </a:t>
            </a:r>
            <a:r>
              <a:rPr lang="en-US" sz="1500" dirty="0" err="1">
                <a:solidFill>
                  <a:schemeClr val="dk1"/>
                </a:solidFill>
                <a:latin typeface="Times New Roman"/>
                <a:ea typeface="Times New Roman"/>
                <a:cs typeface="Times New Roman"/>
                <a:sym typeface="Times New Roman"/>
              </a:rPr>
              <a:t>bị</a:t>
            </a:r>
            <a:r>
              <a:rPr lang="en-US" sz="1500" dirty="0">
                <a:solidFill>
                  <a:schemeClr val="dk1"/>
                </a:solidFill>
                <a:latin typeface="Times New Roman"/>
                <a:ea typeface="Times New Roman"/>
                <a:cs typeface="Times New Roman"/>
                <a:sym typeface="Times New Roman"/>
              </a:rPr>
              <a:t> rob 1 HPV, </a:t>
            </a:r>
            <a:r>
              <a:rPr lang="en-US" sz="1500" dirty="0" err="1">
                <a:solidFill>
                  <a:schemeClr val="dk1"/>
                </a:solidFill>
                <a:latin typeface="Times New Roman"/>
                <a:ea typeface="Times New Roman"/>
                <a:cs typeface="Times New Roman"/>
                <a:sym typeface="Times New Roman"/>
              </a:rPr>
              <a:t>đang</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giục</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hàng</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mua</a:t>
            </a:r>
            <a:r>
              <a:rPr lang="en-US" sz="1500" dirty="0">
                <a:solidFill>
                  <a:schemeClr val="dk1"/>
                </a:solidFill>
                <a:latin typeface="Times New Roman"/>
                <a:ea typeface="Times New Roman"/>
                <a:cs typeface="Times New Roman"/>
                <a:sym typeface="Times New Roman"/>
              </a:rPr>
              <a:t>/</a:t>
            </a:r>
            <a:r>
              <a:rPr lang="en-US" sz="1500" dirty="0" err="1">
                <a:solidFill>
                  <a:schemeClr val="dk1"/>
                </a:solidFill>
                <a:latin typeface="Times New Roman"/>
                <a:ea typeface="Times New Roman"/>
                <a:cs typeface="Times New Roman"/>
                <a:sym typeface="Times New Roman"/>
              </a:rPr>
              <a:t>sửa</a:t>
            </a:r>
            <a:endParaRPr sz="1500" b="0" i="0" u="none" strike="noStrike" cap="none" dirty="0">
              <a:solidFill>
                <a:schemeClr val="dk1"/>
              </a:solidFill>
              <a:latin typeface="Times New Roman"/>
              <a:ea typeface="Times New Roman"/>
              <a:cs typeface="Times New Roman"/>
              <a:sym typeface="Times New Roman"/>
            </a:endParaRPr>
          </a:p>
          <a:p>
            <a:pPr marL="914400" marR="0" lvl="0" indent="-323850" algn="just" rtl="0">
              <a:lnSpc>
                <a:spcPct val="110000"/>
              </a:lnSpc>
              <a:spcBef>
                <a:spcPts val="0"/>
              </a:spcBef>
              <a:spcAft>
                <a:spcPts val="0"/>
              </a:spcAft>
              <a:buClr>
                <a:schemeClr val="dk1"/>
              </a:buClr>
              <a:buSzPts val="1500"/>
              <a:buFont typeface="Times New Roman"/>
              <a:buChar char="+"/>
            </a:pPr>
            <a:r>
              <a:rPr lang="en-US" sz="1500" b="0" i="0" u="none" strike="noStrike" cap="none" dirty="0">
                <a:solidFill>
                  <a:schemeClr val="dk1"/>
                </a:solidFill>
                <a:latin typeface="Times New Roman"/>
                <a:ea typeface="Times New Roman"/>
                <a:cs typeface="Times New Roman"/>
                <a:sym typeface="Times New Roman"/>
              </a:rPr>
              <a:t>A619 (HAN) </a:t>
            </a:r>
            <a:r>
              <a:rPr lang="en-US" sz="1500" b="0" i="0" u="none" strike="noStrike" cap="none" dirty="0" err="1">
                <a:solidFill>
                  <a:schemeClr val="dk1"/>
                </a:solidFill>
                <a:latin typeface="Times New Roman"/>
                <a:ea typeface="Times New Roman"/>
                <a:cs typeface="Times New Roman"/>
                <a:sym typeface="Times New Roman"/>
              </a:rPr>
              <a:t>thực</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hiện</a:t>
            </a:r>
            <a:r>
              <a:rPr lang="en-US" sz="1500" b="0" i="0" u="none" strike="noStrike" cap="none" dirty="0">
                <a:solidFill>
                  <a:schemeClr val="dk1"/>
                </a:solidFill>
                <a:latin typeface="Times New Roman"/>
                <a:ea typeface="Times New Roman"/>
                <a:cs typeface="Times New Roman"/>
                <a:sym typeface="Times New Roman"/>
              </a:rPr>
              <a:t> RTS </a:t>
            </a:r>
            <a:r>
              <a:rPr lang="en-US" sz="1500" dirty="0" err="1">
                <a:solidFill>
                  <a:schemeClr val="dk1"/>
                </a:solidFill>
                <a:latin typeface="Times New Roman"/>
                <a:ea typeface="Times New Roman"/>
                <a:cs typeface="Times New Roman"/>
                <a:sym typeface="Times New Roman"/>
              </a:rPr>
              <a:t>đến</a:t>
            </a:r>
            <a:r>
              <a:rPr lang="en-US" sz="1500" dirty="0">
                <a:solidFill>
                  <a:schemeClr val="dk1"/>
                </a:solidFill>
                <a:latin typeface="Times New Roman"/>
                <a:ea typeface="Times New Roman"/>
                <a:cs typeface="Times New Roman"/>
                <a:sym typeface="Times New Roman"/>
              </a:rPr>
              <a:t> 14/1: </a:t>
            </a:r>
            <a:r>
              <a:rPr lang="en-US" sz="1500" dirty="0" err="1">
                <a:solidFill>
                  <a:schemeClr val="dk1"/>
                </a:solidFill>
                <a:latin typeface="Times New Roman"/>
                <a:ea typeface="Times New Roman"/>
                <a:cs typeface="Times New Roman"/>
                <a:sym typeface="Times New Roman"/>
              </a:rPr>
              <a:t>hiện</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đang</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thay</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động</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cơ</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lắp</a:t>
            </a:r>
            <a:r>
              <a:rPr lang="en-US" sz="1500" dirty="0">
                <a:solidFill>
                  <a:schemeClr val="dk1"/>
                </a:solidFill>
                <a:latin typeface="Times New Roman"/>
                <a:ea typeface="Times New Roman"/>
                <a:cs typeface="Times New Roman"/>
                <a:sym typeface="Times New Roman"/>
              </a:rPr>
              <a:t> QEC </a:t>
            </a:r>
            <a:r>
              <a:rPr lang="en-US" sz="1500" dirty="0" err="1">
                <a:solidFill>
                  <a:schemeClr val="dk1"/>
                </a:solidFill>
                <a:latin typeface="Times New Roman"/>
                <a:ea typeface="Times New Roman"/>
                <a:cs typeface="Times New Roman"/>
                <a:sym typeface="Times New Roman"/>
              </a:rPr>
              <a:t>và</a:t>
            </a:r>
            <a:r>
              <a:rPr lang="en-US" sz="1500" dirty="0">
                <a:solidFill>
                  <a:schemeClr val="dk1"/>
                </a:solidFill>
                <a:latin typeface="Times New Roman"/>
                <a:ea typeface="Times New Roman"/>
                <a:cs typeface="Times New Roman"/>
                <a:sym typeface="Times New Roman"/>
              </a:rPr>
              <a:t> MPL </a:t>
            </a:r>
            <a:r>
              <a:rPr lang="en-US" sz="1500" dirty="0" err="1">
                <a:solidFill>
                  <a:schemeClr val="dk1"/>
                </a:solidFill>
                <a:latin typeface="Times New Roman"/>
                <a:ea typeface="Times New Roman"/>
                <a:cs typeface="Times New Roman"/>
                <a:sym typeface="Times New Roman"/>
              </a:rPr>
              <a:t>sẽ</a:t>
            </a:r>
            <a:r>
              <a:rPr lang="en-US" sz="1500" dirty="0">
                <a:solidFill>
                  <a:schemeClr val="dk1"/>
                </a:solidFill>
                <a:latin typeface="Times New Roman"/>
                <a:ea typeface="Times New Roman"/>
                <a:cs typeface="Times New Roman"/>
                <a:sym typeface="Times New Roman"/>
              </a:rPr>
              <a:t> transfer </a:t>
            </a:r>
            <a:r>
              <a:rPr lang="en-US" sz="1500" dirty="0" err="1">
                <a:solidFill>
                  <a:schemeClr val="dk1"/>
                </a:solidFill>
                <a:latin typeface="Times New Roman"/>
                <a:ea typeface="Times New Roman"/>
                <a:cs typeface="Times New Roman"/>
                <a:sym typeface="Times New Roman"/>
              </a:rPr>
              <a:t>từ</a:t>
            </a:r>
            <a:r>
              <a:rPr lang="en-US" sz="1500" dirty="0">
                <a:solidFill>
                  <a:schemeClr val="dk1"/>
                </a:solidFill>
                <a:latin typeface="Times New Roman"/>
                <a:ea typeface="Times New Roman"/>
                <a:cs typeface="Times New Roman"/>
                <a:sym typeface="Times New Roman"/>
              </a:rPr>
              <a:t> engine off.</a:t>
            </a:r>
            <a:endParaRPr sz="1500" b="0" i="0" u="none" strike="noStrike" cap="none" dirty="0">
              <a:solidFill>
                <a:schemeClr val="dk1"/>
              </a:solidFill>
              <a:latin typeface="Times New Roman"/>
              <a:ea typeface="Times New Roman"/>
              <a:cs typeface="Times New Roman"/>
              <a:sym typeface="Times New Roman"/>
            </a:endParaRPr>
          </a:p>
          <a:p>
            <a:pPr marL="914400" marR="0" lvl="0" indent="-323850" algn="just" rtl="0">
              <a:lnSpc>
                <a:spcPct val="110000"/>
              </a:lnSpc>
              <a:spcBef>
                <a:spcPts val="0"/>
              </a:spcBef>
              <a:spcAft>
                <a:spcPts val="0"/>
              </a:spcAft>
              <a:buClr>
                <a:schemeClr val="dk1"/>
              </a:buClr>
              <a:buSzPts val="1500"/>
              <a:buFont typeface="Times New Roman"/>
              <a:buChar char="+"/>
            </a:pPr>
            <a:r>
              <a:rPr lang="en-US" sz="1500" dirty="0">
                <a:solidFill>
                  <a:schemeClr val="dk1"/>
                </a:solidFill>
                <a:latin typeface="Times New Roman"/>
                <a:ea typeface="Times New Roman"/>
                <a:cs typeface="Times New Roman"/>
                <a:sym typeface="Times New Roman"/>
              </a:rPr>
              <a:t>A506: (HAN) </a:t>
            </a:r>
            <a:r>
              <a:rPr lang="en-US" sz="1500" dirty="0" err="1">
                <a:solidFill>
                  <a:schemeClr val="dk1"/>
                </a:solidFill>
                <a:latin typeface="Times New Roman"/>
                <a:ea typeface="Times New Roman"/>
                <a:cs typeface="Times New Roman"/>
                <a:sym typeface="Times New Roman"/>
              </a:rPr>
              <a:t>thực</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hiện</a:t>
            </a:r>
            <a:r>
              <a:rPr lang="en-US" sz="1500" dirty="0">
                <a:solidFill>
                  <a:schemeClr val="dk1"/>
                </a:solidFill>
                <a:latin typeface="Times New Roman"/>
                <a:ea typeface="Times New Roman"/>
                <a:cs typeface="Times New Roman"/>
                <a:sym typeface="Times New Roman"/>
              </a:rPr>
              <a:t> RTS </a:t>
            </a:r>
            <a:r>
              <a:rPr lang="en-US" sz="1500" dirty="0" err="1">
                <a:solidFill>
                  <a:schemeClr val="dk1"/>
                </a:solidFill>
                <a:latin typeface="Times New Roman"/>
                <a:ea typeface="Times New Roman"/>
                <a:cs typeface="Times New Roman"/>
                <a:sym typeface="Times New Roman"/>
              </a:rPr>
              <a:t>đến</a:t>
            </a:r>
            <a:r>
              <a:rPr lang="en-US" sz="1500" dirty="0">
                <a:solidFill>
                  <a:schemeClr val="dk1"/>
                </a:solidFill>
                <a:latin typeface="Times New Roman"/>
                <a:ea typeface="Times New Roman"/>
                <a:cs typeface="Times New Roman"/>
                <a:sym typeface="Times New Roman"/>
              </a:rPr>
              <a:t> 14/1</a:t>
            </a:r>
            <a:endParaRPr sz="1500" dirty="0">
              <a:solidFill>
                <a:schemeClr val="dk1"/>
              </a:solidFill>
              <a:latin typeface="Times New Roman"/>
              <a:ea typeface="Times New Roman"/>
              <a:cs typeface="Times New Roman"/>
              <a:sym typeface="Times New Roman"/>
            </a:endParaRPr>
          </a:p>
          <a:p>
            <a:pPr marL="457200" marR="0" lvl="0" indent="-323850" algn="just" rtl="0">
              <a:lnSpc>
                <a:spcPct val="110000"/>
              </a:lnSpc>
              <a:spcBef>
                <a:spcPts val="600"/>
              </a:spcBef>
              <a:spcAft>
                <a:spcPts val="0"/>
              </a:spcAft>
              <a:buClr>
                <a:schemeClr val="dk1"/>
              </a:buClr>
              <a:buSzPts val="1500"/>
              <a:buFont typeface="Times New Roman"/>
              <a:buChar char="●"/>
            </a:pPr>
            <a:r>
              <a:rPr lang="en-US" sz="1500" b="1" i="0" u="none" strike="noStrike" cap="none" dirty="0" err="1">
                <a:solidFill>
                  <a:schemeClr val="dk1"/>
                </a:solidFill>
                <a:latin typeface="Times New Roman"/>
                <a:ea typeface="Times New Roman"/>
                <a:cs typeface="Times New Roman"/>
                <a:sym typeface="Times New Roman"/>
              </a:rPr>
              <a:t>Hỏng</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hóc</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ảnh</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hưởng</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khai</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thác</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ngoài</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các</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hỏng</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hóc</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sắp</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hết</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hạn</a:t>
            </a:r>
            <a:r>
              <a:rPr lang="en-US" sz="1500" b="1" i="0" u="none" strike="noStrike" cap="none" dirty="0">
                <a:solidFill>
                  <a:schemeClr val="dk1"/>
                </a:solidFill>
                <a:latin typeface="Times New Roman"/>
                <a:ea typeface="Times New Roman"/>
                <a:cs typeface="Times New Roman"/>
                <a:sym typeface="Times New Roman"/>
              </a:rPr>
              <a:t>:</a:t>
            </a:r>
            <a:endParaRPr sz="1500" b="0" i="0" u="none" strike="noStrike" cap="none" dirty="0">
              <a:solidFill>
                <a:schemeClr val="dk1"/>
              </a:solidFill>
              <a:latin typeface="Times New Roman"/>
              <a:ea typeface="Times New Roman"/>
              <a:cs typeface="Times New Roman"/>
              <a:sym typeface="Times New Roman"/>
            </a:endParaRPr>
          </a:p>
          <a:p>
            <a:pPr marL="914400" marR="0" lvl="0" indent="-323850" algn="just" rtl="0">
              <a:lnSpc>
                <a:spcPct val="110000"/>
              </a:lnSpc>
              <a:spcBef>
                <a:spcPts val="0"/>
              </a:spcBef>
              <a:spcAft>
                <a:spcPts val="0"/>
              </a:spcAft>
              <a:buClr>
                <a:schemeClr val="dk1"/>
              </a:buClr>
              <a:buSzPts val="1500"/>
              <a:buFont typeface="Times New Roman"/>
              <a:buChar char="+"/>
            </a:pPr>
            <a:r>
              <a:rPr lang="en-US" sz="1500" b="0" i="0" u="none" strike="noStrike" cap="none" dirty="0">
                <a:solidFill>
                  <a:schemeClr val="dk1"/>
                </a:solidFill>
                <a:latin typeface="Times New Roman"/>
                <a:ea typeface="Times New Roman"/>
                <a:cs typeface="Times New Roman"/>
                <a:sym typeface="Times New Roman"/>
              </a:rPr>
              <a:t>A</a:t>
            </a:r>
            <a:r>
              <a:rPr lang="en-US" sz="1500" dirty="0">
                <a:solidFill>
                  <a:schemeClr val="dk1"/>
                </a:solidFill>
                <a:latin typeface="Times New Roman"/>
                <a:ea typeface="Times New Roman"/>
                <a:cs typeface="Times New Roman"/>
                <a:sym typeface="Times New Roman"/>
              </a:rPr>
              <a:t>332</a:t>
            </a:r>
            <a:r>
              <a:rPr lang="en-US" sz="1500" b="0" i="0" u="none" strike="noStrike" cap="none" dirty="0">
                <a:solidFill>
                  <a:schemeClr val="dk1"/>
                </a:solidFill>
                <a:latin typeface="Times New Roman"/>
                <a:ea typeface="Times New Roman"/>
                <a:cs typeface="Times New Roman"/>
                <a:sym typeface="Times New Roman"/>
              </a:rPr>
              <a:t> BRAKE FAN INOP </a:t>
            </a:r>
            <a:r>
              <a:rPr lang="en-US" sz="1500" b="0" i="0" u="none" strike="noStrike" cap="none" dirty="0" err="1">
                <a:solidFill>
                  <a:schemeClr val="dk1"/>
                </a:solidFill>
                <a:latin typeface="Times New Roman"/>
                <a:ea typeface="Times New Roman"/>
                <a:cs typeface="Times New Roman"/>
                <a:sym typeface="Times New Roman"/>
              </a:rPr>
              <a:t>đặt</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hàng</a:t>
            </a:r>
            <a:r>
              <a:rPr lang="en-US" sz="1500" b="0" i="0" u="none" strike="noStrike" cap="none" dirty="0">
                <a:solidFill>
                  <a:schemeClr val="dk1"/>
                </a:solidFill>
                <a:latin typeface="Times New Roman"/>
                <a:ea typeface="Times New Roman"/>
                <a:cs typeface="Times New Roman"/>
                <a:sym typeface="Times New Roman"/>
              </a:rPr>
              <a:t> Brake fan motor PN AE1502U02: </a:t>
            </a:r>
            <a:r>
              <a:rPr lang="en-US" sz="1500" dirty="0" err="1">
                <a:solidFill>
                  <a:schemeClr val="dk1"/>
                </a:solidFill>
                <a:latin typeface="Times New Roman"/>
                <a:ea typeface="Times New Roman"/>
                <a:cs typeface="Times New Roman"/>
                <a:sym typeface="Times New Roman"/>
              </a:rPr>
              <a:t>dự</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kiến</a:t>
            </a:r>
            <a:r>
              <a:rPr lang="en-US" sz="1500" dirty="0">
                <a:solidFill>
                  <a:schemeClr val="dk1"/>
                </a:solidFill>
                <a:latin typeface="Times New Roman"/>
                <a:ea typeface="Times New Roman"/>
                <a:cs typeface="Times New Roman"/>
                <a:sym typeface="Times New Roman"/>
              </a:rPr>
              <a:t> 15/1/25 </a:t>
            </a:r>
            <a:r>
              <a:rPr lang="en-US" sz="1500" dirty="0" err="1">
                <a:solidFill>
                  <a:schemeClr val="dk1"/>
                </a:solidFill>
                <a:latin typeface="Times New Roman"/>
                <a:ea typeface="Times New Roman"/>
                <a:cs typeface="Times New Roman"/>
                <a:sym typeface="Times New Roman"/>
              </a:rPr>
              <a:t>nhập</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kho</a:t>
            </a:r>
            <a:endParaRPr sz="1500" b="0" i="0" u="none" strike="noStrike" cap="none" dirty="0">
              <a:solidFill>
                <a:schemeClr val="dk1"/>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dirty="0" err="1">
                <a:solidFill>
                  <a:schemeClr val="dk1"/>
                </a:solidFill>
                <a:latin typeface="Times New Roman"/>
                <a:ea typeface="Times New Roman"/>
                <a:cs typeface="Times New Roman"/>
                <a:sym typeface="Times New Roman"/>
              </a:rPr>
              <a:t>Hỏng</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hóc</a:t>
            </a:r>
            <a:r>
              <a:rPr lang="en-US" sz="1500" b="1" i="0" u="none" strike="noStrike" cap="none" dirty="0">
                <a:solidFill>
                  <a:schemeClr val="dk1"/>
                </a:solidFill>
                <a:latin typeface="Times New Roman"/>
                <a:ea typeface="Times New Roman"/>
                <a:cs typeface="Times New Roman"/>
                <a:sym typeface="Times New Roman"/>
              </a:rPr>
              <a:t> B defect </a:t>
            </a:r>
            <a:r>
              <a:rPr lang="en-US" sz="1500" b="1" i="0" u="none" strike="noStrike" cap="none" dirty="0" err="1">
                <a:solidFill>
                  <a:schemeClr val="dk1"/>
                </a:solidFill>
                <a:latin typeface="Times New Roman"/>
                <a:ea typeface="Times New Roman"/>
                <a:cs typeface="Times New Roman"/>
                <a:sym typeface="Times New Roman"/>
              </a:rPr>
              <a:t>hết</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hạn</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trong</a:t>
            </a:r>
            <a:r>
              <a:rPr lang="en-US" sz="1500" b="1" i="0" u="none" strike="noStrike" cap="none" dirty="0">
                <a:solidFill>
                  <a:schemeClr val="dk1"/>
                </a:solidFill>
                <a:latin typeface="Times New Roman"/>
                <a:ea typeface="Times New Roman"/>
                <a:cs typeface="Times New Roman"/>
                <a:sym typeface="Times New Roman"/>
              </a:rPr>
              <a:t> 10 </a:t>
            </a:r>
            <a:r>
              <a:rPr lang="en-US" sz="1500" b="1" i="0" u="none" strike="noStrike" cap="none" dirty="0" err="1">
                <a:solidFill>
                  <a:schemeClr val="dk1"/>
                </a:solidFill>
                <a:latin typeface="Times New Roman"/>
                <a:ea typeface="Times New Roman"/>
                <a:cs typeface="Times New Roman"/>
                <a:sym typeface="Times New Roman"/>
              </a:rPr>
              <a:t>ngày</a:t>
            </a:r>
            <a:r>
              <a:rPr lang="en-US" sz="1500" b="1" i="0" u="none" strike="noStrike" cap="none" dirty="0">
                <a:solidFill>
                  <a:schemeClr val="dk1"/>
                </a:solidFill>
                <a:latin typeface="Times New Roman"/>
                <a:ea typeface="Times New Roman"/>
                <a:cs typeface="Times New Roman"/>
                <a:sym typeface="Times New Roman"/>
              </a:rPr>
              <a:t>: </a:t>
            </a:r>
            <a:endParaRPr sz="1500" b="1"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rgbClr val="000000"/>
              </a:buClr>
              <a:buSzPts val="1500"/>
              <a:buFont typeface="Arial"/>
              <a:buNone/>
            </a:pPr>
            <a:endParaRPr sz="1500" b="1" i="0" u="none" strike="noStrike" cap="none" dirty="0">
              <a:solidFill>
                <a:schemeClr val="dk1"/>
              </a:solidFill>
              <a:latin typeface="Times New Roman"/>
              <a:ea typeface="Times New Roman"/>
              <a:cs typeface="Times New Roman"/>
              <a:sym typeface="Times New Roman"/>
            </a:endParaRPr>
          </a:p>
          <a:p>
            <a:pPr marL="914400" marR="0" lvl="0" indent="0" algn="just" rtl="0">
              <a:lnSpc>
                <a:spcPct val="110000"/>
              </a:lnSpc>
              <a:spcBef>
                <a:spcPts val="0"/>
              </a:spcBef>
              <a:spcAft>
                <a:spcPts val="0"/>
              </a:spcAft>
              <a:buClr>
                <a:srgbClr val="000000"/>
              </a:buClr>
              <a:buSzPts val="1500"/>
              <a:buFont typeface="Arial"/>
              <a:buNone/>
            </a:pP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2000"/>
              <a:buFont typeface="Arial"/>
              <a:buNone/>
            </a:pP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dirty="0">
              <a:solidFill>
                <a:schemeClr val="dk1"/>
              </a:solidFill>
              <a:latin typeface="Times New Roman"/>
              <a:ea typeface="Times New Roman"/>
              <a:cs typeface="Times New Roman"/>
              <a:sym typeface="Times New Roman"/>
            </a:endParaRPr>
          </a:p>
        </p:txBody>
      </p:sp>
      <p:pic>
        <p:nvPicPr>
          <p:cNvPr id="5"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Tree>
    <p:extLst>
      <p:ext uri="{BB962C8B-B14F-4D97-AF65-F5344CB8AC3E}">
        <p14:creationId xmlns:p14="http://schemas.microsoft.com/office/powerpoint/2010/main" val="335060164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g31ccdae391d_0_255"/>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a:t>
            </a:r>
            <a:endParaRPr sz="2800">
              <a:solidFill>
                <a:srgbClr val="FFC000"/>
              </a:solidFill>
              <a:latin typeface="Times New Roman"/>
              <a:ea typeface="Times New Roman"/>
              <a:cs typeface="Times New Roman"/>
              <a:sym typeface="Times New Roman"/>
            </a:endParaRPr>
          </a:p>
        </p:txBody>
      </p:sp>
      <p:sp>
        <p:nvSpPr>
          <p:cNvPr id="165" name="Google Shape;165;g31ccdae391d_0_25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50</a:t>
            </a:fld>
            <a:endParaRPr/>
          </a:p>
        </p:txBody>
      </p:sp>
      <p:sp>
        <p:nvSpPr>
          <p:cNvPr id="166" name="Google Shape;166;g31ccdae391d_0_255"/>
          <p:cNvSpPr/>
          <p:nvPr/>
        </p:nvSpPr>
        <p:spPr>
          <a:xfrm>
            <a:off x="475582" y="569557"/>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a:solidFill>
                  <a:srgbClr val="FF0000"/>
                </a:solidFill>
                <a:latin typeface="Times New Roman"/>
                <a:ea typeface="Times New Roman"/>
                <a:cs typeface="Times New Roman"/>
                <a:sym typeface="Times New Roman"/>
              </a:rPr>
              <a:t>Hỏng hóc B defect sắp hết hạn trong 10 ngày</a:t>
            </a:r>
            <a:endParaRPr sz="2000" b="1" i="0" u="none" strike="noStrike" cap="none">
              <a:solidFill>
                <a:srgbClr val="FF0000"/>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1"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rgbClr val="000000"/>
              </a:buClr>
              <a:buSzPts val="1500"/>
              <a:buFont typeface="Arial"/>
              <a:buNone/>
            </a:pPr>
            <a:endParaRPr sz="1500" b="1" i="0" u="none" strike="noStrike" cap="none">
              <a:solidFill>
                <a:schemeClr val="dk1"/>
              </a:solidFill>
              <a:latin typeface="Times New Roman"/>
              <a:ea typeface="Times New Roman"/>
              <a:cs typeface="Times New Roman"/>
              <a:sym typeface="Times New Roman"/>
            </a:endParaRPr>
          </a:p>
          <a:p>
            <a:pPr marL="91440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20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p:txBody>
      </p:sp>
      <p:pic>
        <p:nvPicPr>
          <p:cNvPr id="167" name="Google Shape;167;g31ccdae391d_0_255"/>
          <p:cNvPicPr preferRelativeResize="0"/>
          <p:nvPr/>
        </p:nvPicPr>
        <p:blipFill>
          <a:blip r:embed="rId3">
            <a:alphaModFix/>
          </a:blip>
          <a:stretch>
            <a:fillRect/>
          </a:stretch>
        </p:blipFill>
        <p:spPr>
          <a:xfrm>
            <a:off x="475575" y="1105649"/>
            <a:ext cx="11378963" cy="4703775"/>
          </a:xfrm>
          <a:prstGeom prst="rect">
            <a:avLst/>
          </a:prstGeom>
          <a:noFill/>
          <a:ln>
            <a:noFill/>
          </a:ln>
        </p:spPr>
      </p:pic>
      <p:pic>
        <p:nvPicPr>
          <p:cNvPr id="6" name="Google Shape;36;p4" descr="A black and yellow lines on a blue surface&#10;&#10;Description automatically generated"/>
          <p:cNvPicPr preferRelativeResize="0"/>
          <p:nvPr/>
        </p:nvPicPr>
        <p:blipFill rotWithShape="1">
          <a:blip r:embed="rId4">
            <a:alphaModFix/>
          </a:blip>
          <a:srcRect/>
          <a:stretch/>
        </p:blipFill>
        <p:spPr>
          <a:xfrm>
            <a:off x="8650521" y="4650486"/>
            <a:ext cx="3545983" cy="2207517"/>
          </a:xfrm>
          <a:prstGeom prst="rect">
            <a:avLst/>
          </a:prstGeom>
          <a:noFill/>
          <a:ln>
            <a:noFill/>
          </a:ln>
        </p:spPr>
      </p:pic>
    </p:spTree>
    <p:extLst>
      <p:ext uri="{BB962C8B-B14F-4D97-AF65-F5344CB8AC3E}">
        <p14:creationId xmlns:p14="http://schemas.microsoft.com/office/powerpoint/2010/main" val="3011837899"/>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g31ccdae391d_0_263"/>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a:t>
            </a:r>
            <a:endParaRPr sz="2800">
              <a:solidFill>
                <a:srgbClr val="FFC000"/>
              </a:solidFill>
              <a:latin typeface="Times New Roman"/>
              <a:ea typeface="Times New Roman"/>
              <a:cs typeface="Times New Roman"/>
              <a:sym typeface="Times New Roman"/>
            </a:endParaRPr>
          </a:p>
        </p:txBody>
      </p:sp>
      <p:sp>
        <p:nvSpPr>
          <p:cNvPr id="174" name="Google Shape;174;g31ccdae391d_0_26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51</a:t>
            </a:fld>
            <a:endParaRPr/>
          </a:p>
        </p:txBody>
      </p:sp>
      <p:sp>
        <p:nvSpPr>
          <p:cNvPr id="175" name="Google Shape;175;g31ccdae391d_0_263"/>
          <p:cNvSpPr/>
          <p:nvPr/>
        </p:nvSpPr>
        <p:spPr>
          <a:xfrm>
            <a:off x="475582" y="569557"/>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dirty="0">
                <a:solidFill>
                  <a:srgbClr val="FF0000"/>
                </a:solidFill>
                <a:latin typeface="Times New Roman"/>
                <a:ea typeface="Times New Roman"/>
                <a:cs typeface="Times New Roman"/>
                <a:sym typeface="Times New Roman"/>
              </a:rPr>
              <a:t>A321: </a:t>
            </a:r>
            <a:r>
              <a:rPr lang="en-US" sz="2000" b="1" i="0" u="none" strike="noStrike" cap="none" dirty="0" err="1">
                <a:solidFill>
                  <a:srgbClr val="FF0000"/>
                </a:solidFill>
                <a:latin typeface="Times New Roman"/>
                <a:ea typeface="Times New Roman"/>
                <a:cs typeface="Times New Roman"/>
                <a:sym typeface="Times New Roman"/>
              </a:rPr>
              <a:t>Tình</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trạng</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đơn</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hàng</a:t>
            </a:r>
            <a:r>
              <a:rPr lang="en-US" sz="2000" b="1" i="0" u="none" strike="noStrike" cap="none" dirty="0">
                <a:solidFill>
                  <a:srgbClr val="FF0000"/>
                </a:solidFill>
                <a:latin typeface="Times New Roman"/>
                <a:ea typeface="Times New Roman"/>
                <a:cs typeface="Times New Roman"/>
                <a:sym typeface="Times New Roman"/>
              </a:rPr>
              <a:t> Pooling </a:t>
            </a:r>
            <a:r>
              <a:rPr lang="en-US" sz="2000" b="1" i="0" u="none" strike="noStrike" cap="none" dirty="0" err="1">
                <a:solidFill>
                  <a:srgbClr val="FF0000"/>
                </a:solidFill>
                <a:latin typeface="Times New Roman"/>
                <a:ea typeface="Times New Roman"/>
                <a:cs typeface="Times New Roman"/>
                <a:sym typeface="Times New Roman"/>
              </a:rPr>
              <a:t>trước</a:t>
            </a:r>
            <a:r>
              <a:rPr lang="en-US" sz="2000" b="1" i="0" u="none" strike="noStrike" cap="none" dirty="0">
                <a:solidFill>
                  <a:srgbClr val="FF0000"/>
                </a:solidFill>
                <a:latin typeface="Times New Roman"/>
                <a:ea typeface="Times New Roman"/>
                <a:cs typeface="Times New Roman"/>
                <a:sym typeface="Times New Roman"/>
              </a:rPr>
              <a:t> 2/10/2024: </a:t>
            </a:r>
            <a:r>
              <a:rPr lang="en-US" sz="2000" b="1" i="0" u="none" strike="noStrike" cap="none" dirty="0" err="1">
                <a:solidFill>
                  <a:srgbClr val="FF0000"/>
                </a:solidFill>
                <a:latin typeface="Times New Roman"/>
                <a:ea typeface="Times New Roman"/>
                <a:cs typeface="Times New Roman"/>
                <a:sym typeface="Times New Roman"/>
              </a:rPr>
              <a:t>còn</a:t>
            </a:r>
            <a:r>
              <a:rPr lang="en-US" sz="2000" b="1" i="0" u="none" strike="noStrike" cap="none" dirty="0">
                <a:solidFill>
                  <a:srgbClr val="FF0000"/>
                </a:solidFill>
                <a:latin typeface="Times New Roman"/>
                <a:ea typeface="Times New Roman"/>
                <a:cs typeface="Times New Roman"/>
                <a:sym typeface="Times New Roman"/>
              </a:rPr>
              <a:t> 2</a:t>
            </a:r>
            <a:r>
              <a:rPr lang="en-US" sz="2000" b="1" dirty="0">
                <a:solidFill>
                  <a:srgbClr val="FF0000"/>
                </a:solidFill>
                <a:latin typeface="Times New Roman"/>
                <a:ea typeface="Times New Roman"/>
                <a:cs typeface="Times New Roman"/>
                <a:sym typeface="Times New Roman"/>
              </a:rPr>
              <a:t>2</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đơn</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hàng</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đang</a:t>
            </a:r>
            <a:r>
              <a:rPr lang="en-US" sz="2000" b="1" i="0" u="none" strike="noStrike" cap="none" dirty="0">
                <a:solidFill>
                  <a:srgbClr val="FF0000"/>
                </a:solidFill>
                <a:latin typeface="Times New Roman"/>
                <a:ea typeface="Times New Roman"/>
                <a:cs typeface="Times New Roman"/>
                <a:sym typeface="Times New Roman"/>
              </a:rPr>
              <a:t> open</a:t>
            </a:r>
            <a:endParaRPr sz="2000" b="1" i="0" u="none" strike="noStrike" cap="none" dirty="0">
              <a:solidFill>
                <a:srgbClr val="FF0000"/>
              </a:solidFill>
              <a:latin typeface="Arial"/>
              <a:ea typeface="Arial"/>
              <a:cs typeface="Arial"/>
              <a:sym typeface="Arial"/>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dirty="0" err="1">
                <a:solidFill>
                  <a:schemeClr val="dk1"/>
                </a:solidFill>
                <a:latin typeface="Times New Roman"/>
                <a:ea typeface="Times New Roman"/>
                <a:cs typeface="Times New Roman"/>
                <a:sym typeface="Times New Roman"/>
              </a:rPr>
              <a:t>Đơn</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hàng</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lấp</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đầy</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kho</a:t>
            </a:r>
            <a:r>
              <a:rPr lang="en-US" sz="1500" b="1" i="0" u="none" strike="noStrike" cap="none" dirty="0">
                <a:solidFill>
                  <a:schemeClr val="dk1"/>
                </a:solidFill>
                <a:latin typeface="Times New Roman"/>
                <a:ea typeface="Times New Roman"/>
                <a:cs typeface="Times New Roman"/>
                <a:sym typeface="Times New Roman"/>
              </a:rPr>
              <a:t> MBK: </a:t>
            </a:r>
            <a:r>
              <a:rPr lang="en-US" sz="1500" b="0" i="0" u="none" strike="noStrike" cap="none" dirty="0">
                <a:solidFill>
                  <a:schemeClr val="dk1"/>
                </a:solidFill>
                <a:latin typeface="Times New Roman"/>
                <a:ea typeface="Times New Roman"/>
                <a:cs typeface="Times New Roman"/>
                <a:sym typeface="Times New Roman"/>
              </a:rPr>
              <a:t>1</a:t>
            </a:r>
            <a:r>
              <a:rPr lang="en-US" sz="1500" dirty="0">
                <a:solidFill>
                  <a:schemeClr val="dk1"/>
                </a:solidFill>
                <a:latin typeface="Times New Roman"/>
                <a:ea typeface="Times New Roman"/>
                <a:cs typeface="Times New Roman"/>
                <a:sym typeface="Times New Roman"/>
              </a:rPr>
              <a:t>2</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đơn</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hàng</a:t>
            </a:r>
            <a:endParaRPr sz="1500" b="0" i="0" u="none" strike="noStrike" cap="none" dirty="0">
              <a:solidFill>
                <a:schemeClr val="dk1"/>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dirty="0" err="1">
                <a:solidFill>
                  <a:schemeClr val="dk1"/>
                </a:solidFill>
                <a:latin typeface="Times New Roman"/>
                <a:ea typeface="Times New Roman"/>
                <a:cs typeface="Times New Roman"/>
                <a:sym typeface="Times New Roman"/>
              </a:rPr>
              <a:t>Đơn</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hàng</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Hardtime</a:t>
            </a:r>
            <a:r>
              <a:rPr lang="en-US" sz="1500" b="1" i="0" u="none" strike="noStrike" cap="none" dirty="0">
                <a:solidFill>
                  <a:schemeClr val="dk1"/>
                </a:solidFill>
                <a:latin typeface="Times New Roman"/>
                <a:ea typeface="Times New Roman"/>
                <a:cs typeface="Times New Roman"/>
                <a:sym typeface="Times New Roman"/>
              </a:rPr>
              <a:t> &amp; </a:t>
            </a:r>
            <a:r>
              <a:rPr lang="en-US" sz="1500" b="1" i="0" u="none" strike="noStrike" cap="none" dirty="0" err="1">
                <a:solidFill>
                  <a:schemeClr val="dk1"/>
                </a:solidFill>
                <a:latin typeface="Times New Roman"/>
                <a:ea typeface="Times New Roman"/>
                <a:cs typeface="Times New Roman"/>
                <a:sym typeface="Times New Roman"/>
              </a:rPr>
              <a:t>Softtime</a:t>
            </a:r>
            <a:r>
              <a:rPr lang="en-US" sz="1500" b="1" i="0" u="none" strike="noStrike" cap="none" dirty="0">
                <a:solidFill>
                  <a:schemeClr val="dk1"/>
                </a:solidFill>
                <a:latin typeface="Times New Roman"/>
                <a:ea typeface="Times New Roman"/>
                <a:cs typeface="Times New Roman"/>
                <a:sym typeface="Times New Roman"/>
              </a:rPr>
              <a:t>: </a:t>
            </a:r>
            <a:r>
              <a:rPr lang="en-US" sz="1500" dirty="0">
                <a:solidFill>
                  <a:schemeClr val="dk1"/>
                </a:solidFill>
                <a:latin typeface="Times New Roman"/>
                <a:ea typeface="Times New Roman"/>
                <a:cs typeface="Times New Roman"/>
                <a:sym typeface="Times New Roman"/>
              </a:rPr>
              <a:t>9 </a:t>
            </a:r>
            <a:r>
              <a:rPr lang="en-US" sz="1500" b="0" i="0" u="none" strike="noStrike" cap="none" dirty="0" err="1">
                <a:solidFill>
                  <a:schemeClr val="dk1"/>
                </a:solidFill>
                <a:latin typeface="Times New Roman"/>
                <a:ea typeface="Times New Roman"/>
                <a:cs typeface="Times New Roman"/>
                <a:sym typeface="Times New Roman"/>
              </a:rPr>
              <a:t>đơn</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hàng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hết</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hạn</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trước</a:t>
            </a:r>
            <a:r>
              <a:rPr lang="en-US" sz="1500" b="0" i="0" u="none" strike="noStrike" cap="none" dirty="0">
                <a:solidFill>
                  <a:schemeClr val="dk1"/>
                </a:solidFill>
                <a:latin typeface="Times New Roman"/>
                <a:ea typeface="Times New Roman"/>
                <a:cs typeface="Times New Roman"/>
                <a:sym typeface="Times New Roman"/>
              </a:rPr>
              <a:t> 2/10) </a:t>
            </a:r>
            <a:endParaRPr sz="1500" b="0" i="0" u="none" strike="noStrike" cap="none" dirty="0">
              <a:solidFill>
                <a:schemeClr val="dk1"/>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rgbClr val="1F497D"/>
              </a:buClr>
              <a:buSzPts val="1500"/>
              <a:buFont typeface="Times New Roman"/>
              <a:buChar char="●"/>
            </a:pPr>
            <a:r>
              <a:rPr lang="en-US" sz="1500" b="1" i="0" u="none" strike="noStrike" cap="none" dirty="0" err="1">
                <a:solidFill>
                  <a:schemeClr val="dk1"/>
                </a:solidFill>
                <a:latin typeface="Times New Roman"/>
                <a:ea typeface="Times New Roman"/>
                <a:cs typeface="Times New Roman"/>
                <a:sym typeface="Times New Roman"/>
              </a:rPr>
              <a:t>Đơn</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hàng</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khác</a:t>
            </a:r>
            <a:r>
              <a:rPr lang="en-US" sz="1500" b="0" i="0" u="none" strike="noStrike" cap="none" dirty="0">
                <a:solidFill>
                  <a:schemeClr val="dk1"/>
                </a:solidFill>
                <a:latin typeface="Times New Roman"/>
                <a:ea typeface="Times New Roman"/>
                <a:cs typeface="Times New Roman"/>
                <a:sym typeface="Times New Roman"/>
              </a:rPr>
              <a:t> (Defect, </a:t>
            </a:r>
            <a:r>
              <a:rPr lang="en-US" sz="1500" b="0" i="0" u="none" strike="noStrike" cap="none" dirty="0" err="1">
                <a:solidFill>
                  <a:schemeClr val="dk1"/>
                </a:solidFill>
                <a:latin typeface="Times New Roman"/>
                <a:ea typeface="Times New Roman"/>
                <a:cs typeface="Times New Roman"/>
                <a:sym typeface="Times New Roman"/>
              </a:rPr>
              <a:t>lấp</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đầy</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kho</a:t>
            </a:r>
            <a:r>
              <a:rPr lang="en-US" sz="1500" b="0" i="0" u="none" strike="noStrike" cap="none" dirty="0">
                <a:solidFill>
                  <a:schemeClr val="dk1"/>
                </a:solidFill>
                <a:latin typeface="Times New Roman"/>
                <a:ea typeface="Times New Roman"/>
                <a:cs typeface="Times New Roman"/>
                <a:sym typeface="Times New Roman"/>
              </a:rPr>
              <a:t> VNA, </a:t>
            </a:r>
            <a:r>
              <a:rPr lang="en-US" sz="1500" b="0" i="0" u="none" strike="noStrike" cap="none" dirty="0" err="1">
                <a:solidFill>
                  <a:schemeClr val="dk1"/>
                </a:solidFill>
                <a:latin typeface="Times New Roman"/>
                <a:ea typeface="Times New Roman"/>
                <a:cs typeface="Times New Roman"/>
                <a:sym typeface="Times New Roman"/>
              </a:rPr>
              <a:t>trả</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tàu</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bảo</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quản</a:t>
            </a:r>
            <a:r>
              <a:rPr lang="en-US" sz="1500" b="0" i="0" u="none" strike="noStrike" cap="none" dirty="0">
                <a:solidFill>
                  <a:schemeClr val="dk1"/>
                </a:solidFill>
                <a:latin typeface="Times New Roman"/>
                <a:ea typeface="Times New Roman"/>
                <a:cs typeface="Times New Roman"/>
                <a:sym typeface="Times New Roman"/>
              </a:rPr>
              <a:t>…): 0</a:t>
            </a:r>
            <a:r>
              <a:rPr lang="en-US" sz="1500" dirty="0">
                <a:solidFill>
                  <a:schemeClr val="dk1"/>
                </a:solidFill>
                <a:latin typeface="Times New Roman"/>
                <a:ea typeface="Times New Roman"/>
                <a:cs typeface="Times New Roman"/>
                <a:sym typeface="Times New Roman"/>
              </a:rPr>
              <a:t>1</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đơn</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hàng</a:t>
            </a:r>
            <a:endParaRPr sz="1500" b="0" i="0" u="none" strike="noStrike" cap="none" dirty="0">
              <a:solidFill>
                <a:srgbClr val="1F497D"/>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r>
              <a:rPr lang="en-US" sz="1500" b="1" i="0" u="none" strike="noStrike" cap="none" dirty="0" err="1">
                <a:solidFill>
                  <a:schemeClr val="dk1"/>
                </a:solidFill>
                <a:latin typeface="Times New Roman"/>
                <a:ea typeface="Times New Roman"/>
                <a:cs typeface="Times New Roman"/>
                <a:sym typeface="Times New Roman"/>
              </a:rPr>
              <a:t>Với</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các</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yêu</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cầu</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phát</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sinh</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sau</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ngày</a:t>
            </a:r>
            <a:r>
              <a:rPr lang="en-US" sz="1500" b="1" i="0" u="none" strike="noStrike" cap="none" dirty="0">
                <a:solidFill>
                  <a:schemeClr val="dk1"/>
                </a:solidFill>
                <a:latin typeface="Times New Roman"/>
                <a:ea typeface="Times New Roman"/>
                <a:cs typeface="Times New Roman"/>
                <a:sym typeface="Times New Roman"/>
              </a:rPr>
              <a:t> 2/10/2024, Ban QLVT </a:t>
            </a:r>
            <a:r>
              <a:rPr lang="en-US" sz="1500" b="1" i="0" u="none" strike="noStrike" cap="none" dirty="0" err="1">
                <a:solidFill>
                  <a:schemeClr val="dk1"/>
                </a:solidFill>
                <a:latin typeface="Times New Roman"/>
                <a:ea typeface="Times New Roman"/>
                <a:cs typeface="Times New Roman"/>
                <a:sym typeface="Times New Roman"/>
              </a:rPr>
              <a:t>vẫn</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tiếp</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tục</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đặt</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hàng</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trên</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hệ</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thống</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của</a:t>
            </a:r>
            <a:r>
              <a:rPr lang="en-US" sz="1500" b="1" i="0" u="none" strike="noStrike" cap="none" dirty="0">
                <a:solidFill>
                  <a:schemeClr val="dk1"/>
                </a:solidFill>
                <a:latin typeface="Times New Roman"/>
                <a:ea typeface="Times New Roman"/>
                <a:cs typeface="Times New Roman"/>
                <a:sym typeface="Times New Roman"/>
              </a:rPr>
              <a:t> STEA </a:t>
            </a:r>
            <a:r>
              <a:rPr lang="en-US" sz="1500" b="1" i="0" u="none" strike="noStrike" cap="none" dirty="0" err="1">
                <a:solidFill>
                  <a:schemeClr val="dk1"/>
                </a:solidFill>
                <a:latin typeface="Times New Roman"/>
                <a:ea typeface="Times New Roman"/>
                <a:cs typeface="Times New Roman"/>
                <a:sym typeface="Times New Roman"/>
              </a:rPr>
              <a:t>để</a:t>
            </a:r>
            <a:r>
              <a:rPr lang="en-US" sz="1500" b="1" i="0" u="none" strike="noStrike" cap="none" dirty="0">
                <a:solidFill>
                  <a:schemeClr val="dk1"/>
                </a:solidFill>
                <a:latin typeface="Times New Roman"/>
                <a:ea typeface="Times New Roman"/>
                <a:cs typeface="Times New Roman"/>
                <a:sym typeface="Times New Roman"/>
              </a:rPr>
              <a:t> claim </a:t>
            </a:r>
            <a:r>
              <a:rPr lang="en-US" sz="1500" b="1" i="0" u="none" strike="noStrike" cap="none" dirty="0" err="1">
                <a:solidFill>
                  <a:schemeClr val="dk1"/>
                </a:solidFill>
                <a:latin typeface="Times New Roman"/>
                <a:ea typeface="Times New Roman"/>
                <a:cs typeface="Times New Roman"/>
                <a:sym typeface="Times New Roman"/>
              </a:rPr>
              <a:t>sau</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này</a:t>
            </a:r>
            <a:r>
              <a:rPr lang="en-US" sz="1500" b="1" i="0" u="none" strike="noStrike" cap="none" dirty="0">
                <a:solidFill>
                  <a:schemeClr val="dk1"/>
                </a:solidFill>
                <a:latin typeface="Times New Roman"/>
                <a:ea typeface="Times New Roman"/>
                <a:cs typeface="Times New Roman"/>
                <a:sym typeface="Times New Roman"/>
              </a:rPr>
              <a:t>. </a:t>
            </a:r>
            <a:endParaRPr sz="1500" b="1" i="0" u="none" strike="noStrike" cap="none" dirty="0">
              <a:solidFill>
                <a:schemeClr val="dk1"/>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r>
              <a:rPr lang="en-US" sz="1500" b="1" i="0" u="none" strike="noStrike" cap="none" dirty="0" err="1">
                <a:solidFill>
                  <a:schemeClr val="dk1"/>
                </a:solidFill>
                <a:latin typeface="Times New Roman"/>
                <a:ea typeface="Times New Roman"/>
                <a:cs typeface="Times New Roman"/>
                <a:sym typeface="Times New Roman"/>
              </a:rPr>
              <a:t>Hiện</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đối</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tác</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đang</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từ</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chối</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cung</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cấp</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vật</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tư</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cho</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các</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yêu</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cầu</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sau</a:t>
            </a:r>
            <a:r>
              <a:rPr lang="en-US" sz="1500" b="1" i="0" u="none" strike="noStrike" cap="none" dirty="0">
                <a:solidFill>
                  <a:schemeClr val="dk1"/>
                </a:solidFill>
                <a:latin typeface="Times New Roman"/>
                <a:ea typeface="Times New Roman"/>
                <a:cs typeface="Times New Roman"/>
                <a:sym typeface="Times New Roman"/>
              </a:rPr>
              <a:t>:</a:t>
            </a:r>
            <a:endParaRPr sz="1500" b="1" i="0" u="none" strike="noStrike" cap="none" dirty="0">
              <a:solidFill>
                <a:schemeClr val="dk1"/>
              </a:solidFill>
              <a:latin typeface="Times New Roman"/>
              <a:ea typeface="Times New Roman"/>
              <a:cs typeface="Times New Roman"/>
              <a:sym typeface="Times New Roman"/>
            </a:endParaRPr>
          </a:p>
          <a:p>
            <a:pPr marL="914400" marR="0" lvl="0" indent="-323850" algn="just" rtl="0">
              <a:lnSpc>
                <a:spcPct val="110000"/>
              </a:lnSpc>
              <a:spcBef>
                <a:spcPts val="0"/>
              </a:spcBef>
              <a:spcAft>
                <a:spcPts val="0"/>
              </a:spcAft>
              <a:buClr>
                <a:schemeClr val="dk1"/>
              </a:buClr>
              <a:buSzPts val="1500"/>
              <a:buFont typeface="Times New Roman"/>
              <a:buAutoNum type="arabicPeriod"/>
            </a:pPr>
            <a:r>
              <a:rPr lang="en-US" sz="1500" b="1" i="0" u="none" strike="noStrike" cap="none" dirty="0" err="1">
                <a:solidFill>
                  <a:schemeClr val="dk1"/>
                </a:solidFill>
                <a:latin typeface="Times New Roman"/>
                <a:ea typeface="Times New Roman"/>
                <a:cs typeface="Times New Roman"/>
                <a:sym typeface="Times New Roman"/>
              </a:rPr>
              <a:t>Phát</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sinh</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từ</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ngày</a:t>
            </a:r>
            <a:r>
              <a:rPr lang="en-US" sz="1500" b="1" i="0" u="none" strike="noStrike" cap="none" dirty="0">
                <a:solidFill>
                  <a:schemeClr val="dk1"/>
                </a:solidFill>
                <a:latin typeface="Times New Roman"/>
                <a:ea typeface="Times New Roman"/>
                <a:cs typeface="Times New Roman"/>
                <a:sym typeface="Times New Roman"/>
              </a:rPr>
              <a:t> 3/10/2024 </a:t>
            </a:r>
            <a:r>
              <a:rPr lang="en-US" sz="1500" b="1" i="0" u="none" strike="noStrike" cap="none" dirty="0" err="1">
                <a:solidFill>
                  <a:schemeClr val="dk1"/>
                </a:solidFill>
                <a:latin typeface="Times New Roman"/>
                <a:ea typeface="Times New Roman"/>
                <a:cs typeface="Times New Roman"/>
                <a:sym typeface="Times New Roman"/>
              </a:rPr>
              <a:t>trở</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về</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sau</a:t>
            </a:r>
            <a:r>
              <a:rPr lang="en-US" sz="1500" b="1" i="0" u="none" strike="noStrike" cap="none" dirty="0">
                <a:solidFill>
                  <a:schemeClr val="dk1"/>
                </a:solidFill>
                <a:latin typeface="Times New Roman"/>
                <a:ea typeface="Times New Roman"/>
                <a:cs typeface="Times New Roman"/>
                <a:sym typeface="Times New Roman"/>
              </a:rPr>
              <a:t>.</a:t>
            </a:r>
            <a:endParaRPr sz="1500" b="1" i="0" u="none" strike="noStrike" cap="none" dirty="0">
              <a:solidFill>
                <a:schemeClr val="dk1"/>
              </a:solidFill>
              <a:latin typeface="Times New Roman"/>
              <a:ea typeface="Times New Roman"/>
              <a:cs typeface="Times New Roman"/>
              <a:sym typeface="Times New Roman"/>
            </a:endParaRPr>
          </a:p>
          <a:p>
            <a:pPr marL="914400" marR="0" lvl="0" indent="-323850" algn="just" rtl="0">
              <a:lnSpc>
                <a:spcPct val="110000"/>
              </a:lnSpc>
              <a:spcBef>
                <a:spcPts val="0"/>
              </a:spcBef>
              <a:spcAft>
                <a:spcPts val="0"/>
              </a:spcAft>
              <a:buClr>
                <a:schemeClr val="dk1"/>
              </a:buClr>
              <a:buSzPts val="1500"/>
              <a:buFont typeface="Times New Roman"/>
              <a:buAutoNum type="arabicPeriod"/>
            </a:pPr>
            <a:r>
              <a:rPr lang="en-US" sz="1500" b="1" i="0" u="none" strike="noStrike" cap="none" dirty="0" err="1">
                <a:solidFill>
                  <a:schemeClr val="dk1"/>
                </a:solidFill>
                <a:latin typeface="Times New Roman"/>
                <a:ea typeface="Times New Roman"/>
                <a:cs typeface="Times New Roman"/>
                <a:sym typeface="Times New Roman"/>
              </a:rPr>
              <a:t>Các</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đặt</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hàng</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cho</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tàu</a:t>
            </a:r>
            <a:r>
              <a:rPr lang="en-US" sz="1500" b="1" i="0" u="none" strike="noStrike" cap="none" dirty="0">
                <a:solidFill>
                  <a:schemeClr val="dk1"/>
                </a:solidFill>
                <a:latin typeface="Times New Roman"/>
                <a:ea typeface="Times New Roman"/>
                <a:cs typeface="Times New Roman"/>
                <a:sym typeface="Times New Roman"/>
              </a:rPr>
              <a:t> </a:t>
            </a:r>
            <a:r>
              <a:rPr lang="en-US" sz="1500" b="1" dirty="0">
                <a:solidFill>
                  <a:schemeClr val="dk1"/>
                </a:solidFill>
                <a:latin typeface="Times New Roman"/>
                <a:ea typeface="Times New Roman"/>
                <a:cs typeface="Times New Roman"/>
                <a:sym typeface="Times New Roman"/>
              </a:rPr>
              <a:t>r</a:t>
            </a:r>
            <a:r>
              <a:rPr lang="en-US" sz="1500" b="1" i="0" u="none" strike="noStrike" cap="none" dirty="0">
                <a:solidFill>
                  <a:schemeClr val="dk1"/>
                </a:solidFill>
                <a:latin typeface="Times New Roman"/>
                <a:ea typeface="Times New Roman"/>
                <a:cs typeface="Times New Roman"/>
                <a:sym typeface="Times New Roman"/>
              </a:rPr>
              <a:t>elease (A338/A339/A392/A393).</a:t>
            </a:r>
            <a:endParaRPr sz="1500" b="1" i="0" u="none" strike="noStrike" cap="none" dirty="0">
              <a:solidFill>
                <a:schemeClr val="dk1"/>
              </a:solidFill>
              <a:latin typeface="Times New Roman"/>
              <a:ea typeface="Times New Roman"/>
              <a:cs typeface="Times New Roman"/>
              <a:sym typeface="Times New Roman"/>
            </a:endParaRPr>
          </a:p>
        </p:txBody>
      </p:sp>
      <p:sp>
        <p:nvSpPr>
          <p:cNvPr id="176" name="Google Shape;176;g31ccdae391d_0_263"/>
          <p:cNvSpPr txBox="1"/>
          <p:nvPr/>
        </p:nvSpPr>
        <p:spPr>
          <a:xfrm>
            <a:off x="608975" y="6288450"/>
            <a:ext cx="10744800" cy="400200"/>
          </a:xfrm>
          <a:prstGeom prst="rect">
            <a:avLst/>
          </a:prstGeom>
          <a:noFill/>
          <a:ln>
            <a:noFill/>
          </a:ln>
        </p:spPr>
        <p:txBody>
          <a:bodyPr spcFirstLastPara="1" wrap="square" lIns="91425" tIns="91425" rIns="91425" bIns="91425" anchor="t" anchorCtr="0">
            <a:spAutoFit/>
          </a:bodyPr>
          <a:lstStyle/>
          <a:p>
            <a:pPr marL="0" marR="0" lvl="0" indent="0" algn="just" rtl="0">
              <a:lnSpc>
                <a:spcPct val="110000"/>
              </a:lnSpc>
              <a:spcBef>
                <a:spcPts val="600"/>
              </a:spcBef>
              <a:spcAft>
                <a:spcPts val="0"/>
              </a:spcAft>
              <a:buClr>
                <a:srgbClr val="000000"/>
              </a:buClr>
              <a:buSzPts val="1400"/>
              <a:buFont typeface="Arial"/>
              <a:buNone/>
            </a:pPr>
            <a:endParaRPr sz="1400" b="0" i="0" u="none" strike="noStrike" cap="none">
              <a:solidFill>
                <a:srgbClr val="FF0000"/>
              </a:solidFill>
              <a:latin typeface="Arial"/>
              <a:ea typeface="Arial"/>
              <a:cs typeface="Arial"/>
              <a:sym typeface="Arial"/>
            </a:endParaRPr>
          </a:p>
        </p:txBody>
      </p:sp>
      <p:pic>
        <p:nvPicPr>
          <p:cNvPr id="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Tree>
    <p:extLst>
      <p:ext uri="{BB962C8B-B14F-4D97-AF65-F5344CB8AC3E}">
        <p14:creationId xmlns:p14="http://schemas.microsoft.com/office/powerpoint/2010/main" val="77954772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g31ccdae391d_0_271"/>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a:t>
            </a:r>
            <a:endParaRPr sz="2800">
              <a:solidFill>
                <a:srgbClr val="FFC000"/>
              </a:solidFill>
              <a:latin typeface="Times New Roman"/>
              <a:ea typeface="Times New Roman"/>
              <a:cs typeface="Times New Roman"/>
              <a:sym typeface="Times New Roman"/>
            </a:endParaRPr>
          </a:p>
        </p:txBody>
      </p:sp>
      <p:sp>
        <p:nvSpPr>
          <p:cNvPr id="183" name="Google Shape;183;g31ccdae391d_0_271"/>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52</a:t>
            </a:fld>
            <a:endParaRPr/>
          </a:p>
        </p:txBody>
      </p:sp>
      <p:graphicFrame>
        <p:nvGraphicFramePr>
          <p:cNvPr id="184" name="Google Shape;184;g31ccdae391d_0_271"/>
          <p:cNvGraphicFramePr/>
          <p:nvPr/>
        </p:nvGraphicFramePr>
        <p:xfrm>
          <a:off x="489114" y="611396"/>
          <a:ext cx="11570675" cy="4459402"/>
        </p:xfrm>
        <a:graphic>
          <a:graphicData uri="http://schemas.openxmlformats.org/drawingml/2006/table">
            <a:tbl>
              <a:tblPr>
                <a:noFill/>
              </a:tblPr>
              <a:tblGrid>
                <a:gridCol w="741275"/>
                <a:gridCol w="1946125"/>
                <a:gridCol w="1285550"/>
                <a:gridCol w="5174925"/>
                <a:gridCol w="2422800"/>
              </a:tblGrid>
              <a:tr h="170150">
                <a:tc gridSpan="5">
                  <a:txBody>
                    <a:bodyPr/>
                    <a:lstStyle/>
                    <a:p>
                      <a:pPr marL="0" marR="0" lvl="0" indent="0" algn="ctr" rtl="0">
                        <a:lnSpc>
                          <a:spcPct val="100000"/>
                        </a:lnSpc>
                        <a:spcBef>
                          <a:spcPts val="0"/>
                        </a:spcBef>
                        <a:spcAft>
                          <a:spcPts val="0"/>
                        </a:spcAft>
                        <a:buClr>
                          <a:srgbClr val="000000"/>
                        </a:buClr>
                        <a:buSzPts val="1500"/>
                        <a:buFont typeface="Arial"/>
                        <a:buNone/>
                      </a:pPr>
                      <a:r>
                        <a:rPr lang="en-US" sz="2000" b="1" u="none" strike="noStrike" cap="none" dirty="0">
                          <a:solidFill>
                            <a:srgbClr val="FF0000"/>
                          </a:solidFill>
                          <a:latin typeface="Times New Roman"/>
                          <a:ea typeface="Times New Roman"/>
                          <a:cs typeface="Times New Roman"/>
                          <a:sym typeface="Times New Roman"/>
                        </a:rPr>
                        <a:t>DANH MỤC VẬT TƯ CRITICAL</a:t>
                      </a:r>
                      <a:endParaRPr sz="2000" u="none" strike="noStrike" cap="none" dirty="0"/>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170150">
                <a:tc>
                  <a:txBody>
                    <a:bodyPr/>
                    <a:lstStyle/>
                    <a:p>
                      <a:pPr marL="0" marR="0" lvl="0" indent="0" algn="ctr" rtl="0">
                        <a:lnSpc>
                          <a:spcPct val="100000"/>
                        </a:lnSpc>
                        <a:spcBef>
                          <a:spcPts val="0"/>
                        </a:spcBef>
                        <a:spcAft>
                          <a:spcPts val="0"/>
                        </a:spcAft>
                        <a:buClr>
                          <a:srgbClr val="000000"/>
                        </a:buClr>
                        <a:buSzPts val="1150"/>
                        <a:buFont typeface="Arial"/>
                        <a:buNone/>
                      </a:pPr>
                      <a:r>
                        <a:rPr lang="en-US" sz="1800" b="1" i="0" u="none" strike="noStrike" cap="none">
                          <a:solidFill>
                            <a:srgbClr val="000000"/>
                          </a:solidFill>
                          <a:latin typeface="Times New Roman"/>
                          <a:ea typeface="Times New Roman"/>
                          <a:cs typeface="Times New Roman"/>
                          <a:sym typeface="Times New Roman"/>
                        </a:rPr>
                        <a:t>STT</a:t>
                      </a:r>
                      <a:endParaRPr sz="18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i="0" u="none" strike="noStrike" cap="none">
                          <a:solidFill>
                            <a:srgbClr val="000000"/>
                          </a:solidFill>
                          <a:latin typeface="Times New Roman"/>
                          <a:ea typeface="Times New Roman"/>
                          <a:cs typeface="Times New Roman"/>
                          <a:sym typeface="Times New Roman"/>
                        </a:rPr>
                        <a:t>Tên thiết bị</a:t>
                      </a:r>
                      <a:endParaRPr sz="180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i="0" u="none" strike="noStrike" cap="none">
                          <a:solidFill>
                            <a:srgbClr val="000000"/>
                          </a:solidFill>
                          <a:latin typeface="Times New Roman"/>
                          <a:ea typeface="Times New Roman"/>
                          <a:cs typeface="Times New Roman"/>
                          <a:sym typeface="Times New Roman"/>
                        </a:rPr>
                        <a:t>P/N</a:t>
                      </a:r>
                      <a:endParaRPr sz="18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u="none" strike="noStrike" cap="none">
                          <a:latin typeface="Times New Roman"/>
                          <a:ea typeface="Times New Roman"/>
                          <a:cs typeface="Times New Roman"/>
                          <a:sym typeface="Times New Roman"/>
                        </a:rPr>
                        <a:t>Tình trạng vật tư</a:t>
                      </a:r>
                      <a:endParaRPr sz="180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u="none" strike="noStrike" cap="none">
                          <a:latin typeface="Times New Roman"/>
                          <a:ea typeface="Times New Roman"/>
                          <a:cs typeface="Times New Roman"/>
                          <a:sym typeface="Times New Roman"/>
                        </a:rPr>
                        <a:t>Note</a:t>
                      </a:r>
                      <a:endParaRPr sz="180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442025">
                <a:tc>
                  <a:txBody>
                    <a:bodyPr/>
                    <a:lstStyle/>
                    <a:p>
                      <a:pPr marL="0" marR="0" lvl="0" indent="0" algn="ctr" rtl="0">
                        <a:lnSpc>
                          <a:spcPct val="100000"/>
                        </a:lnSpc>
                        <a:spcBef>
                          <a:spcPts val="0"/>
                        </a:spcBef>
                        <a:spcAft>
                          <a:spcPts val="0"/>
                        </a:spcAft>
                        <a:buClr>
                          <a:srgbClr val="000000"/>
                        </a:buClr>
                        <a:buSzPts val="1150"/>
                        <a:buFont typeface="Arial"/>
                        <a:buNone/>
                      </a:pPr>
                      <a:r>
                        <a:rPr lang="en-US" sz="1600" i="0" u="none" strike="noStrike" cap="none">
                          <a:solidFill>
                            <a:srgbClr val="000000"/>
                          </a:solidFill>
                          <a:latin typeface="Times New Roman"/>
                          <a:ea typeface="Times New Roman"/>
                          <a:cs typeface="Times New Roman"/>
                          <a:sym typeface="Times New Roman"/>
                        </a:rPr>
                        <a:t>1</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FDRV</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17300G11</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2ea alt PN </a:t>
                      </a:r>
                      <a:r>
                        <a:rPr lang="en-US" sz="1600" u="none" strike="noStrike" cap="none">
                          <a:solidFill>
                            <a:schemeClr val="dk1"/>
                          </a:solidFill>
                          <a:latin typeface="Times New Roman"/>
                          <a:ea typeface="Times New Roman"/>
                          <a:cs typeface="Times New Roman"/>
                          <a:sym typeface="Times New Roman"/>
                        </a:rPr>
                        <a:t>17300G12</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697975">
                <a:tc>
                  <a:txBody>
                    <a:bodyPr/>
                    <a:lstStyle/>
                    <a:p>
                      <a:pPr marL="0" marR="0" lvl="0" indent="0" algn="ctr" rtl="0">
                        <a:lnSpc>
                          <a:spcPct val="100000"/>
                        </a:lnSpc>
                        <a:spcBef>
                          <a:spcPts val="0"/>
                        </a:spcBef>
                        <a:spcAft>
                          <a:spcPts val="0"/>
                        </a:spcAft>
                        <a:buClr>
                          <a:srgbClr val="000000"/>
                        </a:buClr>
                        <a:buSzPts val="1150"/>
                        <a:buFont typeface="Arial"/>
                        <a:buNone/>
                      </a:pPr>
                      <a:r>
                        <a:rPr lang="en-US" sz="1600" i="0" u="none" strike="noStrike" cap="none">
                          <a:solidFill>
                            <a:srgbClr val="000000"/>
                          </a:solidFill>
                          <a:latin typeface="Times New Roman"/>
                          <a:ea typeface="Times New Roman"/>
                          <a:cs typeface="Times New Roman"/>
                          <a:sym typeface="Times New Roman"/>
                        </a:rPr>
                        <a:t>2</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SSTU</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321000M03</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a:t>
                      </a:r>
                      <a:r>
                        <a:rPr lang="en-US" sz="1600">
                          <a:latin typeface="Times New Roman"/>
                          <a:ea typeface="Times New Roman"/>
                          <a:cs typeface="Times New Roman"/>
                          <a:sym typeface="Times New Roman"/>
                        </a:rPr>
                        <a:t>NIL, mới gửi đi sửa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a:solidFill>
                            <a:schemeClr val="dk1"/>
                          </a:solidFill>
                          <a:latin typeface="Times New Roman"/>
                          <a:ea typeface="Times New Roman"/>
                          <a:cs typeface="Times New Roman"/>
                          <a:sym typeface="Times New Roman"/>
                        </a:rPr>
                        <a:t>đang tìm phương án đổi</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504400">
                <a:tc>
                  <a:txBody>
                    <a:bodyPr/>
                    <a:lstStyle/>
                    <a:p>
                      <a:pPr marL="0" marR="0" lvl="0" indent="0" algn="ctr" rtl="0">
                        <a:lnSpc>
                          <a:spcPct val="100000"/>
                        </a:lnSpc>
                        <a:spcBef>
                          <a:spcPts val="0"/>
                        </a:spcBef>
                        <a:spcAft>
                          <a:spcPts val="0"/>
                        </a:spcAft>
                        <a:buClr>
                          <a:srgbClr val="000000"/>
                        </a:buClr>
                        <a:buSzPts val="1150"/>
                        <a:buFont typeface="Arial"/>
                        <a:buNone/>
                      </a:pPr>
                      <a:r>
                        <a:rPr lang="en-US" sz="1600" i="0" u="none" strike="noStrike" cap="none">
                          <a:solidFill>
                            <a:srgbClr val="000000"/>
                          </a:solidFill>
                          <a:latin typeface="Times New Roman"/>
                          <a:ea typeface="Times New Roman"/>
                          <a:cs typeface="Times New Roman"/>
                          <a:sym typeface="Times New Roman"/>
                        </a:rPr>
                        <a:t>3</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dirty="0">
                          <a:solidFill>
                            <a:schemeClr val="dk1"/>
                          </a:solidFill>
                          <a:latin typeface="Times New Roman"/>
                          <a:ea typeface="Times New Roman"/>
                          <a:cs typeface="Times New Roman"/>
                          <a:sym typeface="Times New Roman"/>
                        </a:rPr>
                        <a:t>CNA</a:t>
                      </a:r>
                      <a:endParaRPr sz="1600" u="none" strike="noStrike" cap="none" dirty="0">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745-1101-507</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NIL, </a:t>
                      </a:r>
                      <a:r>
                        <a:rPr lang="en-US" sz="1600" u="none" strike="noStrike" cap="none">
                          <a:solidFill>
                            <a:schemeClr val="dk1"/>
                          </a:solidFill>
                          <a:latin typeface="Times New Roman"/>
                          <a:ea typeface="Times New Roman"/>
                          <a:cs typeface="Times New Roman"/>
                          <a:sym typeface="Times New Roman"/>
                        </a:rPr>
                        <a:t>đang giục </a:t>
                      </a:r>
                      <a:r>
                        <a:rPr lang="en-US" sz="1600">
                          <a:solidFill>
                            <a:schemeClr val="dk1"/>
                          </a:solidFill>
                          <a:latin typeface="Times New Roman"/>
                          <a:ea typeface="Times New Roman"/>
                          <a:cs typeface="Times New Roman"/>
                          <a:sym typeface="Times New Roman"/>
                        </a:rPr>
                        <a:t>RO </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416325">
                <a:tc>
                  <a:txBody>
                    <a:bodyPr/>
                    <a:lstStyle/>
                    <a:p>
                      <a:pPr marL="0" marR="0" lvl="0" indent="0" algn="ctr"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4</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SLEEVE LH</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745-0006-501</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Arial"/>
                        <a:buNone/>
                      </a:pPr>
                      <a:r>
                        <a:rPr lang="en-US" sz="1600" u="none" strike="noStrike" cap="none">
                          <a:solidFill>
                            <a:schemeClr val="dk1"/>
                          </a:solidFill>
                          <a:latin typeface="Times New Roman"/>
                          <a:ea typeface="Times New Roman"/>
                          <a:cs typeface="Times New Roman"/>
                          <a:sym typeface="Times New Roman"/>
                        </a:rPr>
                        <a:t>stock </a:t>
                      </a:r>
                      <a:r>
                        <a:rPr lang="en-US" sz="1600">
                          <a:solidFill>
                            <a:schemeClr val="dk1"/>
                          </a:solidFill>
                          <a:latin typeface="Times New Roman"/>
                          <a:ea typeface="Times New Roman"/>
                          <a:cs typeface="Times New Roman"/>
                          <a:sym typeface="Times New Roman"/>
                        </a:rPr>
                        <a:t>1ea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366500">
                <a:tc>
                  <a:txBody>
                    <a:bodyPr/>
                    <a:lstStyle/>
                    <a:p>
                      <a:pPr marL="0" marR="0" lvl="0" indent="0" algn="ctr"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5</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SLEEVE RH</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745-0006-503</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NIL</a:t>
                      </a:r>
                      <a:r>
                        <a:rPr lang="en-US" sz="1600" u="none" strike="noStrike" cap="none">
                          <a:solidFill>
                            <a:schemeClr val="dk1"/>
                          </a:solidFill>
                          <a:latin typeface="Times New Roman"/>
                          <a:ea typeface="Times New Roman"/>
                          <a:cs typeface="Times New Roman"/>
                          <a:sym typeface="Times New Roman"/>
                        </a:rPr>
                        <a:t>, đang giục VAECO sửa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437300">
                <a:tc>
                  <a:txBody>
                    <a:bodyPr/>
                    <a:lstStyle/>
                    <a:p>
                      <a:pPr marL="0" marR="0" lvl="0" indent="0" algn="ctr"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6</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AIR INLET COWL</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745-3400-507</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stock </a:t>
                      </a:r>
                      <a:r>
                        <a:rPr lang="en-US" sz="1600">
                          <a:solidFill>
                            <a:schemeClr val="dk1"/>
                          </a:solidFill>
                          <a:latin typeface="Times New Roman"/>
                          <a:ea typeface="Times New Roman"/>
                          <a:cs typeface="Times New Roman"/>
                          <a:sym typeface="Times New Roman"/>
                        </a:rPr>
                        <a:t>1ea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43730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7</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IPCV NEO</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5325192 (1020925-3)</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2ea </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Rob từ NEO bảo quản</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43730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8</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EIU NEO</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777461-1-1</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NIL, đang </a:t>
                      </a:r>
                      <a:r>
                        <a:rPr lang="en-US" sz="1600">
                          <a:latin typeface="Times New Roman"/>
                          <a:ea typeface="Times New Roman"/>
                          <a:cs typeface="Times New Roman"/>
                          <a:sym typeface="Times New Roman"/>
                        </a:rPr>
                        <a:t>giục sửa chữa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Rob từ NEO bảo quản</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bl>
          </a:graphicData>
        </a:graphic>
      </p:graphicFrame>
      <p:pic>
        <p:nvPicPr>
          <p:cNvPr id="5"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Tree>
    <p:extLst>
      <p:ext uri="{BB962C8B-B14F-4D97-AF65-F5344CB8AC3E}">
        <p14:creationId xmlns:p14="http://schemas.microsoft.com/office/powerpoint/2010/main" val="2705889404"/>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g31ccdae391d_0_278"/>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TÌNH TRẠNG APU LRU </a:t>
            </a:r>
            <a:r>
              <a:rPr lang="en-US" sz="2800">
                <a:solidFill>
                  <a:schemeClr val="accent4"/>
                </a:solidFill>
                <a:latin typeface="Times New Roman"/>
                <a:ea typeface="Times New Roman"/>
                <a:cs typeface="Times New Roman"/>
                <a:sym typeface="Times New Roman"/>
              </a:rPr>
              <a:t>A321 </a:t>
            </a:r>
            <a:endParaRPr sz="2800">
              <a:solidFill>
                <a:srgbClr val="FFC000"/>
              </a:solidFill>
              <a:latin typeface="Times New Roman"/>
              <a:ea typeface="Times New Roman"/>
              <a:cs typeface="Times New Roman"/>
              <a:sym typeface="Times New Roman"/>
            </a:endParaRPr>
          </a:p>
        </p:txBody>
      </p:sp>
      <p:sp>
        <p:nvSpPr>
          <p:cNvPr id="191" name="Google Shape;191;g31ccdae391d_0_27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53</a:t>
            </a:fld>
            <a:endParaRPr/>
          </a:p>
        </p:txBody>
      </p:sp>
      <p:graphicFrame>
        <p:nvGraphicFramePr>
          <p:cNvPr id="192" name="Google Shape;192;g31ccdae391d_0_278"/>
          <p:cNvGraphicFramePr/>
          <p:nvPr/>
        </p:nvGraphicFramePr>
        <p:xfrm>
          <a:off x="558675" y="462325"/>
          <a:ext cx="10287000" cy="6130632"/>
        </p:xfrm>
        <a:graphic>
          <a:graphicData uri="http://schemas.openxmlformats.org/drawingml/2006/table">
            <a:tbl>
              <a:tblPr>
                <a:noFill/>
              </a:tblPr>
              <a:tblGrid>
                <a:gridCol w="382850"/>
                <a:gridCol w="2130900"/>
                <a:gridCol w="2382725"/>
                <a:gridCol w="1051825"/>
                <a:gridCol w="4338700"/>
              </a:tblGrid>
              <a:tr h="381000">
                <a:tc>
                  <a:txBody>
                    <a:bodyPr/>
                    <a:lstStyle/>
                    <a:p>
                      <a:pPr marL="0" marR="0" lvl="0" indent="0" algn="l" rtl="0">
                        <a:spcBef>
                          <a:spcPts val="0"/>
                        </a:spcBef>
                        <a:spcAft>
                          <a:spcPts val="0"/>
                        </a:spcAft>
                        <a:buClr>
                          <a:schemeClr val="dk1"/>
                        </a:buClr>
                        <a:buSzPts val="1100"/>
                        <a:buFont typeface="Arial"/>
                        <a:buNone/>
                      </a:pPr>
                      <a:r>
                        <a:rPr lang="en-US" sz="1300" u="none" strike="noStrike" cap="none" dirty="0">
                          <a:solidFill>
                            <a:schemeClr val="dk1"/>
                          </a:solidFill>
                          <a:latin typeface="Times New Roman"/>
                          <a:ea typeface="Times New Roman"/>
                          <a:cs typeface="Times New Roman"/>
                          <a:sym typeface="Times New Roman"/>
                        </a:rPr>
                        <a:t>it</a:t>
                      </a:r>
                      <a:endParaRPr sz="1800" u="none" strike="noStrike" cap="none" dirty="0"/>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Part number</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Description</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MBK level</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status</a:t>
                      </a:r>
                      <a:endParaRPr sz="1800" u="none" strike="noStrike" cap="none"/>
                    </a:p>
                  </a:txBody>
                  <a:tcPr marL="91425" marR="91425" marT="91425" marB="91425"/>
                </a:tc>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106-1-1100-02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ACTUATOR-APU</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NIL,</a:t>
                      </a:r>
                      <a:r>
                        <a:rPr lang="en-US" sz="1300">
                          <a:solidFill>
                            <a:schemeClr val="dk1"/>
                          </a:solidFill>
                          <a:latin typeface="Times New Roman"/>
                          <a:ea typeface="Times New Roman"/>
                          <a:cs typeface="Times New Roman"/>
                          <a:sym typeface="Times New Roman"/>
                        </a:rPr>
                        <a:t> đang đặt mua bù scrap 1ea</a:t>
                      </a:r>
                      <a:endParaRPr sz="1300" u="none" strike="noStrike" cap="none">
                        <a:latin typeface="Times New Roman"/>
                        <a:ea typeface="Times New Roman"/>
                        <a:cs typeface="Times New Roman"/>
                        <a:sym typeface="Times New Roman"/>
                      </a:endParaRPr>
                    </a:p>
                  </a:txBody>
                  <a:tcPr marL="91425" marR="91425" marT="91425" marB="91425"/>
                </a:tc>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160494-1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OIL COOLER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NIL</a:t>
                      </a:r>
                      <a:endParaRPr sz="1300" u="none" strike="noStrike" cap="none">
                        <a:latin typeface="Times New Roman"/>
                        <a:ea typeface="Times New Roman"/>
                        <a:cs typeface="Times New Roman"/>
                        <a:sym typeface="Times New Roman"/>
                      </a:endParaRPr>
                    </a:p>
                  </a:txBody>
                  <a:tcPr marL="91425" marR="91425" marT="91425" marB="91425"/>
                </a:tc>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2704506-2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MOTOR STARTER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NIL, đang đặt mua bù scrap 2ea</a:t>
                      </a:r>
                      <a:endParaRPr sz="1300" u="none" strike="noStrike" cap="none">
                        <a:latin typeface="Times New Roman"/>
                        <a:ea typeface="Times New Roman"/>
                        <a:cs typeface="Times New Roman"/>
                        <a:sym typeface="Times New Roman"/>
                      </a:endParaRPr>
                    </a:p>
                  </a:txBody>
                  <a:tcPr marL="91425" marR="91425" marT="91425" marB="91425"/>
                </a:tc>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3291238-2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VALVE-SURGE CONTROL</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NIL</a:t>
                      </a:r>
                      <a:endParaRPr sz="1300" u="none" strike="noStrike" cap="none">
                        <a:latin typeface="Times New Roman"/>
                        <a:ea typeface="Times New Roman"/>
                        <a:cs typeface="Times New Roman"/>
                        <a:sym typeface="Times New Roman"/>
                      </a:endParaRPr>
                    </a:p>
                  </a:txBody>
                  <a:tcPr marL="91425" marR="91425" marT="91425" marB="91425"/>
                </a:tc>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dirty="0">
                          <a:latin typeface="Times New Roman"/>
                          <a:ea typeface="Times New Roman"/>
                          <a:cs typeface="Times New Roman"/>
                          <a:sym typeface="Times New Roman"/>
                        </a:rPr>
                        <a:t>3291432-1</a:t>
                      </a:r>
                      <a:endParaRPr sz="1300" u="none" strike="noStrike" cap="none" dirty="0">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LOAD CONTROL VALVE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1</a:t>
                      </a:r>
                      <a:r>
                        <a:rPr lang="en-US" sz="1300" u="none" strike="noStrike" cap="none">
                          <a:latin typeface="Times New Roman"/>
                          <a:ea typeface="Times New Roman"/>
                          <a:cs typeface="Times New Roman"/>
                          <a:sym typeface="Times New Roman"/>
                        </a:rPr>
                        <a:t>ea</a:t>
                      </a:r>
                      <a:endParaRPr sz="1300" u="none" strike="noStrike" cap="none">
                        <a:latin typeface="Times New Roman"/>
                        <a:ea typeface="Times New Roman"/>
                        <a:cs typeface="Times New Roman"/>
                        <a:sym typeface="Times New Roman"/>
                      </a:endParaRPr>
                    </a:p>
                  </a:txBody>
                  <a:tcPr marL="91425" marR="91425" marT="91425" marB="91425"/>
                </a:tc>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6</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3616140-10</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FAN ASSY-OIL COOLING</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1ea</a:t>
                      </a:r>
                      <a:endParaRPr sz="1300" u="none" strike="noStrike" cap="none">
                        <a:latin typeface="Times New Roman"/>
                        <a:ea typeface="Times New Roman"/>
                        <a:cs typeface="Times New Roman"/>
                        <a:sym typeface="Times New Roman"/>
                      </a:endParaRPr>
                    </a:p>
                  </a:txBody>
                  <a:tcPr marL="91425" marR="91425" marT="91425" marB="91425"/>
                </a:tc>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7</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dirty="0">
                          <a:latin typeface="Times New Roman"/>
                          <a:ea typeface="Times New Roman"/>
                          <a:cs typeface="Times New Roman"/>
                          <a:sym typeface="Times New Roman"/>
                        </a:rPr>
                        <a:t>3876287-1</a:t>
                      </a:r>
                      <a:endParaRPr sz="1300" u="none" strike="noStrike" cap="none" dirty="0">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DATA MEMORY MODULE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1ea</a:t>
                      </a:r>
                      <a:endParaRPr sz="1300" u="none" strike="noStrike" cap="none">
                        <a:latin typeface="Times New Roman"/>
                        <a:ea typeface="Times New Roman"/>
                        <a:cs typeface="Times New Roman"/>
                        <a:sym typeface="Times New Roman"/>
                      </a:endParaRPr>
                    </a:p>
                  </a:txBody>
                  <a:tcPr marL="91425" marR="91425" marT="91425" marB="91425"/>
                </a:tc>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8</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3886188-3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IGV ACTUATOR APU131-9A</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NIL</a:t>
                      </a:r>
                      <a:endParaRPr sz="1300" u="none" strike="noStrike" cap="none">
                        <a:latin typeface="Times New Roman"/>
                        <a:ea typeface="Times New Roman"/>
                        <a:cs typeface="Times New Roman"/>
                        <a:sym typeface="Times New Roman"/>
                      </a:endParaRPr>
                    </a:p>
                  </a:txBody>
                  <a:tcPr marL="91425" marR="91425" marT="91425" marB="91425"/>
                </a:tc>
              </a:tr>
              <a:tr h="3416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9</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3888058-5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EXCITER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1ea, </a:t>
                      </a:r>
                      <a:r>
                        <a:rPr lang="en-US" sz="1300">
                          <a:solidFill>
                            <a:schemeClr val="dk1"/>
                          </a:solidFill>
                          <a:latin typeface="Times New Roman"/>
                          <a:ea typeface="Times New Roman"/>
                          <a:cs typeface="Times New Roman"/>
                          <a:sym typeface="Times New Roman"/>
                        </a:rPr>
                        <a:t> đang đặt mua bù scrap 2ea</a:t>
                      </a:r>
                      <a:endParaRPr sz="1300" u="none" strike="noStrike" cap="none">
                        <a:latin typeface="Times New Roman"/>
                        <a:ea typeface="Times New Roman"/>
                        <a:cs typeface="Times New Roman"/>
                        <a:sym typeface="Times New Roman"/>
                      </a:endParaRPr>
                    </a:p>
                  </a:txBody>
                  <a:tcPr marL="91425" marR="91425" marT="91425" marB="91425"/>
                </a:tc>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10</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3888394-221205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ECB</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1</a:t>
                      </a:r>
                      <a:r>
                        <a:rPr lang="en-US" sz="1300" u="none" strike="noStrike" cap="none">
                          <a:solidFill>
                            <a:schemeClr val="dk1"/>
                          </a:solidFill>
                          <a:latin typeface="Times New Roman"/>
                          <a:ea typeface="Times New Roman"/>
                          <a:cs typeface="Times New Roman"/>
                          <a:sym typeface="Times New Roman"/>
                        </a:rPr>
                        <a:t>ea</a:t>
                      </a:r>
                      <a:endParaRPr sz="1300" u="none" strike="noStrike" cap="none">
                        <a:latin typeface="Times New Roman"/>
                        <a:ea typeface="Times New Roman"/>
                        <a:cs typeface="Times New Roman"/>
                        <a:sym typeface="Times New Roman"/>
                      </a:endParaRPr>
                    </a:p>
                  </a:txBody>
                  <a:tcPr marL="91425" marR="91425" marT="91425" marB="91425"/>
                </a:tc>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4131020-4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LUBE MODULE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1ea</a:t>
                      </a:r>
                      <a:endParaRPr sz="1300" u="none" strike="noStrike" cap="none">
                        <a:latin typeface="Times New Roman"/>
                        <a:ea typeface="Times New Roman"/>
                        <a:cs typeface="Times New Roman"/>
                        <a:sym typeface="Times New Roman"/>
                      </a:endParaRPr>
                    </a:p>
                  </a:txBody>
                  <a:tcPr marL="91425" marR="91425" marT="91425" marB="91425"/>
                </a:tc>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441921-5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CONTROL FUEL UNIT</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2ea</a:t>
                      </a:r>
                      <a:endParaRPr sz="1300" u="none" strike="noStrike" cap="none">
                        <a:latin typeface="Times New Roman"/>
                        <a:ea typeface="Times New Roman"/>
                        <a:cs typeface="Times New Roman"/>
                        <a:sym typeface="Times New Roman"/>
                      </a:endParaRPr>
                    </a:p>
                  </a:txBody>
                  <a:tcPr marL="91425" marR="91425" marT="91425" marB="91425"/>
                </a:tc>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BA03604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GENERATOR-APU</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06ea</a:t>
                      </a:r>
                      <a:endParaRPr sz="1300" u="none" strike="noStrike" cap="none">
                        <a:latin typeface="Times New Roman"/>
                        <a:ea typeface="Times New Roman"/>
                        <a:cs typeface="Times New Roman"/>
                        <a:sym typeface="Times New Roman"/>
                      </a:endParaRPr>
                    </a:p>
                  </a:txBody>
                  <a:tcPr marL="91425" marR="91425" marT="91425" marB="91425"/>
                </a:tc>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3860864-1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CLUTCH ASSY</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NIL, </a:t>
                      </a:r>
                      <a:r>
                        <a:rPr lang="en-US" sz="1300">
                          <a:solidFill>
                            <a:schemeClr val="dk1"/>
                          </a:solidFill>
                          <a:latin typeface="Times New Roman"/>
                          <a:ea typeface="Times New Roman"/>
                          <a:cs typeface="Times New Roman"/>
                          <a:sym typeface="Times New Roman"/>
                        </a:rPr>
                        <a:t>đang đặt mua bù scrap 1ea</a:t>
                      </a:r>
                      <a:endParaRPr sz="1300" u="none" strike="noStrike" cap="none">
                        <a:latin typeface="Times New Roman"/>
                        <a:ea typeface="Times New Roman"/>
                        <a:cs typeface="Times New Roman"/>
                        <a:sym typeface="Times New Roman"/>
                      </a:endParaRPr>
                    </a:p>
                  </a:txBody>
                  <a:tcPr marL="91425" marR="91425" marT="91425" marB="91425"/>
                </a:tc>
              </a:tr>
            </a:tbl>
          </a:graphicData>
        </a:graphic>
      </p:graphicFrame>
      <p:pic>
        <p:nvPicPr>
          <p:cNvPr id="5"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Tree>
    <p:extLst>
      <p:ext uri="{BB962C8B-B14F-4D97-AF65-F5344CB8AC3E}">
        <p14:creationId xmlns:p14="http://schemas.microsoft.com/office/powerpoint/2010/main" val="2927230295"/>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g31ccdae391d_0_285"/>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 CÁC VẬT TƯ VƯỚNG MẮC KHÁC</a:t>
            </a:r>
            <a:endParaRPr sz="2800">
              <a:solidFill>
                <a:srgbClr val="FFC000"/>
              </a:solidFill>
              <a:latin typeface="Times New Roman"/>
              <a:ea typeface="Times New Roman"/>
              <a:cs typeface="Times New Roman"/>
              <a:sym typeface="Times New Roman"/>
            </a:endParaRPr>
          </a:p>
        </p:txBody>
      </p:sp>
      <p:sp>
        <p:nvSpPr>
          <p:cNvPr id="199" name="Google Shape;199;g31ccdae391d_0_28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54</a:t>
            </a:fld>
            <a:endParaRPr/>
          </a:p>
        </p:txBody>
      </p:sp>
      <p:graphicFrame>
        <p:nvGraphicFramePr>
          <p:cNvPr id="200" name="Google Shape;200;g31ccdae391d_0_285"/>
          <p:cNvGraphicFramePr/>
          <p:nvPr/>
        </p:nvGraphicFramePr>
        <p:xfrm>
          <a:off x="438751" y="690871"/>
          <a:ext cx="11570675" cy="3855160"/>
        </p:xfrm>
        <a:graphic>
          <a:graphicData uri="http://schemas.openxmlformats.org/drawingml/2006/table">
            <a:tbl>
              <a:tblPr>
                <a:noFill/>
              </a:tblPr>
              <a:tblGrid>
                <a:gridCol w="741275"/>
                <a:gridCol w="1442775"/>
                <a:gridCol w="1263625"/>
                <a:gridCol w="4061500"/>
                <a:gridCol w="4061500"/>
              </a:tblGrid>
              <a:tr h="170150">
                <a:tc gridSpan="5">
                  <a:txBody>
                    <a:bodyPr/>
                    <a:lstStyle/>
                    <a:p>
                      <a:pPr marL="0" marR="0" lvl="0" indent="0" algn="ctr" rtl="0">
                        <a:lnSpc>
                          <a:spcPct val="100000"/>
                        </a:lnSpc>
                        <a:spcBef>
                          <a:spcPts val="0"/>
                        </a:spcBef>
                        <a:spcAft>
                          <a:spcPts val="0"/>
                        </a:spcAft>
                        <a:buClr>
                          <a:srgbClr val="000000"/>
                        </a:buClr>
                        <a:buSzPts val="1500"/>
                        <a:buFont typeface="Arial"/>
                        <a:buNone/>
                      </a:pPr>
                      <a:endParaRPr sz="1400" u="none" strike="noStrike" cap="none" dirty="0"/>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170150">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STT</a:t>
                      </a:r>
                      <a:endParaRPr sz="1400" u="none" strike="noStrike" cap="none"/>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Tên thiết bị</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P/N</a:t>
                      </a:r>
                      <a:endParaRPr sz="1400" u="none" strike="noStrike" cap="none"/>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Hỏng hóc</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u="none" strike="noStrike" cap="none">
                          <a:latin typeface="Times New Roman"/>
                          <a:ea typeface="Times New Roman"/>
                          <a:cs typeface="Times New Roman"/>
                          <a:sym typeface="Times New Roman"/>
                        </a:rPr>
                        <a:t>Tình trạng</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1020850">
                <a:tc>
                  <a:txBody>
                    <a:bodyPr/>
                    <a:lstStyle/>
                    <a:p>
                      <a:pPr marL="0" marR="0" lvl="0" indent="0" algn="ctr" rtl="0">
                        <a:lnSpc>
                          <a:spcPct val="100000"/>
                        </a:lnSpc>
                        <a:spcBef>
                          <a:spcPts val="0"/>
                        </a:spcBef>
                        <a:spcAft>
                          <a:spcPts val="0"/>
                        </a:spcAft>
                        <a:buClr>
                          <a:srgbClr val="000000"/>
                        </a:buClr>
                        <a:buSzPts val="1150"/>
                        <a:buFont typeface="Arial"/>
                        <a:buNone/>
                      </a:pPr>
                      <a:r>
                        <a:rPr lang="en-US" sz="1150" b="0" i="0" u="none" strike="noStrike" cap="none">
                          <a:solidFill>
                            <a:srgbClr val="000000"/>
                          </a:solidFill>
                          <a:latin typeface="Times New Roman"/>
                          <a:ea typeface="Times New Roman"/>
                          <a:cs typeface="Times New Roman"/>
                          <a:sym typeface="Times New Roman"/>
                        </a:rPr>
                        <a:t>1</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Rotating mech MLG</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4133801011</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Hỏng hóc nhiều tuy nhiên ST cấp hàng chậm với lý do các thiết bị gửi đi sửa chữa có TAT dài, PO mua mới tới OEM Safran có leadtime dài. Hiện đã phải dừng chương trình kiểm tra theo khuyến cáo của OEM để có đủ vật tư cho các tàu tháo bảo quản. </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Stock </a:t>
                      </a:r>
                      <a:r>
                        <a:rPr lang="en-US" sz="1150">
                          <a:latin typeface="Times New Roman"/>
                          <a:ea typeface="Times New Roman"/>
                          <a:cs typeface="Times New Roman"/>
                          <a:sym typeface="Times New Roman"/>
                        </a:rPr>
                        <a:t>2ea</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Các khối VNA gửi sửa chữa bị scrap, đã đặt mua bổ sung </a:t>
                      </a:r>
                      <a:r>
                        <a:rPr lang="en-US" sz="1150">
                          <a:latin typeface="Times New Roman"/>
                          <a:ea typeface="Times New Roman"/>
                          <a:cs typeface="Times New Roman"/>
                          <a:sym typeface="Times New Roman"/>
                        </a:rPr>
                        <a:t>6</a:t>
                      </a:r>
                      <a:r>
                        <a:rPr lang="en-US" sz="1150" u="none" strike="noStrike" cap="none">
                          <a:latin typeface="Times New Roman"/>
                          <a:ea typeface="Times New Roman"/>
                          <a:cs typeface="Times New Roman"/>
                          <a:sym typeface="Times New Roman"/>
                        </a:rPr>
                        <a:t>ea, leadtime d</a:t>
                      </a:r>
                      <a:r>
                        <a:rPr lang="en-US" sz="1150">
                          <a:latin typeface="Times New Roman"/>
                          <a:ea typeface="Times New Roman"/>
                          <a:cs typeface="Times New Roman"/>
                          <a:sym typeface="Times New Roman"/>
                        </a:rPr>
                        <a:t>ài</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r>
              <a:tr h="850725">
                <a:tc>
                  <a:txBody>
                    <a:bodyPr/>
                    <a:lstStyle/>
                    <a:p>
                      <a:pPr marL="0" marR="0" lvl="0" indent="0" algn="ctr" rtl="0">
                        <a:lnSpc>
                          <a:spcPct val="100000"/>
                        </a:lnSpc>
                        <a:spcBef>
                          <a:spcPts val="0"/>
                        </a:spcBef>
                        <a:spcAft>
                          <a:spcPts val="0"/>
                        </a:spcAft>
                        <a:buClr>
                          <a:srgbClr val="000000"/>
                        </a:buClr>
                        <a:buSzPts val="1150"/>
                        <a:buFont typeface="Arial"/>
                        <a:buNone/>
                      </a:pPr>
                      <a:r>
                        <a:rPr lang="en-US" sz="1150" b="0" i="0" u="none" strike="noStrike" cap="none">
                          <a:solidFill>
                            <a:srgbClr val="000000"/>
                          </a:solidFill>
                          <a:latin typeface="Times New Roman"/>
                          <a:ea typeface="Times New Roman"/>
                          <a:cs typeface="Times New Roman"/>
                          <a:sym typeface="Times New Roman"/>
                        </a:rPr>
                        <a:t>2</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Các thiết bị IFE của Panasonic:</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LCD</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VSEB</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RD-AV9844-01</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RD-KA3303-05</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Hỏng hóc phát sinh nhiều trong khai thác trong khi Panasonic sửa chữa có TAT dài, chủ yếu với lý do thiếu PTVT sửa chữa, thay thế. Các PTVT này hiện đều là đời cũ, VSEB đã dừng sản xuất. </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Phối hợp với Panasonic để đổi PTVT, rút ngắn TAT</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Đề nghị Ban KT xem xét phương án tìm PN thay thế</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680575">
                <a:tc>
                  <a:txBody>
                    <a:bodyPr/>
                    <a:lstStyle/>
                    <a:p>
                      <a:pPr marL="0" marR="0" lvl="0" indent="0" algn="ctr"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3</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dirty="0" err="1">
                          <a:latin typeface="Times New Roman"/>
                          <a:ea typeface="Times New Roman"/>
                          <a:cs typeface="Times New Roman"/>
                          <a:sym typeface="Times New Roman"/>
                        </a:rPr>
                        <a:t>Jetpipe</a:t>
                      </a:r>
                      <a:endParaRPr sz="1150" u="none" strike="noStrike" cap="none" dirty="0">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745-1107-503</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Thiết bị nằm trên CNA, hỏng hóc nặng crack, không sửa được tại Vaeco. Gửi đi sửa chữa có TAT dài. Có 3 cấp độ hỏng: </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Disbond: TAT nhanh (&lt;30 ngày), chi phí sửa thấp (8k - 10k USD)</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Crack 1 vị trí: TAT khoảng 40-50 ngày, chi phí sửa khoảng 20k USD</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Crack 2 vị trí trở lên: TAT dài 60-80 ngày, chi phí sửa &gt;40kUSD </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50"/>
                        <a:buFont typeface="Times New Roman"/>
                        <a:buNone/>
                      </a:pPr>
                      <a:r>
                        <a:rPr lang="en-US" sz="1150" u="none" strike="noStrike" cap="none">
                          <a:latin typeface="Times New Roman"/>
                          <a:ea typeface="Times New Roman"/>
                          <a:cs typeface="Times New Roman"/>
                          <a:sym typeface="Times New Roman"/>
                        </a:rPr>
                        <a:t>Tình trạng kho: stock </a:t>
                      </a:r>
                      <a:r>
                        <a:rPr lang="en-US" sz="1150">
                          <a:latin typeface="Times New Roman"/>
                          <a:ea typeface="Times New Roman"/>
                          <a:cs typeface="Times New Roman"/>
                          <a:sym typeface="Times New Roman"/>
                        </a:rPr>
                        <a:t>1ea</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b="0" i="0" u="none" strike="noStrike" cap="none">
                          <a:solidFill>
                            <a:srgbClr val="000000"/>
                          </a:solidFill>
                          <a:latin typeface="Times New Roman"/>
                          <a:ea typeface="Times New Roman"/>
                          <a:cs typeface="Times New Roman"/>
                          <a:sym typeface="Times New Roman"/>
                        </a:rPr>
                        <a:t>- </a:t>
                      </a:r>
                      <a:r>
                        <a:rPr lang="en-US" sz="1150" u="none" strike="noStrike" cap="none">
                          <a:latin typeface="Times New Roman"/>
                          <a:ea typeface="Times New Roman"/>
                          <a:cs typeface="Times New Roman"/>
                          <a:sym typeface="Times New Roman"/>
                        </a:rPr>
                        <a:t>Đề nghị VAECO có đánh giá hỏng hóc (SDR) sớm và gửi Ban QLVT để hỏi repair cap và chọn cơ sở sửa chữa phù hợp.</a:t>
                      </a:r>
                      <a:endParaRPr sz="115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a:t>
                      </a:r>
                      <a:r>
                        <a:rPr lang="en-US" sz="1150" b="0" i="0" u="none" strike="noStrike" cap="none">
                          <a:solidFill>
                            <a:srgbClr val="000000"/>
                          </a:solidFill>
                          <a:latin typeface="Times New Roman"/>
                          <a:ea typeface="Times New Roman"/>
                          <a:cs typeface="Times New Roman"/>
                          <a:sym typeface="Times New Roman"/>
                        </a:rPr>
                        <a:t>Ban QLVT tiếp tục làm việc với</a:t>
                      </a:r>
                      <a:r>
                        <a:rPr lang="en-US" sz="1150" u="none" strike="noStrike" cap="none">
                          <a:latin typeface="Times New Roman"/>
                          <a:ea typeface="Times New Roman"/>
                          <a:cs typeface="Times New Roman"/>
                          <a:sym typeface="Times New Roman"/>
                        </a:rPr>
                        <a:t> cơ sở sửa chữa để rút ngắn TAT</a:t>
                      </a:r>
                      <a:r>
                        <a:rPr lang="en-US" sz="1150" b="0" i="0" u="none" strike="noStrike" cap="none">
                          <a:solidFill>
                            <a:srgbClr val="000000"/>
                          </a:solidFill>
                          <a:latin typeface="Times New Roman"/>
                          <a:ea typeface="Times New Roman"/>
                          <a:cs typeface="Times New Roman"/>
                          <a:sym typeface="Times New Roman"/>
                        </a:rPr>
                        <a:t/>
                      </a:r>
                      <a:br>
                        <a:rPr lang="en-US" sz="1150" b="0" i="0" u="none" strike="noStrike" cap="none">
                          <a:solidFill>
                            <a:srgbClr val="000000"/>
                          </a:solidFill>
                          <a:latin typeface="Times New Roman"/>
                          <a:ea typeface="Times New Roman"/>
                          <a:cs typeface="Times New Roman"/>
                          <a:sym typeface="Times New Roman"/>
                        </a:rPr>
                      </a:br>
                      <a:r>
                        <a:rPr lang="en-US" sz="1150" b="0" i="0" u="none" strike="noStrike" cap="none">
                          <a:solidFill>
                            <a:srgbClr val="000000"/>
                          </a:solidFill>
                          <a:latin typeface="Times New Roman"/>
                          <a:ea typeface="Times New Roman"/>
                          <a:cs typeface="Times New Roman"/>
                          <a:sym typeface="Times New Roman"/>
                        </a:rPr>
                        <a:t>- Đề nghị Ban KT/Vaeco có giải pháp hạn chế hỏng hóc</a:t>
                      </a:r>
                      <a:r>
                        <a:rPr lang="en-US" sz="1150" u="none" strike="noStrike" cap="none">
                          <a:latin typeface="Times New Roman"/>
                          <a:ea typeface="Times New Roman"/>
                          <a:cs typeface="Times New Roman"/>
                          <a:sym typeface="Times New Roman"/>
                        </a:rPr>
                        <a:t> bằng các phương án kiểm tra chủ động, thay thế khi bị disbond sẽ tiết kiệm chi phí sửa và TAT ngắn.</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Với các hỏng hóc phát sinh, đề nghị xem xét phương án mở defect để Ban QLVT chủ động phương án cung ứng</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bl>
          </a:graphicData>
        </a:graphic>
      </p:graphicFrame>
      <p:pic>
        <p:nvPicPr>
          <p:cNvPr id="5"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Tree>
    <p:extLst>
      <p:ext uri="{BB962C8B-B14F-4D97-AF65-F5344CB8AC3E}">
        <p14:creationId xmlns:p14="http://schemas.microsoft.com/office/powerpoint/2010/main" val="1122725088"/>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g31ccdae391d_0_292"/>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 VƯỚNG MẮC VẬT TƯ VAECO</a:t>
            </a:r>
            <a:endParaRPr sz="2800">
              <a:solidFill>
                <a:srgbClr val="FFC000"/>
              </a:solidFill>
              <a:latin typeface="Times New Roman"/>
              <a:ea typeface="Times New Roman"/>
              <a:cs typeface="Times New Roman"/>
              <a:sym typeface="Times New Roman"/>
            </a:endParaRPr>
          </a:p>
        </p:txBody>
      </p:sp>
      <p:sp>
        <p:nvSpPr>
          <p:cNvPr id="207" name="Google Shape;207;g31ccdae391d_0_292"/>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55</a:t>
            </a:fld>
            <a:endParaRPr/>
          </a:p>
        </p:txBody>
      </p:sp>
      <p:graphicFrame>
        <p:nvGraphicFramePr>
          <p:cNvPr id="208" name="Google Shape;208;g31ccdae391d_0_292"/>
          <p:cNvGraphicFramePr/>
          <p:nvPr/>
        </p:nvGraphicFramePr>
        <p:xfrm>
          <a:off x="414739" y="1604714"/>
          <a:ext cx="11570675" cy="1823565"/>
        </p:xfrm>
        <a:graphic>
          <a:graphicData uri="http://schemas.openxmlformats.org/drawingml/2006/table">
            <a:tbl>
              <a:tblPr>
                <a:noFill/>
              </a:tblPr>
              <a:tblGrid>
                <a:gridCol w="741275"/>
                <a:gridCol w="1429625"/>
                <a:gridCol w="1269800"/>
                <a:gridCol w="4068475"/>
                <a:gridCol w="4061500"/>
              </a:tblGrid>
              <a:tr h="170150">
                <a:tc gridSpan="5">
                  <a:txBody>
                    <a:bodyPr/>
                    <a:lstStyle/>
                    <a:p>
                      <a:pPr marL="0" marR="0" lvl="0" indent="0" algn="ctr" rtl="0">
                        <a:lnSpc>
                          <a:spcPct val="100000"/>
                        </a:lnSpc>
                        <a:spcBef>
                          <a:spcPts val="0"/>
                        </a:spcBef>
                        <a:spcAft>
                          <a:spcPts val="0"/>
                        </a:spcAft>
                        <a:buClr>
                          <a:srgbClr val="000000"/>
                        </a:buClr>
                        <a:buSzPts val="1500"/>
                        <a:buFont typeface="Arial"/>
                        <a:buNone/>
                      </a:pPr>
                      <a:r>
                        <a:rPr lang="en-US" sz="1500" b="1" u="none" strike="noStrike" cap="none">
                          <a:solidFill>
                            <a:srgbClr val="FF0000"/>
                          </a:solidFill>
                          <a:latin typeface="Times New Roman"/>
                          <a:ea typeface="Times New Roman"/>
                          <a:cs typeface="Times New Roman"/>
                          <a:sym typeface="Times New Roman"/>
                        </a:rPr>
                        <a:t>A321 – VAECO</a:t>
                      </a:r>
                      <a:endParaRPr sz="1400" u="none" strike="noStrike" cap="none"/>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170150">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STT</a:t>
                      </a:r>
                      <a:endParaRPr sz="14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Tên thiết bị</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P/N</a:t>
                      </a:r>
                      <a:endParaRPr sz="14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Hỏng hóc</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50"/>
                        <a:buFont typeface="Arial"/>
                        <a:buNone/>
                      </a:pPr>
                      <a:r>
                        <a:rPr lang="en-US" sz="1150" b="1" u="none" strike="noStrike" cap="none">
                          <a:solidFill>
                            <a:schemeClr val="dk1"/>
                          </a:solidFill>
                          <a:latin typeface="Times New Roman"/>
                          <a:ea typeface="Times New Roman"/>
                          <a:cs typeface="Times New Roman"/>
                          <a:sym typeface="Times New Roman"/>
                        </a:rPr>
                        <a:t>Tình trạng</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850725">
                <a:tc>
                  <a:txBody>
                    <a:bodyPr/>
                    <a:lstStyle/>
                    <a:p>
                      <a:pPr marL="0" marR="0" lvl="0" indent="0" algn="ctr"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1</a:t>
                      </a:r>
                      <a:endParaRPr sz="1150"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solidFill>
                            <a:schemeClr val="dk1"/>
                          </a:solidFill>
                          <a:highlight>
                            <a:srgbClr val="FFFFFF"/>
                          </a:highlight>
                          <a:latin typeface="Times New Roman"/>
                          <a:ea typeface="Times New Roman"/>
                          <a:cs typeface="Times New Roman"/>
                          <a:sym typeface="Times New Roman"/>
                        </a:rPr>
                        <a:t>BELOW</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solidFill>
                            <a:schemeClr val="dk1"/>
                          </a:solidFill>
                          <a:highlight>
                            <a:srgbClr val="FFFFFF"/>
                          </a:highlight>
                          <a:latin typeface="Times New Roman"/>
                          <a:ea typeface="Times New Roman"/>
                          <a:cs typeface="Times New Roman"/>
                          <a:sym typeface="Times New Roman"/>
                        </a:rPr>
                        <a:t>D2157160120000</a:t>
                      </a:r>
                      <a:endParaRPr sz="1150" u="none" strike="noStrike" cap="none">
                        <a:solidFill>
                          <a:schemeClr val="dk1"/>
                        </a:solidFill>
                        <a:highlight>
                          <a:srgbClr val="FFFFFF"/>
                        </a:highlight>
                        <a:latin typeface="Times New Roman"/>
                        <a:ea typeface="Times New Roman"/>
                        <a:cs typeface="Times New Roman"/>
                        <a:sym typeface="Times New Roman"/>
                      </a:endParaRPr>
                    </a:p>
                    <a:p>
                      <a:pPr marL="0" marR="0" lvl="0" indent="0" algn="l" rtl="0">
                        <a:spcBef>
                          <a:spcPts val="0"/>
                        </a:spcBef>
                        <a:spcAft>
                          <a:spcPts val="0"/>
                        </a:spcAft>
                        <a:buClr>
                          <a:schemeClr val="dk1"/>
                        </a:buClr>
                        <a:buSzPts val="1150"/>
                        <a:buFont typeface="Arial"/>
                        <a:buNone/>
                      </a:pPr>
                      <a:r>
                        <a:rPr lang="en-US" sz="1150" u="none" strike="noStrike" cap="none">
                          <a:solidFill>
                            <a:schemeClr val="dk1"/>
                          </a:solidFill>
                          <a:highlight>
                            <a:schemeClr val="lt1"/>
                          </a:highlight>
                          <a:latin typeface="Times New Roman"/>
                          <a:ea typeface="Times New Roman"/>
                          <a:cs typeface="Times New Roman"/>
                          <a:sym typeface="Times New Roman"/>
                        </a:rPr>
                        <a:t>D2157160000000</a:t>
                      </a:r>
                      <a:endParaRPr sz="1150" u="none" strike="noStrike" cap="none">
                        <a:solidFill>
                          <a:schemeClr val="dk1"/>
                        </a:solidFill>
                        <a:highlight>
                          <a:srgbClr val="FFFFFF"/>
                        </a:highlight>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Hỏng hóc gây A359 AOG hỏng Bellow của hệ thống Pack. Các tàu trong check có task kiểm tra hệ thống Pack đều phát hiện ra hỏng Bellow. Ngoài ra, Ban KT triển khai việc kiểm tra chủ động nhưng Airbus không cấp được hàng.</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VAECO vẫn mua dự phòng nhưng gần đây Airbus cấp hàng chậm.</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Tình trạng:</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PN D2157160120000 stock 5ea</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PN D2157160000000 stock 3EA</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Clr>
                          <a:schemeClr val="dk1"/>
                        </a:buClr>
                        <a:buSzPts val="1400"/>
                        <a:buFont typeface="Arial"/>
                        <a:buChar char="-"/>
                      </a:pPr>
                      <a:r>
                        <a:rPr lang="en-US" sz="1150" u="none" strike="noStrike" cap="none">
                          <a:solidFill>
                            <a:schemeClr val="dk1"/>
                          </a:solidFill>
                          <a:latin typeface="Times New Roman"/>
                          <a:ea typeface="Times New Roman"/>
                          <a:cs typeface="Times New Roman"/>
                          <a:sym typeface="Times New Roman"/>
                        </a:rPr>
                        <a:t>Ban QLVT đã hỗ trợ claim Airbus đồng thời tìm kiếm nguồn cung ứng giúp VAECO tuy nhiên việc cung ứng vẫn rất khó khăn do thiếu raw materials, Airbus chỉ cấp hàng AOG và chưa đồng ý cấp cho chương trình đánh chặn. Hiện Airbus chưa có dự kiến ngày ship</a:t>
                      </a:r>
                      <a:endParaRPr sz="115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bl>
          </a:graphicData>
        </a:graphic>
      </p:graphicFrame>
      <p:pic>
        <p:nvPicPr>
          <p:cNvPr id="5"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Tree>
    <p:extLst>
      <p:ext uri="{BB962C8B-B14F-4D97-AF65-F5344CB8AC3E}">
        <p14:creationId xmlns:p14="http://schemas.microsoft.com/office/powerpoint/2010/main" val="1935962706"/>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g31ccdae391d_0_299"/>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15" name="Google Shape;215;g31ccdae391d_0_29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56</a:t>
            </a:fld>
            <a:endParaRPr/>
          </a:p>
        </p:txBody>
      </p:sp>
      <p:sp>
        <p:nvSpPr>
          <p:cNvPr id="216" name="Google Shape;216;g31ccdae391d_0_299"/>
          <p:cNvSpPr/>
          <p:nvPr/>
        </p:nvSpPr>
        <p:spPr>
          <a:xfrm>
            <a:off x="533407" y="742682"/>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dirty="0" err="1">
                <a:solidFill>
                  <a:srgbClr val="FF0000"/>
                </a:solidFill>
                <a:latin typeface="Times New Roman"/>
                <a:ea typeface="Times New Roman"/>
                <a:cs typeface="Times New Roman"/>
                <a:sym typeface="Times New Roman"/>
              </a:rPr>
              <a:t>Tình</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trạng</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đơn</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hàng</a:t>
            </a:r>
            <a:r>
              <a:rPr lang="en-US" sz="2000" b="1" i="0" u="none" strike="noStrike" cap="none" dirty="0">
                <a:solidFill>
                  <a:srgbClr val="FF0000"/>
                </a:solidFill>
                <a:latin typeface="Times New Roman"/>
                <a:ea typeface="Times New Roman"/>
                <a:cs typeface="Times New Roman"/>
                <a:sym typeface="Times New Roman"/>
              </a:rPr>
              <a:t> Pooling: </a:t>
            </a:r>
            <a:r>
              <a:rPr lang="en-US" sz="2000" b="1" dirty="0">
                <a:solidFill>
                  <a:srgbClr val="FF0000"/>
                </a:solidFill>
                <a:latin typeface="Times New Roman"/>
                <a:ea typeface="Times New Roman"/>
                <a:cs typeface="Times New Roman"/>
                <a:sym typeface="Times New Roman"/>
              </a:rPr>
              <a:t>25</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đơn</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hàng</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quá</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hạn</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trong</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tổng</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số</a:t>
            </a:r>
            <a:r>
              <a:rPr lang="en-US" sz="2000" b="1" i="0" u="none" strike="noStrike" cap="none" dirty="0">
                <a:solidFill>
                  <a:srgbClr val="FF0000"/>
                </a:solidFill>
                <a:latin typeface="Times New Roman"/>
                <a:ea typeface="Times New Roman"/>
                <a:cs typeface="Times New Roman"/>
                <a:sym typeface="Times New Roman"/>
              </a:rPr>
              <a:t> </a:t>
            </a:r>
            <a:r>
              <a:rPr lang="en-US" sz="2000" b="1" dirty="0">
                <a:solidFill>
                  <a:srgbClr val="FF0000"/>
                </a:solidFill>
                <a:latin typeface="Times New Roman"/>
                <a:ea typeface="Times New Roman"/>
                <a:cs typeface="Times New Roman"/>
                <a:sym typeface="Times New Roman"/>
              </a:rPr>
              <a:t>44</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đơn</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hàng</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đang</a:t>
            </a:r>
            <a:r>
              <a:rPr lang="en-US" sz="2000" b="1" i="0" u="none" strike="noStrike" cap="none" dirty="0">
                <a:solidFill>
                  <a:srgbClr val="FF0000"/>
                </a:solidFill>
                <a:latin typeface="Times New Roman"/>
                <a:ea typeface="Times New Roman"/>
                <a:cs typeface="Times New Roman"/>
                <a:sym typeface="Times New Roman"/>
              </a:rPr>
              <a:t> open</a:t>
            </a:r>
            <a:endParaRPr sz="2000" b="1" i="0" u="none" strike="noStrike" cap="none" dirty="0">
              <a:solidFill>
                <a:srgbClr val="FF0000"/>
              </a:solidFill>
              <a:latin typeface="Arial"/>
              <a:ea typeface="Arial"/>
              <a:cs typeface="Arial"/>
              <a:sym typeface="Arial"/>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dirty="0" err="1">
                <a:solidFill>
                  <a:schemeClr val="dk1"/>
                </a:solidFill>
                <a:latin typeface="Times New Roman"/>
                <a:ea typeface="Times New Roman"/>
                <a:cs typeface="Times New Roman"/>
                <a:sym typeface="Times New Roman"/>
              </a:rPr>
              <a:t>Đơn</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hàng</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lấp</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đầy</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kho</a:t>
            </a:r>
            <a:r>
              <a:rPr lang="en-US" sz="1500" b="1" i="0" u="none" strike="noStrike" cap="none" dirty="0">
                <a:solidFill>
                  <a:schemeClr val="dk1"/>
                </a:solidFill>
                <a:latin typeface="Times New Roman"/>
                <a:ea typeface="Times New Roman"/>
                <a:cs typeface="Times New Roman"/>
                <a:sym typeface="Times New Roman"/>
              </a:rPr>
              <a:t> MBK: </a:t>
            </a:r>
            <a:r>
              <a:rPr lang="en-US" sz="1500" b="0" i="0" u="none" strike="noStrike" cap="none" dirty="0">
                <a:solidFill>
                  <a:schemeClr val="dk1"/>
                </a:solidFill>
                <a:latin typeface="Times New Roman"/>
                <a:ea typeface="Times New Roman"/>
                <a:cs typeface="Times New Roman"/>
                <a:sym typeface="Times New Roman"/>
              </a:rPr>
              <a:t> overdue 1</a:t>
            </a:r>
            <a:r>
              <a:rPr lang="en-US" sz="1500" dirty="0">
                <a:solidFill>
                  <a:schemeClr val="dk1"/>
                </a:solidFill>
                <a:latin typeface="Times New Roman"/>
                <a:ea typeface="Times New Roman"/>
                <a:cs typeface="Times New Roman"/>
                <a:sym typeface="Times New Roman"/>
              </a:rPr>
              <a:t>3</a:t>
            </a:r>
            <a:r>
              <a:rPr lang="en-US" sz="1500" b="0" i="0" u="none" strike="noStrike" cap="none" dirty="0">
                <a:solidFill>
                  <a:schemeClr val="dk1"/>
                </a:solidFill>
                <a:latin typeface="Times New Roman"/>
                <a:ea typeface="Times New Roman"/>
                <a:cs typeface="Times New Roman"/>
                <a:sym typeface="Times New Roman"/>
              </a:rPr>
              <a:t> LO / total  </a:t>
            </a:r>
            <a:r>
              <a:rPr lang="en-US" sz="1500" dirty="0">
                <a:solidFill>
                  <a:schemeClr val="dk1"/>
                </a:solidFill>
                <a:latin typeface="Times New Roman"/>
                <a:ea typeface="Times New Roman"/>
                <a:cs typeface="Times New Roman"/>
                <a:sym typeface="Times New Roman"/>
              </a:rPr>
              <a:t>18</a:t>
            </a:r>
            <a:r>
              <a:rPr lang="en-US" sz="1500" b="0" i="0" u="none" strike="noStrike" cap="none" dirty="0">
                <a:solidFill>
                  <a:schemeClr val="dk1"/>
                </a:solidFill>
                <a:latin typeface="Times New Roman"/>
                <a:ea typeface="Times New Roman"/>
                <a:cs typeface="Times New Roman"/>
                <a:sym typeface="Times New Roman"/>
              </a:rPr>
              <a:t> LO</a:t>
            </a:r>
            <a:endParaRPr sz="1500" b="0" i="0" u="none" strike="noStrike" cap="none" dirty="0">
              <a:solidFill>
                <a:schemeClr val="dk1"/>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dirty="0" err="1">
                <a:solidFill>
                  <a:schemeClr val="dk1"/>
                </a:solidFill>
                <a:latin typeface="Times New Roman"/>
                <a:ea typeface="Times New Roman"/>
                <a:cs typeface="Times New Roman"/>
                <a:sym typeface="Times New Roman"/>
              </a:rPr>
              <a:t>Đơn</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hàng</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khác</a:t>
            </a:r>
            <a:r>
              <a:rPr lang="en-US" sz="1500" b="1" i="0" u="none" strike="noStrike" cap="none" dirty="0">
                <a:solidFill>
                  <a:schemeClr val="dk1"/>
                </a:solidFill>
                <a:latin typeface="Times New Roman"/>
                <a:ea typeface="Times New Roman"/>
                <a:cs typeface="Times New Roman"/>
                <a:sym typeface="Times New Roman"/>
              </a:rPr>
              <a:t> (Defect, </a:t>
            </a:r>
            <a:r>
              <a:rPr lang="en-US" sz="1500" b="1" i="0" u="none" strike="noStrike" cap="none" dirty="0" err="1">
                <a:solidFill>
                  <a:schemeClr val="dk1"/>
                </a:solidFill>
                <a:latin typeface="Times New Roman"/>
                <a:ea typeface="Times New Roman"/>
                <a:cs typeface="Times New Roman"/>
                <a:sym typeface="Times New Roman"/>
              </a:rPr>
              <a:t>Hardtime</a:t>
            </a:r>
            <a:r>
              <a:rPr lang="en-US" sz="1500" b="1" i="0" u="none" strike="noStrike" cap="none" dirty="0">
                <a:solidFill>
                  <a:schemeClr val="dk1"/>
                </a:solidFill>
                <a:latin typeface="Times New Roman"/>
                <a:ea typeface="Times New Roman"/>
                <a:cs typeface="Times New Roman"/>
                <a:sym typeface="Times New Roman"/>
              </a:rPr>
              <a:t>): </a:t>
            </a:r>
            <a:r>
              <a:rPr lang="en-US" sz="1500" b="0" i="0" u="none" strike="noStrike" cap="none" dirty="0">
                <a:solidFill>
                  <a:schemeClr val="dk1"/>
                </a:solidFill>
                <a:latin typeface="Times New Roman"/>
                <a:ea typeface="Times New Roman"/>
                <a:cs typeface="Times New Roman"/>
                <a:sym typeface="Times New Roman"/>
              </a:rPr>
              <a:t>overdue </a:t>
            </a:r>
            <a:r>
              <a:rPr lang="en-US" sz="1500" dirty="0">
                <a:solidFill>
                  <a:schemeClr val="dk1"/>
                </a:solidFill>
                <a:latin typeface="Times New Roman"/>
                <a:ea typeface="Times New Roman"/>
                <a:cs typeface="Times New Roman"/>
                <a:sym typeface="Times New Roman"/>
              </a:rPr>
              <a:t>12</a:t>
            </a:r>
            <a:r>
              <a:rPr lang="en-US" sz="1500" b="0" i="0" u="none" strike="noStrike" cap="none" dirty="0">
                <a:solidFill>
                  <a:schemeClr val="dk1"/>
                </a:solidFill>
                <a:latin typeface="Times New Roman"/>
                <a:ea typeface="Times New Roman"/>
                <a:cs typeface="Times New Roman"/>
                <a:sym typeface="Times New Roman"/>
              </a:rPr>
              <a:t> EO / total </a:t>
            </a:r>
            <a:r>
              <a:rPr lang="en-US" sz="1500" dirty="0">
                <a:solidFill>
                  <a:schemeClr val="dk1"/>
                </a:solidFill>
                <a:latin typeface="Times New Roman"/>
                <a:ea typeface="Times New Roman"/>
                <a:cs typeface="Times New Roman"/>
                <a:sym typeface="Times New Roman"/>
              </a:rPr>
              <a:t>26</a:t>
            </a:r>
            <a:r>
              <a:rPr lang="en-US" sz="1500" b="0" i="0" u="none" strike="noStrike" cap="none" dirty="0">
                <a:solidFill>
                  <a:schemeClr val="dk1"/>
                </a:solidFill>
                <a:latin typeface="Times New Roman"/>
                <a:ea typeface="Times New Roman"/>
                <a:cs typeface="Times New Roman"/>
                <a:sym typeface="Times New Roman"/>
              </a:rPr>
              <a:t> EO </a:t>
            </a:r>
            <a:endParaRPr sz="1500" b="0" i="0" u="none" strike="noStrike" cap="none" dirty="0">
              <a:solidFill>
                <a:srgbClr val="1F497D"/>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Clr>
                <a:srgbClr val="000000"/>
              </a:buClr>
              <a:buSzPts val="1500"/>
              <a:buFont typeface="Arial"/>
              <a:buNone/>
            </a:pPr>
            <a:endParaRPr sz="1500" b="1" i="0" u="none" strike="noStrike" cap="none" dirty="0">
              <a:solidFill>
                <a:srgbClr val="FF0000"/>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dirty="0">
              <a:solidFill>
                <a:schemeClr val="dk1"/>
              </a:solidFill>
              <a:latin typeface="Times New Roman"/>
              <a:ea typeface="Times New Roman"/>
              <a:cs typeface="Times New Roman"/>
              <a:sym typeface="Times New Roman"/>
            </a:endParaRPr>
          </a:p>
        </p:txBody>
      </p:sp>
      <p:sp>
        <p:nvSpPr>
          <p:cNvPr id="217" name="Google Shape;217;g31ccdae391d_0_299"/>
          <p:cNvSpPr txBox="1"/>
          <p:nvPr/>
        </p:nvSpPr>
        <p:spPr>
          <a:xfrm>
            <a:off x="3529775" y="5809425"/>
            <a:ext cx="14100" cy="88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p:txBody>
      </p:sp>
      <p:pic>
        <p:nvPicPr>
          <p:cNvPr id="218" name="Google Shape;218;g31ccdae391d_0_299"/>
          <p:cNvPicPr preferRelativeResize="0"/>
          <p:nvPr/>
        </p:nvPicPr>
        <p:blipFill>
          <a:blip r:embed="rId3">
            <a:alphaModFix/>
          </a:blip>
          <a:stretch>
            <a:fillRect/>
          </a:stretch>
        </p:blipFill>
        <p:spPr>
          <a:xfrm>
            <a:off x="2181225" y="1803801"/>
            <a:ext cx="7619100" cy="4630325"/>
          </a:xfrm>
          <a:prstGeom prst="rect">
            <a:avLst/>
          </a:prstGeom>
          <a:noFill/>
          <a:ln>
            <a:noFill/>
          </a:ln>
        </p:spPr>
      </p:pic>
      <p:pic>
        <p:nvPicPr>
          <p:cNvPr id="7" name="Google Shape;36;p4" descr="A black and yellow lines on a blue surface&#10;&#10;Description automatically generated"/>
          <p:cNvPicPr preferRelativeResize="0"/>
          <p:nvPr/>
        </p:nvPicPr>
        <p:blipFill rotWithShape="1">
          <a:blip r:embed="rId4">
            <a:alphaModFix/>
          </a:blip>
          <a:srcRect/>
          <a:stretch/>
        </p:blipFill>
        <p:spPr>
          <a:xfrm>
            <a:off x="8650521" y="4650486"/>
            <a:ext cx="3545983" cy="2207517"/>
          </a:xfrm>
          <a:prstGeom prst="rect">
            <a:avLst/>
          </a:prstGeom>
          <a:noFill/>
          <a:ln>
            <a:noFill/>
          </a:ln>
        </p:spPr>
      </p:pic>
    </p:spTree>
    <p:extLst>
      <p:ext uri="{BB962C8B-B14F-4D97-AF65-F5344CB8AC3E}">
        <p14:creationId xmlns:p14="http://schemas.microsoft.com/office/powerpoint/2010/main" val="4277858022"/>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g31ccdae391d_0_308"/>
          <p:cNvSpPr txBox="1">
            <a:spLocks noGrp="1"/>
          </p:cNvSpPr>
          <p:nvPr>
            <p:ph type="title"/>
          </p:nvPr>
        </p:nvSpPr>
        <p:spPr>
          <a:xfrm>
            <a:off x="941350" y="165475"/>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25" name="Google Shape;225;g31ccdae391d_0_30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57</a:t>
            </a:fld>
            <a:endParaRPr/>
          </a:p>
        </p:txBody>
      </p:sp>
      <p:graphicFrame>
        <p:nvGraphicFramePr>
          <p:cNvPr id="226" name="Google Shape;226;g31ccdae391d_0_308"/>
          <p:cNvGraphicFramePr/>
          <p:nvPr>
            <p:extLst/>
          </p:nvPr>
        </p:nvGraphicFramePr>
        <p:xfrm>
          <a:off x="607288" y="787650"/>
          <a:ext cx="11227800" cy="4548705"/>
        </p:xfrm>
        <a:graphic>
          <a:graphicData uri="http://schemas.openxmlformats.org/drawingml/2006/table">
            <a:tbl>
              <a:tblPr>
                <a:noFill/>
              </a:tblPr>
              <a:tblGrid>
                <a:gridCol w="756400"/>
                <a:gridCol w="1531850"/>
                <a:gridCol w="1753750"/>
                <a:gridCol w="3592900"/>
                <a:gridCol w="3592900"/>
              </a:tblGrid>
              <a:tr h="273700">
                <a:tc gridSpan="5">
                  <a:txBody>
                    <a:bodyPr/>
                    <a:lstStyle/>
                    <a:p>
                      <a:pPr marL="0" marR="0" lvl="0" indent="0" algn="ctr" rtl="0">
                        <a:lnSpc>
                          <a:spcPct val="100000"/>
                        </a:lnSpc>
                        <a:spcBef>
                          <a:spcPts val="0"/>
                        </a:spcBef>
                        <a:spcAft>
                          <a:spcPts val="0"/>
                        </a:spcAft>
                        <a:buClr>
                          <a:srgbClr val="000000"/>
                        </a:buClr>
                        <a:buSzPts val="1600"/>
                        <a:buFont typeface="Arial"/>
                        <a:buNone/>
                      </a:pPr>
                      <a:r>
                        <a:rPr lang="en-US" sz="1600" b="1" u="none" strike="noStrike" cap="none" dirty="0">
                          <a:solidFill>
                            <a:srgbClr val="FF0000"/>
                          </a:solidFill>
                          <a:latin typeface="Times New Roman"/>
                          <a:ea typeface="Times New Roman"/>
                          <a:cs typeface="Times New Roman"/>
                          <a:sym typeface="Times New Roman"/>
                        </a:rPr>
                        <a:t> </a:t>
                      </a:r>
                      <a:endParaRPr sz="1600" b="1" i="0" u="none" strike="noStrike" cap="none" dirty="0">
                        <a:solidFill>
                          <a:srgbClr val="FF0000"/>
                        </a:solidFill>
                        <a:latin typeface="Times New Roman"/>
                        <a:ea typeface="Times New Roman"/>
                        <a:cs typeface="Times New Roman"/>
                        <a:sym typeface="Times New Roman"/>
                      </a:endParaRPr>
                    </a:p>
                  </a:txBody>
                  <a:tcPr marL="7800" marR="7800" marT="78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210525">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STT</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Tên thiết bị</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P/N</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Lưu ý</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50"/>
                        <a:buFont typeface="Arial"/>
                        <a:buNone/>
                      </a:pPr>
                      <a:r>
                        <a:rPr lang="en-US" sz="1150" b="1" u="none" strike="noStrike" cap="none">
                          <a:solidFill>
                            <a:schemeClr val="dk1"/>
                          </a:solidFill>
                          <a:latin typeface="Times New Roman"/>
                          <a:ea typeface="Times New Roman"/>
                          <a:cs typeface="Times New Roman"/>
                          <a:sym typeface="Times New Roman"/>
                        </a:rPr>
                        <a:t>Tình trạng</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97897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1</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dirty="0">
                          <a:latin typeface="Times New Roman"/>
                          <a:ea typeface="Times New Roman"/>
                          <a:cs typeface="Times New Roman"/>
                          <a:sym typeface="Times New Roman"/>
                        </a:rPr>
                        <a:t>FMU</a:t>
                      </a:r>
                      <a:endParaRPr sz="1300" b="0" i="0" u="none" strike="noStrike" cap="none" dirty="0">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 7000546H14</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Hỏng hóc gây APU INOP.</a:t>
                      </a:r>
                      <a:endParaRPr sz="130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dirty="0" err="1">
                          <a:latin typeface="Times New Roman"/>
                          <a:ea typeface="Times New Roman"/>
                          <a:cs typeface="Times New Roman"/>
                          <a:sym typeface="Times New Roman"/>
                        </a:rPr>
                        <a:t>Cấn</a:t>
                      </a:r>
                      <a:r>
                        <a:rPr lang="en-US" sz="1300" dirty="0">
                          <a:latin typeface="Times New Roman"/>
                          <a:ea typeface="Times New Roman"/>
                          <a:cs typeface="Times New Roman"/>
                          <a:sym typeface="Times New Roman"/>
                        </a:rPr>
                        <a:t> 01ea </a:t>
                      </a:r>
                      <a:r>
                        <a:rPr lang="en-US" sz="1300" dirty="0" err="1">
                          <a:latin typeface="Times New Roman"/>
                          <a:ea typeface="Times New Roman"/>
                          <a:cs typeface="Times New Roman"/>
                          <a:sym typeface="Times New Roman"/>
                        </a:rPr>
                        <a:t>cho</a:t>
                      </a:r>
                      <a:r>
                        <a:rPr lang="en-US" sz="1300" dirty="0">
                          <a:latin typeface="Times New Roman"/>
                          <a:ea typeface="Times New Roman"/>
                          <a:cs typeface="Times New Roman"/>
                          <a:sym typeface="Times New Roman"/>
                        </a:rPr>
                        <a:t> A867. 01ea </a:t>
                      </a:r>
                      <a:r>
                        <a:rPr lang="en-US" sz="1300" dirty="0" err="1">
                          <a:latin typeface="Times New Roman"/>
                          <a:ea typeface="Times New Roman"/>
                          <a:cs typeface="Times New Roman"/>
                          <a:sym typeface="Times New Roman"/>
                        </a:rPr>
                        <a:t>giao</a:t>
                      </a:r>
                      <a:r>
                        <a:rPr lang="en-US" sz="1300" dirty="0">
                          <a:latin typeface="Times New Roman"/>
                          <a:ea typeface="Times New Roman"/>
                          <a:cs typeface="Times New Roman"/>
                          <a:sym typeface="Times New Roman"/>
                        </a:rPr>
                        <a:t> SGN </a:t>
                      </a:r>
                      <a:r>
                        <a:rPr lang="en-US" sz="1300" dirty="0" err="1">
                          <a:latin typeface="Times New Roman"/>
                          <a:ea typeface="Times New Roman"/>
                          <a:cs typeface="Times New Roman"/>
                          <a:sym typeface="Times New Roman"/>
                        </a:rPr>
                        <a:t>ngày</a:t>
                      </a:r>
                      <a:r>
                        <a:rPr lang="en-US" sz="1300" dirty="0">
                          <a:latin typeface="Times New Roman"/>
                          <a:ea typeface="Times New Roman"/>
                          <a:cs typeface="Times New Roman"/>
                          <a:sym typeface="Times New Roman"/>
                        </a:rPr>
                        <a:t> </a:t>
                      </a:r>
                      <a:r>
                        <a:rPr lang="en-US" sz="1300" dirty="0" smtClean="0">
                          <a:latin typeface="Times New Roman"/>
                          <a:ea typeface="Times New Roman"/>
                          <a:cs typeface="Times New Roman"/>
                          <a:sym typeface="Times New Roman"/>
                        </a:rPr>
                        <a:t>12/01 (</a:t>
                      </a:r>
                      <a:r>
                        <a:rPr lang="en-US" sz="1300" dirty="0" err="1" smtClean="0">
                          <a:latin typeface="Times New Roman"/>
                          <a:ea typeface="Times New Roman"/>
                          <a:cs typeface="Times New Roman"/>
                          <a:sym typeface="Times New Roman"/>
                        </a:rPr>
                        <a:t>cho</a:t>
                      </a:r>
                      <a:r>
                        <a:rPr lang="en-US" sz="1300" dirty="0" smtClean="0">
                          <a:latin typeface="Times New Roman"/>
                          <a:ea typeface="Times New Roman"/>
                          <a:cs typeface="Times New Roman"/>
                          <a:sym typeface="Times New Roman"/>
                        </a:rPr>
                        <a:t> A867) </a:t>
                      </a:r>
                      <a:r>
                        <a:rPr lang="en-US" sz="1300" dirty="0" err="1">
                          <a:latin typeface="Times New Roman"/>
                          <a:ea typeface="Times New Roman"/>
                          <a:cs typeface="Times New Roman"/>
                          <a:sym typeface="Times New Roman"/>
                        </a:rPr>
                        <a:t>và</a:t>
                      </a:r>
                      <a:r>
                        <a:rPr lang="en-US" sz="1300" dirty="0">
                          <a:latin typeface="Times New Roman"/>
                          <a:ea typeface="Times New Roman"/>
                          <a:cs typeface="Times New Roman"/>
                          <a:sym typeface="Times New Roman"/>
                        </a:rPr>
                        <a:t> 01ea </a:t>
                      </a:r>
                      <a:r>
                        <a:rPr lang="en-US" sz="1300" dirty="0" err="1">
                          <a:latin typeface="Times New Roman"/>
                          <a:ea typeface="Times New Roman"/>
                          <a:cs typeface="Times New Roman"/>
                          <a:sym typeface="Times New Roman"/>
                        </a:rPr>
                        <a:t>giao</a:t>
                      </a:r>
                      <a:r>
                        <a:rPr lang="en-US" sz="1300" dirty="0">
                          <a:latin typeface="Times New Roman"/>
                          <a:ea typeface="Times New Roman"/>
                          <a:cs typeface="Times New Roman"/>
                          <a:sym typeface="Times New Roman"/>
                        </a:rPr>
                        <a:t> 15/01.</a:t>
                      </a:r>
                      <a:endParaRPr sz="1300" u="none" strike="noStrike" cap="none" dirty="0">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r>
              <a:tr h="97897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2</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Chiller</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600-2</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Hiện cả fleet B787 có 0</a:t>
                      </a:r>
                      <a:r>
                        <a:rPr lang="en-US" sz="1300">
                          <a:latin typeface="Times New Roman"/>
                          <a:ea typeface="Times New Roman"/>
                          <a:cs typeface="Times New Roman"/>
                          <a:sym typeface="Times New Roman"/>
                        </a:rPr>
                        <a:t>3</a:t>
                      </a:r>
                      <a:r>
                        <a:rPr lang="en-US" sz="1300" u="none" strike="noStrike" cap="none">
                          <a:latin typeface="Times New Roman"/>
                          <a:ea typeface="Times New Roman"/>
                          <a:cs typeface="Times New Roman"/>
                          <a:sym typeface="Times New Roman"/>
                        </a:rPr>
                        <a:t> hỏng hóc. </a:t>
                      </a:r>
                      <a:endParaRPr sz="1300" u="none" strike="noStrike" cap="none">
                        <a:latin typeface="Times New Roman"/>
                        <a:ea typeface="Times New Roman"/>
                        <a:cs typeface="Times New Roman"/>
                        <a:sym typeface="Times New Roman"/>
                      </a:endParaRPr>
                    </a:p>
                  </a:txBody>
                  <a:tcPr marL="7800" marR="7800" marT="7800" marB="0" anchor="ctr">
                    <a:lnR w="9525" cap="flat" cmpd="sng">
                      <a:solidFill>
                        <a:schemeClr val="dk1"/>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NIL stock</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a:t>
                      </a:r>
                      <a:r>
                        <a:rPr lang="en-US" sz="1300" u="none" strike="noStrike" cap="none">
                          <a:latin typeface="Times New Roman"/>
                          <a:ea typeface="Times New Roman"/>
                          <a:cs typeface="Times New Roman"/>
                          <a:sym typeface="Times New Roman"/>
                        </a:rPr>
                        <a:t>0</a:t>
                      </a:r>
                      <a:r>
                        <a:rPr lang="en-US" sz="1300">
                          <a:latin typeface="Times New Roman"/>
                          <a:ea typeface="Times New Roman"/>
                          <a:cs typeface="Times New Roman"/>
                          <a:sym typeface="Times New Roman"/>
                        </a:rPr>
                        <a:t>5</a:t>
                      </a:r>
                      <a:r>
                        <a:rPr lang="en-US" sz="1300" u="none" strike="noStrike" cap="none">
                          <a:latin typeface="Times New Roman"/>
                          <a:ea typeface="Times New Roman"/>
                          <a:cs typeface="Times New Roman"/>
                          <a:sym typeface="Times New Roman"/>
                        </a:rPr>
                        <a:t>RO:</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a:t>
                      </a:r>
                      <a:r>
                        <a:rPr lang="en-US" sz="1300" u="none" strike="noStrike" cap="none">
                          <a:latin typeface="Times New Roman"/>
                          <a:ea typeface="Times New Roman"/>
                          <a:cs typeface="Times New Roman"/>
                          <a:sym typeface="Times New Roman"/>
                        </a:rPr>
                        <a:t>0</a:t>
                      </a:r>
                      <a:r>
                        <a:rPr lang="en-US" sz="1300">
                          <a:latin typeface="Times New Roman"/>
                          <a:ea typeface="Times New Roman"/>
                          <a:cs typeface="Times New Roman"/>
                          <a:sym typeface="Times New Roman"/>
                        </a:rPr>
                        <a:t>4</a:t>
                      </a:r>
                      <a:r>
                        <a:rPr lang="en-US" sz="1300" u="none" strike="noStrike" cap="none">
                          <a:latin typeface="Times New Roman"/>
                          <a:ea typeface="Times New Roman"/>
                          <a:cs typeface="Times New Roman"/>
                          <a:sym typeface="Times New Roman"/>
                        </a:rPr>
                        <a:t>ea chưa có EDD.</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+ 01ea mới vào shop.</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Times New Roman"/>
                        <a:ea typeface="Times New Roman"/>
                        <a:cs typeface="Times New Roman"/>
                        <a:sym typeface="Times New Roman"/>
                      </a:endParaRPr>
                    </a:p>
                  </a:txBody>
                  <a:tcPr marL="7800" marR="7800" marT="780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r>
              <a:tr h="631600">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VFSG</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200">
                          <a:solidFill>
                            <a:schemeClr val="dk1"/>
                          </a:solidFill>
                          <a:latin typeface="Times New Roman"/>
                          <a:ea typeface="Times New Roman"/>
                          <a:cs typeface="Times New Roman"/>
                          <a:sym typeface="Times New Roman"/>
                        </a:rPr>
                        <a:t>7001330H04</a:t>
                      </a:r>
                      <a:endParaRPr sz="1200" u="none" strike="noStrike" cap="none">
                        <a:solidFill>
                          <a:schemeClr val="dk1"/>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Nếu phát sinh hỏng hóc sẽ chỉ mở được 03 ngày.</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Ngoài hỏng hóc nhiều trong tháng 12/2024 và đầu tháng 1/2025 do 03 khối rob lắp lên cho A870 (01) và A868 (02ea) đều hỏng ngay sau chuyến bay đầu tiên.</a:t>
                      </a:r>
                      <a:endParaRPr sz="1300">
                        <a:latin typeface="Times New Roman"/>
                        <a:ea typeface="Times New Roman"/>
                        <a:cs typeface="Times New Roman"/>
                        <a:sym typeface="Times New Roman"/>
                      </a:endParaRPr>
                    </a:p>
                  </a:txBody>
                  <a:tcPr marL="7800" marR="7800" marT="7800" marB="0" anchor="ctr"/>
                </a:tc>
                <a:tc>
                  <a:txBody>
                    <a:bodyPr/>
                    <a:lstStyle/>
                    <a:p>
                      <a:pPr marL="0" marR="0" lvl="0" indent="0" algn="l" rtl="0">
                        <a:spcBef>
                          <a:spcPts val="0"/>
                        </a:spcBef>
                        <a:spcAft>
                          <a:spcPts val="0"/>
                        </a:spcAft>
                        <a:buClr>
                          <a:schemeClr val="dk1"/>
                        </a:buClr>
                        <a:buSzPts val="1300"/>
                        <a:buFont typeface="Arial"/>
                        <a:buNone/>
                      </a:pPr>
                      <a:r>
                        <a:rPr lang="en-US" sz="1200">
                          <a:solidFill>
                            <a:schemeClr val="dk1"/>
                          </a:solidFill>
                          <a:latin typeface="Times New Roman"/>
                          <a:ea typeface="Times New Roman"/>
                          <a:cs typeface="Times New Roman"/>
                          <a:sym typeface="Times New Roman"/>
                        </a:rPr>
                        <a:t>- đã cung ứng đủ 03ea VFSG cho A873 ra check ngày 11/01.</a:t>
                      </a:r>
                      <a:endParaRPr sz="1200">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300"/>
                        <a:buFont typeface="Arial"/>
                        <a:buNone/>
                      </a:pPr>
                      <a:r>
                        <a:rPr lang="en-US" sz="1200">
                          <a:solidFill>
                            <a:schemeClr val="dk1"/>
                          </a:solidFill>
                          <a:latin typeface="Times New Roman"/>
                          <a:ea typeface="Times New Roman"/>
                          <a:cs typeface="Times New Roman"/>
                          <a:sym typeface="Times New Roman"/>
                        </a:rPr>
                        <a:t>- 01ea dự kến về SGN vào 13/01 sẽ thu xếp tháo trả khối thuê.</a:t>
                      </a:r>
                      <a:endParaRPr sz="1200">
                        <a:solidFill>
                          <a:schemeClr val="dk1"/>
                        </a:solidFill>
                        <a:latin typeface="Times New Roman"/>
                        <a:ea typeface="Times New Roman"/>
                        <a:cs typeface="Times New Roman"/>
                        <a:sym typeface="Times New Roman"/>
                      </a:endParaRPr>
                    </a:p>
                  </a:txBody>
                  <a:tcPr marL="7800" marR="7800" marT="7800" marB="0" anchor="ct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r>
              <a:tr h="1286825">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 </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Tailcone light</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Card Led</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30-2968-3</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32-4188-3</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Nguồn cung hàng chậm, delay shop Honeywell.</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dirty="0" err="1">
                          <a:latin typeface="Times New Roman"/>
                          <a:ea typeface="Times New Roman"/>
                          <a:cs typeface="Times New Roman"/>
                          <a:sym typeface="Times New Roman"/>
                        </a:rPr>
                        <a:t>Hiện</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không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có</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hỏng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hóc</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Ngo</a:t>
                      </a:r>
                      <a:r>
                        <a:rPr lang="en-US" sz="1300" dirty="0" err="1">
                          <a:latin typeface="Times New Roman"/>
                          <a:ea typeface="Times New Roman"/>
                          <a:cs typeface="Times New Roman"/>
                          <a:sym typeface="Times New Roman"/>
                        </a:rPr>
                        <a:t>ài</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ra</a:t>
                      </a:r>
                      <a:r>
                        <a:rPr lang="en-US" sz="1300" dirty="0">
                          <a:latin typeface="Times New Roman"/>
                          <a:ea typeface="Times New Roman"/>
                          <a:cs typeface="Times New Roman"/>
                          <a:sym typeface="Times New Roman"/>
                        </a:rPr>
                        <a:t> </a:t>
                      </a:r>
                      <a:r>
                        <a:rPr lang="en-US" sz="1300" dirty="0" err="1" smtClean="0">
                          <a:latin typeface="Times New Roman"/>
                          <a:ea typeface="Times New Roman"/>
                          <a:cs typeface="Times New Roman"/>
                          <a:sym typeface="Times New Roman"/>
                        </a:rPr>
                        <a:t>đang</a:t>
                      </a:r>
                      <a:r>
                        <a:rPr lang="en-US" sz="1300" dirty="0" smtClean="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mua</a:t>
                      </a:r>
                      <a:r>
                        <a:rPr lang="en-US" sz="1300" dirty="0">
                          <a:latin typeface="Times New Roman"/>
                          <a:ea typeface="Times New Roman"/>
                          <a:cs typeface="Times New Roman"/>
                          <a:sym typeface="Times New Roman"/>
                        </a:rPr>
                        <a:t> 03ea Card led, trong </a:t>
                      </a:r>
                      <a:r>
                        <a:rPr lang="en-US" sz="1300" dirty="0" err="1">
                          <a:latin typeface="Times New Roman"/>
                          <a:ea typeface="Times New Roman"/>
                          <a:cs typeface="Times New Roman"/>
                          <a:sym typeface="Times New Roman"/>
                        </a:rPr>
                        <a:t>đó</a:t>
                      </a:r>
                      <a:r>
                        <a:rPr lang="en-US" sz="1300" dirty="0">
                          <a:latin typeface="Times New Roman"/>
                          <a:ea typeface="Times New Roman"/>
                          <a:cs typeface="Times New Roman"/>
                          <a:sym typeface="Times New Roman"/>
                        </a:rPr>
                        <a:t>: </a:t>
                      </a:r>
                      <a:endParaRPr sz="1300" u="none" strike="noStrike" cap="none" dirty="0">
                        <a:latin typeface="Times New Roman"/>
                        <a:ea typeface="Times New Roman"/>
                        <a:cs typeface="Times New Roman"/>
                        <a:sym typeface="Times New Roman"/>
                      </a:endParaRPr>
                    </a:p>
                    <a:p>
                      <a:pPr marL="0" marR="0" lvl="0" indent="0" algn="l" rtl="0">
                        <a:spcBef>
                          <a:spcPts val="0"/>
                        </a:spcBef>
                        <a:spcAft>
                          <a:spcPts val="0"/>
                        </a:spcAft>
                        <a:buClr>
                          <a:schemeClr val="dk1"/>
                        </a:buClr>
                        <a:buSzPts val="1300"/>
                        <a:buFont typeface="Times New Roman"/>
                        <a:buNone/>
                      </a:pPr>
                      <a:r>
                        <a:rPr lang="en-US" sz="1300" dirty="0">
                          <a:latin typeface="Times New Roman"/>
                          <a:ea typeface="Times New Roman"/>
                          <a:cs typeface="Times New Roman"/>
                          <a:sym typeface="Times New Roman"/>
                        </a:rPr>
                        <a:t>+ </a:t>
                      </a:r>
                      <a:r>
                        <a:rPr lang="en-US" sz="1300" dirty="0">
                          <a:solidFill>
                            <a:schemeClr val="dk1"/>
                          </a:solidFill>
                          <a:latin typeface="Times New Roman"/>
                          <a:ea typeface="Times New Roman"/>
                          <a:cs typeface="Times New Roman"/>
                          <a:sym typeface="Times New Roman"/>
                        </a:rPr>
                        <a:t>01ea </a:t>
                      </a:r>
                      <a:r>
                        <a:rPr lang="en-US" sz="1300" dirty="0" err="1">
                          <a:solidFill>
                            <a:schemeClr val="dk1"/>
                          </a:solidFill>
                          <a:latin typeface="Times New Roman"/>
                          <a:ea typeface="Times New Roman"/>
                          <a:cs typeface="Times New Roman"/>
                          <a:sym typeface="Times New Roman"/>
                        </a:rPr>
                        <a:t>giao</a:t>
                      </a:r>
                      <a:r>
                        <a:rPr lang="en-US" sz="1300" dirty="0">
                          <a:solidFill>
                            <a:schemeClr val="dk1"/>
                          </a:solidFill>
                          <a:latin typeface="Times New Roman"/>
                          <a:ea typeface="Times New Roman"/>
                          <a:cs typeface="Times New Roman"/>
                          <a:sym typeface="Times New Roman"/>
                        </a:rPr>
                        <a:t> SGN </a:t>
                      </a:r>
                      <a:r>
                        <a:rPr lang="en-US" sz="1300" dirty="0" err="1">
                          <a:solidFill>
                            <a:schemeClr val="dk1"/>
                          </a:solidFill>
                          <a:latin typeface="Times New Roman"/>
                          <a:ea typeface="Times New Roman"/>
                          <a:cs typeface="Times New Roman"/>
                          <a:sym typeface="Times New Roman"/>
                        </a:rPr>
                        <a:t>ngày</a:t>
                      </a:r>
                      <a:r>
                        <a:rPr lang="en-US" sz="1300" dirty="0">
                          <a:solidFill>
                            <a:schemeClr val="dk1"/>
                          </a:solidFill>
                          <a:latin typeface="Times New Roman"/>
                          <a:ea typeface="Times New Roman"/>
                          <a:cs typeface="Times New Roman"/>
                          <a:sym typeface="Times New Roman"/>
                        </a:rPr>
                        <a:t> 13/01</a:t>
                      </a:r>
                      <a:endParaRPr sz="13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300"/>
                        <a:buFont typeface="Times New Roman"/>
                        <a:buNone/>
                      </a:pPr>
                      <a:r>
                        <a:rPr lang="en-US" sz="1300" dirty="0">
                          <a:solidFill>
                            <a:schemeClr val="dk1"/>
                          </a:solidFill>
                          <a:latin typeface="Times New Roman"/>
                          <a:ea typeface="Times New Roman"/>
                          <a:cs typeface="Times New Roman"/>
                          <a:sym typeface="Times New Roman"/>
                        </a:rPr>
                        <a:t>+ 02ea PO  EDD 10/2025.</a:t>
                      </a:r>
                      <a:endParaRPr sz="1300" dirty="0">
                        <a:latin typeface="Times New Roman"/>
                        <a:ea typeface="Times New Roman"/>
                        <a:cs typeface="Times New Roman"/>
                        <a:sym typeface="Times New Roman"/>
                      </a:endParaRPr>
                    </a:p>
                  </a:txBody>
                  <a:tcPr marL="7800" marR="7800" marT="7800" marB="0" anchor="ct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r>
            </a:tbl>
          </a:graphicData>
        </a:graphic>
      </p:graphicFrame>
      <p:pic>
        <p:nvPicPr>
          <p:cNvPr id="5"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Tree>
    <p:extLst>
      <p:ext uri="{BB962C8B-B14F-4D97-AF65-F5344CB8AC3E}">
        <p14:creationId xmlns:p14="http://schemas.microsoft.com/office/powerpoint/2010/main" val="616458451"/>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g31ccdae391d_0_315"/>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33" name="Google Shape;233;g31ccdae391d_0_31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58</a:t>
            </a:fld>
            <a:endParaRPr/>
          </a:p>
        </p:txBody>
      </p:sp>
      <p:sp>
        <p:nvSpPr>
          <p:cNvPr id="234" name="Google Shape;234;g31ccdae391d_0_315"/>
          <p:cNvSpPr/>
          <p:nvPr/>
        </p:nvSpPr>
        <p:spPr>
          <a:xfrm>
            <a:off x="500990" y="569557"/>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endParaRPr sz="2000" b="1" i="0" u="none" strike="noStrike" cap="none" dirty="0">
              <a:solidFill>
                <a:srgbClr val="FF0000"/>
              </a:solidFill>
              <a:latin typeface="Times New Roman"/>
              <a:ea typeface="Times New Roman"/>
              <a:cs typeface="Times New Roman"/>
              <a:sym typeface="Times New Roman"/>
            </a:endParaRPr>
          </a:p>
          <a:p>
            <a:pPr marL="457200" marR="0" lvl="0" indent="-355600" algn="just" rtl="0">
              <a:lnSpc>
                <a:spcPct val="100000"/>
              </a:lnSpc>
              <a:spcBef>
                <a:spcPts val="0"/>
              </a:spcBef>
              <a:spcAft>
                <a:spcPts val="0"/>
              </a:spcAft>
              <a:buClr>
                <a:srgbClr val="FF0000"/>
              </a:buClr>
              <a:buSzPts val="2000"/>
              <a:buFont typeface="Times New Roman"/>
              <a:buChar char="-"/>
            </a:pPr>
            <a:r>
              <a:rPr lang="en-US" sz="2000" b="1" i="0" u="none" strike="noStrike" cap="none" dirty="0" err="1">
                <a:solidFill>
                  <a:srgbClr val="FF0000"/>
                </a:solidFill>
                <a:latin typeface="Times New Roman"/>
                <a:ea typeface="Times New Roman"/>
                <a:cs typeface="Times New Roman"/>
                <a:sym typeface="Times New Roman"/>
              </a:rPr>
              <a:t>Một</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số</a:t>
            </a:r>
            <a:r>
              <a:rPr lang="en-US" sz="2000" b="1" i="0" u="none" strike="noStrike" cap="none" dirty="0">
                <a:solidFill>
                  <a:srgbClr val="FF0000"/>
                </a:solidFill>
                <a:latin typeface="Times New Roman"/>
                <a:ea typeface="Times New Roman"/>
                <a:cs typeface="Times New Roman"/>
                <a:sym typeface="Times New Roman"/>
              </a:rPr>
              <a:t> PTVT </a:t>
            </a:r>
            <a:r>
              <a:rPr lang="en-US" sz="2000" b="1" i="0" u="none" strike="noStrike" cap="none" dirty="0" err="1">
                <a:solidFill>
                  <a:srgbClr val="FF0000"/>
                </a:solidFill>
                <a:latin typeface="Times New Roman"/>
                <a:ea typeface="Times New Roman"/>
                <a:cs typeface="Times New Roman"/>
                <a:sym typeface="Times New Roman"/>
              </a:rPr>
              <a:t>cần</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lưu</a:t>
            </a:r>
            <a:r>
              <a:rPr lang="en-US" sz="2000" b="1" i="0" u="none" strike="noStrike" cap="none" dirty="0">
                <a:solidFill>
                  <a:srgbClr val="FF0000"/>
                </a:solidFill>
                <a:latin typeface="Times New Roman"/>
                <a:ea typeface="Times New Roman"/>
                <a:cs typeface="Times New Roman"/>
                <a:sym typeface="Times New Roman"/>
              </a:rPr>
              <a:t> ý</a:t>
            </a:r>
            <a:r>
              <a:rPr lang="en-US" sz="1600" b="0" i="0" u="none" strike="noStrike" cap="none" dirty="0">
                <a:solidFill>
                  <a:schemeClr val="dk1"/>
                </a:solidFill>
                <a:latin typeface="Times New Roman"/>
                <a:ea typeface="Times New Roman"/>
                <a:cs typeface="Times New Roman"/>
                <a:sym typeface="Times New Roman"/>
              </a:rPr>
              <a:t>:</a:t>
            </a:r>
            <a:endParaRPr sz="1600" b="0" i="0" u="none" strike="noStrike" cap="none" dirty="0">
              <a:solidFill>
                <a:schemeClr val="dk1"/>
              </a:solidFill>
              <a:latin typeface="Times New Roman"/>
              <a:ea typeface="Times New Roman"/>
              <a:cs typeface="Times New Roman"/>
              <a:sym typeface="Times New Roman"/>
            </a:endParaRPr>
          </a:p>
          <a:p>
            <a:pPr marL="457200" marR="0" lvl="0" indent="-330200" algn="just" rtl="0">
              <a:lnSpc>
                <a:spcPct val="100000"/>
              </a:lnSpc>
              <a:spcBef>
                <a:spcPts val="0"/>
              </a:spcBef>
              <a:spcAft>
                <a:spcPts val="0"/>
              </a:spcAft>
              <a:buClr>
                <a:schemeClr val="dk1"/>
              </a:buClr>
              <a:buSzPts val="1600"/>
              <a:buFont typeface="Times New Roman"/>
              <a:buChar char="+"/>
            </a:pPr>
            <a:r>
              <a:rPr lang="en-US" sz="1600" b="0" i="0" u="none" strike="noStrike" cap="none" dirty="0">
                <a:solidFill>
                  <a:schemeClr val="dk1"/>
                </a:solidFill>
                <a:latin typeface="Times New Roman"/>
                <a:ea typeface="Times New Roman"/>
                <a:cs typeface="Times New Roman"/>
                <a:sym typeface="Times New Roman"/>
              </a:rPr>
              <a:t>PTVT </a:t>
            </a:r>
            <a:r>
              <a:rPr lang="en-US" sz="1600" b="0" i="0" u="none" strike="noStrike" cap="none" dirty="0" err="1">
                <a:solidFill>
                  <a:schemeClr val="dk1"/>
                </a:solidFill>
                <a:latin typeface="Times New Roman"/>
                <a:ea typeface="Times New Roman"/>
                <a:cs typeface="Times New Roman"/>
                <a:sym typeface="Times New Roman"/>
              </a:rPr>
              <a:t>thay</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nhiều</a:t>
            </a:r>
            <a:r>
              <a:rPr lang="en-US" sz="1600" b="0" i="0" u="none" strike="noStrike" cap="none" dirty="0">
                <a:solidFill>
                  <a:schemeClr val="dk1"/>
                </a:solidFill>
                <a:latin typeface="Times New Roman"/>
                <a:ea typeface="Times New Roman"/>
                <a:cs typeface="Times New Roman"/>
                <a:sym typeface="Times New Roman"/>
              </a:rPr>
              <a:t>: VFSG, GPM, NSG, CAC, Pump Pack, FMU, GWIV, </a:t>
            </a:r>
            <a:r>
              <a:rPr lang="en-US" sz="1600" b="0" i="0" u="none" strike="noStrike" cap="none" dirty="0" err="1">
                <a:solidFill>
                  <a:schemeClr val="dk1"/>
                </a:solidFill>
                <a:latin typeface="Times New Roman"/>
                <a:ea typeface="Times New Roman"/>
                <a:cs typeface="Times New Roman"/>
                <a:sym typeface="Times New Roman"/>
              </a:rPr>
              <a:t>Tailcone</a:t>
            </a:r>
            <a:r>
              <a:rPr lang="en-US" sz="1600" b="0" i="0" u="none" strike="noStrike" cap="none" dirty="0">
                <a:solidFill>
                  <a:schemeClr val="dk1"/>
                </a:solidFill>
                <a:latin typeface="Times New Roman"/>
                <a:ea typeface="Times New Roman"/>
                <a:cs typeface="Times New Roman"/>
                <a:sym typeface="Times New Roman"/>
              </a:rPr>
              <a:t> light (</a:t>
            </a:r>
            <a:r>
              <a:rPr lang="en-US" sz="1600" b="0" i="0" u="none" strike="noStrike" cap="none" dirty="0" err="1">
                <a:solidFill>
                  <a:schemeClr val="dk1"/>
                </a:solidFill>
                <a:latin typeface="Times New Roman"/>
                <a:ea typeface="Times New Roman"/>
                <a:cs typeface="Times New Roman"/>
                <a:sym typeface="Times New Roman"/>
              </a:rPr>
              <a:t>hỏng</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hóc</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rất</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nhiều</a:t>
            </a:r>
            <a:r>
              <a:rPr lang="en-US" sz="1600" b="0" i="0" u="none" strike="noStrike" cap="none" dirty="0">
                <a:solidFill>
                  <a:schemeClr val="dk1"/>
                </a:solidFill>
                <a:latin typeface="Times New Roman"/>
                <a:ea typeface="Times New Roman"/>
                <a:cs typeface="Times New Roman"/>
                <a:sym typeface="Times New Roman"/>
              </a:rPr>
              <a:t> sub card led). </a:t>
            </a: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20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355600" algn="just" rtl="0">
              <a:lnSpc>
                <a:spcPct val="100000"/>
              </a:lnSpc>
              <a:spcBef>
                <a:spcPts val="0"/>
              </a:spcBef>
              <a:spcAft>
                <a:spcPts val="0"/>
              </a:spcAft>
              <a:buClr>
                <a:srgbClr val="FF0000"/>
              </a:buClr>
              <a:buSzPts val="2000"/>
              <a:buFont typeface="Times New Roman"/>
              <a:buChar char="-"/>
            </a:pPr>
            <a:r>
              <a:rPr lang="en-US" sz="2000" b="1" i="0" u="none" strike="noStrike" cap="none" dirty="0" err="1">
                <a:solidFill>
                  <a:srgbClr val="FF0000"/>
                </a:solidFill>
                <a:latin typeface="Times New Roman"/>
                <a:ea typeface="Times New Roman"/>
                <a:cs typeface="Times New Roman"/>
                <a:sym typeface="Times New Roman"/>
              </a:rPr>
              <a:t>Hỏng</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hóc</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ảnh</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hưởng</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cần</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lưu</a:t>
            </a:r>
            <a:r>
              <a:rPr lang="en-US" sz="2000" b="1" i="0" u="none" strike="noStrike" cap="none" dirty="0">
                <a:solidFill>
                  <a:srgbClr val="FF0000"/>
                </a:solidFill>
                <a:latin typeface="Times New Roman"/>
                <a:ea typeface="Times New Roman"/>
                <a:cs typeface="Times New Roman"/>
                <a:sym typeface="Times New Roman"/>
              </a:rPr>
              <a:t> ý:</a:t>
            </a:r>
            <a:r>
              <a:rPr lang="en-US" sz="1600" b="0" i="0" u="none" strike="noStrike" cap="none" dirty="0">
                <a:solidFill>
                  <a:schemeClr val="dk1"/>
                </a:solidFill>
                <a:latin typeface="Times New Roman"/>
                <a:ea typeface="Times New Roman"/>
                <a:cs typeface="Times New Roman"/>
                <a:sym typeface="Times New Roman"/>
              </a:rPr>
              <a:t>.</a:t>
            </a: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r>
              <a:rPr lang="en-US" sz="1600" b="0" i="0" u="none" strike="noStrike" cap="none" dirty="0">
                <a:solidFill>
                  <a:schemeClr val="dk1"/>
                </a:solidFill>
                <a:latin typeface="Times New Roman"/>
                <a:ea typeface="Times New Roman"/>
                <a:cs typeface="Times New Roman"/>
                <a:sym typeface="Times New Roman"/>
              </a:rPr>
              <a:t>• A86</a:t>
            </a:r>
            <a:r>
              <a:rPr lang="en-US" sz="1600" dirty="0">
                <a:solidFill>
                  <a:schemeClr val="dk1"/>
                </a:solidFill>
                <a:latin typeface="Times New Roman"/>
                <a:ea typeface="Times New Roman"/>
                <a:cs typeface="Times New Roman"/>
                <a:sym typeface="Times New Roman"/>
              </a:rPr>
              <a:t>7</a:t>
            </a:r>
            <a:r>
              <a:rPr lang="en-US" sz="1600" b="0" i="0" u="none" strike="noStrike" cap="none" dirty="0">
                <a:solidFill>
                  <a:schemeClr val="dk1"/>
                </a:solidFill>
                <a:latin typeface="Times New Roman"/>
                <a:ea typeface="Times New Roman"/>
                <a:cs typeface="Times New Roman"/>
                <a:sym typeface="Times New Roman"/>
              </a:rPr>
              <a:t> - </a:t>
            </a:r>
            <a:r>
              <a:rPr lang="en-US" sz="1600" dirty="0">
                <a:solidFill>
                  <a:schemeClr val="dk1"/>
                </a:solidFill>
                <a:latin typeface="Times New Roman"/>
                <a:ea typeface="Times New Roman"/>
                <a:cs typeface="Times New Roman"/>
                <a:sym typeface="Times New Roman"/>
              </a:rPr>
              <a:t>APU INOP: </a:t>
            </a:r>
            <a:r>
              <a:rPr lang="en-US" sz="1600" dirty="0" err="1">
                <a:solidFill>
                  <a:schemeClr val="dk1"/>
                </a:solidFill>
                <a:latin typeface="Times New Roman"/>
                <a:ea typeface="Times New Roman"/>
                <a:cs typeface="Times New Roman"/>
                <a:sym typeface="Times New Roman"/>
              </a:rPr>
              <a:t>đặt</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hàng</a:t>
            </a:r>
            <a:r>
              <a:rPr lang="en-US" sz="1600" dirty="0">
                <a:solidFill>
                  <a:schemeClr val="dk1"/>
                </a:solidFill>
                <a:latin typeface="Times New Roman"/>
                <a:ea typeface="Times New Roman"/>
                <a:cs typeface="Times New Roman"/>
                <a:sym typeface="Times New Roman"/>
              </a:rPr>
              <a:t> FMU, </a:t>
            </a:r>
            <a:r>
              <a:rPr lang="en-US" sz="1600" dirty="0" err="1">
                <a:solidFill>
                  <a:schemeClr val="dk1"/>
                </a:solidFill>
                <a:latin typeface="Times New Roman"/>
                <a:ea typeface="Times New Roman"/>
                <a:cs typeface="Times New Roman"/>
                <a:sym typeface="Times New Roman"/>
              </a:rPr>
              <a:t>giao</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cho</a:t>
            </a:r>
            <a:r>
              <a:rPr lang="en-US" sz="1600" dirty="0">
                <a:solidFill>
                  <a:schemeClr val="dk1"/>
                </a:solidFill>
                <a:latin typeface="Times New Roman"/>
                <a:ea typeface="Times New Roman"/>
                <a:cs typeface="Times New Roman"/>
                <a:sym typeface="Times New Roman"/>
              </a:rPr>
              <a:t> SGN </a:t>
            </a:r>
            <a:r>
              <a:rPr lang="en-US" sz="1600" dirty="0" err="1">
                <a:solidFill>
                  <a:schemeClr val="dk1"/>
                </a:solidFill>
                <a:latin typeface="Times New Roman"/>
                <a:ea typeface="Times New Roman"/>
                <a:cs typeface="Times New Roman"/>
                <a:sym typeface="Times New Roman"/>
              </a:rPr>
              <a:t>ngày</a:t>
            </a:r>
            <a:r>
              <a:rPr lang="en-US" sz="1600" dirty="0">
                <a:solidFill>
                  <a:schemeClr val="dk1"/>
                </a:solidFill>
                <a:latin typeface="Times New Roman"/>
                <a:ea typeface="Times New Roman"/>
                <a:cs typeface="Times New Roman"/>
                <a:sym typeface="Times New Roman"/>
              </a:rPr>
              <a:t> 12/01.</a:t>
            </a: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r>
              <a:rPr lang="en-US" sz="1600" dirty="0">
                <a:solidFill>
                  <a:schemeClr val="dk1"/>
                </a:solidFill>
                <a:latin typeface="Times New Roman"/>
                <a:ea typeface="Times New Roman"/>
                <a:cs typeface="Times New Roman"/>
                <a:sym typeface="Times New Roman"/>
              </a:rPr>
              <a:t>• </a:t>
            </a:r>
            <a:r>
              <a:rPr lang="en-US" sz="1600" b="0" i="0" u="none" strike="noStrike" cap="none" dirty="0">
                <a:solidFill>
                  <a:schemeClr val="dk1"/>
                </a:solidFill>
                <a:latin typeface="Times New Roman"/>
                <a:ea typeface="Times New Roman"/>
                <a:cs typeface="Times New Roman"/>
                <a:sym typeface="Times New Roman"/>
              </a:rPr>
              <a:t>A8</a:t>
            </a:r>
            <a:r>
              <a:rPr lang="en-US" sz="1600" dirty="0">
                <a:solidFill>
                  <a:schemeClr val="dk1"/>
                </a:solidFill>
                <a:latin typeface="Times New Roman"/>
                <a:ea typeface="Times New Roman"/>
                <a:cs typeface="Times New Roman"/>
                <a:sym typeface="Times New Roman"/>
              </a:rPr>
              <a:t>73</a:t>
            </a:r>
            <a:r>
              <a:rPr lang="en-US" sz="1600" b="0" i="0" u="none" strike="noStrike" cap="none" dirty="0">
                <a:solidFill>
                  <a:schemeClr val="dk1"/>
                </a:solidFill>
                <a:latin typeface="Times New Roman"/>
                <a:ea typeface="Times New Roman"/>
                <a:cs typeface="Times New Roman"/>
                <a:sym typeface="Times New Roman"/>
              </a:rPr>
              <a:t> - </a:t>
            </a:r>
            <a:r>
              <a:rPr lang="en-US" sz="1600" dirty="0">
                <a:solidFill>
                  <a:schemeClr val="dk1"/>
                </a:solidFill>
                <a:latin typeface="Times New Roman"/>
                <a:ea typeface="Times New Roman"/>
                <a:cs typeface="Times New Roman"/>
                <a:sym typeface="Times New Roman"/>
              </a:rPr>
              <a:t>AFT CARGO HANDLING SYS INOP</a:t>
            </a:r>
            <a:r>
              <a:rPr lang="en-US" sz="1600" b="0" i="0" u="none" strike="noStrike" cap="none"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đặt</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hàngCARGO</a:t>
            </a:r>
            <a:r>
              <a:rPr lang="en-US" sz="1600" dirty="0">
                <a:solidFill>
                  <a:schemeClr val="dk1"/>
                </a:solidFill>
                <a:latin typeface="Times New Roman"/>
                <a:ea typeface="Times New Roman"/>
                <a:cs typeface="Times New Roman"/>
                <a:sym typeface="Times New Roman"/>
              </a:rPr>
              <a:t> MAINTENANCE DISPLAY,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về</a:t>
            </a:r>
            <a:r>
              <a:rPr lang="en-US" sz="1600" dirty="0">
                <a:solidFill>
                  <a:schemeClr val="dk1"/>
                </a:solidFill>
                <a:latin typeface="Times New Roman"/>
                <a:ea typeface="Times New Roman"/>
                <a:cs typeface="Times New Roman"/>
                <a:sym typeface="Times New Roman"/>
              </a:rPr>
              <a:t> SGN 15/01</a:t>
            </a:r>
            <a:endParaRPr sz="1600"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r>
              <a:rPr lang="en-US" sz="1600" dirty="0">
                <a:solidFill>
                  <a:schemeClr val="dk1"/>
                </a:solidFill>
                <a:latin typeface="Times New Roman"/>
                <a:ea typeface="Times New Roman"/>
                <a:cs typeface="Times New Roman"/>
                <a:sym typeface="Times New Roman"/>
              </a:rPr>
              <a:t>• A879 - FWD CARGO HANDLING SYSTEM INOP (ELECTRI-CAL POWER NOT AVAI: </a:t>
            </a:r>
            <a:r>
              <a:rPr lang="en-US" sz="1600" dirty="0" err="1">
                <a:solidFill>
                  <a:schemeClr val="dk1"/>
                </a:solidFill>
                <a:latin typeface="Times New Roman"/>
                <a:ea typeface="Times New Roman"/>
                <a:cs typeface="Times New Roman"/>
                <a:sym typeface="Times New Roman"/>
              </a:rPr>
              <a:t>đặt</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hàng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Joistick</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p/n</a:t>
            </a:r>
            <a:r>
              <a:rPr lang="en-US" sz="1600" dirty="0">
                <a:solidFill>
                  <a:schemeClr val="dk1"/>
                </a:solidFill>
                <a:latin typeface="Times New Roman"/>
                <a:ea typeface="Times New Roman"/>
                <a:cs typeface="Times New Roman"/>
                <a:sym typeface="Times New Roman"/>
              </a:rPr>
              <a:t> 787E150-4, in stock.</a:t>
            </a:r>
            <a:endParaRPr sz="1600" dirty="0">
              <a:solidFill>
                <a:schemeClr val="dk1"/>
              </a:solidFill>
              <a:latin typeface="Times New Roman"/>
              <a:ea typeface="Times New Roman"/>
              <a:cs typeface="Times New Roman"/>
              <a:sym typeface="Times New Roman"/>
            </a:endParaRPr>
          </a:p>
          <a:p>
            <a:pPr marL="0" lvl="0" indent="0" algn="just" rtl="0">
              <a:spcBef>
                <a:spcPts val="0"/>
              </a:spcBef>
              <a:spcAft>
                <a:spcPts val="0"/>
              </a:spcAft>
              <a:buClr>
                <a:schemeClr val="dk1"/>
              </a:buClr>
              <a:buSzPts val="1600"/>
              <a:buFont typeface="Arial"/>
              <a:buNone/>
            </a:pPr>
            <a:endParaRPr sz="1600"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1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100"/>
              <a:buFont typeface="Arial"/>
              <a:buNone/>
            </a:pPr>
            <a:endParaRPr sz="1600" b="0" i="0" u="none" strike="noStrike" cap="none" dirty="0">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1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0" i="0" u="none" strike="noStrike" cap="none" dirty="0">
              <a:solidFill>
                <a:srgbClr val="000000"/>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rgbClr val="000000"/>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1" i="0" u="none" strike="noStrike" cap="none" dirty="0">
              <a:solidFill>
                <a:srgbClr val="FF0000"/>
              </a:solidFill>
              <a:latin typeface="Times New Roman"/>
              <a:ea typeface="Times New Roman"/>
              <a:cs typeface="Times New Roman"/>
              <a:sym typeface="Times New Roman"/>
            </a:endParaRPr>
          </a:p>
        </p:txBody>
      </p:sp>
      <p:pic>
        <p:nvPicPr>
          <p:cNvPr id="235" name="Google Shape;235;g31ccdae391d_0_315"/>
          <p:cNvPicPr preferRelativeResize="0"/>
          <p:nvPr/>
        </p:nvPicPr>
        <p:blipFill>
          <a:blip r:embed="rId3">
            <a:alphaModFix/>
          </a:blip>
          <a:stretch>
            <a:fillRect/>
          </a:stretch>
        </p:blipFill>
        <p:spPr>
          <a:xfrm>
            <a:off x="1847850" y="3219450"/>
            <a:ext cx="8496300" cy="2552700"/>
          </a:xfrm>
          <a:prstGeom prst="rect">
            <a:avLst/>
          </a:prstGeom>
          <a:noFill/>
          <a:ln>
            <a:noFill/>
          </a:ln>
        </p:spPr>
      </p:pic>
      <p:pic>
        <p:nvPicPr>
          <p:cNvPr id="6" name="Google Shape;36;p4" descr="A black and yellow lines on a blue surface&#10;&#10;Description automatically generated"/>
          <p:cNvPicPr preferRelativeResize="0"/>
          <p:nvPr/>
        </p:nvPicPr>
        <p:blipFill rotWithShape="1">
          <a:blip r:embed="rId4">
            <a:alphaModFix/>
          </a:blip>
          <a:srcRect/>
          <a:stretch/>
        </p:blipFill>
        <p:spPr>
          <a:xfrm>
            <a:off x="8650521" y="4650486"/>
            <a:ext cx="3545983" cy="2207517"/>
          </a:xfrm>
          <a:prstGeom prst="rect">
            <a:avLst/>
          </a:prstGeom>
          <a:noFill/>
          <a:ln>
            <a:noFill/>
          </a:ln>
        </p:spPr>
      </p:pic>
    </p:spTree>
    <p:extLst>
      <p:ext uri="{BB962C8B-B14F-4D97-AF65-F5344CB8AC3E}">
        <p14:creationId xmlns:p14="http://schemas.microsoft.com/office/powerpoint/2010/main" val="2516528078"/>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g31ccdae391d_0_323"/>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42" name="Google Shape;242;g31ccdae391d_0_32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59</a:t>
            </a:fld>
            <a:endParaRPr/>
          </a:p>
        </p:txBody>
      </p:sp>
      <p:sp>
        <p:nvSpPr>
          <p:cNvPr id="243" name="Google Shape;243;g31ccdae391d_0_323"/>
          <p:cNvSpPr/>
          <p:nvPr/>
        </p:nvSpPr>
        <p:spPr>
          <a:xfrm>
            <a:off x="770707" y="858119"/>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a:solidFill>
                  <a:srgbClr val="FF0000"/>
                </a:solidFill>
                <a:latin typeface="Times New Roman"/>
                <a:ea typeface="Times New Roman"/>
                <a:cs typeface="Times New Roman"/>
                <a:sym typeface="Times New Roman"/>
              </a:rPr>
              <a:t>Tình trạng đơn hàng Pooling: </a:t>
            </a:r>
            <a:r>
              <a:rPr lang="en-US" sz="2000" b="1">
                <a:solidFill>
                  <a:srgbClr val="FF0000"/>
                </a:solidFill>
                <a:latin typeface="Times New Roman"/>
                <a:ea typeface="Times New Roman"/>
                <a:cs typeface="Times New Roman"/>
                <a:sym typeface="Times New Roman"/>
              </a:rPr>
              <a:t>38</a:t>
            </a:r>
            <a:r>
              <a:rPr lang="en-US" sz="2000" b="1" i="0" u="none" strike="noStrike" cap="none">
                <a:solidFill>
                  <a:srgbClr val="FF0000"/>
                </a:solidFill>
                <a:latin typeface="Times New Roman"/>
                <a:ea typeface="Times New Roman"/>
                <a:cs typeface="Times New Roman"/>
                <a:sym typeface="Times New Roman"/>
              </a:rPr>
              <a:t> đơn hàng quá hạn trong tổng số </a:t>
            </a:r>
            <a:r>
              <a:rPr lang="en-US" sz="2000" b="1">
                <a:solidFill>
                  <a:srgbClr val="FF0000"/>
                </a:solidFill>
                <a:latin typeface="Times New Roman"/>
                <a:ea typeface="Times New Roman"/>
                <a:cs typeface="Times New Roman"/>
                <a:sym typeface="Times New Roman"/>
              </a:rPr>
              <a:t>50</a:t>
            </a:r>
            <a:r>
              <a:rPr lang="en-US" sz="2000" b="1" i="0" u="none" strike="noStrike" cap="none">
                <a:solidFill>
                  <a:srgbClr val="FF0000"/>
                </a:solidFill>
                <a:latin typeface="Times New Roman"/>
                <a:ea typeface="Times New Roman"/>
                <a:cs typeface="Times New Roman"/>
                <a:sym typeface="Times New Roman"/>
              </a:rPr>
              <a:t> đơn hàng đang open</a:t>
            </a:r>
            <a:endParaRPr sz="2000" b="1" i="0" u="none" strike="noStrike" cap="none">
              <a:solidFill>
                <a:srgbClr val="FF0000"/>
              </a:solidFill>
              <a:latin typeface="Arial"/>
              <a:ea typeface="Arial"/>
              <a:cs typeface="Arial"/>
              <a:sym typeface="Arial"/>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lấp đầy kho OSS: </a:t>
            </a:r>
            <a:r>
              <a:rPr lang="en-US" sz="1500">
                <a:solidFill>
                  <a:schemeClr val="dk1"/>
                </a:solidFill>
                <a:latin typeface="Times New Roman"/>
                <a:ea typeface="Times New Roman"/>
                <a:cs typeface="Times New Roman"/>
                <a:sym typeface="Times New Roman"/>
              </a:rPr>
              <a:t>10</a:t>
            </a:r>
            <a:r>
              <a:rPr lang="en-US" sz="1500" b="0" i="0" u="none" strike="noStrike" cap="none">
                <a:solidFill>
                  <a:schemeClr val="dk1"/>
                </a:solidFill>
                <a:latin typeface="Times New Roman"/>
                <a:ea typeface="Times New Roman"/>
                <a:cs typeface="Times New Roman"/>
                <a:sym typeface="Times New Roman"/>
              </a:rPr>
              <a:t> overdue LO / total </a:t>
            </a:r>
            <a:r>
              <a:rPr lang="en-US" sz="1500">
                <a:solidFill>
                  <a:schemeClr val="dk1"/>
                </a:solidFill>
                <a:latin typeface="Times New Roman"/>
                <a:ea typeface="Times New Roman"/>
                <a:cs typeface="Times New Roman"/>
                <a:sym typeface="Times New Roman"/>
              </a:rPr>
              <a:t>12</a:t>
            </a:r>
            <a:r>
              <a:rPr lang="en-US" sz="1500" b="0" i="0" u="none" strike="noStrike" cap="none">
                <a:solidFill>
                  <a:schemeClr val="dk1"/>
                </a:solidFill>
                <a:latin typeface="Times New Roman"/>
                <a:ea typeface="Times New Roman"/>
                <a:cs typeface="Times New Roman"/>
                <a:sym typeface="Times New Roman"/>
              </a:rPr>
              <a:t> LO</a:t>
            </a:r>
            <a:endParaRPr sz="1500" b="0" i="0" u="none" strike="noStrike" cap="none">
              <a:solidFill>
                <a:schemeClr val="dk1"/>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khác (Defect, Hardtime): </a:t>
            </a:r>
            <a:r>
              <a:rPr lang="en-US" sz="1500">
                <a:solidFill>
                  <a:schemeClr val="dk1"/>
                </a:solidFill>
                <a:latin typeface="Times New Roman"/>
                <a:ea typeface="Times New Roman"/>
                <a:cs typeface="Times New Roman"/>
                <a:sym typeface="Times New Roman"/>
              </a:rPr>
              <a:t>28</a:t>
            </a:r>
            <a:r>
              <a:rPr lang="en-US" sz="1500" b="0" i="0" u="none" strike="noStrike" cap="none">
                <a:solidFill>
                  <a:schemeClr val="dk1"/>
                </a:solidFill>
                <a:latin typeface="Times New Roman"/>
                <a:ea typeface="Times New Roman"/>
                <a:cs typeface="Times New Roman"/>
                <a:sym typeface="Times New Roman"/>
              </a:rPr>
              <a:t> overdue EO / total  </a:t>
            </a:r>
            <a:r>
              <a:rPr lang="en-US" sz="1500">
                <a:solidFill>
                  <a:schemeClr val="dk1"/>
                </a:solidFill>
                <a:latin typeface="Times New Roman"/>
                <a:ea typeface="Times New Roman"/>
                <a:cs typeface="Times New Roman"/>
                <a:sym typeface="Times New Roman"/>
              </a:rPr>
              <a:t>38</a:t>
            </a:r>
            <a:r>
              <a:rPr lang="en-US" sz="1500" b="0" i="0" u="none" strike="noStrike" cap="none">
                <a:solidFill>
                  <a:schemeClr val="dk1"/>
                </a:solidFill>
                <a:latin typeface="Times New Roman"/>
                <a:ea typeface="Times New Roman"/>
                <a:cs typeface="Times New Roman"/>
                <a:sym typeface="Times New Roman"/>
              </a:rPr>
              <a:t> EO </a:t>
            </a:r>
            <a:endParaRPr sz="1500" b="0" i="0" u="none" strike="noStrike" cap="none">
              <a:solidFill>
                <a:srgbClr val="1F497D"/>
              </a:solidFill>
              <a:latin typeface="Times New Roman"/>
              <a:ea typeface="Times New Roman"/>
              <a:cs typeface="Times New Roman"/>
              <a:sym typeface="Times New Roman"/>
            </a:endParaRPr>
          </a:p>
          <a:p>
            <a:pPr marL="457200" marR="0" lvl="0" indent="-323850" algn="just" rtl="0">
              <a:lnSpc>
                <a:spcPct val="110000"/>
              </a:lnSpc>
              <a:spcBef>
                <a:spcPts val="60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Tình trạng đơn hàng pool trong 4 tuần gần nhất:</a:t>
            </a:r>
            <a:endParaRPr sz="1500" b="1" i="0" u="none" strike="noStrike" cap="none">
              <a:solidFill>
                <a:schemeClr val="dk1"/>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p:txBody>
      </p:sp>
      <p:sp>
        <p:nvSpPr>
          <p:cNvPr id="244" name="Google Shape;244;g31ccdae391d_0_323"/>
          <p:cNvSpPr txBox="1"/>
          <p:nvPr/>
        </p:nvSpPr>
        <p:spPr>
          <a:xfrm>
            <a:off x="1840625" y="5495675"/>
            <a:ext cx="1183500" cy="527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p:txBody>
      </p:sp>
      <p:pic>
        <p:nvPicPr>
          <p:cNvPr id="245" name="Google Shape;245;g31ccdae391d_0_323"/>
          <p:cNvPicPr preferRelativeResize="0"/>
          <p:nvPr/>
        </p:nvPicPr>
        <p:blipFill>
          <a:blip r:embed="rId3">
            <a:alphaModFix/>
          </a:blip>
          <a:stretch>
            <a:fillRect/>
          </a:stretch>
        </p:blipFill>
        <p:spPr>
          <a:xfrm>
            <a:off x="2509850" y="2044675"/>
            <a:ext cx="6612726" cy="4532350"/>
          </a:xfrm>
          <a:prstGeom prst="rect">
            <a:avLst/>
          </a:prstGeom>
          <a:noFill/>
          <a:ln>
            <a:noFill/>
          </a:ln>
        </p:spPr>
      </p:pic>
      <p:pic>
        <p:nvPicPr>
          <p:cNvPr id="7" name="Google Shape;36;p4" descr="A black and yellow lines on a blue surface&#10;&#10;Description automatically generated"/>
          <p:cNvPicPr preferRelativeResize="0"/>
          <p:nvPr/>
        </p:nvPicPr>
        <p:blipFill rotWithShape="1">
          <a:blip r:embed="rId4">
            <a:alphaModFix/>
          </a:blip>
          <a:srcRect/>
          <a:stretch/>
        </p:blipFill>
        <p:spPr>
          <a:xfrm>
            <a:off x="8650521" y="4650486"/>
            <a:ext cx="3545983" cy="2207517"/>
          </a:xfrm>
          <a:prstGeom prst="rect">
            <a:avLst/>
          </a:prstGeom>
          <a:noFill/>
          <a:ln>
            <a:noFill/>
          </a:ln>
        </p:spPr>
      </p:pic>
    </p:spTree>
    <p:extLst>
      <p:ext uri="{BB962C8B-B14F-4D97-AF65-F5344CB8AC3E}">
        <p14:creationId xmlns:p14="http://schemas.microsoft.com/office/powerpoint/2010/main" val="306044810"/>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g31ccdae391d_0_332"/>
          <p:cNvSpPr txBox="1">
            <a:spLocks noGrp="1"/>
          </p:cNvSpPr>
          <p:nvPr>
            <p:ph type="title"/>
          </p:nvPr>
        </p:nvSpPr>
        <p:spPr>
          <a:xfrm>
            <a:off x="941350" y="-63125"/>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52" name="Google Shape;252;g31ccdae391d_0_332"/>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60</a:t>
            </a:fld>
            <a:endParaRPr/>
          </a:p>
        </p:txBody>
      </p:sp>
      <p:graphicFrame>
        <p:nvGraphicFramePr>
          <p:cNvPr id="253" name="Google Shape;253;g31ccdae391d_0_332"/>
          <p:cNvGraphicFramePr/>
          <p:nvPr/>
        </p:nvGraphicFramePr>
        <p:xfrm>
          <a:off x="474783" y="301869"/>
          <a:ext cx="11561850" cy="5404125"/>
        </p:xfrm>
        <a:graphic>
          <a:graphicData uri="http://schemas.openxmlformats.org/drawingml/2006/table">
            <a:tbl>
              <a:tblPr>
                <a:noFill/>
              </a:tblPr>
              <a:tblGrid>
                <a:gridCol w="778900"/>
                <a:gridCol w="1783525"/>
                <a:gridCol w="1599825"/>
                <a:gridCol w="3699800"/>
                <a:gridCol w="3699800"/>
              </a:tblGrid>
              <a:tr h="338375">
                <a:tc gridSpan="5">
                  <a:txBody>
                    <a:bodyPr/>
                    <a:lstStyle/>
                    <a:p>
                      <a:pPr marL="0" marR="0" lvl="0" indent="0" algn="ctr" rtl="0">
                        <a:lnSpc>
                          <a:spcPct val="100000"/>
                        </a:lnSpc>
                        <a:spcBef>
                          <a:spcPts val="0"/>
                        </a:spcBef>
                        <a:spcAft>
                          <a:spcPts val="0"/>
                        </a:spcAft>
                        <a:buClr>
                          <a:srgbClr val="000000"/>
                        </a:buClr>
                        <a:buSzPts val="1600"/>
                        <a:buFont typeface="Arial"/>
                        <a:buNone/>
                      </a:pPr>
                      <a:endParaRPr sz="1600" b="1" i="0" u="none" strike="noStrike" cap="none" dirty="0">
                        <a:solidFill>
                          <a:srgbClr val="FF0000"/>
                        </a:solidFill>
                        <a:latin typeface="Times New Roman"/>
                        <a:ea typeface="Times New Roman"/>
                        <a:cs typeface="Times New Roman"/>
                        <a:sym typeface="Times New Roman"/>
                      </a:endParaRPr>
                    </a:p>
                  </a:txBody>
                  <a:tcPr marL="9525" marR="9525" marT="95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338375">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STT</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Tên thiết bị</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P/N</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Hỏng hóc</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50"/>
                        <a:buFont typeface="Arial"/>
                        <a:buNone/>
                      </a:pPr>
                      <a:r>
                        <a:rPr lang="en-US" sz="1150" b="1" u="none" strike="noStrike" cap="none">
                          <a:solidFill>
                            <a:schemeClr val="dk1"/>
                          </a:solidFill>
                          <a:latin typeface="Times New Roman"/>
                          <a:ea typeface="Times New Roman"/>
                          <a:cs typeface="Times New Roman"/>
                          <a:sym typeface="Times New Roman"/>
                        </a:rPr>
                        <a:t>Tình trạng</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1138500">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1</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Spoiler Servo control</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FCRM</a:t>
                      </a:r>
                      <a:endParaRPr sz="1300" u="none" strike="noStrike" cap="none">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CA67003-018/020/025</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CA71323-016 / -015</a:t>
                      </a:r>
                      <a:endParaRPr sz="1300" u="none" strike="noStrike" cap="none">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Hỏng hóc nhiều trên fleet A350. </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Spoiler Servo: </a:t>
                      </a:r>
                      <a:r>
                        <a:rPr lang="en-US" sz="1300">
                          <a:latin typeface="Times New Roman"/>
                          <a:ea typeface="Times New Roman"/>
                          <a:cs typeface="Times New Roman"/>
                          <a:sym typeface="Times New Roman"/>
                        </a:rPr>
                        <a:t>NIL stock, 02ea giao HAN 13/01.</a:t>
                      </a: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FCRM: </a:t>
                      </a:r>
                      <a:r>
                        <a:rPr lang="en-US" sz="1300" u="none" strike="noStrike" cap="none">
                          <a:solidFill>
                            <a:schemeClr val="dk1"/>
                          </a:solidFill>
                          <a:latin typeface="Times New Roman"/>
                          <a:ea typeface="Times New Roman"/>
                          <a:cs typeface="Times New Roman"/>
                          <a:sym typeface="Times New Roman"/>
                        </a:rPr>
                        <a:t>0</a:t>
                      </a:r>
                      <a:r>
                        <a:rPr lang="en-US" sz="1300">
                          <a:solidFill>
                            <a:schemeClr val="dk1"/>
                          </a:solidFill>
                          <a:latin typeface="Times New Roman"/>
                          <a:ea typeface="Times New Roman"/>
                          <a:cs typeface="Times New Roman"/>
                          <a:sym typeface="Times New Roman"/>
                        </a:rPr>
                        <a:t>4</a:t>
                      </a:r>
                      <a:r>
                        <a:rPr lang="en-US" sz="1300" u="none" strike="noStrike" cap="none">
                          <a:solidFill>
                            <a:schemeClr val="dk1"/>
                          </a:solidFill>
                          <a:latin typeface="Times New Roman"/>
                          <a:ea typeface="Times New Roman"/>
                          <a:cs typeface="Times New Roman"/>
                          <a:sym typeface="Times New Roman"/>
                        </a:rPr>
                        <a:t>ea in stock </a:t>
                      </a:r>
                      <a:r>
                        <a:rPr lang="en-US" sz="1300">
                          <a:solidFill>
                            <a:schemeClr val="dk1"/>
                          </a:solidFill>
                          <a:latin typeface="Times New Roman"/>
                          <a:ea typeface="Times New Roman"/>
                          <a:cs typeface="Times New Roman"/>
                          <a:sym typeface="Times New Roman"/>
                        </a:rPr>
                        <a:t>(03ea </a:t>
                      </a:r>
                      <a:r>
                        <a:rPr lang="en-US" sz="1300" u="none" strike="noStrike" cap="none">
                          <a:solidFill>
                            <a:schemeClr val="dk1"/>
                          </a:solidFill>
                          <a:latin typeface="Times New Roman"/>
                          <a:ea typeface="Times New Roman"/>
                          <a:cs typeface="Times New Roman"/>
                          <a:sym typeface="Times New Roman"/>
                        </a:rPr>
                        <a:t>của tàu BQ)</a:t>
                      </a:r>
                      <a:r>
                        <a:rPr lang="en-US" sz="1300">
                          <a:solidFill>
                            <a:schemeClr val="dk1"/>
                          </a:solidFill>
                          <a:latin typeface="Times New Roman"/>
                          <a:ea typeface="Times New Roman"/>
                          <a:cs typeface="Times New Roman"/>
                          <a:sym typeface="Times New Roman"/>
                        </a:rPr>
                        <a:t>.</a:t>
                      </a:r>
                      <a:r>
                        <a:rPr lang="en-US" sz="1300">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r>
              <a:tr h="131187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2</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dirty="0">
                          <a:latin typeface="Times New Roman"/>
                          <a:ea typeface="Times New Roman"/>
                          <a:cs typeface="Times New Roman"/>
                          <a:sym typeface="Times New Roman"/>
                        </a:rPr>
                        <a:t>Chiller</a:t>
                      </a:r>
                      <a:endParaRPr sz="1300" b="0" i="0" u="none" strike="noStrike" cap="none" dirty="0">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688-6/688-6-00-100</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Hiện cần 1</a:t>
                      </a:r>
                      <a:r>
                        <a:rPr lang="en-US" sz="1300">
                          <a:latin typeface="Times New Roman"/>
                          <a:ea typeface="Times New Roman"/>
                          <a:cs typeface="Times New Roman"/>
                          <a:sym typeface="Times New Roman"/>
                        </a:rPr>
                        <a:t>5</a:t>
                      </a:r>
                      <a:r>
                        <a:rPr lang="en-US" sz="1300" u="none" strike="noStrike" cap="none">
                          <a:latin typeface="Times New Roman"/>
                          <a:ea typeface="Times New Roman"/>
                          <a:cs typeface="Times New Roman"/>
                          <a:sym typeface="Times New Roman"/>
                        </a:rPr>
                        <a:t>ea (</a:t>
                      </a:r>
                      <a:r>
                        <a:rPr lang="en-US" sz="1300">
                          <a:latin typeface="Times New Roman"/>
                          <a:ea typeface="Times New Roman"/>
                          <a:cs typeface="Times New Roman"/>
                          <a:sym typeface="Times New Roman"/>
                        </a:rPr>
                        <a:t>07</a:t>
                      </a:r>
                      <a:r>
                        <a:rPr lang="en-US" sz="1300" u="none" strike="noStrike" cap="none">
                          <a:latin typeface="Times New Roman"/>
                          <a:ea typeface="Times New Roman"/>
                          <a:cs typeface="Times New Roman"/>
                          <a:sym typeface="Times New Roman"/>
                        </a:rPr>
                        <a:t> hỏng hóc + 08 cho tàu bảo quản).</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- 1</a:t>
                      </a:r>
                      <a:r>
                        <a:rPr lang="en-US" sz="1300">
                          <a:solidFill>
                            <a:schemeClr val="dk1"/>
                          </a:solidFill>
                          <a:latin typeface="Times New Roman"/>
                          <a:ea typeface="Times New Roman"/>
                          <a:cs typeface="Times New Roman"/>
                          <a:sym typeface="Times New Roman"/>
                        </a:rPr>
                        <a:t>5</a:t>
                      </a:r>
                      <a:r>
                        <a:rPr lang="en-US" sz="1300" u="none" strike="noStrike" cap="none">
                          <a:solidFill>
                            <a:schemeClr val="dk1"/>
                          </a:solidFill>
                          <a:latin typeface="Times New Roman"/>
                          <a:ea typeface="Times New Roman"/>
                          <a:cs typeface="Times New Roman"/>
                          <a:sym typeface="Times New Roman"/>
                        </a:rPr>
                        <a:t>RO, trong đó: </a:t>
                      </a:r>
                      <a:endParaRPr sz="130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u="none" strike="noStrike" cap="none">
                          <a:solidFill>
                            <a:schemeClr val="dk1"/>
                          </a:solidFill>
                          <a:latin typeface="Times New Roman"/>
                          <a:ea typeface="Times New Roman"/>
                          <a:cs typeface="Times New Roman"/>
                          <a:sym typeface="Times New Roman"/>
                        </a:rPr>
                        <a:t>+ </a:t>
                      </a:r>
                      <a:r>
                        <a:rPr lang="en-US" sz="1300">
                          <a:solidFill>
                            <a:schemeClr val="dk1"/>
                          </a:solidFill>
                          <a:latin typeface="Times New Roman"/>
                          <a:ea typeface="Times New Roman"/>
                          <a:cs typeface="Times New Roman"/>
                          <a:sym typeface="Times New Roman"/>
                        </a:rPr>
                        <a:t>01ea đang ship cửa đúng từ Việt Nam sang để lắp vào chiller.</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solidFill>
                            <a:schemeClr val="dk1"/>
                          </a:solidFill>
                          <a:latin typeface="Times New Roman"/>
                          <a:ea typeface="Times New Roman"/>
                          <a:cs typeface="Times New Roman"/>
                          <a:sym typeface="Times New Roman"/>
                        </a:rPr>
                        <a:t>+ 10ea EDD 20/01.</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solidFill>
                            <a:schemeClr val="dk1"/>
                          </a:solidFill>
                          <a:latin typeface="Times New Roman"/>
                          <a:ea typeface="Times New Roman"/>
                          <a:cs typeface="Times New Roman"/>
                          <a:sym typeface="Times New Roman"/>
                        </a:rPr>
                        <a:t>+ 04 chưa có EDD.</a:t>
                      </a:r>
                      <a:endParaRPr sz="130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endParaRPr sz="1300" u="none" strike="noStrike" cap="none">
                        <a:solidFill>
                          <a:schemeClr val="dk1"/>
                        </a:solidFill>
                        <a:latin typeface="Times New Roman"/>
                        <a:ea typeface="Times New Roman"/>
                        <a:cs typeface="Times New Roman"/>
                        <a:sym typeface="Times New Roman"/>
                      </a:endParaRPr>
                    </a:p>
                  </a:txBody>
                  <a:tcPr marL="9525" marR="9525" marT="9525" marB="0" anchor="ctr"/>
                </a:tc>
              </a:tr>
              <a:tr h="1138500">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EDP</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53098-06</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Hỏng hóc phát sinh sẽ phải cắt tải, tiềm ẩn AOG.</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Vẫn hỏng hóc nhiều trên fleet A350. </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+ 0</a:t>
                      </a:r>
                      <a:r>
                        <a:rPr lang="en-US" sz="1300">
                          <a:solidFill>
                            <a:schemeClr val="dk1"/>
                          </a:solidFill>
                          <a:latin typeface="Times New Roman"/>
                          <a:ea typeface="Times New Roman"/>
                          <a:cs typeface="Times New Roman"/>
                          <a:sym typeface="Times New Roman"/>
                        </a:rPr>
                        <a:t>6</a:t>
                      </a:r>
                      <a:r>
                        <a:rPr lang="en-US" sz="1300" u="none" strike="noStrike" cap="none">
                          <a:solidFill>
                            <a:schemeClr val="dk1"/>
                          </a:solidFill>
                          <a:latin typeface="Times New Roman"/>
                          <a:ea typeface="Times New Roman"/>
                          <a:cs typeface="Times New Roman"/>
                          <a:sym typeface="Times New Roman"/>
                        </a:rPr>
                        <a:t>ea in stock (của tàu BQ)</a:t>
                      </a:r>
                      <a:endParaRPr sz="130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+ 0</a:t>
                      </a:r>
                      <a:r>
                        <a:rPr lang="en-US" sz="1300">
                          <a:solidFill>
                            <a:schemeClr val="dk1"/>
                          </a:solidFill>
                          <a:latin typeface="Times New Roman"/>
                          <a:ea typeface="Times New Roman"/>
                          <a:cs typeface="Times New Roman"/>
                          <a:sym typeface="Times New Roman"/>
                        </a:rPr>
                        <a:t>1</a:t>
                      </a:r>
                      <a:r>
                        <a:rPr lang="en-US" sz="1300" u="none" strike="noStrike" cap="none">
                          <a:solidFill>
                            <a:schemeClr val="dk1"/>
                          </a:solidFill>
                          <a:latin typeface="Times New Roman"/>
                          <a:ea typeface="Times New Roman"/>
                          <a:cs typeface="Times New Roman"/>
                          <a:sym typeface="Times New Roman"/>
                        </a:rPr>
                        <a:t>ea l</a:t>
                      </a:r>
                      <a:r>
                        <a:rPr lang="en-US" sz="1300">
                          <a:solidFill>
                            <a:schemeClr val="dk1"/>
                          </a:solidFill>
                          <a:latin typeface="Times New Roman"/>
                          <a:ea typeface="Times New Roman"/>
                          <a:cs typeface="Times New Roman"/>
                          <a:sym typeface="Times New Roman"/>
                        </a:rPr>
                        <a:t>ấp đầy</a:t>
                      </a:r>
                      <a:r>
                        <a:rPr lang="en-US" sz="1300" u="none" strike="noStrike" cap="none">
                          <a:solidFill>
                            <a:schemeClr val="dk1"/>
                          </a:solidFill>
                          <a:latin typeface="Times New Roman"/>
                          <a:ea typeface="Times New Roman"/>
                          <a:cs typeface="Times New Roman"/>
                          <a:sym typeface="Times New Roman"/>
                        </a:rPr>
                        <a:t> chưa có EDD.</a:t>
                      </a:r>
                      <a:endParaRPr sz="1300" u="none" strike="noStrike" cap="none">
                        <a:solidFill>
                          <a:schemeClr val="dk1"/>
                        </a:solidFill>
                        <a:latin typeface="Times New Roman"/>
                        <a:ea typeface="Times New Roman"/>
                        <a:cs typeface="Times New Roman"/>
                        <a:sym typeface="Times New Roman"/>
                      </a:endParaRPr>
                    </a:p>
                  </a:txBody>
                  <a:tcPr marL="9525" marR="9525" marT="9525" marB="0" anchor="ctr"/>
                </a:tc>
              </a:tr>
              <a:tr h="1138500">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VCRU, Motor Controller</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Calibri"/>
                        <a:buNone/>
                      </a:pP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Hỏng hóc ảnh hưởng đến hệ thống chiller của tàu bay.</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TAT sửa chữa tại shop Honeywell rất dài (vẫn chưa được cải thiện) dẫn đến việc cung ứng hàng của Airbus rất chậm.</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err="1">
                          <a:solidFill>
                            <a:schemeClr val="dk1"/>
                          </a:solidFill>
                          <a:latin typeface="Times New Roman"/>
                          <a:ea typeface="Times New Roman"/>
                          <a:cs typeface="Times New Roman"/>
                          <a:sym typeface="Times New Roman"/>
                        </a:rPr>
                        <a:t>Nhiều</a:t>
                      </a:r>
                      <a:r>
                        <a:rPr lang="en-US" sz="1300" u="none" strike="noStrike" cap="none" dirty="0">
                          <a:solidFill>
                            <a:schemeClr val="dk1"/>
                          </a:solidFill>
                          <a:latin typeface="Times New Roman"/>
                          <a:ea typeface="Times New Roman"/>
                          <a:cs typeface="Times New Roman"/>
                          <a:sym typeface="Times New Roman"/>
                        </a:rPr>
                        <a:t> </a:t>
                      </a:r>
                      <a:r>
                        <a:rPr lang="en-US" sz="1300" u="none" strike="noStrike" cap="none" dirty="0" err="1">
                          <a:solidFill>
                            <a:schemeClr val="dk1"/>
                          </a:solidFill>
                          <a:latin typeface="Times New Roman"/>
                          <a:ea typeface="Times New Roman"/>
                          <a:cs typeface="Times New Roman"/>
                          <a:sym typeface="Times New Roman"/>
                        </a:rPr>
                        <a:t>tàu</a:t>
                      </a:r>
                      <a:r>
                        <a:rPr lang="en-US" sz="1300" u="none" strike="noStrike" cap="none" dirty="0">
                          <a:solidFill>
                            <a:schemeClr val="dk1"/>
                          </a:solidFill>
                          <a:latin typeface="Times New Roman"/>
                          <a:ea typeface="Times New Roman"/>
                          <a:cs typeface="Times New Roman"/>
                          <a:sym typeface="Times New Roman"/>
                        </a:rPr>
                        <a:t> A350 </a:t>
                      </a:r>
                      <a:r>
                        <a:rPr lang="en-US" sz="1300" u="none" strike="noStrike" cap="none" dirty="0" err="1">
                          <a:solidFill>
                            <a:schemeClr val="dk1"/>
                          </a:solidFill>
                          <a:latin typeface="Times New Roman"/>
                          <a:ea typeface="Times New Roman"/>
                          <a:cs typeface="Times New Roman"/>
                          <a:sym typeface="Times New Roman"/>
                        </a:rPr>
                        <a:t>có</a:t>
                      </a:r>
                      <a:r>
                        <a:rPr lang="en-US" sz="1300" u="none" strike="noStrike" cap="none" dirty="0">
                          <a:solidFill>
                            <a:schemeClr val="dk1"/>
                          </a:solidFill>
                          <a:latin typeface="Times New Roman"/>
                          <a:ea typeface="Times New Roman"/>
                          <a:cs typeface="Times New Roman"/>
                          <a:sym typeface="Times New Roman"/>
                        </a:rPr>
                        <a:t> </a:t>
                      </a:r>
                      <a:r>
                        <a:rPr lang="en-US" sz="1300" u="none" strike="noStrike" cap="none" dirty="0" err="1">
                          <a:solidFill>
                            <a:schemeClr val="dk1"/>
                          </a:solidFill>
                          <a:latin typeface="Times New Roman"/>
                          <a:ea typeface="Times New Roman"/>
                          <a:cs typeface="Times New Roman"/>
                          <a:sym typeface="Times New Roman"/>
                        </a:rPr>
                        <a:t>mssg</a:t>
                      </a:r>
                      <a:r>
                        <a:rPr lang="en-US" sz="1300" u="none" strike="noStrike" cap="none" dirty="0">
                          <a:solidFill>
                            <a:schemeClr val="dk1"/>
                          </a:solidFill>
                          <a:latin typeface="Times New Roman"/>
                          <a:ea typeface="Times New Roman"/>
                          <a:cs typeface="Times New Roman"/>
                          <a:sym typeface="Times New Roman"/>
                        </a:rPr>
                        <a:t> VCRU </a:t>
                      </a:r>
                      <a:r>
                        <a:rPr lang="en-US" sz="1300" u="none" strike="noStrike" cap="none" dirty="0" err="1">
                          <a:solidFill>
                            <a:schemeClr val="dk1"/>
                          </a:solidFill>
                          <a:latin typeface="Times New Roman"/>
                          <a:ea typeface="Times New Roman"/>
                          <a:cs typeface="Times New Roman"/>
                          <a:sym typeface="Times New Roman"/>
                        </a:rPr>
                        <a:t>và</a:t>
                      </a:r>
                      <a:r>
                        <a:rPr lang="en-US" sz="1300" u="none" strike="noStrike" cap="none" dirty="0">
                          <a:solidFill>
                            <a:schemeClr val="dk1"/>
                          </a:solidFill>
                          <a:latin typeface="Times New Roman"/>
                          <a:ea typeface="Times New Roman"/>
                          <a:cs typeface="Times New Roman"/>
                          <a:sym typeface="Times New Roman"/>
                        </a:rPr>
                        <a:t> controller.</a:t>
                      </a:r>
                      <a:endParaRPr sz="1300" u="none" strike="noStrike" cap="none" dirty="0">
                        <a:solidFill>
                          <a:schemeClr val="dk1"/>
                        </a:solidFill>
                        <a:latin typeface="Times New Roman"/>
                        <a:ea typeface="Times New Roman"/>
                        <a:cs typeface="Times New Roman"/>
                        <a:sym typeface="Times New Roman"/>
                      </a:endParaRPr>
                    </a:p>
                  </a:txBody>
                  <a:tcPr marL="9525" marR="9525" marT="9525" marB="0" anchor="ctr"/>
                </a:tc>
              </a:tr>
            </a:tbl>
          </a:graphicData>
        </a:graphic>
      </p:graphicFrame>
      <p:pic>
        <p:nvPicPr>
          <p:cNvPr id="5"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Tree>
    <p:extLst>
      <p:ext uri="{BB962C8B-B14F-4D97-AF65-F5344CB8AC3E}">
        <p14:creationId xmlns:p14="http://schemas.microsoft.com/office/powerpoint/2010/main" val="788922809"/>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g31ccdae391d_0_339"/>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60" name="Google Shape;260;g31ccdae391d_0_33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61</a:t>
            </a:fld>
            <a:endParaRPr/>
          </a:p>
        </p:txBody>
      </p:sp>
      <p:sp>
        <p:nvSpPr>
          <p:cNvPr id="261" name="Google Shape;261;g31ccdae391d_0_339"/>
          <p:cNvSpPr/>
          <p:nvPr/>
        </p:nvSpPr>
        <p:spPr>
          <a:xfrm>
            <a:off x="500990" y="742682"/>
            <a:ext cx="11164800" cy="5718900"/>
          </a:xfrm>
          <a:prstGeom prst="rect">
            <a:avLst/>
          </a:prstGeom>
          <a:noFill/>
          <a:ln>
            <a:noFill/>
          </a:ln>
        </p:spPr>
        <p:txBody>
          <a:bodyPr spcFirstLastPara="1" wrap="square" lIns="91425" tIns="45700" rIns="91425" bIns="45700" anchor="t" anchorCtr="0">
            <a:noAutofit/>
          </a:bodyPr>
          <a:lstStyle/>
          <a:p>
            <a:pPr marL="457200" marR="0" lvl="0" indent="-355600" algn="just" rtl="0">
              <a:lnSpc>
                <a:spcPct val="100000"/>
              </a:lnSpc>
              <a:spcBef>
                <a:spcPts val="0"/>
              </a:spcBef>
              <a:spcAft>
                <a:spcPts val="0"/>
              </a:spcAft>
              <a:buClr>
                <a:srgbClr val="FF0000"/>
              </a:buClr>
              <a:buSzPts val="2000"/>
              <a:buFont typeface="Times New Roman"/>
              <a:buChar char="-"/>
            </a:pPr>
            <a:r>
              <a:rPr lang="en-US" sz="2000" b="1" i="0" u="none" strike="noStrike" cap="none" dirty="0" err="1">
                <a:solidFill>
                  <a:srgbClr val="FF0000"/>
                </a:solidFill>
                <a:latin typeface="Times New Roman"/>
                <a:ea typeface="Times New Roman"/>
                <a:cs typeface="Times New Roman"/>
                <a:sym typeface="Times New Roman"/>
              </a:rPr>
              <a:t>Một</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số</a:t>
            </a:r>
            <a:r>
              <a:rPr lang="en-US" sz="2000" b="1" i="0" u="none" strike="noStrike" cap="none" dirty="0">
                <a:solidFill>
                  <a:srgbClr val="FF0000"/>
                </a:solidFill>
                <a:latin typeface="Times New Roman"/>
                <a:ea typeface="Times New Roman"/>
                <a:cs typeface="Times New Roman"/>
                <a:sym typeface="Times New Roman"/>
              </a:rPr>
              <a:t> PTVT </a:t>
            </a:r>
            <a:r>
              <a:rPr lang="en-US" sz="2000" b="1" i="0" u="none" strike="noStrike" cap="none" dirty="0" err="1">
                <a:solidFill>
                  <a:srgbClr val="FF0000"/>
                </a:solidFill>
                <a:latin typeface="Times New Roman"/>
                <a:ea typeface="Times New Roman"/>
                <a:cs typeface="Times New Roman"/>
                <a:sym typeface="Times New Roman"/>
              </a:rPr>
              <a:t>cần</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lưu</a:t>
            </a:r>
            <a:r>
              <a:rPr lang="en-US" sz="2000" b="1" i="0" u="none" strike="noStrike" cap="none" dirty="0">
                <a:solidFill>
                  <a:srgbClr val="FF0000"/>
                </a:solidFill>
                <a:latin typeface="Times New Roman"/>
                <a:ea typeface="Times New Roman"/>
                <a:cs typeface="Times New Roman"/>
                <a:sym typeface="Times New Roman"/>
              </a:rPr>
              <a:t> ý:</a:t>
            </a:r>
            <a:endParaRPr sz="1600" b="0" i="0" u="none" strike="noStrike" cap="none" dirty="0">
              <a:solidFill>
                <a:srgbClr val="000000"/>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rgbClr val="000000"/>
              </a:buClr>
              <a:buSzPts val="1600"/>
              <a:buFont typeface="Arial"/>
              <a:buNone/>
            </a:pPr>
            <a:r>
              <a:rPr lang="en-US" sz="1600" b="0" i="0" u="none" strike="noStrike" cap="none" dirty="0">
                <a:solidFill>
                  <a:srgbClr val="000000"/>
                </a:solidFill>
                <a:latin typeface="Times New Roman"/>
                <a:ea typeface="Times New Roman"/>
                <a:cs typeface="Times New Roman"/>
                <a:sym typeface="Times New Roman"/>
              </a:rPr>
              <a:t>  +    </a:t>
            </a:r>
            <a:r>
              <a:rPr lang="en-US" sz="1600" b="0" i="0" u="none" strike="noStrike" cap="none" dirty="0" err="1">
                <a:solidFill>
                  <a:srgbClr val="000000"/>
                </a:solidFill>
                <a:latin typeface="Times New Roman"/>
                <a:ea typeface="Times New Roman"/>
                <a:cs typeface="Times New Roman"/>
                <a:sym typeface="Times New Roman"/>
              </a:rPr>
              <a:t>Một</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số</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thiết</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bị</a:t>
            </a:r>
            <a:r>
              <a:rPr lang="en-US" sz="1600" b="0" i="0" u="none" strike="noStrike" cap="none" dirty="0">
                <a:solidFill>
                  <a:srgbClr val="000000"/>
                </a:solidFill>
                <a:latin typeface="Times New Roman"/>
                <a:ea typeface="Times New Roman"/>
                <a:cs typeface="Times New Roman"/>
                <a:sym typeface="Times New Roman"/>
              </a:rPr>
              <a:t> pooling </a:t>
            </a:r>
            <a:r>
              <a:rPr lang="en-US" sz="1600" b="0" i="0" u="none" strike="noStrike" cap="none" dirty="0" err="1">
                <a:solidFill>
                  <a:srgbClr val="000000"/>
                </a:solidFill>
                <a:latin typeface="Times New Roman"/>
                <a:ea typeface="Times New Roman"/>
                <a:cs typeface="Times New Roman"/>
                <a:sym typeface="Times New Roman"/>
              </a:rPr>
              <a:t>của</a:t>
            </a:r>
            <a:r>
              <a:rPr lang="en-US" sz="1600" b="0" i="0" u="none" strike="noStrike" cap="none" dirty="0">
                <a:solidFill>
                  <a:srgbClr val="000000"/>
                </a:solidFill>
                <a:latin typeface="Times New Roman"/>
                <a:ea typeface="Times New Roman"/>
                <a:cs typeface="Times New Roman"/>
                <a:sym typeface="Times New Roman"/>
              </a:rPr>
              <a:t> OEM Honeywell </a:t>
            </a:r>
            <a:r>
              <a:rPr lang="en-US" sz="1600" b="0" i="0" u="none" strike="noStrike" cap="none" dirty="0" err="1">
                <a:solidFill>
                  <a:srgbClr val="000000"/>
                </a:solidFill>
                <a:latin typeface="Times New Roman"/>
                <a:ea typeface="Times New Roman"/>
                <a:cs typeface="Times New Roman"/>
                <a:sym typeface="Times New Roman"/>
              </a:rPr>
              <a:t>liên</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quan</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hệ</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thống</a:t>
            </a:r>
            <a:r>
              <a:rPr lang="en-US" sz="1600" b="0" i="0" u="none" strike="noStrike" cap="none" dirty="0">
                <a:solidFill>
                  <a:srgbClr val="000000"/>
                </a:solidFill>
                <a:latin typeface="Times New Roman"/>
                <a:ea typeface="Times New Roman"/>
                <a:cs typeface="Times New Roman"/>
                <a:sym typeface="Times New Roman"/>
              </a:rPr>
              <a:t> Chiller (VCRU, Motor </a:t>
            </a:r>
            <a:r>
              <a:rPr lang="en-US" sz="1600" b="0" i="0" u="none" strike="noStrike" cap="none" dirty="0" err="1">
                <a:solidFill>
                  <a:srgbClr val="000000"/>
                </a:solidFill>
                <a:latin typeface="Times New Roman"/>
                <a:ea typeface="Times New Roman"/>
                <a:cs typeface="Times New Roman"/>
                <a:sym typeface="Times New Roman"/>
              </a:rPr>
              <a:t>Controler</a:t>
            </a:r>
            <a:r>
              <a:rPr lang="en-US" sz="1600" b="0" i="0" u="none" strike="noStrike" cap="none" dirty="0">
                <a:solidFill>
                  <a:srgbClr val="000000"/>
                </a:solidFill>
                <a:latin typeface="Times New Roman"/>
                <a:ea typeface="Times New Roman"/>
                <a:cs typeface="Times New Roman"/>
                <a:sym typeface="Times New Roman"/>
              </a:rPr>
              <a:t>) TAT </a:t>
            </a:r>
            <a:r>
              <a:rPr lang="en-US" sz="1600" b="0" i="0" u="none" strike="noStrike" cap="none" dirty="0" err="1">
                <a:solidFill>
                  <a:srgbClr val="000000"/>
                </a:solidFill>
                <a:latin typeface="Times New Roman"/>
                <a:ea typeface="Times New Roman"/>
                <a:cs typeface="Times New Roman"/>
                <a:sym typeface="Times New Roman"/>
              </a:rPr>
              <a:t>vẫn</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rất</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dài</a:t>
            </a:r>
            <a:r>
              <a:rPr lang="en-US" sz="1600" b="0" i="0" u="none" strike="noStrike" cap="none" dirty="0">
                <a:solidFill>
                  <a:srgbClr val="000000"/>
                </a:solidFill>
                <a:latin typeface="Times New Roman"/>
                <a:ea typeface="Times New Roman"/>
                <a:cs typeface="Times New Roman"/>
                <a:sym typeface="Times New Roman"/>
              </a:rPr>
              <a:t>.</a:t>
            </a:r>
            <a:endParaRPr sz="1600" b="0" i="0" u="none" strike="noStrike" cap="none" dirty="0">
              <a:solidFill>
                <a:srgbClr val="000000"/>
              </a:solidFill>
              <a:latin typeface="Times New Roman"/>
              <a:ea typeface="Times New Roman"/>
              <a:cs typeface="Times New Roman"/>
              <a:sym typeface="Times New Roman"/>
            </a:endParaRPr>
          </a:p>
          <a:p>
            <a:pPr marL="914400" marR="0" lvl="0" indent="-330200" algn="just" rtl="0">
              <a:lnSpc>
                <a:spcPct val="100000"/>
              </a:lnSpc>
              <a:spcBef>
                <a:spcPts val="0"/>
              </a:spcBef>
              <a:spcAft>
                <a:spcPts val="0"/>
              </a:spcAft>
              <a:buClr>
                <a:srgbClr val="000000"/>
              </a:buClr>
              <a:buSzPts val="1600"/>
              <a:buFont typeface="Times New Roman"/>
              <a:buChar char="+"/>
            </a:pPr>
            <a:r>
              <a:rPr lang="en-US" sz="1600" b="0" i="0" u="none" strike="noStrike" cap="none" dirty="0">
                <a:solidFill>
                  <a:srgbClr val="000000"/>
                </a:solidFill>
                <a:latin typeface="Times New Roman"/>
                <a:ea typeface="Times New Roman"/>
                <a:cs typeface="Times New Roman"/>
                <a:sym typeface="Times New Roman"/>
              </a:rPr>
              <a:t>EDP </a:t>
            </a:r>
            <a:r>
              <a:rPr lang="en-US" sz="1600" b="0" i="0" u="none" strike="noStrike" cap="none" dirty="0" err="1">
                <a:solidFill>
                  <a:srgbClr val="000000"/>
                </a:solidFill>
                <a:latin typeface="Times New Roman"/>
                <a:ea typeface="Times New Roman"/>
                <a:cs typeface="Times New Roman"/>
                <a:sym typeface="Times New Roman"/>
              </a:rPr>
              <a:t>vẫn</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hỏng</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hóc</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nhiều</a:t>
            </a:r>
            <a:r>
              <a:rPr lang="en-US" sz="1600" b="0" i="0" u="none" strike="noStrike" cap="none" dirty="0">
                <a:solidFill>
                  <a:srgbClr val="000000"/>
                </a:solidFill>
                <a:latin typeface="Times New Roman"/>
                <a:ea typeface="Times New Roman"/>
                <a:cs typeface="Times New Roman"/>
                <a:sym typeface="Times New Roman"/>
              </a:rPr>
              <a:t>.</a:t>
            </a:r>
            <a:endParaRPr sz="16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0" i="0" u="none" strike="noStrike" cap="none" dirty="0">
              <a:solidFill>
                <a:srgbClr val="FF0000"/>
              </a:solidFill>
              <a:latin typeface="Times New Roman"/>
              <a:ea typeface="Times New Roman"/>
              <a:cs typeface="Times New Roman"/>
              <a:sym typeface="Times New Roman"/>
            </a:endParaRPr>
          </a:p>
          <a:p>
            <a:pPr marL="457200" marR="0" lvl="0" indent="-355600" algn="just" rtl="0">
              <a:lnSpc>
                <a:spcPct val="100000"/>
              </a:lnSpc>
              <a:spcBef>
                <a:spcPts val="0"/>
              </a:spcBef>
              <a:spcAft>
                <a:spcPts val="0"/>
              </a:spcAft>
              <a:buClr>
                <a:srgbClr val="FF0000"/>
              </a:buClr>
              <a:buSzPts val="2000"/>
              <a:buFont typeface="Times New Roman"/>
              <a:buChar char="-"/>
            </a:pPr>
            <a:r>
              <a:rPr lang="en-US" sz="2000" b="1" i="0" u="none" strike="noStrike" cap="none" dirty="0" err="1">
                <a:solidFill>
                  <a:srgbClr val="FF0000"/>
                </a:solidFill>
                <a:latin typeface="Times New Roman"/>
                <a:ea typeface="Times New Roman"/>
                <a:cs typeface="Times New Roman"/>
                <a:sym typeface="Times New Roman"/>
              </a:rPr>
              <a:t>Hỏng</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hóc</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ảnh</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hưởng</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cần</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lưu</a:t>
            </a:r>
            <a:r>
              <a:rPr lang="en-US" sz="2000" b="1" i="0" u="none" strike="noStrike" cap="none" dirty="0">
                <a:solidFill>
                  <a:srgbClr val="FF0000"/>
                </a:solidFill>
                <a:latin typeface="Times New Roman"/>
                <a:ea typeface="Times New Roman"/>
                <a:cs typeface="Times New Roman"/>
                <a:sym typeface="Times New Roman"/>
              </a:rPr>
              <a:t> ý:</a:t>
            </a: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r>
              <a:rPr lang="en-US" sz="1600" b="0" i="0" u="none" strike="noStrike" cap="none" dirty="0">
                <a:solidFill>
                  <a:schemeClr val="dk1"/>
                </a:solidFill>
                <a:latin typeface="Times New Roman"/>
                <a:ea typeface="Times New Roman"/>
                <a:cs typeface="Times New Roman"/>
                <a:sym typeface="Times New Roman"/>
              </a:rPr>
              <a:t>• A</a:t>
            </a:r>
            <a:r>
              <a:rPr lang="en-US" sz="1600" dirty="0">
                <a:solidFill>
                  <a:schemeClr val="dk1"/>
                </a:solidFill>
                <a:latin typeface="Times New Roman"/>
                <a:ea typeface="Times New Roman"/>
                <a:cs typeface="Times New Roman"/>
                <a:sym typeface="Times New Roman"/>
              </a:rPr>
              <a:t>894</a:t>
            </a:r>
            <a:r>
              <a:rPr lang="en-US" sz="1600" b="0" i="0" u="none" strike="noStrike" cap="none" dirty="0">
                <a:solidFill>
                  <a:schemeClr val="dk1"/>
                </a:solidFill>
                <a:latin typeface="Times New Roman"/>
                <a:ea typeface="Times New Roman"/>
                <a:cs typeface="Times New Roman"/>
                <a:sym typeface="Times New Roman"/>
              </a:rPr>
              <a:t> - </a:t>
            </a:r>
            <a:r>
              <a:rPr lang="en-US" sz="1600" dirty="0">
                <a:solidFill>
                  <a:schemeClr val="dk1"/>
                </a:solidFill>
                <a:latin typeface="Times New Roman"/>
                <a:ea typeface="Times New Roman"/>
                <a:cs typeface="Times New Roman"/>
                <a:sym typeface="Times New Roman"/>
              </a:rPr>
              <a:t>CHILLER OUTLET SYSTEM OF ALL GALLEYS NOT WORKING</a:t>
            </a:r>
            <a:r>
              <a:rPr lang="en-US" sz="1600" b="0" i="0" u="none" strike="noStrike" cap="none"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chưa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có</a:t>
            </a:r>
            <a:r>
              <a:rPr lang="en-US" sz="1600" dirty="0">
                <a:solidFill>
                  <a:schemeClr val="dk1"/>
                </a:solidFill>
                <a:latin typeface="Times New Roman"/>
                <a:ea typeface="Times New Roman"/>
                <a:cs typeface="Times New Roman"/>
                <a:sym typeface="Times New Roman"/>
              </a:rPr>
              <a:t> Motor Controller, ROB </a:t>
            </a:r>
            <a:r>
              <a:rPr lang="en-US" sz="1600" dirty="0" err="1">
                <a:solidFill>
                  <a:schemeClr val="dk1"/>
                </a:solidFill>
                <a:latin typeface="Times New Roman"/>
                <a:ea typeface="Times New Roman"/>
                <a:cs typeface="Times New Roman"/>
                <a:sym typeface="Times New Roman"/>
              </a:rPr>
              <a:t>khí</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tài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từ</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tầu</a:t>
            </a:r>
            <a:r>
              <a:rPr lang="en-US" sz="1600" dirty="0">
                <a:solidFill>
                  <a:schemeClr val="dk1"/>
                </a:solidFill>
                <a:latin typeface="Times New Roman"/>
                <a:ea typeface="Times New Roman"/>
                <a:cs typeface="Times New Roman"/>
                <a:sym typeface="Times New Roman"/>
              </a:rPr>
              <a:t> A895 </a:t>
            </a:r>
            <a:r>
              <a:rPr lang="en-US" sz="1600" dirty="0" err="1">
                <a:solidFill>
                  <a:schemeClr val="dk1"/>
                </a:solidFill>
                <a:latin typeface="Times New Roman"/>
                <a:ea typeface="Times New Roman"/>
                <a:cs typeface="Times New Roman"/>
                <a:sym typeface="Times New Roman"/>
              </a:rPr>
              <a:t>và</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lên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kế</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hoạch</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khắc</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phục</a:t>
            </a:r>
            <a:r>
              <a:rPr lang="en-US" sz="1600" dirty="0">
                <a:solidFill>
                  <a:schemeClr val="dk1"/>
                </a:solidFill>
                <a:latin typeface="Times New Roman"/>
                <a:ea typeface="Times New Roman"/>
                <a:cs typeface="Times New Roman"/>
                <a:sym typeface="Times New Roman"/>
              </a:rPr>
              <a:t> HAN </a:t>
            </a:r>
            <a:r>
              <a:rPr lang="en-US" sz="1600" dirty="0" err="1">
                <a:solidFill>
                  <a:schemeClr val="dk1"/>
                </a:solidFill>
                <a:latin typeface="Times New Roman"/>
                <a:ea typeface="Times New Roman"/>
                <a:cs typeface="Times New Roman"/>
                <a:sym typeface="Times New Roman"/>
              </a:rPr>
              <a:t>ngày</a:t>
            </a:r>
            <a:r>
              <a:rPr lang="en-US" sz="1600" dirty="0">
                <a:solidFill>
                  <a:schemeClr val="dk1"/>
                </a:solidFill>
                <a:latin typeface="Times New Roman"/>
                <a:ea typeface="Times New Roman"/>
                <a:cs typeface="Times New Roman"/>
                <a:sym typeface="Times New Roman"/>
              </a:rPr>
              <a:t> 13/01/25.</a:t>
            </a:r>
            <a:endParaRPr sz="1600" dirty="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Clr>
                <a:schemeClr val="dk1"/>
              </a:buClr>
              <a:buSzPts val="1600"/>
              <a:buFont typeface="Arial"/>
              <a:buNone/>
            </a:pPr>
            <a:r>
              <a:rPr lang="en-US" sz="1600" dirty="0">
                <a:solidFill>
                  <a:schemeClr val="dk1"/>
                </a:solidFill>
                <a:latin typeface="Times New Roman"/>
                <a:ea typeface="Times New Roman"/>
                <a:cs typeface="Times New Roman"/>
                <a:sym typeface="Times New Roman"/>
              </a:rPr>
              <a:t>• A896- UPPER LATCH ASSY OF COCKPIT DOOR BOLTING SYSTEM IS NOT FULLY LOCKED: Vaeco </a:t>
            </a:r>
            <a:r>
              <a:rPr lang="en-US" sz="1600" dirty="0" err="1">
                <a:solidFill>
                  <a:schemeClr val="dk1"/>
                </a:solidFill>
                <a:latin typeface="Times New Roman"/>
                <a:ea typeface="Times New Roman"/>
                <a:cs typeface="Times New Roman"/>
                <a:sym typeface="Times New Roman"/>
              </a:rPr>
              <a:t>đang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đặt</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hàng</a:t>
            </a:r>
            <a:r>
              <a:rPr lang="en-US" sz="1600" dirty="0">
                <a:solidFill>
                  <a:schemeClr val="dk1"/>
                </a:solidFill>
                <a:latin typeface="Times New Roman"/>
                <a:ea typeface="Times New Roman"/>
                <a:cs typeface="Times New Roman"/>
                <a:sym typeface="Times New Roman"/>
              </a:rPr>
              <a:t> Latch.</a:t>
            </a:r>
            <a:endParaRPr sz="1600" dirty="0">
              <a:solidFill>
                <a:schemeClr val="dk1"/>
              </a:solidFill>
              <a:latin typeface="Times New Roman"/>
              <a:ea typeface="Times New Roman"/>
              <a:cs typeface="Times New Roman"/>
              <a:sym typeface="Times New Roman"/>
            </a:endParaRPr>
          </a:p>
          <a:p>
            <a:pPr marL="457200" lvl="0" algn="just">
              <a:buClr>
                <a:schemeClr val="dk1"/>
              </a:buClr>
              <a:buSzPts val="1600"/>
            </a:pPr>
            <a:r>
              <a:rPr lang="en-US" sz="1600" dirty="0">
                <a:solidFill>
                  <a:schemeClr val="dk1"/>
                </a:solidFill>
                <a:latin typeface="Times New Roman"/>
                <a:ea typeface="Times New Roman"/>
                <a:cs typeface="Times New Roman"/>
                <a:sym typeface="Times New Roman"/>
              </a:rPr>
              <a:t>• A897- MANUAL CARGO LOADING AP-PLIED TO AFT CARGO: </a:t>
            </a:r>
            <a:r>
              <a:rPr lang="en-US" sz="1600" dirty="0" err="1">
                <a:solidFill>
                  <a:schemeClr val="dk1"/>
                </a:solidFill>
                <a:latin typeface="Times New Roman"/>
                <a:ea typeface="Times New Roman"/>
                <a:cs typeface="Times New Roman"/>
                <a:sym typeface="Times New Roman"/>
              </a:rPr>
              <a:t>đặt</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hàng</a:t>
            </a:r>
            <a:r>
              <a:rPr lang="en-US" sz="1600" dirty="0">
                <a:solidFill>
                  <a:schemeClr val="dk1"/>
                </a:solidFill>
                <a:latin typeface="Times New Roman"/>
                <a:ea typeface="Times New Roman"/>
                <a:cs typeface="Times New Roman"/>
                <a:sym typeface="Times New Roman"/>
              </a:rPr>
              <a:t> PDU,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về</a:t>
            </a:r>
            <a:r>
              <a:rPr lang="en-US" sz="1600" dirty="0">
                <a:solidFill>
                  <a:schemeClr val="dk1"/>
                </a:solidFill>
                <a:latin typeface="Times New Roman"/>
                <a:ea typeface="Times New Roman"/>
                <a:cs typeface="Times New Roman"/>
                <a:sym typeface="Times New Roman"/>
              </a:rPr>
              <a:t> trong </a:t>
            </a:r>
            <a:r>
              <a:rPr lang="en-US" sz="1600" dirty="0" err="1">
                <a:solidFill>
                  <a:schemeClr val="dk1"/>
                </a:solidFill>
                <a:latin typeface="Times New Roman"/>
                <a:ea typeface="Times New Roman"/>
                <a:cs typeface="Times New Roman"/>
                <a:sym typeface="Times New Roman"/>
              </a:rPr>
              <a:t>tuần</a:t>
            </a:r>
            <a:r>
              <a:rPr lang="en-US" sz="1600" dirty="0">
                <a:solidFill>
                  <a:schemeClr val="dk1"/>
                </a:solidFill>
                <a:latin typeface="Times New Roman"/>
                <a:ea typeface="Times New Roman"/>
                <a:cs typeface="Times New Roman"/>
                <a:sym typeface="Times New Roman"/>
              </a:rPr>
              <a:t> 03.</a:t>
            </a:r>
            <a:endParaRPr sz="1600"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r>
              <a:rPr lang="en-US" sz="1600" b="0" i="0" u="none" strike="noStrike" cap="none" dirty="0">
                <a:solidFill>
                  <a:schemeClr val="dk1"/>
                </a:solidFill>
                <a:latin typeface="Times New Roman"/>
                <a:ea typeface="Times New Roman"/>
                <a:cs typeface="Times New Roman"/>
                <a:sym typeface="Times New Roman"/>
              </a:rPr>
              <a:t> </a:t>
            </a: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r>
              <a:rPr lang="en-US" sz="1600" b="0" i="0" u="none" strike="noStrike" cap="none" dirty="0">
                <a:solidFill>
                  <a:schemeClr val="dk1"/>
                </a:solidFill>
                <a:latin typeface="Times New Roman"/>
                <a:ea typeface="Times New Roman"/>
                <a:cs typeface="Times New Roman"/>
                <a:sym typeface="Times New Roman"/>
              </a:rPr>
              <a:t>.</a:t>
            </a: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20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10000"/>
              </a:lnSpc>
              <a:spcBef>
                <a:spcPts val="0"/>
              </a:spcBef>
              <a:spcAft>
                <a:spcPts val="0"/>
              </a:spcAft>
              <a:buClr>
                <a:srgbClr val="000000"/>
              </a:buClr>
              <a:buSzPts val="1500"/>
              <a:buFont typeface="Arial"/>
              <a:buNone/>
            </a:pPr>
            <a:endParaRPr sz="1500" b="0" i="0" u="none" strike="noStrike" cap="none" dirty="0">
              <a:solidFill>
                <a:schemeClr val="dk1"/>
              </a:solidFill>
              <a:latin typeface="Times New Roman"/>
              <a:ea typeface="Times New Roman"/>
              <a:cs typeface="Times New Roman"/>
              <a:sym typeface="Times New Roman"/>
            </a:endParaRPr>
          </a:p>
        </p:txBody>
      </p:sp>
      <p:pic>
        <p:nvPicPr>
          <p:cNvPr id="262" name="Google Shape;262;g31ccdae391d_0_339"/>
          <p:cNvPicPr preferRelativeResize="0"/>
          <p:nvPr/>
        </p:nvPicPr>
        <p:blipFill>
          <a:blip r:embed="rId3">
            <a:alphaModFix/>
          </a:blip>
          <a:stretch>
            <a:fillRect/>
          </a:stretch>
        </p:blipFill>
        <p:spPr>
          <a:xfrm>
            <a:off x="1273902" y="3762375"/>
            <a:ext cx="9522701" cy="1816900"/>
          </a:xfrm>
          <a:prstGeom prst="rect">
            <a:avLst/>
          </a:prstGeom>
          <a:noFill/>
          <a:ln>
            <a:noFill/>
          </a:ln>
        </p:spPr>
      </p:pic>
      <p:pic>
        <p:nvPicPr>
          <p:cNvPr id="6" name="Google Shape;36;p4" descr="A black and yellow lines on a blue surface&#10;&#10;Description automatically generated"/>
          <p:cNvPicPr preferRelativeResize="0"/>
          <p:nvPr/>
        </p:nvPicPr>
        <p:blipFill rotWithShape="1">
          <a:blip r:embed="rId4">
            <a:alphaModFix/>
          </a:blip>
          <a:srcRect/>
          <a:stretch/>
        </p:blipFill>
        <p:spPr>
          <a:xfrm>
            <a:off x="8650521" y="4650486"/>
            <a:ext cx="3545983" cy="2207517"/>
          </a:xfrm>
          <a:prstGeom prst="rect">
            <a:avLst/>
          </a:prstGeom>
          <a:noFill/>
          <a:ln>
            <a:noFill/>
          </a:ln>
        </p:spPr>
      </p:pic>
    </p:spTree>
    <p:extLst>
      <p:ext uri="{BB962C8B-B14F-4D97-AF65-F5344CB8AC3E}">
        <p14:creationId xmlns:p14="http://schemas.microsoft.com/office/powerpoint/2010/main" val="3385412267"/>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g31ccdae391d_0_347"/>
          <p:cNvSpPr txBox="1">
            <a:spLocks noGrp="1"/>
          </p:cNvSpPr>
          <p:nvPr>
            <p:ph type="title"/>
          </p:nvPr>
        </p:nvSpPr>
        <p:spPr>
          <a:xfrm>
            <a:off x="276335" y="-180890"/>
            <a:ext cx="10666200" cy="716100"/>
          </a:xfrm>
          <a:prstGeom prst="rect">
            <a:avLst/>
          </a:prstGeom>
          <a:noFill/>
          <a:ln>
            <a:noFill/>
          </a:ln>
        </p:spPr>
        <p:txBody>
          <a:bodyPr spcFirstLastPara="1" wrap="square" lIns="91425" tIns="45700" rIns="91425" bIns="45700" anchor="ctr" anchorCtr="0">
            <a:normAutofit/>
          </a:bodyPr>
          <a:lstStyle/>
          <a:p>
            <a:pPr marL="50800" lvl="0" indent="0" algn="l" rtl="0">
              <a:lnSpc>
                <a:spcPct val="90000"/>
              </a:lnSpc>
              <a:spcBef>
                <a:spcPts val="0"/>
              </a:spcBef>
              <a:spcAft>
                <a:spcPts val="0"/>
              </a:spcAft>
              <a:buClr>
                <a:srgbClr val="FFC000"/>
              </a:buClr>
              <a:buSzPts val="2800"/>
              <a:buNone/>
            </a:pPr>
            <a:r>
              <a:rPr lang="en-US" sz="2800">
                <a:solidFill>
                  <a:srgbClr val="FFC000"/>
                </a:solidFill>
                <a:latin typeface="Times New Roman"/>
                <a:ea typeface="Times New Roman"/>
                <a:cs typeface="Times New Roman"/>
                <a:sym typeface="Times New Roman"/>
              </a:rPr>
              <a:t>ATR</a:t>
            </a:r>
            <a:endParaRPr sz="2800">
              <a:solidFill>
                <a:srgbClr val="FFC000"/>
              </a:solidFill>
              <a:latin typeface="Times New Roman"/>
              <a:ea typeface="Times New Roman"/>
              <a:cs typeface="Times New Roman"/>
              <a:sym typeface="Times New Roman"/>
            </a:endParaRPr>
          </a:p>
        </p:txBody>
      </p:sp>
      <p:sp>
        <p:nvSpPr>
          <p:cNvPr id="269" name="Google Shape;269;g31ccdae391d_0_347"/>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62</a:t>
            </a:fld>
            <a:endParaRPr/>
          </a:p>
        </p:txBody>
      </p:sp>
      <p:graphicFrame>
        <p:nvGraphicFramePr>
          <p:cNvPr id="270" name="Google Shape;270;g31ccdae391d_0_347"/>
          <p:cNvGraphicFramePr/>
          <p:nvPr/>
        </p:nvGraphicFramePr>
        <p:xfrm>
          <a:off x="439614" y="221847"/>
          <a:ext cx="11611325" cy="6311045"/>
        </p:xfrm>
        <a:graphic>
          <a:graphicData uri="http://schemas.openxmlformats.org/drawingml/2006/table">
            <a:tbl>
              <a:tblPr>
                <a:noFill/>
              </a:tblPr>
              <a:tblGrid>
                <a:gridCol w="548675"/>
                <a:gridCol w="1774900"/>
                <a:gridCol w="1550950"/>
                <a:gridCol w="2501400"/>
                <a:gridCol w="5235400"/>
              </a:tblGrid>
              <a:tr h="218400">
                <a:tc gridSpan="5">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dirty="0"/>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218400">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STT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Tên thiết bị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P/N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Hỏng hóc</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u="none" strike="noStrike" cap="none">
                          <a:latin typeface="Times New Roman"/>
                          <a:ea typeface="Times New Roman"/>
                          <a:cs typeface="Times New Roman"/>
                          <a:sym typeface="Times New Roman"/>
                        </a:rPr>
                        <a:t>Tình trạng</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8923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1</a:t>
                      </a:r>
                      <a:endParaRPr sz="140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Blade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R815505-6/-9</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Times New Roman"/>
                        <a:buNone/>
                      </a:pPr>
                      <a:r>
                        <a:rPr lang="en-US">
                          <a:solidFill>
                            <a:schemeClr val="dk1"/>
                          </a:solidFill>
                          <a:latin typeface="Times New Roman"/>
                          <a:ea typeface="Times New Roman"/>
                          <a:cs typeface="Times New Roman"/>
                          <a:sym typeface="Times New Roman"/>
                        </a:rPr>
                        <a:t>05</a:t>
                      </a:r>
                      <a:r>
                        <a:rPr lang="en-US" sz="1400" u="none" strike="noStrike" cap="none">
                          <a:solidFill>
                            <a:schemeClr val="dk1"/>
                          </a:solidFill>
                          <a:latin typeface="Times New Roman"/>
                          <a:ea typeface="Times New Roman"/>
                          <a:cs typeface="Times New Roman"/>
                          <a:sym typeface="Times New Roman"/>
                        </a:rPr>
                        <a:t>EA: STK SGN (</a:t>
                      </a:r>
                      <a:r>
                        <a:rPr lang="en-US">
                          <a:solidFill>
                            <a:schemeClr val="dk1"/>
                          </a:solidFill>
                          <a:latin typeface="Times New Roman"/>
                          <a:ea typeface="Times New Roman"/>
                          <a:cs typeface="Times New Roman"/>
                          <a:sym typeface="Times New Roman"/>
                        </a:rPr>
                        <a:t>p/n</a:t>
                      </a:r>
                      <a:r>
                        <a:rPr lang="en-US" sz="1400" u="none" strike="noStrike" cap="none">
                          <a:solidFill>
                            <a:schemeClr val="dk1"/>
                          </a:solidFill>
                          <a:latin typeface="Times New Roman"/>
                          <a:ea typeface="Times New Roman"/>
                          <a:cs typeface="Times New Roman"/>
                          <a:sym typeface="Times New Roman"/>
                        </a:rPr>
                        <a:t> R815505-9)</a:t>
                      </a:r>
                      <a:endParaRPr sz="140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0</a:t>
                      </a:r>
                      <a:r>
                        <a:rPr lang="en-US">
                          <a:latin typeface="Times New Roman"/>
                          <a:ea typeface="Times New Roman"/>
                          <a:cs typeface="Times New Roman"/>
                          <a:sym typeface="Times New Roman"/>
                        </a:rPr>
                        <a:t>1</a:t>
                      </a:r>
                      <a:r>
                        <a:rPr lang="en-US" sz="1400" u="none" strike="noStrike" cap="none">
                          <a:latin typeface="Times New Roman"/>
                          <a:ea typeface="Times New Roman"/>
                          <a:cs typeface="Times New Roman"/>
                          <a:sym typeface="Times New Roman"/>
                        </a:rPr>
                        <a:t>EA</a:t>
                      </a:r>
                      <a:r>
                        <a:rPr lang="en-US">
                          <a:latin typeface="Times New Roman"/>
                          <a:ea typeface="Times New Roman"/>
                          <a:cs typeface="Times New Roman"/>
                          <a:sym typeface="Times New Roman"/>
                        </a:rPr>
                        <a:t> PO</a:t>
                      </a:r>
                      <a:r>
                        <a:rPr lang="en-US" sz="1400" u="none" strike="noStrike" cap="none">
                          <a:latin typeface="Times New Roman"/>
                          <a:ea typeface="Times New Roman"/>
                          <a:cs typeface="Times New Roman"/>
                          <a:sym typeface="Times New Roman"/>
                        </a:rPr>
                        <a:t> chưa có thông tin</a:t>
                      </a:r>
                      <a:br>
                        <a:rPr lang="en-US" sz="1400" u="none" strike="noStrike" cap="none">
                          <a:latin typeface="Times New Roman"/>
                          <a:ea typeface="Times New Roman"/>
                          <a:cs typeface="Times New Roman"/>
                          <a:sym typeface="Times New Roman"/>
                        </a:rPr>
                      </a:br>
                      <a:r>
                        <a:rPr lang="en-US" sz="1400" u="none" strike="noStrike" cap="none">
                          <a:latin typeface="Times New Roman"/>
                          <a:ea typeface="Times New Roman"/>
                          <a:cs typeface="Times New Roman"/>
                          <a:sym typeface="Times New Roman"/>
                        </a:rPr>
                        <a:t>01</a:t>
                      </a:r>
                      <a:r>
                        <a:rPr lang="en-US">
                          <a:latin typeface="Times New Roman"/>
                          <a:ea typeface="Times New Roman"/>
                          <a:cs typeface="Times New Roman"/>
                          <a:sym typeface="Times New Roman"/>
                        </a:rPr>
                        <a:t>EA YO </a:t>
                      </a:r>
                      <a:r>
                        <a:rPr lang="en-US">
                          <a:solidFill>
                            <a:schemeClr val="dk1"/>
                          </a:solidFill>
                          <a:latin typeface="Times New Roman"/>
                          <a:ea typeface="Times New Roman"/>
                          <a:cs typeface="Times New Roman"/>
                          <a:sym typeface="Times New Roman"/>
                        </a:rPr>
                        <a:t>chưa có thông tin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8923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Times New Roman"/>
                          <a:ea typeface="Times New Roman"/>
                          <a:cs typeface="Times New Roman"/>
                          <a:sym typeface="Times New Roman"/>
                        </a:rPr>
                        <a:t>Hub Propeller</a:t>
                      </a:r>
                      <a:endParaRPr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815470-2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02EA: STK SGN</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01PO: Chưa có EDD </a:t>
                      </a:r>
                      <a:endParaRPr>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8256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3</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Actuator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815585-7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02EA: STK</a:t>
                      </a:r>
                      <a:endParaRPr>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8256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4</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End Wing-Left </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S5741212100810</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S5741212100910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sz="1400" u="none" strike="noStrike" cap="none">
                          <a:solidFill>
                            <a:schemeClr val="dk1"/>
                          </a:solidFill>
                          <a:latin typeface="Times New Roman"/>
                          <a:ea typeface="Times New Roman"/>
                          <a:cs typeface="Times New Roman"/>
                          <a:sym typeface="Times New Roman"/>
                        </a:rPr>
                        <a:t>01EA: STK SGN P/N S5741212100810</a:t>
                      </a:r>
                      <a:endParaRPr sz="1400" u="none" strike="noStrike" cap="none">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r>
                        <a:rPr lang="en-US" sz="1400" u="none" strike="noStrike" cap="none">
                          <a:solidFill>
                            <a:schemeClr val="dk1"/>
                          </a:solidFill>
                          <a:latin typeface="Times New Roman"/>
                          <a:ea typeface="Times New Roman"/>
                          <a:cs typeface="Times New Roman"/>
                          <a:sym typeface="Times New Roman"/>
                        </a:rPr>
                        <a:t>0</a:t>
                      </a:r>
                      <a:r>
                        <a:rPr lang="en-US">
                          <a:solidFill>
                            <a:schemeClr val="dk1"/>
                          </a:solidFill>
                          <a:latin typeface="Times New Roman"/>
                          <a:ea typeface="Times New Roman"/>
                          <a:cs typeface="Times New Roman"/>
                          <a:sym typeface="Times New Roman"/>
                        </a:rPr>
                        <a:t>1</a:t>
                      </a:r>
                      <a:r>
                        <a:rPr lang="en-US" sz="1400" u="none" strike="noStrike" cap="none">
                          <a:solidFill>
                            <a:schemeClr val="dk1"/>
                          </a:solidFill>
                          <a:latin typeface="Times New Roman"/>
                          <a:ea typeface="Times New Roman"/>
                          <a:cs typeface="Times New Roman"/>
                          <a:sym typeface="Times New Roman"/>
                        </a:rPr>
                        <a:t>EA: STK SGN P/N S5741212100910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109890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5</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P.E.C</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816332-5-401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PEC CODE: 81. SGL CHANEL FAULT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01EA: STK SGN </a:t>
                      </a:r>
                      <a:endParaRPr>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01RO: ở shop từ 11/2023. </a:t>
                      </a:r>
                      <a:r>
                        <a:rPr lang="en-US">
                          <a:latin typeface="Times New Roman"/>
                          <a:ea typeface="Times New Roman"/>
                          <a:cs typeface="Times New Roman"/>
                          <a:sym typeface="Times New Roman"/>
                        </a:rPr>
                        <a:t>EST JUN2025</a:t>
                      </a:r>
                      <a:r>
                        <a:rPr lang="en-US" sz="1400" u="none" strike="noStrike" cap="none">
                          <a:latin typeface="Times New Roman"/>
                          <a:ea typeface="Times New Roman"/>
                          <a:cs typeface="Times New Roman"/>
                          <a:sym typeface="Times New Roman"/>
                        </a:rPr>
                        <a:t> do thiếu PTVT thay thế</a:t>
                      </a:r>
                      <a:br>
                        <a:rPr lang="en-US" sz="1400" u="none" strike="noStrike" cap="none">
                          <a:latin typeface="Times New Roman"/>
                          <a:ea typeface="Times New Roman"/>
                          <a:cs typeface="Times New Roman"/>
                          <a:sym typeface="Times New Roman"/>
                        </a:rPr>
                      </a:br>
                      <a:endParaRPr sz="1400" u="none" strike="noStrike" cap="none">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59490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6</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MLG Shock Absorber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D23188000-5</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Hyd Leak</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STK = 0</a:t>
                      </a:r>
                      <a:br>
                        <a:rPr lang="en-US">
                          <a:solidFill>
                            <a:schemeClr val="dk1"/>
                          </a:solidFill>
                          <a:latin typeface="Times New Roman"/>
                          <a:ea typeface="Times New Roman"/>
                          <a:cs typeface="Times New Roman"/>
                          <a:sym typeface="Times New Roman"/>
                        </a:rPr>
                      </a:br>
                      <a:r>
                        <a:rPr lang="en-US">
                          <a:solidFill>
                            <a:schemeClr val="dk1"/>
                          </a:solidFill>
                          <a:latin typeface="Times New Roman"/>
                          <a:ea typeface="Times New Roman"/>
                          <a:cs typeface="Times New Roman"/>
                          <a:sym typeface="Times New Roman"/>
                        </a:rPr>
                        <a:t>NO ORDER OUTSIDE</a:t>
                      </a:r>
                      <a:endParaRPr>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7428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AFCS Computer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7003974-606</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DASH ON ADU; CONNECTOR FOUND LOOSEN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02RO issued 06/01 and 08/01</a:t>
                      </a:r>
                      <a:endParaRPr>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endParaRPr>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bl>
          </a:graphicData>
        </a:graphic>
      </p:graphicFrame>
      <p:pic>
        <p:nvPicPr>
          <p:cNvPr id="5"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Tree>
    <p:extLst>
      <p:ext uri="{BB962C8B-B14F-4D97-AF65-F5344CB8AC3E}">
        <p14:creationId xmlns:p14="http://schemas.microsoft.com/office/powerpoint/2010/main" val="2673455903"/>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g31ccdae391d_0_354"/>
          <p:cNvSpPr txBox="1">
            <a:spLocks noGrp="1"/>
          </p:cNvSpPr>
          <p:nvPr>
            <p:ph type="title"/>
          </p:nvPr>
        </p:nvSpPr>
        <p:spPr>
          <a:xfrm>
            <a:off x="276335" y="123910"/>
            <a:ext cx="10666200" cy="716100"/>
          </a:xfrm>
          <a:prstGeom prst="rect">
            <a:avLst/>
          </a:prstGeom>
          <a:noFill/>
          <a:ln>
            <a:noFill/>
          </a:ln>
        </p:spPr>
        <p:txBody>
          <a:bodyPr spcFirstLastPara="1" wrap="square" lIns="91425" tIns="45700" rIns="91425" bIns="45700" anchor="ctr" anchorCtr="0">
            <a:normAutofit/>
          </a:bodyPr>
          <a:lstStyle/>
          <a:p>
            <a:pPr marL="50800" lvl="0" indent="0" algn="l" rtl="0">
              <a:lnSpc>
                <a:spcPct val="90000"/>
              </a:lnSpc>
              <a:spcBef>
                <a:spcPts val="0"/>
              </a:spcBef>
              <a:spcAft>
                <a:spcPts val="0"/>
              </a:spcAft>
              <a:buClr>
                <a:srgbClr val="FFC000"/>
              </a:buClr>
              <a:buSzPts val="2800"/>
              <a:buNone/>
            </a:pPr>
            <a:r>
              <a:rPr lang="en-US" sz="2800">
                <a:solidFill>
                  <a:srgbClr val="FFC000"/>
                </a:solidFill>
                <a:latin typeface="Times New Roman"/>
                <a:ea typeface="Times New Roman"/>
                <a:cs typeface="Times New Roman"/>
                <a:sym typeface="Times New Roman"/>
              </a:rPr>
              <a:t>Phanh, bánh lốp cho các đội bay</a:t>
            </a:r>
            <a:endParaRPr sz="2800">
              <a:solidFill>
                <a:srgbClr val="FFC000"/>
              </a:solidFill>
              <a:latin typeface="Times New Roman"/>
              <a:ea typeface="Times New Roman"/>
              <a:cs typeface="Times New Roman"/>
              <a:sym typeface="Times New Roman"/>
            </a:endParaRPr>
          </a:p>
        </p:txBody>
      </p:sp>
      <p:sp>
        <p:nvSpPr>
          <p:cNvPr id="277" name="Google Shape;277;g31ccdae391d_0_354"/>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63</a:t>
            </a:fld>
            <a:endParaRPr/>
          </a:p>
        </p:txBody>
      </p:sp>
      <p:graphicFrame>
        <p:nvGraphicFramePr>
          <p:cNvPr id="278" name="Google Shape;278;g31ccdae391d_0_354"/>
          <p:cNvGraphicFramePr/>
          <p:nvPr>
            <p:extLst/>
          </p:nvPr>
        </p:nvGraphicFramePr>
        <p:xfrm>
          <a:off x="392714" y="718223"/>
          <a:ext cx="11570675" cy="5310995"/>
        </p:xfrm>
        <a:graphic>
          <a:graphicData uri="http://schemas.openxmlformats.org/drawingml/2006/table">
            <a:tbl>
              <a:tblPr>
                <a:noFill/>
              </a:tblPr>
              <a:tblGrid>
                <a:gridCol w="741275"/>
                <a:gridCol w="1235450"/>
                <a:gridCol w="1470950"/>
                <a:gridCol w="4061500"/>
                <a:gridCol w="4061500"/>
              </a:tblGrid>
              <a:tr h="215500">
                <a:tc gridSpan="5">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dirty="0"/>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215500">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STT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Tên thiết bị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P/N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Hỏng hóc</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Giải pháp và kiến nghị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7286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1.</a:t>
                      </a:r>
                      <a:endParaRPr sz="1400" b="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Lốp cho các đội bay</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Lốp các loại đủ dự phòng cho khai thác</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-Ban QLVT đang thúc đẩy lốp về cho cao điểm tết </a:t>
                      </a:r>
                      <a:endParaRPr sz="1400" b="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148297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dirty="0" err="1">
                          <a:latin typeface="Times New Roman"/>
                          <a:ea typeface="Times New Roman"/>
                          <a:cs typeface="Times New Roman"/>
                          <a:sym typeface="Times New Roman"/>
                        </a:rPr>
                        <a:t>Phanh</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cho</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Đội</a:t>
                      </a:r>
                      <a:r>
                        <a:rPr lang="en-US" sz="1400" u="none" strike="noStrike" cap="none" dirty="0">
                          <a:latin typeface="Times New Roman"/>
                          <a:ea typeface="Times New Roman"/>
                          <a:cs typeface="Times New Roman"/>
                          <a:sym typeface="Times New Roman"/>
                        </a:rPr>
                        <a:t> bay B787</a:t>
                      </a:r>
                      <a:endParaRPr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Times New Roman"/>
                          <a:ea typeface="Times New Roman"/>
                          <a:cs typeface="Times New Roman"/>
                          <a:sym typeface="Times New Roman"/>
                        </a:rPr>
                        <a:t>C20648000</a:t>
                      </a:r>
                      <a:endParaRPr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3970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Times New Roman"/>
                          <a:ea typeface="Times New Roman"/>
                          <a:cs typeface="Times New Roman"/>
                          <a:sym typeface="Times New Roman"/>
                        </a:rPr>
                        <a:t>Kho </a:t>
                      </a:r>
                      <a:r>
                        <a:rPr lang="en-US" sz="1400" u="none" strike="noStrike" cap="none" dirty="0" err="1">
                          <a:latin typeface="Times New Roman"/>
                          <a:ea typeface="Times New Roman"/>
                          <a:cs typeface="Times New Roman"/>
                          <a:sym typeface="Times New Roman"/>
                        </a:rPr>
                        <a:t>có</a:t>
                      </a:r>
                      <a:r>
                        <a:rPr lang="en-US" sz="1400" u="none" strike="noStrike" cap="none" dirty="0">
                          <a:latin typeface="Times New Roman"/>
                          <a:ea typeface="Times New Roman"/>
                          <a:cs typeface="Times New Roman"/>
                          <a:sym typeface="Times New Roman"/>
                        </a:rPr>
                        <a:t> </a:t>
                      </a:r>
                      <a:r>
                        <a:rPr lang="en-US" dirty="0" smtClean="0">
                          <a:latin typeface="Times New Roman"/>
                          <a:ea typeface="Times New Roman"/>
                          <a:cs typeface="Times New Roman"/>
                          <a:sym typeface="Times New Roman"/>
                        </a:rPr>
                        <a:t>06e</a:t>
                      </a:r>
                      <a:r>
                        <a:rPr lang="en-US" sz="1400" u="none" strike="noStrike" cap="none" dirty="0" smtClean="0">
                          <a:latin typeface="Times New Roman"/>
                          <a:ea typeface="Times New Roman"/>
                          <a:cs typeface="Times New Roman"/>
                          <a:sym typeface="Times New Roman"/>
                        </a:rPr>
                        <a:t>a </a:t>
                      </a:r>
                      <a:r>
                        <a:rPr lang="en-US" sz="1400" u="none" strike="noStrike" cap="none" dirty="0" err="1">
                          <a:latin typeface="Times New Roman"/>
                          <a:ea typeface="Times New Roman"/>
                          <a:cs typeface="Times New Roman"/>
                          <a:sym typeface="Times New Roman"/>
                        </a:rPr>
                        <a:t>dự</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phòng</a:t>
                      </a:r>
                      <a:endParaRPr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Ban QLVT đang làm việc với Safran thúc đẩy</a:t>
                      </a:r>
                      <a:r>
                        <a:rPr lang="en-US" sz="1400" u="none" strike="noStrike" cap="none">
                          <a:latin typeface="Times New Roman"/>
                          <a:ea typeface="Times New Roman"/>
                          <a:cs typeface="Times New Roman"/>
                          <a:sym typeface="Times New Roman"/>
                        </a:rPr>
                        <a:t> các </a:t>
                      </a:r>
                      <a:r>
                        <a:rPr lang="en-US" sz="1400" b="0" i="0" u="none" strike="noStrike" cap="none">
                          <a:solidFill>
                            <a:srgbClr val="000000"/>
                          </a:solidFill>
                          <a:latin typeface="Times New Roman"/>
                          <a:ea typeface="Times New Roman"/>
                          <a:cs typeface="Times New Roman"/>
                          <a:sym typeface="Times New Roman"/>
                        </a:rPr>
                        <a:t>cụm phanh đang sửa chữa về</a:t>
                      </a:r>
                      <a:r>
                        <a:rPr lang="en-US" sz="1400" u="none" strike="noStrike" cap="none">
                          <a:latin typeface="Times New Roman"/>
                          <a:ea typeface="Times New Roman"/>
                          <a:cs typeface="Times New Roman"/>
                          <a:sym typeface="Times New Roman"/>
                        </a:rPr>
                        <a:t>.</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 Tần suất thay phanh B787 đang gia tăng, Ban QLVT đã đề nghị Ban KT và VAECO cập nhật kế hoạch thay phanh cho 3 tháng tới và rà soát làm stagger </a:t>
                      </a:r>
                      <a:r>
                        <a:rPr lang="en-US" sz="1400" u="none" strike="noStrike" cap="none">
                          <a:solidFill>
                            <a:schemeClr val="dk1"/>
                          </a:solidFill>
                          <a:latin typeface="Times New Roman"/>
                          <a:ea typeface="Times New Roman"/>
                          <a:cs typeface="Times New Roman"/>
                          <a:sym typeface="Times New Roman"/>
                        </a:rPr>
                        <a:t>để tránh tình trạng thay phanh hàng loạt.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12248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3.</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Đội bay A350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Times New Roman"/>
                          <a:ea typeface="Times New Roman"/>
                          <a:cs typeface="Times New Roman"/>
                          <a:sym typeface="Times New Roman"/>
                        </a:rPr>
                        <a:t>2-1756-1</a:t>
                      </a:r>
                      <a:endParaRPr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39700" marR="0" lvl="0" indent="0" algn="l" rtl="0">
                        <a:lnSpc>
                          <a:spcPct val="100000"/>
                        </a:lnSpc>
                        <a:spcBef>
                          <a:spcPts val="0"/>
                        </a:spcBef>
                        <a:spcAft>
                          <a:spcPts val="0"/>
                        </a:spcAft>
                        <a:buClr>
                          <a:srgbClr val="000000"/>
                        </a:buClr>
                        <a:buSzPts val="1400"/>
                        <a:buFont typeface="Arial"/>
                        <a:buNone/>
                      </a:pPr>
                      <a:r>
                        <a:rPr lang="en-US" dirty="0">
                          <a:solidFill>
                            <a:schemeClr val="dk1"/>
                          </a:solidFill>
                          <a:latin typeface="Times New Roman"/>
                          <a:ea typeface="Times New Roman"/>
                          <a:cs typeface="Times New Roman"/>
                          <a:sym typeface="Times New Roman"/>
                        </a:rPr>
                        <a:t>Kho </a:t>
                      </a:r>
                      <a:r>
                        <a:rPr lang="en-US" dirty="0" err="1">
                          <a:solidFill>
                            <a:schemeClr val="dk1"/>
                          </a:solidFill>
                          <a:latin typeface="Times New Roman"/>
                          <a:ea typeface="Times New Roman"/>
                          <a:cs typeface="Times New Roman"/>
                          <a:sym typeface="Times New Roman"/>
                        </a:rPr>
                        <a:t>có</a:t>
                      </a:r>
                      <a:r>
                        <a:rPr lang="en-US" dirty="0">
                          <a:solidFill>
                            <a:schemeClr val="dk1"/>
                          </a:solidFill>
                          <a:latin typeface="Times New Roman"/>
                          <a:ea typeface="Times New Roman"/>
                          <a:cs typeface="Times New Roman"/>
                          <a:sym typeface="Times New Roman"/>
                        </a:rPr>
                        <a:t> </a:t>
                      </a:r>
                      <a:r>
                        <a:rPr lang="en-US" dirty="0" smtClean="0">
                          <a:solidFill>
                            <a:schemeClr val="dk1"/>
                          </a:solidFill>
                          <a:latin typeface="Times New Roman"/>
                          <a:ea typeface="Times New Roman"/>
                          <a:cs typeface="Times New Roman"/>
                          <a:sym typeface="Times New Roman"/>
                        </a:rPr>
                        <a:t>01ea </a:t>
                      </a:r>
                      <a:r>
                        <a:rPr lang="en-US" dirty="0" err="1">
                          <a:solidFill>
                            <a:schemeClr val="dk1"/>
                          </a:solidFill>
                          <a:latin typeface="Times New Roman"/>
                          <a:ea typeface="Times New Roman"/>
                          <a:cs typeface="Times New Roman"/>
                          <a:sym typeface="Times New Roman"/>
                        </a:rPr>
                        <a:t>dự</a:t>
                      </a:r>
                      <a:r>
                        <a:rPr lang="en-US" dirty="0">
                          <a:solidFill>
                            <a:schemeClr val="dk1"/>
                          </a:solidFill>
                          <a:latin typeface="Times New Roman"/>
                          <a:ea typeface="Times New Roman"/>
                          <a:cs typeface="Times New Roman"/>
                          <a:sym typeface="Times New Roman"/>
                        </a:rPr>
                        <a:t> </a:t>
                      </a:r>
                      <a:r>
                        <a:rPr lang="en-US" dirty="0" err="1" smtClean="0">
                          <a:solidFill>
                            <a:schemeClr val="dk1"/>
                          </a:solidFill>
                          <a:latin typeface="Times New Roman"/>
                          <a:ea typeface="Times New Roman"/>
                          <a:cs typeface="Times New Roman"/>
                          <a:sym typeface="Times New Roman"/>
                        </a:rPr>
                        <a:t>phòng</a:t>
                      </a:r>
                      <a:r>
                        <a:rPr lang="en-US" dirty="0" smtClean="0">
                          <a:solidFill>
                            <a:schemeClr val="dk1"/>
                          </a:solidFill>
                          <a:latin typeface="Times New Roman"/>
                          <a:ea typeface="Times New Roman"/>
                          <a:cs typeface="Times New Roman"/>
                          <a:sym typeface="Times New Roman"/>
                        </a:rPr>
                        <a:t>,</a:t>
                      </a:r>
                      <a:r>
                        <a:rPr lang="en-US" baseline="0" dirty="0" smtClean="0">
                          <a:solidFill>
                            <a:schemeClr val="dk1"/>
                          </a:solidFill>
                          <a:latin typeface="Times New Roman"/>
                          <a:ea typeface="Times New Roman"/>
                          <a:cs typeface="Times New Roman"/>
                          <a:sym typeface="Times New Roman"/>
                        </a:rPr>
                        <a:t> trong </a:t>
                      </a:r>
                      <a:r>
                        <a:rPr lang="en-US" baseline="0" dirty="0" err="1" smtClean="0">
                          <a:solidFill>
                            <a:schemeClr val="dk1"/>
                          </a:solidFill>
                          <a:latin typeface="Times New Roman"/>
                          <a:ea typeface="Times New Roman"/>
                          <a:cs typeface="Times New Roman"/>
                          <a:sym typeface="Times New Roman"/>
                        </a:rPr>
                        <a:t>tuần</a:t>
                      </a:r>
                      <a:r>
                        <a:rPr lang="en-US" baseline="0" dirty="0" smtClean="0">
                          <a:solidFill>
                            <a:schemeClr val="dk1"/>
                          </a:solidFill>
                          <a:latin typeface="Times New Roman"/>
                          <a:ea typeface="Times New Roman"/>
                          <a:cs typeface="Times New Roman"/>
                          <a:sym typeface="Times New Roman"/>
                        </a:rPr>
                        <a:t> 03 </a:t>
                      </a:r>
                      <a:r>
                        <a:rPr lang="en-US" baseline="0" dirty="0" err="1" smtClean="0">
                          <a:solidFill>
                            <a:schemeClr val="dk1"/>
                          </a:solidFill>
                          <a:latin typeface="Times New Roman"/>
                          <a:ea typeface="Times New Roman"/>
                          <a:cs typeface="Times New Roman"/>
                          <a:sym typeface="Times New Roman"/>
                        </a:rPr>
                        <a:t>sẽ</a:t>
                      </a:r>
                      <a:r>
                        <a:rPr lang="en-US" baseline="0" dirty="0" smtClean="0">
                          <a:solidFill>
                            <a:schemeClr val="dk1"/>
                          </a:solidFill>
                          <a:latin typeface="Times New Roman"/>
                          <a:ea typeface="Times New Roman"/>
                          <a:cs typeface="Times New Roman"/>
                          <a:sym typeface="Times New Roman"/>
                        </a:rPr>
                        <a:t> </a:t>
                      </a:r>
                      <a:r>
                        <a:rPr lang="en-US" baseline="0" dirty="0" err="1" smtClean="0">
                          <a:solidFill>
                            <a:schemeClr val="dk1"/>
                          </a:solidFill>
                          <a:latin typeface="Times New Roman"/>
                          <a:ea typeface="Times New Roman"/>
                          <a:cs typeface="Times New Roman"/>
                          <a:sym typeface="Times New Roman"/>
                        </a:rPr>
                        <a:t>có</a:t>
                      </a:r>
                      <a:r>
                        <a:rPr lang="en-US" baseline="0" dirty="0" smtClean="0">
                          <a:solidFill>
                            <a:schemeClr val="dk1"/>
                          </a:solidFill>
                          <a:latin typeface="Times New Roman"/>
                          <a:ea typeface="Times New Roman"/>
                          <a:cs typeface="Times New Roman"/>
                          <a:sym typeface="Times New Roman"/>
                        </a:rPr>
                        <a:t> 04ea </a:t>
                      </a:r>
                      <a:r>
                        <a:rPr lang="en-US" baseline="0" dirty="0" err="1" smtClean="0">
                          <a:solidFill>
                            <a:schemeClr val="dk1"/>
                          </a:solidFill>
                          <a:latin typeface="Times New Roman"/>
                          <a:ea typeface="Times New Roman"/>
                          <a:cs typeface="Times New Roman"/>
                          <a:sym typeface="Times New Roman"/>
                        </a:rPr>
                        <a:t>ra</a:t>
                      </a:r>
                      <a:r>
                        <a:rPr lang="en-US" baseline="0" dirty="0" smtClean="0">
                          <a:solidFill>
                            <a:schemeClr val="dk1"/>
                          </a:solidFill>
                          <a:latin typeface="Times New Roman"/>
                          <a:ea typeface="Times New Roman"/>
                          <a:cs typeface="Times New Roman"/>
                          <a:sym typeface="Times New Roman"/>
                        </a:rPr>
                        <a:t> shop.</a:t>
                      </a:r>
                      <a:endParaRPr sz="1400" u="none" strike="noStrike" cap="none" dirty="0">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Times New Roman"/>
                          <a:ea typeface="Times New Roman"/>
                          <a:cs typeface="Times New Roman"/>
                          <a:sym typeface="Times New Roman"/>
                        </a:rPr>
                        <a:t> - Tần suất thay phanh A350 đang gia tăng rất nhanh, Ban QLVT đã đề nghị Ban KT và VAECO cập nhật kế hoạch thay phanh cho 3 tháng tới và rà soát làm stagger để tránh tình trạng thay phanh hàng loạt.</a:t>
                      </a:r>
                      <a:r>
                        <a:rPr lang="en-US" sz="1400" u="none" strike="noStrike" cap="none">
                          <a:latin typeface="Times New Roman"/>
                          <a:ea typeface="Times New Roman"/>
                          <a:cs typeface="Times New Roman"/>
                          <a:sym typeface="Times New Roman"/>
                        </a:rPr>
                        <a:t/>
                      </a:r>
                      <a:br>
                        <a:rPr lang="en-US" sz="1400" u="none" strike="noStrike" cap="none">
                          <a:latin typeface="Times New Roman"/>
                          <a:ea typeface="Times New Roman"/>
                          <a:cs typeface="Times New Roman"/>
                          <a:sym typeface="Times New Roman"/>
                        </a:rPr>
                      </a:b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14360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4.</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đội Bay A321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Times New Roman"/>
                          <a:ea typeface="Times New Roman"/>
                          <a:cs typeface="Times New Roman"/>
                          <a:sym typeface="Times New Roman"/>
                        </a:rPr>
                        <a:t>C20534100</a:t>
                      </a:r>
                      <a:endParaRPr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3970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Times New Roman"/>
                          <a:ea typeface="Times New Roman"/>
                          <a:cs typeface="Times New Roman"/>
                          <a:sym typeface="Times New Roman"/>
                        </a:rPr>
                        <a:t>Kho </a:t>
                      </a:r>
                      <a:r>
                        <a:rPr lang="en-US" sz="1400" u="none" strike="noStrike" cap="none" dirty="0" err="1">
                          <a:latin typeface="Times New Roman"/>
                          <a:ea typeface="Times New Roman"/>
                          <a:cs typeface="Times New Roman"/>
                          <a:sym typeface="Times New Roman"/>
                        </a:rPr>
                        <a:t>có</a:t>
                      </a:r>
                      <a:r>
                        <a:rPr lang="en-US" sz="1400" u="none" strike="noStrike" cap="none" dirty="0">
                          <a:latin typeface="Times New Roman"/>
                          <a:ea typeface="Times New Roman"/>
                          <a:cs typeface="Times New Roman"/>
                          <a:sym typeface="Times New Roman"/>
                        </a:rPr>
                        <a:t> </a:t>
                      </a:r>
                      <a:r>
                        <a:rPr lang="en-US" sz="1400" u="none" strike="noStrike" cap="none" dirty="0" smtClean="0">
                          <a:latin typeface="Times New Roman"/>
                          <a:ea typeface="Times New Roman"/>
                          <a:cs typeface="Times New Roman"/>
                          <a:sym typeface="Times New Roman"/>
                        </a:rPr>
                        <a:t>08ea</a:t>
                      </a:r>
                      <a:r>
                        <a:rPr lang="en-US" sz="1400" u="none" strike="noStrike" cap="none" dirty="0" smtClean="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dự</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phòng</a:t>
                      </a:r>
                      <a:r>
                        <a:rPr lang="en-US" sz="1400" u="none" strike="noStrike" cap="none" dirty="0">
                          <a:solidFill>
                            <a:schemeClr val="dk1"/>
                          </a:solidFill>
                          <a:latin typeface="Times New Roman"/>
                          <a:ea typeface="Times New Roman"/>
                          <a:cs typeface="Times New Roman"/>
                          <a:sym typeface="Times New Roman"/>
                        </a:rPr>
                        <a:t>.</a:t>
                      </a:r>
                      <a:endParaRPr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a:t>
                      </a:r>
                      <a:r>
                        <a:rPr lang="en-US" sz="1400" u="none" strike="noStrike" cap="none">
                          <a:latin typeface="Times New Roman"/>
                          <a:ea typeface="Times New Roman"/>
                          <a:cs typeface="Times New Roman"/>
                          <a:sym typeface="Times New Roman"/>
                        </a:rPr>
                        <a:t>Ban QLVT đang tiếp tục  thúc đẩy các heat sink A321 về để phục vụ bảo dưỡng phanh A321.</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 </a:t>
                      </a:r>
                      <a:r>
                        <a:rPr lang="en-US" sz="1400" u="none" strike="noStrike" cap="none">
                          <a:solidFill>
                            <a:schemeClr val="dk1"/>
                          </a:solidFill>
                          <a:latin typeface="Times New Roman"/>
                          <a:ea typeface="Times New Roman"/>
                          <a:cs typeface="Times New Roman"/>
                          <a:sym typeface="Times New Roman"/>
                        </a:rPr>
                        <a:t>Ban QLVT đã đề nghị Ban KT và VAECO cập nhật kế hoạch làm stagger phanh A321 tránh việc thay phanh hàng loạt.</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bl>
          </a:graphicData>
        </a:graphic>
      </p:graphicFrame>
      <p:pic>
        <p:nvPicPr>
          <p:cNvPr id="5"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Tree>
    <p:extLst>
      <p:ext uri="{BB962C8B-B14F-4D97-AF65-F5344CB8AC3E}">
        <p14:creationId xmlns:p14="http://schemas.microsoft.com/office/powerpoint/2010/main" val="1481651271"/>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g31ccdae391d_0_361"/>
          <p:cNvSpPr txBox="1">
            <a:spLocks noGrp="1"/>
          </p:cNvSpPr>
          <p:nvPr>
            <p:ph type="title"/>
          </p:nvPr>
        </p:nvSpPr>
        <p:spPr>
          <a:xfrm>
            <a:off x="913579" y="37903"/>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85" name="Google Shape;285;g31ccdae391d_0_361"/>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64</a:t>
            </a:fld>
            <a:endParaRPr/>
          </a:p>
        </p:txBody>
      </p:sp>
      <p:sp>
        <p:nvSpPr>
          <p:cNvPr id="286" name="Google Shape;286;g31ccdae391d_0_361"/>
          <p:cNvSpPr/>
          <p:nvPr/>
        </p:nvSpPr>
        <p:spPr>
          <a:xfrm>
            <a:off x="609900" y="801438"/>
            <a:ext cx="10972200" cy="66267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1" i="0" u="none" strike="noStrike" cap="none" dirty="0">
                <a:solidFill>
                  <a:srgbClr val="FF0000"/>
                </a:solidFill>
                <a:highlight>
                  <a:schemeClr val="lt1"/>
                </a:highlight>
                <a:latin typeface="Times New Roman"/>
                <a:ea typeface="Times New Roman"/>
                <a:cs typeface="Times New Roman"/>
                <a:sym typeface="Times New Roman"/>
              </a:rPr>
              <a:t>Đội bay A350:</a:t>
            </a:r>
            <a:endParaRPr sz="1500" b="1" i="0" u="none" strike="noStrike" cap="none" dirty="0">
              <a:solidFill>
                <a:srgbClr val="FF0000"/>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lượng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dự</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phòng</a:t>
            </a:r>
            <a:r>
              <a:rPr lang="en-US" sz="1500" b="0" i="0" u="none" strike="noStrike" cap="none" dirty="0">
                <a:solidFill>
                  <a:schemeClr val="dk1"/>
                </a:solidFill>
                <a:highlight>
                  <a:schemeClr val="lt1"/>
                </a:highlight>
                <a:latin typeface="Times New Roman"/>
                <a:ea typeface="Times New Roman"/>
                <a:cs typeface="Times New Roman"/>
                <a:sym typeface="Times New Roman"/>
              </a:rPr>
              <a:t>: 03ea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thuê</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dài</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hạn</a:t>
            </a:r>
            <a:r>
              <a:rPr lang="en-US" sz="1500" b="0" i="0" u="none" strike="noStrike" cap="none" dirty="0">
                <a:solidFill>
                  <a:schemeClr val="dk1"/>
                </a:solidFill>
                <a:highlight>
                  <a:schemeClr val="lt1"/>
                </a:highlight>
                <a:latin typeface="Times New Roman"/>
                <a:ea typeface="Times New Roman"/>
                <a:cs typeface="Times New Roman"/>
                <a:sym typeface="Times New Roman"/>
              </a:rPr>
              <a:t>) &amp; 03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thuê</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ngắn</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hạn</a:t>
            </a:r>
            <a:r>
              <a:rPr lang="en-US" sz="1500" b="0" i="0" u="none" strike="noStrike" cap="none" dirty="0">
                <a:solidFill>
                  <a:schemeClr val="dk1"/>
                </a:solidFill>
                <a:highlight>
                  <a:schemeClr val="lt1"/>
                </a:highlight>
                <a:latin typeface="Times New Roman"/>
                <a:ea typeface="Times New Roman"/>
                <a:cs typeface="Times New Roman"/>
                <a:sym typeface="Times New Roman"/>
              </a:rPr>
              <a:t> + </a:t>
            </a:r>
            <a:r>
              <a:rPr lang="en-US" sz="1500" dirty="0" smtClean="0">
                <a:solidFill>
                  <a:schemeClr val="dk1"/>
                </a:solidFill>
                <a:highlight>
                  <a:schemeClr val="lt1"/>
                </a:highlight>
                <a:latin typeface="Times New Roman"/>
                <a:ea typeface="Times New Roman"/>
                <a:cs typeface="Times New Roman"/>
                <a:sym typeface="Times New Roman"/>
              </a:rPr>
              <a:t>01 </a:t>
            </a:r>
            <a:r>
              <a:rPr lang="en-US" sz="1500" dirty="0" err="1">
                <a:solidFill>
                  <a:schemeClr val="dk1"/>
                </a:solidFill>
                <a:highlight>
                  <a:schemeClr val="lt1"/>
                </a:highlight>
                <a:latin typeface="Times New Roman"/>
                <a:ea typeface="Times New Roman"/>
                <a:cs typeface="Times New Roman"/>
                <a:sym typeface="Times New Roman"/>
              </a:rPr>
              <a:t>động</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cơ</a:t>
            </a:r>
            <a:r>
              <a:rPr lang="en-US" sz="1500" dirty="0">
                <a:solidFill>
                  <a:schemeClr val="dk1"/>
                </a:solidFill>
                <a:highlight>
                  <a:schemeClr val="lt1"/>
                </a:highlight>
                <a:latin typeface="Times New Roman"/>
                <a:ea typeface="Times New Roman"/>
                <a:cs typeface="Times New Roman"/>
                <a:sym typeface="Times New Roman"/>
              </a:rPr>
              <a:t> </a:t>
            </a:r>
            <a:r>
              <a:rPr lang="en-US" sz="1500" dirty="0" smtClean="0">
                <a:solidFill>
                  <a:schemeClr val="dk1"/>
                </a:solidFill>
                <a:highlight>
                  <a:schemeClr val="lt1"/>
                </a:highlight>
                <a:latin typeface="Times New Roman"/>
                <a:ea typeface="Times New Roman"/>
                <a:cs typeface="Times New Roman"/>
                <a:sym typeface="Times New Roman"/>
              </a:rPr>
              <a:t>new(</a:t>
            </a:r>
            <a:r>
              <a:rPr lang="en-US" sz="1500" dirty="0" err="1" smtClean="0">
                <a:solidFill>
                  <a:schemeClr val="dk1"/>
                </a:solidFill>
                <a:highlight>
                  <a:schemeClr val="lt1"/>
                </a:highlight>
                <a:latin typeface="Times New Roman"/>
                <a:ea typeface="Times New Roman"/>
                <a:cs typeface="Times New Roman"/>
                <a:sym typeface="Times New Roman"/>
              </a:rPr>
              <a:t>dự</a:t>
            </a:r>
            <a:r>
              <a:rPr lang="en-US" sz="1500" dirty="0" smtClean="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kiến</a:t>
            </a:r>
            <a:r>
              <a:rPr lang="en-US" sz="1500" dirty="0">
                <a:solidFill>
                  <a:schemeClr val="dk1"/>
                </a:solidFill>
                <a:highlight>
                  <a:schemeClr val="lt1"/>
                </a:highlight>
                <a:latin typeface="Times New Roman"/>
                <a:ea typeface="Times New Roman"/>
                <a:cs typeface="Times New Roman"/>
                <a:sym typeface="Times New Roman"/>
              </a:rPr>
              <a:t> 23/01 </a:t>
            </a:r>
            <a:r>
              <a:rPr lang="en-US" sz="1500" dirty="0" err="1">
                <a:solidFill>
                  <a:schemeClr val="dk1"/>
                </a:solidFill>
                <a:highlight>
                  <a:schemeClr val="lt1"/>
                </a:highlight>
                <a:latin typeface="Times New Roman"/>
                <a:ea typeface="Times New Roman"/>
                <a:cs typeface="Times New Roman"/>
                <a:sym typeface="Times New Roman"/>
              </a:rPr>
              <a:t>về</a:t>
            </a:r>
            <a:r>
              <a:rPr lang="en-US" sz="1500" dirty="0">
                <a:solidFill>
                  <a:schemeClr val="dk1"/>
                </a:solidFill>
                <a:highlight>
                  <a:schemeClr val="lt1"/>
                </a:highlight>
                <a:latin typeface="Times New Roman"/>
                <a:ea typeface="Times New Roman"/>
                <a:cs typeface="Times New Roman"/>
                <a:sym typeface="Times New Roman"/>
              </a:rPr>
              <a:t> </a:t>
            </a:r>
            <a:r>
              <a:rPr lang="en-US" sz="1500" dirty="0" smtClean="0">
                <a:solidFill>
                  <a:schemeClr val="dk1"/>
                </a:solidFill>
                <a:highlight>
                  <a:schemeClr val="lt1"/>
                </a:highlight>
                <a:latin typeface="Times New Roman"/>
                <a:ea typeface="Times New Roman"/>
                <a:cs typeface="Times New Roman"/>
                <a:sym typeface="Times New Roman"/>
              </a:rPr>
              <a:t>HAN.</a:t>
            </a: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lượng</a:t>
            </a:r>
            <a:r>
              <a:rPr lang="en-US" sz="1500" b="0" i="0" u="none" strike="noStrike" cap="none" dirty="0">
                <a:solidFill>
                  <a:schemeClr val="dk1"/>
                </a:solidFill>
                <a:highlight>
                  <a:schemeClr val="lt1"/>
                </a:highlight>
                <a:latin typeface="Times New Roman"/>
                <a:ea typeface="Times New Roman"/>
                <a:cs typeface="Times New Roman"/>
                <a:sym typeface="Times New Roman"/>
              </a:rPr>
              <a:t> trong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kho</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dirty="0">
                <a:solidFill>
                  <a:schemeClr val="dk1"/>
                </a:solidFill>
                <a:highlight>
                  <a:schemeClr val="lt1"/>
                </a:highlight>
                <a:latin typeface="Times New Roman"/>
                <a:ea typeface="Times New Roman"/>
                <a:cs typeface="Times New Roman"/>
                <a:sym typeface="Times New Roman"/>
              </a:rPr>
              <a:t>0</a:t>
            </a: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lượng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đang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tại</a:t>
            </a:r>
            <a:r>
              <a:rPr lang="en-US" sz="1500" b="0" i="0" u="none" strike="noStrike" cap="none" dirty="0">
                <a:solidFill>
                  <a:schemeClr val="dk1"/>
                </a:solidFill>
                <a:highlight>
                  <a:schemeClr val="lt1"/>
                </a:highlight>
                <a:latin typeface="Times New Roman"/>
                <a:ea typeface="Times New Roman"/>
                <a:cs typeface="Times New Roman"/>
                <a:sym typeface="Times New Roman"/>
              </a:rPr>
              <a:t> shop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sửa</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chữa</a:t>
            </a:r>
            <a:r>
              <a:rPr lang="en-US" sz="1500" b="0" i="0" u="none" strike="noStrike" cap="none" dirty="0">
                <a:solidFill>
                  <a:schemeClr val="dk1"/>
                </a:solidFill>
                <a:highlight>
                  <a:schemeClr val="lt1"/>
                </a:highlight>
                <a:latin typeface="Times New Roman"/>
                <a:ea typeface="Times New Roman"/>
                <a:cs typeface="Times New Roman"/>
                <a:sym typeface="Times New Roman"/>
              </a:rPr>
              <a:t>: 0</a:t>
            </a:r>
            <a:r>
              <a:rPr lang="en-US" sz="1500" dirty="0">
                <a:solidFill>
                  <a:schemeClr val="dk1"/>
                </a:solidFill>
                <a:highlight>
                  <a:schemeClr val="lt1"/>
                </a:highlight>
                <a:latin typeface="Times New Roman"/>
                <a:ea typeface="Times New Roman"/>
                <a:cs typeface="Times New Roman"/>
                <a:sym typeface="Times New Roman"/>
              </a:rPr>
              <a:t>6</a:t>
            </a:r>
            <a:r>
              <a:rPr lang="en-US" sz="1500" b="0" i="0" u="none" strike="noStrike" cap="none" dirty="0">
                <a:solidFill>
                  <a:schemeClr val="dk1"/>
                </a:solidFill>
                <a:highlight>
                  <a:schemeClr val="lt1"/>
                </a:highlight>
                <a:latin typeface="Times New Roman"/>
                <a:ea typeface="Times New Roman"/>
                <a:cs typeface="Times New Roman"/>
                <a:sym typeface="Times New Roman"/>
              </a:rPr>
              <a:t>ea (03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21047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và</a:t>
            </a:r>
            <a:r>
              <a:rPr lang="en-US" sz="1500" b="0" i="0" u="none" strike="noStrike" cap="none" dirty="0">
                <a:solidFill>
                  <a:schemeClr val="dk1"/>
                </a:solidFill>
                <a:highlight>
                  <a:schemeClr val="lt1"/>
                </a:highlight>
                <a:latin typeface="Times New Roman"/>
                <a:ea typeface="Times New Roman"/>
                <a:cs typeface="Times New Roman"/>
                <a:sym typeface="Times New Roman"/>
              </a:rPr>
              <a:t> 21043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và</a:t>
            </a:r>
            <a:r>
              <a:rPr lang="en-US" sz="1500" b="0" i="0" u="none" strike="noStrike" cap="none" dirty="0">
                <a:solidFill>
                  <a:schemeClr val="dk1"/>
                </a:solidFill>
                <a:highlight>
                  <a:schemeClr val="lt1"/>
                </a:highlight>
                <a:latin typeface="Times New Roman"/>
                <a:ea typeface="Times New Roman"/>
                <a:cs typeface="Times New Roman"/>
                <a:sym typeface="Times New Roman"/>
              </a:rPr>
              <a:t> 21317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sửa</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tại</a:t>
            </a:r>
            <a:r>
              <a:rPr lang="en-US" sz="1500" b="0" i="0" u="none" strike="noStrike" cap="none" dirty="0">
                <a:solidFill>
                  <a:schemeClr val="dk1"/>
                </a:solidFill>
                <a:highlight>
                  <a:schemeClr val="lt1"/>
                </a:highlight>
                <a:latin typeface="Times New Roman"/>
                <a:ea typeface="Times New Roman"/>
                <a:cs typeface="Times New Roman"/>
                <a:sym typeface="Times New Roman"/>
              </a:rPr>
              <a:t> N3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và</a:t>
            </a:r>
            <a:r>
              <a:rPr lang="en-US" sz="1500" b="0" i="0" u="none" strike="noStrike" cap="none" dirty="0">
                <a:solidFill>
                  <a:schemeClr val="dk1"/>
                </a:solidFill>
                <a:highlight>
                  <a:schemeClr val="lt1"/>
                </a:highlight>
                <a:latin typeface="Times New Roman"/>
                <a:ea typeface="Times New Roman"/>
                <a:cs typeface="Times New Roman"/>
                <a:sym typeface="Times New Roman"/>
              </a:rPr>
              <a:t> 02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21</a:t>
            </a:r>
            <a:r>
              <a:rPr lang="en-US" sz="1500" dirty="0">
                <a:solidFill>
                  <a:schemeClr val="dk1"/>
                </a:solidFill>
                <a:highlight>
                  <a:schemeClr val="lt1"/>
                </a:highlight>
                <a:latin typeface="Times New Roman"/>
                <a:ea typeface="Times New Roman"/>
                <a:cs typeface="Times New Roman"/>
                <a:sym typeface="Times New Roman"/>
              </a:rPr>
              <a:t>422</a:t>
            </a:r>
            <a:r>
              <a:rPr lang="en-US" sz="1500" b="0" i="0" u="none" strike="noStrike" cap="none" dirty="0">
                <a:solidFill>
                  <a:schemeClr val="dk1"/>
                </a:solidFill>
                <a:highlight>
                  <a:schemeClr val="lt1"/>
                </a:highlight>
                <a:latin typeface="Times New Roman"/>
                <a:ea typeface="Times New Roman"/>
                <a:cs typeface="Times New Roman"/>
                <a:sym typeface="Times New Roman"/>
              </a:rPr>
              <a:t> &amp; 21316 &amp; 21201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sửa</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tại</a:t>
            </a:r>
            <a:r>
              <a:rPr lang="en-US" sz="1500" b="0" i="0" u="none" strike="noStrike" cap="none" dirty="0">
                <a:solidFill>
                  <a:schemeClr val="dk1"/>
                </a:solidFill>
                <a:highlight>
                  <a:schemeClr val="lt1"/>
                </a:highlight>
                <a:latin typeface="Times New Roman"/>
                <a:ea typeface="Times New Roman"/>
                <a:cs typeface="Times New Roman"/>
                <a:sym typeface="Times New Roman"/>
              </a:rPr>
              <a:t> HAESL). </a:t>
            </a: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Tháng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dirty="0">
                <a:solidFill>
                  <a:schemeClr val="dk1"/>
                </a:solidFill>
                <a:highlight>
                  <a:schemeClr val="lt1"/>
                </a:highlight>
                <a:latin typeface="Times New Roman"/>
                <a:ea typeface="Times New Roman"/>
                <a:cs typeface="Times New Roman"/>
                <a:sym typeface="Times New Roman"/>
              </a:rPr>
              <a:t>01</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dự</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kiến</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thêm</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dirty="0">
                <a:solidFill>
                  <a:schemeClr val="dk1"/>
                </a:solidFill>
                <a:highlight>
                  <a:schemeClr val="lt1"/>
                </a:highlight>
                <a:latin typeface="Times New Roman"/>
                <a:ea typeface="Times New Roman"/>
                <a:cs typeface="Times New Roman"/>
                <a:sym typeface="Times New Roman"/>
              </a:rPr>
              <a:t>02</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induction (0</a:t>
            </a:r>
            <a:r>
              <a:rPr lang="en-US" sz="1500" dirty="0">
                <a:solidFill>
                  <a:schemeClr val="dk1"/>
                </a:solidFill>
                <a:highlight>
                  <a:schemeClr val="lt1"/>
                </a:highlight>
                <a:latin typeface="Times New Roman"/>
                <a:ea typeface="Times New Roman"/>
                <a:cs typeface="Times New Roman"/>
                <a:sym typeface="Times New Roman"/>
              </a:rPr>
              <a:t>1</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tại</a:t>
            </a:r>
            <a:r>
              <a:rPr lang="en-US" sz="1500" b="0" i="0" u="none" strike="noStrike" cap="none" dirty="0">
                <a:solidFill>
                  <a:schemeClr val="dk1"/>
                </a:solidFill>
                <a:highlight>
                  <a:schemeClr val="lt1"/>
                </a:highlight>
                <a:latin typeface="Times New Roman"/>
                <a:ea typeface="Times New Roman"/>
                <a:cs typeface="Times New Roman"/>
                <a:sym typeface="Times New Roman"/>
              </a:rPr>
              <a:t> HAESL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và</a:t>
            </a:r>
            <a:r>
              <a:rPr lang="en-US" sz="1500" b="0" i="0" u="none" strike="noStrike" cap="none" dirty="0">
                <a:solidFill>
                  <a:schemeClr val="dk1"/>
                </a:solidFill>
                <a:highlight>
                  <a:schemeClr val="lt1"/>
                </a:highlight>
                <a:latin typeface="Times New Roman"/>
                <a:ea typeface="Times New Roman"/>
                <a:cs typeface="Times New Roman"/>
                <a:sym typeface="Times New Roman"/>
              </a:rPr>
              <a:t> 0</a:t>
            </a:r>
            <a:r>
              <a:rPr lang="en-US" sz="1500" dirty="0">
                <a:solidFill>
                  <a:schemeClr val="dk1"/>
                </a:solidFill>
                <a:highlight>
                  <a:schemeClr val="lt1"/>
                </a:highlight>
                <a:latin typeface="Times New Roman"/>
                <a:ea typeface="Times New Roman"/>
                <a:cs typeface="Times New Roman"/>
                <a:sym typeface="Times New Roman"/>
              </a:rPr>
              <a:t>1</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tại</a:t>
            </a:r>
            <a:r>
              <a:rPr lang="en-US" sz="1500" b="0" i="0" u="none" strike="noStrike" cap="none" dirty="0">
                <a:solidFill>
                  <a:schemeClr val="dk1"/>
                </a:solidFill>
                <a:highlight>
                  <a:schemeClr val="lt1"/>
                </a:highlight>
                <a:latin typeface="Times New Roman"/>
                <a:ea typeface="Times New Roman"/>
                <a:cs typeface="Times New Roman"/>
                <a:sym typeface="Times New Roman"/>
              </a:rPr>
              <a:t> SEASL).</a:t>
            </a: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err="1">
                <a:solidFill>
                  <a:schemeClr val="dk1"/>
                </a:solidFill>
                <a:highlight>
                  <a:schemeClr val="lt1"/>
                </a:highlight>
                <a:latin typeface="Times New Roman"/>
                <a:ea typeface="Times New Roman"/>
                <a:cs typeface="Times New Roman"/>
                <a:sym typeface="Times New Roman"/>
              </a:rPr>
              <a:t>Đã</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thu</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xếp</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chuyển</a:t>
            </a:r>
            <a:r>
              <a:rPr lang="en-US" sz="1500" b="0" i="0" u="none" strike="noStrike" cap="none" dirty="0">
                <a:solidFill>
                  <a:schemeClr val="dk1"/>
                </a:solidFill>
                <a:highlight>
                  <a:schemeClr val="lt1"/>
                </a:highlight>
                <a:latin typeface="Times New Roman"/>
                <a:ea typeface="Times New Roman"/>
                <a:cs typeface="Times New Roman"/>
                <a:sym typeface="Times New Roman"/>
              </a:rPr>
              <a:t> 01 core engine stand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từ</a:t>
            </a:r>
            <a:r>
              <a:rPr lang="en-US" sz="1500" b="0" i="0" u="none" strike="noStrike" cap="none" dirty="0">
                <a:solidFill>
                  <a:schemeClr val="dk1"/>
                </a:solidFill>
                <a:highlight>
                  <a:schemeClr val="lt1"/>
                </a:highlight>
                <a:latin typeface="Times New Roman"/>
                <a:ea typeface="Times New Roman"/>
                <a:cs typeface="Times New Roman"/>
                <a:sym typeface="Times New Roman"/>
              </a:rPr>
              <a:t> N3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về</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để</a:t>
            </a:r>
            <a:r>
              <a:rPr lang="en-US" sz="1500" b="0" i="0" u="none" strike="noStrike" cap="none" dirty="0">
                <a:solidFill>
                  <a:schemeClr val="dk1"/>
                </a:solidFill>
                <a:highlight>
                  <a:schemeClr val="lt1"/>
                </a:highlight>
                <a:latin typeface="Times New Roman"/>
                <a:ea typeface="Times New Roman"/>
                <a:cs typeface="Times New Roman"/>
                <a:sym typeface="Times New Roman"/>
              </a:rPr>
              <a:t> swap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vào</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tháo</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tiếp</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gửi</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đi</a:t>
            </a:r>
            <a:r>
              <a:rPr lang="en-US" sz="1500" b="0" i="0" u="none" strike="noStrike" cap="none" dirty="0">
                <a:solidFill>
                  <a:schemeClr val="dk1"/>
                </a:solidFill>
                <a:highlight>
                  <a:schemeClr val="lt1"/>
                </a:highlight>
                <a:latin typeface="Times New Roman"/>
                <a:ea typeface="Times New Roman"/>
                <a:cs typeface="Times New Roman"/>
                <a:sym typeface="Times New Roman"/>
              </a:rPr>
              <a:t> shop.</a:t>
            </a: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1" i="0" u="none" strike="noStrike" cap="none" dirty="0">
                <a:solidFill>
                  <a:srgbClr val="FF0000"/>
                </a:solidFill>
                <a:highlight>
                  <a:schemeClr val="lt1"/>
                </a:highlight>
                <a:latin typeface="Times New Roman"/>
                <a:ea typeface="Times New Roman"/>
                <a:cs typeface="Times New Roman"/>
                <a:sym typeface="Times New Roman"/>
              </a:rPr>
              <a:t>- Đội bay B787:</a:t>
            </a:r>
            <a:endParaRPr sz="1500" b="1" i="0" u="none" strike="noStrike" cap="none" dirty="0">
              <a:solidFill>
                <a:srgbClr val="FF0000"/>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lượng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dự</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phòng</a:t>
            </a:r>
            <a:r>
              <a:rPr lang="en-US" sz="1500" b="0" i="0" u="none" strike="noStrike" cap="none" dirty="0">
                <a:solidFill>
                  <a:schemeClr val="dk1"/>
                </a:solidFill>
                <a:highlight>
                  <a:schemeClr val="lt1"/>
                </a:highlight>
                <a:latin typeface="Times New Roman"/>
                <a:ea typeface="Times New Roman"/>
                <a:cs typeface="Times New Roman"/>
                <a:sym typeface="Times New Roman"/>
              </a:rPr>
              <a:t>: 07ea (2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sở</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hữu</a:t>
            </a:r>
            <a:r>
              <a:rPr lang="en-US" sz="1500" b="0" i="0" u="none" strike="noStrike" cap="none" dirty="0">
                <a:solidFill>
                  <a:schemeClr val="dk1"/>
                </a:solidFill>
                <a:highlight>
                  <a:schemeClr val="lt1"/>
                </a:highlight>
                <a:latin typeface="Times New Roman"/>
                <a:ea typeface="Times New Roman"/>
                <a:cs typeface="Times New Roman"/>
                <a:sym typeface="Times New Roman"/>
              </a:rPr>
              <a:t>, 2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dài</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hạn</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và</a:t>
            </a:r>
            <a:r>
              <a:rPr lang="en-US" sz="1500" b="0" i="0" u="none" strike="noStrike" cap="none" dirty="0">
                <a:solidFill>
                  <a:schemeClr val="dk1"/>
                </a:solidFill>
                <a:highlight>
                  <a:schemeClr val="lt1"/>
                </a:highlight>
                <a:latin typeface="Times New Roman"/>
                <a:ea typeface="Times New Roman"/>
                <a:cs typeface="Times New Roman"/>
                <a:sym typeface="Times New Roman"/>
              </a:rPr>
              <a:t> 3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ngắn</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hạn</a:t>
            </a:r>
            <a:r>
              <a:rPr lang="en-US" sz="1500" b="0" i="0" u="none" strike="noStrike" cap="none" dirty="0">
                <a:solidFill>
                  <a:schemeClr val="dk1"/>
                </a:solidFill>
                <a:highlight>
                  <a:schemeClr val="lt1"/>
                </a:highlight>
                <a:latin typeface="Times New Roman"/>
                <a:ea typeface="Times New Roman"/>
                <a:cs typeface="Times New Roman"/>
                <a:sym typeface="Times New Roman"/>
              </a:rPr>
              <a:t> )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đã</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ký</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thêm</a:t>
            </a:r>
            <a:r>
              <a:rPr lang="en-US" sz="1500" b="0" i="0" u="none" strike="noStrike" cap="none" dirty="0">
                <a:solidFill>
                  <a:schemeClr val="dk1"/>
                </a:solidFill>
                <a:highlight>
                  <a:schemeClr val="lt1"/>
                </a:highlight>
                <a:latin typeface="Times New Roman"/>
                <a:ea typeface="Times New Roman"/>
                <a:cs typeface="Times New Roman"/>
                <a:sym typeface="Times New Roman"/>
              </a:rPr>
              <a:t> 02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hđ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thuê</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đc</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với</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Aercap</a:t>
            </a:r>
            <a:r>
              <a:rPr lang="en-US" sz="1500" b="0" i="0" u="none" strike="noStrike" cap="none" dirty="0">
                <a:solidFill>
                  <a:schemeClr val="dk1"/>
                </a:solidFill>
                <a:highlight>
                  <a:schemeClr val="lt1"/>
                </a:highlight>
                <a:latin typeface="Times New Roman"/>
                <a:ea typeface="Times New Roman"/>
                <a:cs typeface="Times New Roman"/>
                <a:sym typeface="Times New Roman"/>
              </a:rPr>
              <a:t> (01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đã</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giao</a:t>
            </a:r>
            <a:r>
              <a:rPr lang="en-US" sz="1500" b="0" i="0" u="none" strike="noStrike" cap="none" dirty="0">
                <a:solidFill>
                  <a:schemeClr val="dk1"/>
                </a:solidFill>
                <a:highlight>
                  <a:schemeClr val="lt1"/>
                </a:highlight>
                <a:latin typeface="Times New Roman"/>
                <a:ea typeface="Times New Roman"/>
                <a:cs typeface="Times New Roman"/>
                <a:sym typeface="Times New Roman"/>
              </a:rPr>
              <a:t> 22/09/2024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đang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lắp</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trên</a:t>
            </a:r>
            <a:r>
              <a:rPr lang="en-US" sz="1500" b="0" i="0" u="none" strike="noStrike" cap="none" dirty="0">
                <a:solidFill>
                  <a:schemeClr val="dk1"/>
                </a:solidFill>
                <a:highlight>
                  <a:schemeClr val="lt1"/>
                </a:highlight>
                <a:latin typeface="Times New Roman"/>
                <a:ea typeface="Times New Roman"/>
                <a:cs typeface="Times New Roman"/>
                <a:sym typeface="Times New Roman"/>
              </a:rPr>
              <a:t> A874)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và</a:t>
            </a:r>
            <a:r>
              <a:rPr lang="en-US" sz="1500" b="0" i="0" u="none" strike="noStrike" cap="none" dirty="0">
                <a:solidFill>
                  <a:schemeClr val="dk1"/>
                </a:solidFill>
                <a:highlight>
                  <a:schemeClr val="lt1"/>
                </a:highlight>
                <a:latin typeface="Times New Roman"/>
                <a:ea typeface="Times New Roman"/>
                <a:cs typeface="Times New Roman"/>
                <a:sym typeface="Times New Roman"/>
              </a:rPr>
              <a:t> 01 </a:t>
            </a:r>
            <a:r>
              <a:rPr lang="en-US" sz="1500" dirty="0" err="1">
                <a:solidFill>
                  <a:schemeClr val="dk1"/>
                </a:solidFill>
                <a:highlight>
                  <a:schemeClr val="lt1"/>
                </a:highlight>
                <a:latin typeface="Times New Roman"/>
                <a:ea typeface="Times New Roman"/>
                <a:cs typeface="Times New Roman"/>
                <a:sym typeface="Times New Roman"/>
              </a:rPr>
              <a:t>đã</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giao</a:t>
            </a:r>
            <a:r>
              <a:rPr lang="en-US" sz="1500" dirty="0">
                <a:solidFill>
                  <a:schemeClr val="dk1"/>
                </a:solidFill>
                <a:highlight>
                  <a:schemeClr val="lt1"/>
                </a:highlight>
                <a:latin typeface="Times New Roman"/>
                <a:ea typeface="Times New Roman"/>
                <a:cs typeface="Times New Roman"/>
                <a:sym typeface="Times New Roman"/>
              </a:rPr>
              <a:t> HAN </a:t>
            </a:r>
            <a:r>
              <a:rPr lang="en-US" sz="1500" dirty="0" err="1">
                <a:solidFill>
                  <a:schemeClr val="dk1"/>
                </a:solidFill>
                <a:highlight>
                  <a:schemeClr val="lt1"/>
                </a:highlight>
                <a:latin typeface="Times New Roman"/>
                <a:ea typeface="Times New Roman"/>
                <a:cs typeface="Times New Roman"/>
                <a:sym typeface="Times New Roman"/>
              </a:rPr>
              <a:t>ngày</a:t>
            </a:r>
            <a:r>
              <a:rPr lang="en-US" sz="1500" dirty="0">
                <a:solidFill>
                  <a:schemeClr val="dk1"/>
                </a:solidFill>
                <a:highlight>
                  <a:schemeClr val="lt1"/>
                </a:highlight>
                <a:latin typeface="Times New Roman"/>
                <a:ea typeface="Times New Roman"/>
                <a:cs typeface="Times New Roman"/>
                <a:sym typeface="Times New Roman"/>
              </a:rPr>
              <a:t> 15/12 </a:t>
            </a:r>
            <a:r>
              <a:rPr lang="en-US" sz="1500" dirty="0" err="1">
                <a:solidFill>
                  <a:schemeClr val="dk1"/>
                </a:solidFill>
                <a:highlight>
                  <a:schemeClr val="lt1"/>
                </a:highlight>
                <a:latin typeface="Times New Roman"/>
                <a:ea typeface="Times New Roman"/>
                <a:cs typeface="Times New Roman"/>
                <a:sym typeface="Times New Roman"/>
              </a:rPr>
              <a:t>đã</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lắp</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cho</a:t>
            </a:r>
            <a:r>
              <a:rPr lang="en-US" sz="1500" dirty="0">
                <a:solidFill>
                  <a:schemeClr val="dk1"/>
                </a:solidFill>
                <a:highlight>
                  <a:schemeClr val="lt1"/>
                </a:highlight>
                <a:latin typeface="Times New Roman"/>
                <a:ea typeface="Times New Roman"/>
                <a:cs typeface="Times New Roman"/>
                <a:sym typeface="Times New Roman"/>
              </a:rPr>
              <a:t> A871</a:t>
            </a:r>
            <a:r>
              <a:rPr lang="en-US" sz="1500" b="0" i="0" u="none" strike="noStrike" cap="none" dirty="0">
                <a:solidFill>
                  <a:schemeClr val="dk1"/>
                </a:solidFill>
                <a:highlight>
                  <a:schemeClr val="lt1"/>
                </a:highlight>
                <a:latin typeface="Times New Roman"/>
                <a:ea typeface="Times New Roman"/>
                <a:cs typeface="Times New Roman"/>
                <a:sym typeface="Times New Roman"/>
              </a:rPr>
              <a:t>.</a:t>
            </a: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lượng</a:t>
            </a:r>
            <a:r>
              <a:rPr lang="en-US" sz="1500" b="0" i="0" u="none" strike="noStrike" cap="none" dirty="0">
                <a:solidFill>
                  <a:schemeClr val="dk1"/>
                </a:solidFill>
                <a:highlight>
                  <a:schemeClr val="lt1"/>
                </a:highlight>
                <a:latin typeface="Times New Roman"/>
                <a:ea typeface="Times New Roman"/>
                <a:cs typeface="Times New Roman"/>
                <a:sym typeface="Times New Roman"/>
              </a:rPr>
              <a:t> trong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kho</a:t>
            </a:r>
            <a:r>
              <a:rPr lang="en-US" sz="1500" b="0" i="0" u="none" strike="noStrike" cap="none" dirty="0">
                <a:solidFill>
                  <a:schemeClr val="dk1"/>
                </a:solidFill>
                <a:highlight>
                  <a:schemeClr val="lt1"/>
                </a:highlight>
                <a:latin typeface="Times New Roman"/>
                <a:ea typeface="Times New Roman"/>
                <a:cs typeface="Times New Roman"/>
                <a:sym typeface="Times New Roman"/>
              </a:rPr>
              <a:t>: NIL</a:t>
            </a:r>
            <a:endParaRPr sz="1500" b="1"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lượng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đang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tại</a:t>
            </a:r>
            <a:r>
              <a:rPr lang="en-US" sz="1500" b="0" i="0" u="none" strike="noStrike" cap="none" dirty="0">
                <a:solidFill>
                  <a:schemeClr val="dk1"/>
                </a:solidFill>
                <a:highlight>
                  <a:schemeClr val="lt1"/>
                </a:highlight>
                <a:latin typeface="Times New Roman"/>
                <a:ea typeface="Times New Roman"/>
                <a:cs typeface="Times New Roman"/>
                <a:sym typeface="Times New Roman"/>
              </a:rPr>
              <a:t> shop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sửa</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chữa</a:t>
            </a:r>
            <a:r>
              <a:rPr lang="en-US" sz="1500" b="0" i="0" u="none" strike="noStrike" cap="none" dirty="0">
                <a:solidFill>
                  <a:schemeClr val="dk1"/>
                </a:solidFill>
                <a:highlight>
                  <a:schemeClr val="lt1"/>
                </a:highlight>
                <a:latin typeface="Times New Roman"/>
                <a:ea typeface="Times New Roman"/>
                <a:cs typeface="Times New Roman"/>
                <a:sym typeface="Times New Roman"/>
              </a:rPr>
              <a:t>:</a:t>
            </a: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+05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ở KLM shop : 956556, 956569, 956533, 956599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và</a:t>
            </a:r>
            <a:r>
              <a:rPr lang="en-US" sz="1500" b="0" i="0" u="none" strike="noStrike" cap="none" dirty="0">
                <a:solidFill>
                  <a:schemeClr val="dk1"/>
                </a:solidFill>
                <a:highlight>
                  <a:schemeClr val="lt1"/>
                </a:highlight>
                <a:latin typeface="Times New Roman"/>
                <a:ea typeface="Times New Roman"/>
                <a:cs typeface="Times New Roman"/>
                <a:sym typeface="Times New Roman"/>
              </a:rPr>
              <a:t> 956947.</a:t>
            </a: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+03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ở GE shop :958398 (delay in GEEVES), 95</a:t>
            </a:r>
            <a:r>
              <a:rPr lang="en-US" sz="1500" dirty="0">
                <a:solidFill>
                  <a:schemeClr val="dk1"/>
                </a:solidFill>
                <a:highlight>
                  <a:schemeClr val="lt1"/>
                </a:highlight>
                <a:latin typeface="Times New Roman"/>
                <a:ea typeface="Times New Roman"/>
                <a:cs typeface="Times New Roman"/>
                <a:sym typeface="Times New Roman"/>
              </a:rPr>
              <a:t>8</a:t>
            </a:r>
            <a:r>
              <a:rPr lang="en-US" sz="1500" b="0" i="0" u="none" strike="noStrike" cap="none" dirty="0">
                <a:solidFill>
                  <a:schemeClr val="dk1"/>
                </a:solidFill>
                <a:highlight>
                  <a:schemeClr val="lt1"/>
                </a:highlight>
                <a:latin typeface="Times New Roman"/>
                <a:ea typeface="Times New Roman"/>
                <a:cs typeface="Times New Roman"/>
                <a:sym typeface="Times New Roman"/>
              </a:rPr>
              <a:t>541, 958537. (trong </a:t>
            </a:r>
            <a:r>
              <a:rPr lang="en-US" sz="1500" dirty="0" err="1">
                <a:solidFill>
                  <a:schemeClr val="dk1"/>
                </a:solidFill>
                <a:highlight>
                  <a:schemeClr val="lt1"/>
                </a:highlight>
                <a:latin typeface="Times New Roman"/>
                <a:ea typeface="Times New Roman"/>
                <a:cs typeface="Times New Roman"/>
                <a:sym typeface="Times New Roman"/>
              </a:rPr>
              <a:t>đó</a:t>
            </a:r>
            <a:r>
              <a:rPr lang="en-US" sz="1500" dirty="0">
                <a:solidFill>
                  <a:schemeClr val="dk1"/>
                </a:solidFill>
                <a:highlight>
                  <a:schemeClr val="lt1"/>
                </a:highlight>
                <a:latin typeface="Times New Roman"/>
                <a:ea typeface="Times New Roman"/>
                <a:cs typeface="Times New Roman"/>
                <a:sym typeface="Times New Roman"/>
              </a:rPr>
              <a:t> 958541 </a:t>
            </a:r>
            <a:r>
              <a:rPr lang="en-US" sz="1500" dirty="0" err="1">
                <a:solidFill>
                  <a:schemeClr val="dk1"/>
                </a:solidFill>
                <a:highlight>
                  <a:schemeClr val="lt1"/>
                </a:highlight>
                <a:latin typeface="Times New Roman"/>
                <a:ea typeface="Times New Roman"/>
                <a:cs typeface="Times New Roman"/>
                <a:sym typeface="Times New Roman"/>
              </a:rPr>
              <a:t>giao</a:t>
            </a:r>
            <a:r>
              <a:rPr lang="en-US" sz="1500" dirty="0">
                <a:solidFill>
                  <a:schemeClr val="dk1"/>
                </a:solidFill>
                <a:highlight>
                  <a:schemeClr val="lt1"/>
                </a:highlight>
                <a:latin typeface="Times New Roman"/>
                <a:ea typeface="Times New Roman"/>
                <a:cs typeface="Times New Roman"/>
                <a:sym typeface="Times New Roman"/>
              </a:rPr>
              <a:t> Vaeco SGN 13/01)</a:t>
            </a:r>
            <a:endParaRPr sz="1500" b="0" i="0" u="none" strike="noStrike" cap="none" dirty="0">
              <a:solidFill>
                <a:schemeClr val="dk1"/>
              </a:solidFill>
              <a:highlight>
                <a:srgbClr val="FFFF00"/>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dirty="0" err="1">
                <a:highlight>
                  <a:schemeClr val="lt1"/>
                </a:highlight>
                <a:latin typeface="Times New Roman"/>
                <a:ea typeface="Times New Roman"/>
                <a:cs typeface="Times New Roman"/>
                <a:sym typeface="Times New Roman"/>
              </a:rPr>
              <a:t>Thuê</a:t>
            </a:r>
            <a:r>
              <a:rPr lang="en-US" sz="1500" dirty="0">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động</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cơ</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đáp</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ứng</a:t>
            </a:r>
            <a:r>
              <a:rPr lang="en-US" sz="1500" b="0" i="0" u="none" strike="noStrike" cap="none" dirty="0">
                <a:solidFill>
                  <a:srgbClr val="000000"/>
                </a:solidFill>
                <a:highlight>
                  <a:schemeClr val="lt1"/>
                </a:highlight>
                <a:latin typeface="Times New Roman"/>
                <a:ea typeface="Times New Roman"/>
                <a:cs typeface="Times New Roman"/>
                <a:sym typeface="Times New Roman"/>
              </a:rPr>
              <a:t> KH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sửa</a:t>
            </a:r>
            <a:r>
              <a:rPr lang="en-US" sz="1500" b="0" i="0" u="none" strike="noStrike" cap="none" dirty="0">
                <a:solidFill>
                  <a:srgbClr val="000000"/>
                </a:solidFill>
                <a:highlight>
                  <a:schemeClr val="lt1"/>
                </a:highlight>
                <a:latin typeface="Times New Roman"/>
                <a:ea typeface="Times New Roman"/>
                <a:cs typeface="Times New Roman"/>
                <a:sym typeface="Times New Roman"/>
              </a:rPr>
              <a:t> 2024-2025: B787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có</a:t>
            </a:r>
            <a:r>
              <a:rPr lang="en-US" sz="1500" b="0" i="0" u="none" strike="noStrike" cap="none" dirty="0">
                <a:solidFill>
                  <a:srgbClr val="000000"/>
                </a:solidFill>
                <a:highlight>
                  <a:schemeClr val="lt1"/>
                </a:highlight>
                <a:latin typeface="Times New Roman"/>
                <a:ea typeface="Times New Roman"/>
                <a:cs typeface="Times New Roman"/>
                <a:sym typeface="Times New Roman"/>
              </a:rPr>
              <a:t> 04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dự</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phòng</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và</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đang</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thuê</a:t>
            </a:r>
            <a:r>
              <a:rPr lang="en-US" sz="1500" b="0" i="0" u="none" strike="noStrike" cap="none" dirty="0">
                <a:solidFill>
                  <a:srgbClr val="000000"/>
                </a:solidFill>
                <a:highlight>
                  <a:schemeClr val="lt1"/>
                </a:highlight>
                <a:latin typeface="Times New Roman"/>
                <a:ea typeface="Times New Roman"/>
                <a:cs typeface="Times New Roman"/>
                <a:sym typeface="Times New Roman"/>
              </a:rPr>
              <a:t> 05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của</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Aercap</a:t>
            </a:r>
            <a:r>
              <a:rPr lang="en-US" sz="1500" b="0" i="0" u="none" strike="noStrike" cap="none" dirty="0">
                <a:solidFill>
                  <a:srgbClr val="000000"/>
                </a:solidFill>
                <a:highlight>
                  <a:schemeClr val="lt1"/>
                </a:highlight>
                <a:latin typeface="Times New Roman"/>
                <a:ea typeface="Times New Roman"/>
                <a:cs typeface="Times New Roman"/>
                <a:sym typeface="Times New Roman"/>
              </a:rPr>
              <a:t> (956933; 958266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và</a:t>
            </a:r>
            <a:r>
              <a:rPr lang="en-US" sz="1500" b="0" i="0" u="none" strike="noStrike" cap="none" dirty="0">
                <a:solidFill>
                  <a:srgbClr val="000000"/>
                </a:solidFill>
                <a:highlight>
                  <a:schemeClr val="lt1"/>
                </a:highlight>
                <a:latin typeface="Times New Roman"/>
                <a:ea typeface="Times New Roman"/>
                <a:cs typeface="Times New Roman"/>
                <a:sym typeface="Times New Roman"/>
              </a:rPr>
              <a:t> 958934 958966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và</a:t>
            </a:r>
            <a:r>
              <a:rPr lang="en-US" sz="1500" b="0" i="0" u="none" strike="noStrike" cap="none" dirty="0">
                <a:solidFill>
                  <a:srgbClr val="000000"/>
                </a:solidFill>
                <a:highlight>
                  <a:schemeClr val="lt1"/>
                </a:highlight>
                <a:latin typeface="Times New Roman"/>
                <a:ea typeface="Times New Roman"/>
                <a:cs typeface="Times New Roman"/>
                <a:sym typeface="Times New Roman"/>
              </a:rPr>
              <a:t> 956626)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dự</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kiến</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cần</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thuê</a:t>
            </a:r>
            <a:r>
              <a:rPr lang="en-US" sz="1500" b="0" i="0" u="none" strike="noStrike" cap="none" dirty="0">
                <a:solidFill>
                  <a:srgbClr val="000000"/>
                </a:solidFill>
                <a:highlight>
                  <a:schemeClr val="lt1"/>
                </a:highlight>
                <a:latin typeface="Times New Roman"/>
                <a:ea typeface="Times New Roman"/>
                <a:cs typeface="Times New Roman"/>
                <a:sym typeface="Times New Roman"/>
              </a:rPr>
              <a:t> 01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động</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cơ</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nữa</a:t>
            </a:r>
            <a:r>
              <a:rPr lang="en-US" sz="1500" b="0" i="0" u="none" strike="noStrike" cap="none" dirty="0">
                <a:solidFill>
                  <a:srgbClr val="000000"/>
                </a:solidFill>
                <a:highlight>
                  <a:schemeClr val="lt1"/>
                </a:highlight>
                <a:latin typeface="Times New Roman"/>
                <a:ea typeface="Times New Roman"/>
                <a:cs typeface="Times New Roman"/>
                <a:sym typeface="Times New Roman"/>
              </a:rPr>
              <a:t> Q1 trong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năm</a:t>
            </a:r>
            <a:r>
              <a:rPr lang="en-US" sz="1500" b="0" i="0" u="none" strike="noStrike" cap="none" dirty="0">
                <a:solidFill>
                  <a:srgbClr val="000000"/>
                </a:solidFill>
                <a:highlight>
                  <a:schemeClr val="lt1"/>
                </a:highlight>
                <a:latin typeface="Times New Roman"/>
                <a:ea typeface="Times New Roman"/>
                <a:cs typeface="Times New Roman"/>
                <a:sym typeface="Times New Roman"/>
              </a:rPr>
              <a:t> 2025.  </a:t>
            </a:r>
            <a:endParaRPr sz="1500" b="0" i="0" u="none" strike="noStrike" cap="none" dirty="0">
              <a:solidFill>
                <a:schemeClr val="dk1"/>
              </a:solidFill>
              <a:latin typeface="Times New Roman"/>
              <a:ea typeface="Times New Roman"/>
              <a:cs typeface="Times New Roman"/>
              <a:sym typeface="Times New Roman"/>
            </a:endParaRPr>
          </a:p>
        </p:txBody>
      </p:sp>
      <p:pic>
        <p:nvPicPr>
          <p:cNvPr id="5"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Tree>
    <p:extLst>
      <p:ext uri="{BB962C8B-B14F-4D97-AF65-F5344CB8AC3E}">
        <p14:creationId xmlns:p14="http://schemas.microsoft.com/office/powerpoint/2010/main" val="4158693090"/>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g31ccdae391d_0_368"/>
          <p:cNvSpPr txBox="1">
            <a:spLocks noGrp="1"/>
          </p:cNvSpPr>
          <p:nvPr>
            <p:ph type="title"/>
          </p:nvPr>
        </p:nvSpPr>
        <p:spPr>
          <a:xfrm>
            <a:off x="913579" y="-5641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93" name="Google Shape;293;g31ccdae391d_0_36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65</a:t>
            </a:fld>
            <a:endParaRPr/>
          </a:p>
        </p:txBody>
      </p:sp>
      <p:sp>
        <p:nvSpPr>
          <p:cNvPr id="294" name="Google Shape;294;g31ccdae391d_0_368"/>
          <p:cNvSpPr/>
          <p:nvPr/>
        </p:nvSpPr>
        <p:spPr>
          <a:xfrm>
            <a:off x="760584" y="268052"/>
            <a:ext cx="10972200" cy="66267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500"/>
              <a:buFont typeface="Arial"/>
              <a:buNone/>
            </a:pP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1" i="0" u="none" strike="noStrike" cap="none" dirty="0">
                <a:solidFill>
                  <a:srgbClr val="FF0000"/>
                </a:solidFill>
                <a:latin typeface="Times New Roman"/>
                <a:ea typeface="Times New Roman"/>
                <a:cs typeface="Times New Roman"/>
                <a:sym typeface="Times New Roman"/>
              </a:rPr>
              <a:t>- </a:t>
            </a:r>
            <a:r>
              <a:rPr lang="en-US" sz="1600" b="1" i="0" u="none" strike="noStrike" cap="none" dirty="0" err="1">
                <a:solidFill>
                  <a:srgbClr val="FF0000"/>
                </a:solidFill>
                <a:latin typeface="Times New Roman"/>
                <a:ea typeface="Times New Roman"/>
                <a:cs typeface="Times New Roman"/>
                <a:sym typeface="Times New Roman"/>
              </a:rPr>
              <a:t>Đội</a:t>
            </a:r>
            <a:r>
              <a:rPr lang="en-US" sz="1600" b="1" i="0" u="none" strike="noStrike" cap="none" dirty="0">
                <a:solidFill>
                  <a:srgbClr val="FF0000"/>
                </a:solidFill>
                <a:latin typeface="Times New Roman"/>
                <a:ea typeface="Times New Roman"/>
                <a:cs typeface="Times New Roman"/>
                <a:sym typeface="Times New Roman"/>
              </a:rPr>
              <a:t> bay A321 </a:t>
            </a:r>
            <a:r>
              <a:rPr lang="en-US" sz="1600" b="1" i="0" u="none" strike="noStrike" cap="none" dirty="0" err="1">
                <a:solidFill>
                  <a:srgbClr val="FF0000"/>
                </a:solidFill>
                <a:latin typeface="Times New Roman"/>
                <a:ea typeface="Times New Roman"/>
                <a:cs typeface="Times New Roman"/>
                <a:sym typeface="Times New Roman"/>
              </a:rPr>
              <a:t>Ceo</a:t>
            </a:r>
            <a:r>
              <a:rPr lang="en-US" sz="1600" b="1" i="0" u="none" strike="noStrike" cap="none" dirty="0">
                <a:solidFill>
                  <a:srgbClr val="FF0000"/>
                </a:solidFill>
                <a:latin typeface="Times New Roman"/>
                <a:ea typeface="Times New Roman"/>
                <a:cs typeface="Times New Roman"/>
                <a:sym typeface="Times New Roman"/>
              </a:rPr>
              <a:t>:</a:t>
            </a:r>
            <a:endParaRPr sz="1600" b="1" i="0" u="none" strike="noStrike" cap="none" dirty="0">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Số</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lượng</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dự</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phòng</a:t>
            </a:r>
            <a:r>
              <a:rPr lang="en-US" sz="1600" b="0" i="0" u="none" strike="noStrike" cap="none" dirty="0">
                <a:solidFill>
                  <a:schemeClr val="dk1"/>
                </a:solidFill>
                <a:latin typeface="Times New Roman"/>
                <a:ea typeface="Times New Roman"/>
                <a:cs typeface="Times New Roman"/>
                <a:sym typeface="Times New Roman"/>
              </a:rPr>
              <a:t>: 1</a:t>
            </a:r>
            <a:r>
              <a:rPr lang="en-US" sz="1600" dirty="0">
                <a:solidFill>
                  <a:schemeClr val="dk1"/>
                </a:solidFill>
                <a:latin typeface="Times New Roman"/>
                <a:ea typeface="Times New Roman"/>
                <a:cs typeface="Times New Roman"/>
                <a:sym typeface="Times New Roman"/>
              </a:rPr>
              <a:t>3</a:t>
            </a:r>
            <a:r>
              <a:rPr lang="en-US" sz="1600" b="0" i="0" u="none" strike="noStrike" cap="none" dirty="0">
                <a:solidFill>
                  <a:schemeClr val="dk1"/>
                </a:solidFill>
                <a:latin typeface="Times New Roman"/>
                <a:ea typeface="Times New Roman"/>
                <a:cs typeface="Times New Roman"/>
                <a:sym typeface="Times New Roman"/>
              </a:rPr>
              <a:t> (3 </a:t>
            </a:r>
            <a:r>
              <a:rPr lang="en-US" sz="1600" b="0" i="0" u="none" strike="noStrike" cap="none" dirty="0" err="1">
                <a:solidFill>
                  <a:schemeClr val="dk1"/>
                </a:solidFill>
                <a:latin typeface="Times New Roman"/>
                <a:ea typeface="Times New Roman"/>
                <a:cs typeface="Times New Roman"/>
                <a:sym typeface="Times New Roman"/>
              </a:rPr>
              <a:t>sở</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hữu</a:t>
            </a:r>
            <a:r>
              <a:rPr lang="en-US" sz="1600" b="0" i="0" u="none" strike="noStrike" cap="none" dirty="0">
                <a:solidFill>
                  <a:schemeClr val="dk1"/>
                </a:solidFill>
                <a:latin typeface="Times New Roman"/>
                <a:ea typeface="Times New Roman"/>
                <a:cs typeface="Times New Roman"/>
                <a:sym typeface="Times New Roman"/>
              </a:rPr>
              <a:t>, </a:t>
            </a:r>
            <a:r>
              <a:rPr lang="en-US" sz="1600" dirty="0">
                <a:solidFill>
                  <a:schemeClr val="dk1"/>
                </a:solidFill>
                <a:latin typeface="Times New Roman"/>
                <a:ea typeface="Times New Roman"/>
                <a:cs typeface="Times New Roman"/>
                <a:sym typeface="Times New Roman"/>
              </a:rPr>
              <a:t>10</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thuê</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ngắn</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hạn</a:t>
            </a:r>
            <a:r>
              <a:rPr lang="en-US" sz="1600" b="0" i="0" u="none" strike="noStrike" cap="none" dirty="0">
                <a:solidFill>
                  <a:schemeClr val="dk1"/>
                </a:solidFill>
                <a:latin typeface="Times New Roman"/>
                <a:ea typeface="Times New Roman"/>
                <a:cs typeface="Times New Roman"/>
                <a:sym typeface="Times New Roman"/>
              </a:rPr>
              <a:t>)</a:t>
            </a: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Số</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lượng</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trong</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kho</a:t>
            </a:r>
            <a:r>
              <a:rPr lang="en-US" sz="1600" b="0" i="0" u="none" strike="noStrike" cap="none" dirty="0">
                <a:solidFill>
                  <a:schemeClr val="dk1"/>
                </a:solidFill>
                <a:latin typeface="Times New Roman"/>
                <a:ea typeface="Times New Roman"/>
                <a:cs typeface="Times New Roman"/>
                <a:sym typeface="Times New Roman"/>
              </a:rPr>
              <a:t>: </a:t>
            </a:r>
            <a:r>
              <a:rPr lang="en-US" sz="1600" dirty="0">
                <a:solidFill>
                  <a:schemeClr val="dk1"/>
                </a:solidFill>
                <a:latin typeface="Times New Roman"/>
                <a:ea typeface="Times New Roman"/>
                <a:cs typeface="Times New Roman"/>
                <a:sym typeface="Times New Roman"/>
              </a:rPr>
              <a:t>V16464 - </a:t>
            </a:r>
            <a:r>
              <a:rPr lang="en-US" sz="1600" dirty="0" err="1">
                <a:solidFill>
                  <a:schemeClr val="dk1"/>
                </a:solidFill>
                <a:latin typeface="Times New Roman"/>
                <a:ea typeface="Times New Roman"/>
                <a:cs typeface="Times New Roman"/>
                <a:sym typeface="Times New Roman"/>
              </a:rPr>
              <a:t>đang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thay</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cho</a:t>
            </a:r>
            <a:r>
              <a:rPr lang="en-US" sz="1600" dirty="0">
                <a:solidFill>
                  <a:schemeClr val="dk1"/>
                </a:solidFill>
                <a:latin typeface="Times New Roman"/>
                <a:ea typeface="Times New Roman"/>
                <a:cs typeface="Times New Roman"/>
                <a:sym typeface="Times New Roman"/>
              </a:rPr>
              <a:t> A612, </a:t>
            </a:r>
            <a:r>
              <a:rPr lang="en-US" sz="1600" dirty="0" err="1">
                <a:solidFill>
                  <a:schemeClr val="dk1"/>
                </a:solidFill>
                <a:latin typeface="Times New Roman"/>
                <a:ea typeface="Times New Roman"/>
                <a:cs typeface="Times New Roman"/>
                <a:sym typeface="Times New Roman"/>
              </a:rPr>
              <a:t>tháo</a:t>
            </a:r>
            <a:r>
              <a:rPr lang="en-US" sz="1600" dirty="0">
                <a:solidFill>
                  <a:schemeClr val="dk1"/>
                </a:solidFill>
                <a:latin typeface="Times New Roman"/>
                <a:ea typeface="Times New Roman"/>
                <a:cs typeface="Times New Roman"/>
                <a:sym typeface="Times New Roman"/>
              </a:rPr>
              <a:t> V15858 LLP</a:t>
            </a: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Số</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lượng</a:t>
            </a:r>
            <a:r>
              <a:rPr lang="en-US" sz="1600" b="0" i="0" u="none" strike="noStrike" cap="none" dirty="0">
                <a:solidFill>
                  <a:schemeClr val="dk1"/>
                </a:solidFill>
                <a:latin typeface="Times New Roman"/>
                <a:ea typeface="Times New Roman"/>
                <a:cs typeface="Times New Roman"/>
                <a:sym typeface="Times New Roman"/>
              </a:rPr>
              <a:t> US </a:t>
            </a:r>
            <a:r>
              <a:rPr lang="en-US" sz="1600" b="0" i="0" u="none" strike="noStrike" cap="none" dirty="0" err="1">
                <a:solidFill>
                  <a:schemeClr val="dk1"/>
                </a:solidFill>
                <a:latin typeface="Times New Roman"/>
                <a:ea typeface="Times New Roman"/>
                <a:cs typeface="Times New Roman"/>
                <a:sym typeface="Times New Roman"/>
              </a:rPr>
              <a:t>chờ</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chuyển</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đi</a:t>
            </a:r>
            <a:r>
              <a:rPr lang="en-US" sz="1600" b="0" i="0" u="none" strike="noStrike" cap="none" dirty="0">
                <a:solidFill>
                  <a:schemeClr val="dk1"/>
                </a:solidFill>
                <a:latin typeface="Times New Roman"/>
                <a:ea typeface="Times New Roman"/>
                <a:cs typeface="Times New Roman"/>
                <a:sym typeface="Times New Roman"/>
              </a:rPr>
              <a:t>: 0</a:t>
            </a:r>
            <a:r>
              <a:rPr lang="en-US" sz="1600" dirty="0">
                <a:solidFill>
                  <a:schemeClr val="dk1"/>
                </a:solidFill>
                <a:latin typeface="Times New Roman"/>
                <a:ea typeface="Times New Roman"/>
                <a:cs typeface="Times New Roman"/>
                <a:sym typeface="Times New Roman"/>
              </a:rPr>
              <a:t>2</a:t>
            </a:r>
            <a:r>
              <a:rPr lang="en-US" sz="1600" b="0" i="0" u="none" strike="noStrike" cap="none" dirty="0">
                <a:solidFill>
                  <a:schemeClr val="dk1"/>
                </a:solidFill>
                <a:latin typeface="Times New Roman"/>
                <a:ea typeface="Times New Roman"/>
                <a:cs typeface="Times New Roman"/>
                <a:sym typeface="Times New Roman"/>
              </a:rPr>
              <a:t>ea </a:t>
            </a:r>
            <a:r>
              <a:rPr lang="en-US" sz="1600" b="0" i="0" u="none" strike="noStrike" cap="none" dirty="0" err="1">
                <a:solidFill>
                  <a:schemeClr val="dk1"/>
                </a:solidFill>
                <a:latin typeface="Times New Roman"/>
                <a:ea typeface="Times New Roman"/>
                <a:cs typeface="Times New Roman"/>
                <a:sym typeface="Times New Roman"/>
              </a:rPr>
              <a:t>g</a:t>
            </a:r>
            <a:r>
              <a:rPr lang="en-US" sz="1600" dirty="0" err="1">
                <a:solidFill>
                  <a:schemeClr val="dk1"/>
                </a:solidFill>
                <a:latin typeface="Times New Roman"/>
                <a:ea typeface="Times New Roman"/>
                <a:cs typeface="Times New Roman"/>
                <a:sym typeface="Times New Roman"/>
              </a:rPr>
              <a:t>ồm</a:t>
            </a:r>
            <a:r>
              <a:rPr lang="en-US" sz="1600" dirty="0">
                <a:solidFill>
                  <a:schemeClr val="dk1"/>
                </a:solidFill>
                <a:latin typeface="Times New Roman"/>
                <a:ea typeface="Times New Roman"/>
                <a:cs typeface="Times New Roman"/>
                <a:sym typeface="Times New Roman"/>
              </a:rPr>
              <a:t> V16694, V16517 -  HAN</a:t>
            </a: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Số</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lượng</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động</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cơ</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đang</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sửa</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tại</a:t>
            </a:r>
            <a:r>
              <a:rPr lang="en-US" sz="1600" b="0" i="0" u="none" strike="noStrike" cap="none" dirty="0">
                <a:solidFill>
                  <a:schemeClr val="dk1"/>
                </a:solidFill>
                <a:latin typeface="Times New Roman"/>
                <a:ea typeface="Times New Roman"/>
                <a:cs typeface="Times New Roman"/>
                <a:sym typeface="Times New Roman"/>
              </a:rPr>
              <a:t> shop: 0</a:t>
            </a:r>
            <a:r>
              <a:rPr lang="en-US" sz="1600" dirty="0">
                <a:solidFill>
                  <a:schemeClr val="dk1"/>
                </a:solidFill>
                <a:latin typeface="Times New Roman"/>
                <a:ea typeface="Times New Roman"/>
                <a:cs typeface="Times New Roman"/>
                <a:sym typeface="Times New Roman"/>
              </a:rPr>
              <a:t>8</a:t>
            </a:r>
            <a:r>
              <a:rPr lang="en-US" sz="1600" b="0" i="0" u="none" strike="noStrike" cap="none" dirty="0">
                <a:solidFill>
                  <a:schemeClr val="dk1"/>
                </a:solidFill>
                <a:latin typeface="Times New Roman"/>
                <a:ea typeface="Times New Roman"/>
                <a:cs typeface="Times New Roman"/>
                <a:sym typeface="Times New Roman"/>
              </a:rPr>
              <a:t>ea</a:t>
            </a: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Động</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cơ</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thuê</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đang</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hoàn</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tất</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thủ</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tục</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hoàn</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trả</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đối</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tác</a:t>
            </a:r>
            <a:r>
              <a:rPr lang="en-US" sz="1600" b="0" i="0" u="none" strike="noStrike" cap="none" dirty="0">
                <a:solidFill>
                  <a:schemeClr val="dk1"/>
                </a:solidFill>
                <a:latin typeface="Times New Roman"/>
                <a:ea typeface="Times New Roman"/>
                <a:cs typeface="Times New Roman"/>
                <a:sym typeface="Times New Roman"/>
              </a:rPr>
              <a:t>: V12175 (WILLIS) - </a:t>
            </a:r>
            <a:r>
              <a:rPr lang="en-US" sz="1600" b="0" i="0" u="none" strike="noStrike" cap="none" dirty="0" err="1">
                <a:solidFill>
                  <a:schemeClr val="dk1"/>
                </a:solidFill>
                <a:latin typeface="Times New Roman"/>
                <a:ea typeface="Times New Roman"/>
                <a:cs typeface="Times New Roman"/>
                <a:sym typeface="Times New Roman"/>
              </a:rPr>
              <a:t>đã</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giao</a:t>
            </a:r>
            <a:r>
              <a:rPr lang="en-US" sz="1600" b="0" i="0" u="none" strike="noStrike" cap="none" dirty="0">
                <a:solidFill>
                  <a:schemeClr val="dk1"/>
                </a:solidFill>
                <a:latin typeface="Times New Roman"/>
                <a:ea typeface="Times New Roman"/>
                <a:cs typeface="Times New Roman"/>
                <a:sym typeface="Times New Roman"/>
              </a:rPr>
              <a:t> WILLIS 18/11/2024, </a:t>
            </a:r>
            <a:r>
              <a:rPr lang="en-US" sz="1600" b="0" i="0" u="none" strike="noStrike" cap="none" dirty="0" err="1">
                <a:solidFill>
                  <a:schemeClr val="dk1"/>
                </a:solidFill>
                <a:latin typeface="Times New Roman"/>
                <a:ea typeface="Times New Roman"/>
                <a:cs typeface="Times New Roman"/>
                <a:sym typeface="Times New Roman"/>
              </a:rPr>
              <a:t>đang</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hoàn</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thiện</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thủ</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tục</a:t>
            </a: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Động</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cơ</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thuê</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đang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trả</a:t>
            </a:r>
            <a:r>
              <a:rPr lang="en-US" sz="1600" b="0" i="0" u="none" strike="noStrike" cap="none" dirty="0">
                <a:solidFill>
                  <a:schemeClr val="dk1"/>
                </a:solidFill>
                <a:latin typeface="Times New Roman"/>
                <a:ea typeface="Times New Roman"/>
                <a:cs typeface="Times New Roman"/>
                <a:sym typeface="Times New Roman"/>
              </a:rPr>
              <a:t>: V18951 (</a:t>
            </a:r>
            <a:r>
              <a:rPr lang="en-US" sz="1600" dirty="0" err="1">
                <a:solidFill>
                  <a:schemeClr val="dk1"/>
                </a:solidFill>
                <a:latin typeface="Times New Roman"/>
                <a:ea typeface="Times New Roman"/>
                <a:cs typeface="Times New Roman"/>
                <a:sym typeface="Times New Roman"/>
              </a:rPr>
              <a:t>Đã</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giao</a:t>
            </a:r>
            <a:r>
              <a:rPr lang="en-US" sz="1600" dirty="0">
                <a:solidFill>
                  <a:schemeClr val="dk1"/>
                </a:solidFill>
                <a:latin typeface="Times New Roman"/>
                <a:ea typeface="Times New Roman"/>
                <a:cs typeface="Times New Roman"/>
                <a:sym typeface="Times New Roman"/>
              </a:rPr>
              <a:t> WILLIS 6/1/2025 - </a:t>
            </a:r>
            <a:r>
              <a:rPr lang="en-US" sz="1600" dirty="0" err="1">
                <a:solidFill>
                  <a:schemeClr val="dk1"/>
                </a:solidFill>
                <a:latin typeface="Times New Roman"/>
                <a:ea typeface="Times New Roman"/>
                <a:cs typeface="Times New Roman"/>
                <a:sym typeface="Times New Roman"/>
              </a:rPr>
              <a:t>đối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tác</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đang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kiểm</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tra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động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cơ</a:t>
            </a:r>
            <a:r>
              <a:rPr lang="en-US" sz="1600" b="0" i="0" u="none" strike="noStrike" cap="none" dirty="0">
                <a:solidFill>
                  <a:schemeClr val="dk1"/>
                </a:solidFill>
                <a:latin typeface="Times New Roman"/>
                <a:ea typeface="Times New Roman"/>
                <a:cs typeface="Times New Roman"/>
                <a:sym typeface="Times New Roman"/>
              </a:rPr>
              <a:t>)</a:t>
            </a: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1" i="0" u="none" strike="noStrike" cap="none" dirty="0">
                <a:solidFill>
                  <a:srgbClr val="FF0000"/>
                </a:solidFill>
                <a:latin typeface="Times New Roman"/>
                <a:ea typeface="Times New Roman"/>
                <a:cs typeface="Times New Roman"/>
                <a:sym typeface="Times New Roman"/>
              </a:rPr>
              <a:t>-</a:t>
            </a:r>
            <a:r>
              <a:rPr lang="en-US" sz="1600" b="1" i="0" u="none" strike="noStrike" cap="none" dirty="0">
                <a:solidFill>
                  <a:schemeClr val="dk1"/>
                </a:solidFill>
                <a:latin typeface="Times New Roman"/>
                <a:ea typeface="Times New Roman"/>
                <a:cs typeface="Times New Roman"/>
                <a:sym typeface="Times New Roman"/>
              </a:rPr>
              <a:t> </a:t>
            </a:r>
            <a:r>
              <a:rPr lang="en-US" sz="1600" b="1" i="0" u="none" strike="noStrike" cap="none" dirty="0" err="1">
                <a:solidFill>
                  <a:srgbClr val="FF0000"/>
                </a:solidFill>
                <a:latin typeface="Times New Roman"/>
                <a:ea typeface="Times New Roman"/>
                <a:cs typeface="Times New Roman"/>
                <a:sym typeface="Times New Roman"/>
              </a:rPr>
              <a:t>Vướng</a:t>
            </a:r>
            <a:r>
              <a:rPr lang="en-US" sz="1600" b="1" i="0" u="none" strike="noStrike" cap="none" dirty="0">
                <a:solidFill>
                  <a:srgbClr val="FF0000"/>
                </a:solidFill>
                <a:latin typeface="Times New Roman"/>
                <a:ea typeface="Times New Roman"/>
                <a:cs typeface="Times New Roman"/>
                <a:sym typeface="Times New Roman"/>
              </a:rPr>
              <a:t> </a:t>
            </a:r>
            <a:r>
              <a:rPr lang="en-US" sz="1600" b="1" i="0" u="none" strike="noStrike" cap="none" dirty="0" err="1">
                <a:solidFill>
                  <a:srgbClr val="FF0000"/>
                </a:solidFill>
                <a:latin typeface="Times New Roman"/>
                <a:ea typeface="Times New Roman"/>
                <a:cs typeface="Times New Roman"/>
                <a:sym typeface="Times New Roman"/>
              </a:rPr>
              <a:t>mắc</a:t>
            </a:r>
            <a:r>
              <a:rPr lang="en-US" sz="1600" b="1" i="0" u="none" strike="noStrike" cap="none" dirty="0">
                <a:solidFill>
                  <a:srgbClr val="FF0000"/>
                </a:solidFill>
                <a:latin typeface="Times New Roman"/>
                <a:ea typeface="Times New Roman"/>
                <a:cs typeface="Times New Roman"/>
                <a:sym typeface="Times New Roman"/>
              </a:rPr>
              <a:t>:</a:t>
            </a:r>
            <a:endParaRPr sz="1600" b="1" i="0" u="none" strike="noStrike" cap="none" dirty="0">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Danh</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mục</a:t>
            </a:r>
            <a:r>
              <a:rPr lang="en-US" sz="1600" b="0" i="0" u="none" strike="noStrike" cap="none" dirty="0">
                <a:solidFill>
                  <a:schemeClr val="dk1"/>
                </a:solidFill>
                <a:latin typeface="Times New Roman"/>
                <a:ea typeface="Times New Roman"/>
                <a:cs typeface="Times New Roman"/>
                <a:sym typeface="Times New Roman"/>
              </a:rPr>
              <a:t> missing part list </a:t>
            </a:r>
            <a:r>
              <a:rPr lang="en-US" sz="1600" b="0" i="0" u="none" strike="noStrike" cap="none" dirty="0" err="1">
                <a:solidFill>
                  <a:schemeClr val="dk1"/>
                </a:solidFill>
                <a:latin typeface="Times New Roman"/>
                <a:ea typeface="Times New Roman"/>
                <a:cs typeface="Times New Roman"/>
                <a:sym typeface="Times New Roman"/>
              </a:rPr>
              <a:t>của</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động</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cơ</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sửa</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chữa</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về</a:t>
            </a: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1" i="0" u="none" strike="noStrike" cap="none" dirty="0">
                <a:solidFill>
                  <a:srgbClr val="FF0000"/>
                </a:solidFill>
                <a:latin typeface="Times New Roman"/>
                <a:ea typeface="Times New Roman"/>
                <a:cs typeface="Times New Roman"/>
                <a:sym typeface="Times New Roman"/>
              </a:rPr>
              <a:t>-</a:t>
            </a:r>
            <a:r>
              <a:rPr lang="en-US" sz="1600" b="1" i="0" u="none" strike="noStrike" cap="none" dirty="0">
                <a:solidFill>
                  <a:schemeClr val="dk1"/>
                </a:solidFill>
                <a:latin typeface="Times New Roman"/>
                <a:ea typeface="Times New Roman"/>
                <a:cs typeface="Times New Roman"/>
                <a:sym typeface="Times New Roman"/>
              </a:rPr>
              <a:t> </a:t>
            </a:r>
            <a:r>
              <a:rPr lang="en-US" sz="1600" b="1" i="0" u="none" strike="noStrike" cap="none" dirty="0" err="1">
                <a:solidFill>
                  <a:srgbClr val="FF0000"/>
                </a:solidFill>
                <a:latin typeface="Times New Roman"/>
                <a:ea typeface="Times New Roman"/>
                <a:cs typeface="Times New Roman"/>
                <a:sym typeface="Times New Roman"/>
              </a:rPr>
              <a:t>Giải</a:t>
            </a:r>
            <a:r>
              <a:rPr lang="en-US" sz="1600" b="1" i="0" u="none" strike="noStrike" cap="none" dirty="0">
                <a:solidFill>
                  <a:srgbClr val="FF0000"/>
                </a:solidFill>
                <a:latin typeface="Times New Roman"/>
                <a:ea typeface="Times New Roman"/>
                <a:cs typeface="Times New Roman"/>
                <a:sym typeface="Times New Roman"/>
              </a:rPr>
              <a:t> </a:t>
            </a:r>
            <a:r>
              <a:rPr lang="en-US" sz="1600" b="1" i="0" u="none" strike="noStrike" cap="none" dirty="0" err="1">
                <a:solidFill>
                  <a:srgbClr val="FF0000"/>
                </a:solidFill>
                <a:latin typeface="Times New Roman"/>
                <a:ea typeface="Times New Roman"/>
                <a:cs typeface="Times New Roman"/>
                <a:sym typeface="Times New Roman"/>
              </a:rPr>
              <a:t>pháp</a:t>
            </a:r>
            <a:r>
              <a:rPr lang="en-US" sz="1600" b="1" i="0" u="none" strike="noStrike" cap="none" dirty="0">
                <a:solidFill>
                  <a:srgbClr val="FF0000"/>
                </a:solidFill>
                <a:latin typeface="Times New Roman"/>
                <a:ea typeface="Times New Roman"/>
                <a:cs typeface="Times New Roman"/>
                <a:sym typeface="Times New Roman"/>
              </a:rPr>
              <a:t>:</a:t>
            </a:r>
            <a:endParaRPr sz="1600" b="1" i="0" u="none" strike="noStrike" cap="none" dirty="0">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Thúc</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đẩy</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việc</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sửa</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chữa</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động</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cơ</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tại</a:t>
            </a:r>
            <a:r>
              <a:rPr lang="en-US" sz="1600" b="0" i="0" u="none" strike="noStrike" cap="none" dirty="0">
                <a:solidFill>
                  <a:schemeClr val="dk1"/>
                </a:solidFill>
                <a:latin typeface="Times New Roman"/>
                <a:ea typeface="Times New Roman"/>
                <a:cs typeface="Times New Roman"/>
                <a:sym typeface="Times New Roman"/>
              </a:rPr>
              <a:t> shop</a:t>
            </a: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Làm</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việc</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với</a:t>
            </a:r>
            <a:r>
              <a:rPr lang="en-US" sz="1600" b="0" i="0" u="none" strike="noStrike" cap="none" dirty="0">
                <a:solidFill>
                  <a:schemeClr val="dk1"/>
                </a:solidFill>
                <a:latin typeface="Times New Roman"/>
                <a:ea typeface="Times New Roman"/>
                <a:cs typeface="Times New Roman"/>
                <a:sym typeface="Times New Roman"/>
              </a:rPr>
              <a:t> Ban KT </a:t>
            </a:r>
            <a:r>
              <a:rPr lang="en-US" sz="1600" b="0" i="0" u="none" strike="noStrike" cap="none" dirty="0" err="1">
                <a:solidFill>
                  <a:schemeClr val="dk1"/>
                </a:solidFill>
                <a:latin typeface="Times New Roman"/>
                <a:ea typeface="Times New Roman"/>
                <a:cs typeface="Times New Roman"/>
                <a:sym typeface="Times New Roman"/>
              </a:rPr>
              <a:t>về</a:t>
            </a:r>
            <a:r>
              <a:rPr lang="en-US" sz="1600" b="0" i="0" u="none" strike="noStrike" cap="none" dirty="0">
                <a:solidFill>
                  <a:schemeClr val="dk1"/>
                </a:solidFill>
                <a:latin typeface="Times New Roman"/>
                <a:ea typeface="Times New Roman"/>
                <a:cs typeface="Times New Roman"/>
                <a:sym typeface="Times New Roman"/>
              </a:rPr>
              <a:t> KH </a:t>
            </a:r>
            <a:r>
              <a:rPr lang="en-US" sz="1600" b="0" i="0" u="none" strike="noStrike" cap="none" dirty="0" err="1">
                <a:solidFill>
                  <a:schemeClr val="dk1"/>
                </a:solidFill>
                <a:latin typeface="Times New Roman"/>
                <a:ea typeface="Times New Roman"/>
                <a:cs typeface="Times New Roman"/>
                <a:sym typeface="Times New Roman"/>
              </a:rPr>
              <a:t>động</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cơ</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về</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tháo</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trả</a:t>
            </a:r>
            <a:r>
              <a:rPr lang="en-US" sz="1600" b="0" i="0" u="none" strike="noStrike" cap="none" dirty="0">
                <a:solidFill>
                  <a:schemeClr val="dk1"/>
                </a:solidFill>
                <a:latin typeface="Times New Roman"/>
                <a:ea typeface="Times New Roman"/>
                <a:cs typeface="Times New Roman"/>
                <a:sym typeface="Times New Roman"/>
              </a:rPr>
              <a:t>.</a:t>
            </a: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endParaRPr sz="1600" b="1" i="0" u="none" strike="noStrike" cap="none" dirty="0">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Times New Roman"/>
                <a:ea typeface="Times New Roman"/>
                <a:cs typeface="Times New Roman"/>
                <a:sym typeface="Times New Roman"/>
              </a:rPr>
              <a:t>  </a:t>
            </a: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dirty="0">
              <a:solidFill>
                <a:srgbClr val="000000"/>
              </a:solidFill>
              <a:latin typeface="Times New Roman"/>
              <a:ea typeface="Times New Roman"/>
              <a:cs typeface="Times New Roman"/>
              <a:sym typeface="Times New Roman"/>
            </a:endParaRPr>
          </a:p>
        </p:txBody>
      </p:sp>
      <p:pic>
        <p:nvPicPr>
          <p:cNvPr id="5"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Tree>
    <p:extLst>
      <p:ext uri="{BB962C8B-B14F-4D97-AF65-F5344CB8AC3E}">
        <p14:creationId xmlns:p14="http://schemas.microsoft.com/office/powerpoint/2010/main" val="1536115367"/>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g31ccdae391d_0_375"/>
          <p:cNvSpPr txBox="1">
            <a:spLocks noGrp="1"/>
          </p:cNvSpPr>
          <p:nvPr>
            <p:ph type="title"/>
          </p:nvPr>
        </p:nvSpPr>
        <p:spPr>
          <a:xfrm>
            <a:off x="913579" y="-5641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301" name="Google Shape;301;g31ccdae391d_0_37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66</a:t>
            </a:fld>
            <a:endParaRPr/>
          </a:p>
        </p:txBody>
      </p:sp>
      <p:sp>
        <p:nvSpPr>
          <p:cNvPr id="302" name="Google Shape;302;g31ccdae391d_0_375"/>
          <p:cNvSpPr/>
          <p:nvPr/>
        </p:nvSpPr>
        <p:spPr>
          <a:xfrm>
            <a:off x="760584" y="268052"/>
            <a:ext cx="10972200" cy="66267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1" i="0" u="none" strike="noStrike" cap="none">
                <a:solidFill>
                  <a:srgbClr val="FF0000"/>
                </a:solidFill>
                <a:latin typeface="Times New Roman"/>
                <a:ea typeface="Times New Roman"/>
                <a:cs typeface="Times New Roman"/>
                <a:sym typeface="Times New Roman"/>
              </a:rPr>
              <a:t>- Tình trạng trả động cơ thuê 2024</a:t>
            </a: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p:txBody>
      </p:sp>
      <p:pic>
        <p:nvPicPr>
          <p:cNvPr id="303" name="Google Shape;303;g31ccdae391d_0_375"/>
          <p:cNvPicPr preferRelativeResize="0"/>
          <p:nvPr/>
        </p:nvPicPr>
        <p:blipFill>
          <a:blip r:embed="rId3">
            <a:alphaModFix/>
          </a:blip>
          <a:stretch>
            <a:fillRect/>
          </a:stretch>
        </p:blipFill>
        <p:spPr>
          <a:xfrm>
            <a:off x="447725" y="1499925"/>
            <a:ext cx="10790174" cy="4221775"/>
          </a:xfrm>
          <a:prstGeom prst="rect">
            <a:avLst/>
          </a:prstGeom>
          <a:noFill/>
          <a:ln>
            <a:noFill/>
          </a:ln>
        </p:spPr>
      </p:pic>
      <p:pic>
        <p:nvPicPr>
          <p:cNvPr id="6" name="Google Shape;36;p4" descr="A black and yellow lines on a blue surface&#10;&#10;Description automatically generated"/>
          <p:cNvPicPr preferRelativeResize="0"/>
          <p:nvPr/>
        </p:nvPicPr>
        <p:blipFill rotWithShape="1">
          <a:blip r:embed="rId4">
            <a:alphaModFix/>
          </a:blip>
          <a:srcRect/>
          <a:stretch/>
        </p:blipFill>
        <p:spPr>
          <a:xfrm>
            <a:off x="8650521" y="4650486"/>
            <a:ext cx="3545983" cy="2207517"/>
          </a:xfrm>
          <a:prstGeom prst="rect">
            <a:avLst/>
          </a:prstGeom>
          <a:noFill/>
          <a:ln>
            <a:noFill/>
          </a:ln>
        </p:spPr>
      </p:pic>
    </p:spTree>
    <p:extLst>
      <p:ext uri="{BB962C8B-B14F-4D97-AF65-F5344CB8AC3E}">
        <p14:creationId xmlns:p14="http://schemas.microsoft.com/office/powerpoint/2010/main" val="1520580309"/>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31ccdae391d_0_38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67</a:t>
            </a:fld>
            <a:endParaRPr/>
          </a:p>
        </p:txBody>
      </p:sp>
      <p:sp>
        <p:nvSpPr>
          <p:cNvPr id="310" name="Google Shape;310;g31ccdae391d_0_383"/>
          <p:cNvSpPr/>
          <p:nvPr/>
        </p:nvSpPr>
        <p:spPr>
          <a:xfrm>
            <a:off x="576275" y="228600"/>
            <a:ext cx="11051100" cy="6059400"/>
          </a:xfrm>
          <a:prstGeom prst="rect">
            <a:avLst/>
          </a:prstGeom>
          <a:noFill/>
          <a:ln>
            <a:noFill/>
          </a:ln>
        </p:spPr>
        <p:txBody>
          <a:bodyPr spcFirstLastPara="1" wrap="square" lIns="91425" tIns="0" rIns="91425" bIns="45700" anchor="t" anchorCtr="0">
            <a:noAutofit/>
          </a:bodyPr>
          <a:lstStyle/>
          <a:p>
            <a:pPr marL="0" marR="0" lvl="0" indent="0" algn="just" rtl="0">
              <a:lnSpc>
                <a:spcPct val="100000"/>
              </a:lnSpc>
              <a:spcBef>
                <a:spcPts val="0"/>
              </a:spcBef>
              <a:spcAft>
                <a:spcPts val="0"/>
              </a:spcAft>
              <a:buClr>
                <a:schemeClr val="dk1"/>
              </a:buClr>
              <a:buSzPts val="1800"/>
              <a:buFont typeface="Arial"/>
              <a:buNone/>
            </a:pP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1" i="0" u="none" strike="noStrike" cap="none" dirty="0">
                <a:solidFill>
                  <a:srgbClr val="FF0000"/>
                </a:solidFill>
                <a:latin typeface="Times New Roman"/>
                <a:ea typeface="Times New Roman"/>
                <a:cs typeface="Times New Roman"/>
                <a:sym typeface="Times New Roman"/>
              </a:rPr>
              <a:t>- Đội bay A321 Neo:</a:t>
            </a:r>
            <a:endParaRPr sz="1500" b="1" i="0" u="none" strike="noStrike" cap="none" dirty="0">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Số</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lượng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dự</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phòng</a:t>
            </a:r>
            <a:r>
              <a:rPr lang="en-US" sz="1500" b="0" i="0" u="none" strike="noStrike" cap="none" dirty="0">
                <a:solidFill>
                  <a:schemeClr val="dk1"/>
                </a:solidFill>
                <a:latin typeface="Times New Roman"/>
                <a:ea typeface="Times New Roman"/>
                <a:cs typeface="Times New Roman"/>
                <a:sym typeface="Times New Roman"/>
              </a:rPr>
              <a:t>: 05ea (2 </a:t>
            </a:r>
            <a:r>
              <a:rPr lang="en-US" sz="1500" b="0" i="0" u="none" strike="noStrike" cap="none" dirty="0" err="1">
                <a:solidFill>
                  <a:schemeClr val="dk1"/>
                </a:solidFill>
                <a:latin typeface="Times New Roman"/>
                <a:ea typeface="Times New Roman"/>
                <a:cs typeface="Times New Roman"/>
                <a:sym typeface="Times New Roman"/>
              </a:rPr>
              <a:t>sở</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hữu</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đang</a:t>
            </a:r>
            <a:r>
              <a:rPr lang="en-US" sz="1500" b="0" i="0" u="none" strike="noStrike" cap="none" dirty="0">
                <a:solidFill>
                  <a:schemeClr val="dk1"/>
                </a:solidFill>
                <a:latin typeface="Times New Roman"/>
                <a:ea typeface="Times New Roman"/>
                <a:cs typeface="Times New Roman"/>
                <a:sym typeface="Times New Roman"/>
              </a:rPr>
              <a:t> SLB), 2 </a:t>
            </a:r>
            <a:r>
              <a:rPr lang="en-US" sz="1500" b="0" i="0" u="none" strike="noStrike" cap="none" dirty="0" err="1">
                <a:solidFill>
                  <a:schemeClr val="dk1"/>
                </a:solidFill>
                <a:latin typeface="Times New Roman"/>
                <a:ea typeface="Times New Roman"/>
                <a:cs typeface="Times New Roman"/>
                <a:sym typeface="Times New Roman"/>
              </a:rPr>
              <a:t>dài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hạn</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và</a:t>
            </a:r>
            <a:r>
              <a:rPr lang="en-US" sz="1500" b="0" i="0" u="none" strike="noStrike" cap="none" dirty="0">
                <a:solidFill>
                  <a:schemeClr val="dk1"/>
                </a:solidFill>
                <a:latin typeface="Times New Roman"/>
                <a:ea typeface="Times New Roman"/>
                <a:cs typeface="Times New Roman"/>
                <a:sym typeface="Times New Roman"/>
              </a:rPr>
              <a:t> 01 </a:t>
            </a:r>
            <a:r>
              <a:rPr lang="en-US" sz="1500" b="0" i="0" u="none" strike="noStrike" cap="none" dirty="0" err="1">
                <a:solidFill>
                  <a:schemeClr val="dk1"/>
                </a:solidFill>
                <a:latin typeface="Times New Roman"/>
                <a:ea typeface="Times New Roman"/>
                <a:cs typeface="Times New Roman"/>
                <a:sym typeface="Times New Roman"/>
              </a:rPr>
              <a:t>thuê</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ngắn</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hạn</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thuê</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của</a:t>
            </a:r>
            <a:r>
              <a:rPr lang="en-US" sz="1500" b="0" i="0" u="none" strike="noStrike" cap="none" dirty="0">
                <a:solidFill>
                  <a:schemeClr val="dk1"/>
                </a:solidFill>
                <a:latin typeface="Times New Roman"/>
                <a:ea typeface="Times New Roman"/>
                <a:cs typeface="Times New Roman"/>
                <a:sym typeface="Times New Roman"/>
              </a:rPr>
              <a:t> PW).</a:t>
            </a: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Số</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lượng</a:t>
            </a:r>
            <a:r>
              <a:rPr lang="en-US" sz="1500" b="0" i="0" u="none" strike="noStrike" cap="none" dirty="0">
                <a:solidFill>
                  <a:schemeClr val="dk1"/>
                </a:solidFill>
                <a:latin typeface="Times New Roman"/>
                <a:ea typeface="Times New Roman"/>
                <a:cs typeface="Times New Roman"/>
                <a:sym typeface="Times New Roman"/>
              </a:rPr>
              <a:t> trong </a:t>
            </a:r>
            <a:r>
              <a:rPr lang="en-US" sz="1500" b="0" i="0" u="none" strike="noStrike" cap="none" dirty="0" err="1">
                <a:solidFill>
                  <a:schemeClr val="dk1"/>
                </a:solidFill>
                <a:latin typeface="Times New Roman"/>
                <a:ea typeface="Times New Roman"/>
                <a:cs typeface="Times New Roman"/>
                <a:sym typeface="Times New Roman"/>
              </a:rPr>
              <a:t>kho</a:t>
            </a:r>
            <a:r>
              <a:rPr lang="en-US" sz="1500" b="0" i="0" u="none" strike="noStrike" cap="none" dirty="0">
                <a:solidFill>
                  <a:schemeClr val="dk1"/>
                </a:solidFill>
                <a:latin typeface="Times New Roman"/>
                <a:ea typeface="Times New Roman"/>
                <a:cs typeface="Times New Roman"/>
                <a:sym typeface="Times New Roman"/>
              </a:rPr>
              <a:t>: NIL.</a:t>
            </a: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Số</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lượng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động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cơ</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sửa</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chữa</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có</a:t>
            </a:r>
            <a:r>
              <a:rPr lang="en-US" sz="1500" b="0" i="0" u="none" strike="noStrike" cap="none" dirty="0">
                <a:solidFill>
                  <a:schemeClr val="dk1"/>
                </a:solidFill>
                <a:latin typeface="Times New Roman"/>
                <a:ea typeface="Times New Roman"/>
                <a:cs typeface="Times New Roman"/>
                <a:sym typeface="Times New Roman"/>
              </a:rPr>
              <a:t> 10	 </a:t>
            </a:r>
            <a:r>
              <a:rPr lang="en-US" sz="1500" b="0" i="0" u="none" strike="noStrike" cap="none" dirty="0" err="1">
                <a:solidFill>
                  <a:schemeClr val="dk1"/>
                </a:solidFill>
                <a:latin typeface="Times New Roman"/>
                <a:ea typeface="Times New Roman"/>
                <a:cs typeface="Times New Roman"/>
                <a:sym typeface="Times New Roman"/>
              </a:rPr>
              <a:t>động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cơ</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đang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sửa</a:t>
            </a:r>
            <a:r>
              <a:rPr lang="en-US" sz="1500" b="0" i="0" u="none" strike="noStrike" cap="none" dirty="0">
                <a:solidFill>
                  <a:schemeClr val="dk1"/>
                </a:solidFill>
                <a:latin typeface="Times New Roman"/>
                <a:ea typeface="Times New Roman"/>
                <a:cs typeface="Times New Roman"/>
                <a:sym typeface="Times New Roman"/>
              </a:rPr>
              <a:t> (09 </a:t>
            </a:r>
            <a:r>
              <a:rPr lang="en-US" sz="1500" b="0" i="0" u="none" strike="noStrike" cap="none" dirty="0" err="1">
                <a:solidFill>
                  <a:schemeClr val="dk1"/>
                </a:solidFill>
                <a:latin typeface="Times New Roman"/>
                <a:ea typeface="Times New Roman"/>
                <a:cs typeface="Times New Roman"/>
                <a:sym typeface="Times New Roman"/>
              </a:rPr>
              <a:t>tại</a:t>
            </a:r>
            <a:r>
              <a:rPr lang="en-US" sz="1500" b="0" i="0" u="none" strike="noStrike" cap="none" dirty="0">
                <a:solidFill>
                  <a:schemeClr val="dk1"/>
                </a:solidFill>
                <a:latin typeface="Times New Roman"/>
                <a:ea typeface="Times New Roman"/>
                <a:cs typeface="Times New Roman"/>
                <a:sym typeface="Times New Roman"/>
              </a:rPr>
              <a:t> ESA </a:t>
            </a:r>
            <a:r>
              <a:rPr lang="en-US" sz="1500" b="0" i="0" u="none" strike="noStrike" cap="none" dirty="0" err="1">
                <a:solidFill>
                  <a:schemeClr val="dk1"/>
                </a:solidFill>
                <a:latin typeface="Times New Roman"/>
                <a:ea typeface="Times New Roman"/>
                <a:cs typeface="Times New Roman"/>
                <a:sym typeface="Times New Roman"/>
              </a:rPr>
              <a:t>và</a:t>
            </a:r>
            <a:r>
              <a:rPr lang="en-US" sz="1500" b="0" i="0" u="none" strike="noStrike" cap="none" dirty="0">
                <a:solidFill>
                  <a:schemeClr val="dk1"/>
                </a:solidFill>
                <a:latin typeface="Times New Roman"/>
                <a:ea typeface="Times New Roman"/>
                <a:cs typeface="Times New Roman"/>
                <a:sym typeface="Times New Roman"/>
              </a:rPr>
              <a:t> 01 </a:t>
            </a:r>
            <a:r>
              <a:rPr lang="en-US" sz="1500" b="0" i="0" u="none" strike="noStrike" cap="none" dirty="0" err="1">
                <a:solidFill>
                  <a:schemeClr val="dk1"/>
                </a:solidFill>
                <a:latin typeface="Times New Roman"/>
                <a:ea typeface="Times New Roman"/>
                <a:cs typeface="Times New Roman"/>
                <a:sym typeface="Times New Roman"/>
              </a:rPr>
              <a:t>tại</a:t>
            </a:r>
            <a:r>
              <a:rPr lang="en-US" sz="1500" b="0" i="0" u="none" strike="noStrike" cap="none" dirty="0">
                <a:solidFill>
                  <a:schemeClr val="dk1"/>
                </a:solidFill>
                <a:latin typeface="Times New Roman"/>
                <a:ea typeface="Times New Roman"/>
                <a:cs typeface="Times New Roman"/>
                <a:sym typeface="Times New Roman"/>
              </a:rPr>
              <a:t> IHI)</a:t>
            </a:r>
            <a:endParaRPr sz="1500" b="0" i="0" u="none" strike="noStrike" cap="none" dirty="0">
              <a:solidFill>
                <a:schemeClr val="dk1"/>
              </a:solidFill>
              <a:latin typeface="Times New Roman"/>
              <a:ea typeface="Times New Roman"/>
              <a:cs typeface="Times New Roman"/>
              <a:sym typeface="Times New Roman"/>
            </a:endParaRPr>
          </a:p>
          <a:p>
            <a:pPr marL="0" marR="0" lvl="0" indent="0" rtl="0">
              <a:lnSpc>
                <a:spcPct val="115000"/>
              </a:lnSpc>
              <a:spcBef>
                <a:spcPts val="0"/>
              </a:spcBef>
              <a:spcAft>
                <a:spcPts val="0"/>
              </a:spcAft>
              <a:buClr>
                <a:srgbClr val="000000"/>
              </a:buClr>
              <a:buSzPts val="1500"/>
              <a:buFont typeface="Arial"/>
              <a:buNone/>
            </a:pPr>
            <a:r>
              <a:rPr lang="en-US" sz="1500" b="0" i="0" u="none" strike="noStrike" cap="none" dirty="0">
                <a:solidFill>
                  <a:schemeClr val="dk1"/>
                </a:solidFill>
                <a:latin typeface="Times New Roman"/>
                <a:ea typeface="Times New Roman"/>
                <a:cs typeface="Times New Roman"/>
                <a:sym typeface="Times New Roman"/>
              </a:rPr>
              <a:t>Trong </a:t>
            </a:r>
            <a:r>
              <a:rPr lang="en-US" sz="1500" b="0" i="0" u="none" strike="noStrike" cap="none" dirty="0" err="1">
                <a:solidFill>
                  <a:schemeClr val="dk1"/>
                </a:solidFill>
                <a:latin typeface="Times New Roman"/>
                <a:ea typeface="Times New Roman"/>
                <a:cs typeface="Times New Roman"/>
                <a:sym typeface="Times New Roman"/>
              </a:rPr>
              <a:t>đó</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a:solidFill>
                  <a:schemeClr val="dk1"/>
                </a:solidFill>
                <a:highlight>
                  <a:schemeClr val="lt1"/>
                </a:highlight>
                <a:latin typeface="Times New Roman"/>
                <a:ea typeface="Times New Roman"/>
                <a:cs typeface="Times New Roman"/>
                <a:sym typeface="Times New Roman"/>
              </a:rPr>
              <a:t/>
            </a:r>
            <a:br>
              <a:rPr lang="en-US" sz="1500" b="0" i="0" u="none" strike="noStrike" cap="none" dirty="0">
                <a:solidFill>
                  <a:schemeClr val="dk1"/>
                </a:solidFill>
                <a:highlight>
                  <a:schemeClr val="lt1"/>
                </a:highlight>
                <a:latin typeface="Times New Roman"/>
                <a:ea typeface="Times New Roman"/>
                <a:cs typeface="Times New Roman"/>
                <a:sym typeface="Times New Roman"/>
              </a:rPr>
            </a:br>
            <a:r>
              <a:rPr lang="en-US" sz="1500" dirty="0">
                <a:solidFill>
                  <a:schemeClr val="dk1"/>
                </a:solidFill>
                <a:latin typeface="Times New Roman"/>
                <a:ea typeface="Times New Roman"/>
                <a:cs typeface="Times New Roman"/>
                <a:sym typeface="Times New Roman"/>
              </a:rPr>
              <a:t>+ P771056: </a:t>
            </a:r>
            <a:r>
              <a:rPr lang="en-US" sz="1500" dirty="0" err="1">
                <a:solidFill>
                  <a:schemeClr val="dk1"/>
                </a:solidFill>
                <a:latin typeface="Times New Roman"/>
                <a:ea typeface="Times New Roman"/>
                <a:cs typeface="Times New Roman"/>
                <a:sym typeface="Times New Roman"/>
              </a:rPr>
              <a:t>Đã</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về</a:t>
            </a:r>
            <a:r>
              <a:rPr lang="en-US" sz="1500" dirty="0">
                <a:solidFill>
                  <a:schemeClr val="dk1"/>
                </a:solidFill>
                <a:latin typeface="Times New Roman"/>
                <a:ea typeface="Times New Roman"/>
                <a:cs typeface="Times New Roman"/>
                <a:sym typeface="Times New Roman"/>
              </a:rPr>
              <a:t> Vaeco HAN 09/01/2025</a:t>
            </a:r>
            <a:br>
              <a:rPr lang="en-US" sz="1500" dirty="0">
                <a:solidFill>
                  <a:schemeClr val="dk1"/>
                </a:solidFill>
                <a:latin typeface="Times New Roman"/>
                <a:ea typeface="Times New Roman"/>
                <a:cs typeface="Times New Roman"/>
                <a:sym typeface="Times New Roman"/>
              </a:rPr>
            </a:br>
            <a:r>
              <a:rPr lang="en-US" sz="1500" dirty="0">
                <a:solidFill>
                  <a:schemeClr val="dk1"/>
                </a:solidFill>
                <a:latin typeface="Times New Roman"/>
                <a:ea typeface="Times New Roman"/>
                <a:cs typeface="Times New Roman"/>
                <a:sym typeface="Times New Roman"/>
              </a:rPr>
              <a:t>+ P770903: TAT forecast </a:t>
            </a:r>
            <a:r>
              <a:rPr lang="en-US" sz="1500" dirty="0" err="1">
                <a:solidFill>
                  <a:schemeClr val="dk1"/>
                </a:solidFill>
                <a:latin typeface="Times New Roman"/>
                <a:ea typeface="Times New Roman"/>
                <a:cs typeface="Times New Roman"/>
                <a:sym typeface="Times New Roman"/>
              </a:rPr>
              <a:t>tăng</a:t>
            </a:r>
            <a:r>
              <a:rPr lang="en-US" sz="1500" dirty="0">
                <a:solidFill>
                  <a:schemeClr val="dk1"/>
                </a:solidFill>
                <a:latin typeface="Times New Roman"/>
                <a:ea typeface="Times New Roman"/>
                <a:cs typeface="Times New Roman"/>
                <a:sym typeface="Times New Roman"/>
              </a:rPr>
              <a:t> 20 days</a:t>
            </a:r>
            <a:br>
              <a:rPr lang="en-US" sz="1500" dirty="0">
                <a:solidFill>
                  <a:schemeClr val="dk1"/>
                </a:solidFill>
                <a:latin typeface="Times New Roman"/>
                <a:ea typeface="Times New Roman"/>
                <a:cs typeface="Times New Roman"/>
                <a:sym typeface="Times New Roman"/>
              </a:rPr>
            </a:br>
            <a:r>
              <a:rPr lang="en-US" sz="1500" dirty="0">
                <a:solidFill>
                  <a:schemeClr val="dk1"/>
                </a:solidFill>
                <a:latin typeface="Times New Roman"/>
                <a:ea typeface="Times New Roman"/>
                <a:cs typeface="Times New Roman"/>
                <a:sym typeface="Times New Roman"/>
              </a:rPr>
              <a:t>+ P771391: Shop target G3S 6/3 (</a:t>
            </a:r>
            <a:r>
              <a:rPr lang="en-US" sz="1500" dirty="0" err="1">
                <a:solidFill>
                  <a:schemeClr val="dk1"/>
                </a:solidFill>
                <a:latin typeface="Times New Roman"/>
                <a:ea typeface="Times New Roman"/>
                <a:cs typeface="Times New Roman"/>
                <a:sym typeface="Times New Roman"/>
              </a:rPr>
              <a:t>Đang</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yêu</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cầu</a:t>
            </a:r>
            <a:r>
              <a:rPr lang="en-US" sz="1500" dirty="0">
                <a:solidFill>
                  <a:schemeClr val="dk1"/>
                </a:solidFill>
                <a:latin typeface="Times New Roman"/>
                <a:ea typeface="Times New Roman"/>
                <a:cs typeface="Times New Roman"/>
                <a:sym typeface="Times New Roman"/>
              </a:rPr>
              <a:t> shop estimated completion date )</a:t>
            </a:r>
            <a:br>
              <a:rPr lang="en-US" sz="1500" dirty="0">
                <a:solidFill>
                  <a:schemeClr val="dk1"/>
                </a:solidFill>
                <a:latin typeface="Times New Roman"/>
                <a:ea typeface="Times New Roman"/>
                <a:cs typeface="Times New Roman"/>
                <a:sym typeface="Times New Roman"/>
              </a:rPr>
            </a:br>
            <a:r>
              <a:rPr lang="en-US" sz="1500" dirty="0">
                <a:solidFill>
                  <a:schemeClr val="dk1"/>
                </a:solidFill>
                <a:latin typeface="Times New Roman"/>
                <a:ea typeface="Times New Roman"/>
                <a:cs typeface="Times New Roman"/>
                <a:sym typeface="Times New Roman"/>
              </a:rPr>
              <a:t>+ P771077: Shop target G3S 6/3 (</a:t>
            </a:r>
            <a:r>
              <a:rPr lang="en-US" sz="1500" dirty="0" err="1">
                <a:solidFill>
                  <a:schemeClr val="dk1"/>
                </a:solidFill>
                <a:latin typeface="Times New Roman"/>
                <a:ea typeface="Times New Roman"/>
                <a:cs typeface="Times New Roman"/>
                <a:sym typeface="Times New Roman"/>
              </a:rPr>
              <a:t>Đang</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yêu</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cầu</a:t>
            </a:r>
            <a:r>
              <a:rPr lang="en-US" sz="1500" dirty="0">
                <a:solidFill>
                  <a:schemeClr val="dk1"/>
                </a:solidFill>
                <a:latin typeface="Times New Roman"/>
                <a:ea typeface="Times New Roman"/>
                <a:cs typeface="Times New Roman"/>
                <a:sym typeface="Times New Roman"/>
              </a:rPr>
              <a:t> shop estimated completion date )</a:t>
            </a:r>
            <a:br>
              <a:rPr lang="en-US" sz="1500" dirty="0">
                <a:solidFill>
                  <a:schemeClr val="dk1"/>
                </a:solidFill>
                <a:latin typeface="Times New Roman"/>
                <a:ea typeface="Times New Roman"/>
                <a:cs typeface="Times New Roman"/>
                <a:sym typeface="Times New Roman"/>
              </a:rPr>
            </a:br>
            <a:r>
              <a:rPr lang="en-US" sz="1500" dirty="0">
                <a:solidFill>
                  <a:schemeClr val="dk1"/>
                </a:solidFill>
                <a:latin typeface="Times New Roman"/>
                <a:ea typeface="Times New Roman"/>
                <a:cs typeface="Times New Roman"/>
                <a:sym typeface="Times New Roman"/>
              </a:rPr>
              <a:t>+ P771387: Shop </a:t>
            </a:r>
            <a:r>
              <a:rPr lang="en-US" sz="1500" dirty="0" err="1">
                <a:solidFill>
                  <a:schemeClr val="dk1"/>
                </a:solidFill>
                <a:latin typeface="Times New Roman"/>
                <a:ea typeface="Times New Roman"/>
                <a:cs typeface="Times New Roman"/>
                <a:sym typeface="Times New Roman"/>
              </a:rPr>
              <a:t>thông</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báo</a:t>
            </a:r>
            <a:r>
              <a:rPr lang="en-US" sz="1500" dirty="0">
                <a:solidFill>
                  <a:schemeClr val="dk1"/>
                </a:solidFill>
                <a:latin typeface="Times New Roman"/>
                <a:ea typeface="Times New Roman"/>
                <a:cs typeface="Times New Roman"/>
                <a:sym typeface="Times New Roman"/>
              </a:rPr>
              <a:t> TBD (</a:t>
            </a:r>
            <a:r>
              <a:rPr lang="en-US" sz="1500" dirty="0" err="1">
                <a:solidFill>
                  <a:schemeClr val="dk1"/>
                </a:solidFill>
                <a:latin typeface="Times New Roman"/>
                <a:ea typeface="Times New Roman"/>
                <a:cs typeface="Times New Roman"/>
                <a:sym typeface="Times New Roman"/>
              </a:rPr>
              <a:t>Đang</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yêu</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cầu</a:t>
            </a:r>
            <a:r>
              <a:rPr lang="en-US" sz="1500" dirty="0">
                <a:solidFill>
                  <a:schemeClr val="dk1"/>
                </a:solidFill>
                <a:latin typeface="Times New Roman"/>
                <a:ea typeface="Times New Roman"/>
                <a:cs typeface="Times New Roman"/>
                <a:sym typeface="Times New Roman"/>
              </a:rPr>
              <a:t> shop estimated completion date/ report 03/1 ENG ready </a:t>
            </a:r>
            <a:r>
              <a:rPr lang="en-US" sz="1500" dirty="0" err="1">
                <a:solidFill>
                  <a:schemeClr val="dk1"/>
                </a:solidFill>
                <a:latin typeface="Times New Roman"/>
                <a:ea typeface="Times New Roman"/>
                <a:cs typeface="Times New Roman"/>
                <a:sym typeface="Times New Roman"/>
              </a:rPr>
              <a:t>vào</a:t>
            </a:r>
            <a:r>
              <a:rPr lang="en-US" sz="1500" dirty="0">
                <a:solidFill>
                  <a:schemeClr val="dk1"/>
                </a:solidFill>
                <a:latin typeface="Times New Roman"/>
                <a:ea typeface="Times New Roman"/>
                <a:cs typeface="Times New Roman"/>
                <a:sym typeface="Times New Roman"/>
              </a:rPr>
              <a:t> 4/3/2025)</a:t>
            </a:r>
            <a:br>
              <a:rPr lang="en-US" sz="1500" dirty="0">
                <a:solidFill>
                  <a:schemeClr val="dk1"/>
                </a:solidFill>
                <a:latin typeface="Times New Roman"/>
                <a:ea typeface="Times New Roman"/>
                <a:cs typeface="Times New Roman"/>
                <a:sym typeface="Times New Roman"/>
              </a:rPr>
            </a:b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15000"/>
              </a:lnSpc>
              <a:spcBef>
                <a:spcPts val="0"/>
              </a:spcBef>
              <a:spcAft>
                <a:spcPts val="0"/>
              </a:spcAft>
              <a:buClr>
                <a:srgbClr val="000000"/>
              </a:buClr>
              <a:buSzPts val="1500"/>
              <a:buFont typeface="Arial"/>
              <a:buNone/>
            </a:pPr>
            <a:r>
              <a:rPr lang="en-US" sz="1500" b="0" i="0" u="none" strike="noStrike" cap="none" dirty="0" err="1">
                <a:solidFill>
                  <a:srgbClr val="FF0000"/>
                </a:solidFill>
                <a:latin typeface="Times New Roman"/>
                <a:ea typeface="Times New Roman"/>
                <a:cs typeface="Times New Roman"/>
                <a:sym typeface="Times New Roman"/>
              </a:rPr>
              <a:t>Vướng</a:t>
            </a:r>
            <a:r>
              <a:rPr lang="en-US" sz="1500" b="0" i="0" u="none" strike="noStrike" cap="none" dirty="0">
                <a:solidFill>
                  <a:srgbClr val="FF0000"/>
                </a:solidFill>
                <a:latin typeface="Times New Roman"/>
                <a:ea typeface="Times New Roman"/>
                <a:cs typeface="Times New Roman"/>
                <a:sym typeface="Times New Roman"/>
              </a:rPr>
              <a:t> </a:t>
            </a:r>
            <a:r>
              <a:rPr lang="en-US" sz="1500" b="0" i="0" u="none" strike="noStrike" cap="none" dirty="0" err="1">
                <a:solidFill>
                  <a:srgbClr val="FF0000"/>
                </a:solidFill>
                <a:latin typeface="Times New Roman"/>
                <a:ea typeface="Times New Roman"/>
                <a:cs typeface="Times New Roman"/>
                <a:sym typeface="Times New Roman"/>
              </a:rPr>
              <a:t>mắc</a:t>
            </a:r>
            <a:r>
              <a:rPr lang="en-US" sz="1500" b="0" i="0" u="none" strike="noStrike" cap="none" dirty="0">
                <a:solidFill>
                  <a:srgbClr val="FF0000"/>
                </a:solidFill>
                <a:latin typeface="Times New Roman"/>
                <a:ea typeface="Times New Roman"/>
                <a:cs typeface="Times New Roman"/>
                <a:sym typeface="Times New Roman"/>
              </a:rPr>
              <a:t>:</a:t>
            </a:r>
            <a:endParaRPr sz="1500" b="0" i="0" u="none" strike="noStrike" cap="none" dirty="0">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TAT </a:t>
            </a:r>
            <a:r>
              <a:rPr lang="en-US" sz="1500" b="0" i="0" u="none" strike="noStrike" cap="none" dirty="0" err="1">
                <a:solidFill>
                  <a:schemeClr val="dk1"/>
                </a:solidFill>
                <a:latin typeface="Times New Roman"/>
                <a:ea typeface="Times New Roman"/>
                <a:cs typeface="Times New Roman"/>
                <a:sym typeface="Times New Roman"/>
              </a:rPr>
              <a:t>tại</a:t>
            </a:r>
            <a:r>
              <a:rPr lang="en-US" sz="1500" b="0" i="0" u="none" strike="noStrike" cap="none" dirty="0">
                <a:solidFill>
                  <a:schemeClr val="dk1"/>
                </a:solidFill>
                <a:latin typeface="Times New Roman"/>
                <a:ea typeface="Times New Roman"/>
                <a:cs typeface="Times New Roman"/>
                <a:sym typeface="Times New Roman"/>
              </a:rPr>
              <a:t> shop </a:t>
            </a:r>
            <a:r>
              <a:rPr lang="en-US" sz="1500" b="0" i="0" u="none" strike="noStrike" cap="none" dirty="0" err="1">
                <a:solidFill>
                  <a:schemeClr val="dk1"/>
                </a:solidFill>
                <a:latin typeface="Times New Roman"/>
                <a:ea typeface="Times New Roman"/>
                <a:cs typeface="Times New Roman"/>
                <a:sym typeface="Times New Roman"/>
              </a:rPr>
              <a:t>kéo</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dài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hiện</a:t>
            </a:r>
            <a:r>
              <a:rPr lang="en-US" sz="1500" b="0" i="0" u="none" strike="noStrike" cap="none" dirty="0">
                <a:solidFill>
                  <a:schemeClr val="dk1"/>
                </a:solidFill>
                <a:latin typeface="Times New Roman"/>
                <a:ea typeface="Times New Roman"/>
                <a:cs typeface="Times New Roman"/>
                <a:sym typeface="Times New Roman"/>
              </a:rPr>
              <a:t> do shop </a:t>
            </a:r>
            <a:r>
              <a:rPr lang="en-US" sz="1500" b="0" i="0" u="none" strike="noStrike" cap="none" dirty="0" err="1">
                <a:solidFill>
                  <a:schemeClr val="dk1"/>
                </a:solidFill>
                <a:latin typeface="Times New Roman"/>
                <a:ea typeface="Times New Roman"/>
                <a:cs typeface="Times New Roman"/>
                <a:sym typeface="Times New Roman"/>
              </a:rPr>
              <a:t>quá</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tải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các</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động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cơ</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tháo</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cung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phải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đợi</a:t>
            </a:r>
            <a:r>
              <a:rPr lang="en-US" sz="1500" b="0" i="0" u="none" strike="noStrike" cap="none" dirty="0">
                <a:solidFill>
                  <a:schemeClr val="dk1"/>
                </a:solidFill>
                <a:latin typeface="Times New Roman"/>
                <a:ea typeface="Times New Roman"/>
                <a:cs typeface="Times New Roman"/>
                <a:sym typeface="Times New Roman"/>
              </a:rPr>
              <a:t> slot </a:t>
            </a:r>
            <a:r>
              <a:rPr lang="en-US" sz="1500" b="0" i="0" u="none" strike="noStrike" cap="none" dirty="0" err="1">
                <a:solidFill>
                  <a:schemeClr val="dk1"/>
                </a:solidFill>
                <a:latin typeface="Times New Roman"/>
                <a:ea typeface="Times New Roman"/>
                <a:cs typeface="Times New Roman"/>
                <a:sym typeface="Times New Roman"/>
              </a:rPr>
              <a:t>lên</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đến</a:t>
            </a:r>
            <a:r>
              <a:rPr lang="en-US" sz="1500" b="0" i="0" u="none" strike="noStrike" cap="none" dirty="0">
                <a:solidFill>
                  <a:schemeClr val="dk1"/>
                </a:solidFill>
                <a:latin typeface="Times New Roman"/>
                <a:ea typeface="Times New Roman"/>
                <a:cs typeface="Times New Roman"/>
                <a:sym typeface="Times New Roman"/>
              </a:rPr>
              <a:t> 200 </a:t>
            </a:r>
            <a:r>
              <a:rPr lang="en-US" sz="1500" b="0" i="0" u="none" strike="noStrike" cap="none" dirty="0" err="1">
                <a:solidFill>
                  <a:schemeClr val="dk1"/>
                </a:solidFill>
                <a:latin typeface="Times New Roman"/>
                <a:ea typeface="Times New Roman"/>
                <a:cs typeface="Times New Roman"/>
                <a:sym typeface="Times New Roman"/>
              </a:rPr>
              <a:t>ngày</a:t>
            </a:r>
            <a:r>
              <a:rPr lang="en-US" sz="1500" b="0" i="0" u="none" strike="noStrike" cap="none" dirty="0">
                <a:solidFill>
                  <a:schemeClr val="dk1"/>
                </a:solidFill>
                <a:latin typeface="Times New Roman"/>
                <a:ea typeface="Times New Roman"/>
                <a:cs typeface="Times New Roman"/>
                <a:sym typeface="Times New Roman"/>
              </a:rPr>
              <a:t> .</a:t>
            </a: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Các</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động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cơ</a:t>
            </a:r>
            <a:r>
              <a:rPr lang="en-US" sz="1500" b="0" i="0" u="none" strike="noStrike" cap="none" dirty="0">
                <a:solidFill>
                  <a:schemeClr val="dk1"/>
                </a:solidFill>
                <a:latin typeface="Times New Roman"/>
                <a:ea typeface="Times New Roman"/>
                <a:cs typeface="Times New Roman"/>
                <a:sym typeface="Times New Roman"/>
              </a:rPr>
              <a:t> A321 NEO </a:t>
            </a:r>
            <a:r>
              <a:rPr lang="en-US" sz="1500" b="0" i="0" u="none" strike="noStrike" cap="none" dirty="0" err="1">
                <a:solidFill>
                  <a:schemeClr val="dk1"/>
                </a:solidFill>
                <a:latin typeface="Times New Roman"/>
                <a:ea typeface="Times New Roman"/>
                <a:cs typeface="Times New Roman"/>
                <a:sym typeface="Times New Roman"/>
              </a:rPr>
              <a:t>tháo</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sửa</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trước</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đây</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không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có</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đc</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lắp</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lên</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khi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tháo</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trả</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đc</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thuê</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thiếu</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nhiều</a:t>
            </a:r>
            <a:r>
              <a:rPr lang="en-US" sz="1500" b="0" i="0" u="none" strike="noStrike" cap="none" dirty="0">
                <a:solidFill>
                  <a:schemeClr val="dk1"/>
                </a:solidFill>
                <a:latin typeface="Times New Roman"/>
                <a:ea typeface="Times New Roman"/>
                <a:cs typeface="Times New Roman"/>
                <a:sym typeface="Times New Roman"/>
              </a:rPr>
              <a:t> LRUs </a:t>
            </a:r>
            <a:r>
              <a:rPr lang="en-US" sz="1500" b="0" i="0" u="none" strike="noStrike" cap="none" dirty="0" err="1">
                <a:solidFill>
                  <a:schemeClr val="dk1"/>
                </a:solidFill>
                <a:latin typeface="Times New Roman"/>
                <a:ea typeface="Times New Roman"/>
                <a:cs typeface="Times New Roman"/>
                <a:sym typeface="Times New Roman"/>
              </a:rPr>
              <a:t>đang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cùng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đc</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sửa</a:t>
            </a:r>
            <a:r>
              <a:rPr lang="en-US" sz="1500" b="0" i="0" u="none" strike="noStrike" cap="none" dirty="0">
                <a:solidFill>
                  <a:schemeClr val="dk1"/>
                </a:solidFill>
                <a:latin typeface="Times New Roman"/>
                <a:ea typeface="Times New Roman"/>
                <a:cs typeface="Times New Roman"/>
                <a:sym typeface="Times New Roman"/>
              </a:rPr>
              <a:t>.</a:t>
            </a:r>
            <a:br>
              <a:rPr lang="en-US" sz="1500" b="0" i="0" u="none" strike="noStrike" cap="none" dirty="0">
                <a:solidFill>
                  <a:schemeClr val="dk1"/>
                </a:solidFill>
                <a:latin typeface="Times New Roman"/>
                <a:ea typeface="Times New Roman"/>
                <a:cs typeface="Times New Roman"/>
                <a:sym typeface="Times New Roman"/>
              </a:rPr>
            </a:b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Khoảng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thời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gian</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cao</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điểm</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nghỉ</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lễ</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thiếu</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hụt</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phụ</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tùng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vật</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liệu</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sự</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gia</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tăng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các</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lỗi</a:t>
            </a:r>
            <a:r>
              <a:rPr lang="en-US" sz="1500" b="0" i="0" u="none" strike="noStrike" cap="none" dirty="0">
                <a:solidFill>
                  <a:schemeClr val="dk1"/>
                </a:solidFill>
                <a:latin typeface="Times New Roman"/>
                <a:ea typeface="Times New Roman"/>
                <a:cs typeface="Times New Roman"/>
                <a:sym typeface="Times New Roman"/>
              </a:rPr>
              <a:t> Rejection trong </a:t>
            </a:r>
            <a:r>
              <a:rPr lang="en-US" sz="1500" b="0" i="0" u="none" strike="noStrike" cap="none" dirty="0" err="1">
                <a:solidFill>
                  <a:schemeClr val="dk1"/>
                </a:solidFill>
                <a:latin typeface="Times New Roman"/>
                <a:ea typeface="Times New Roman"/>
                <a:cs typeface="Times New Roman"/>
                <a:sym typeface="Times New Roman"/>
              </a:rPr>
              <a:t>kiểm</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tra</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sau</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thử</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nghiệm</a:t>
            </a:r>
            <a:r>
              <a:rPr lang="en-US" sz="1500" b="0" i="0" u="none" strike="noStrike" cap="none" dirty="0">
                <a:solidFill>
                  <a:schemeClr val="dk1"/>
                </a:solidFill>
                <a:latin typeface="Times New Roman"/>
                <a:ea typeface="Times New Roman"/>
                <a:cs typeface="Times New Roman"/>
                <a:sym typeface="Times New Roman"/>
              </a:rPr>
              <a:t>.</a:t>
            </a: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err="1">
                <a:solidFill>
                  <a:srgbClr val="FF0000"/>
                </a:solidFill>
                <a:latin typeface="Times New Roman"/>
                <a:ea typeface="Times New Roman"/>
                <a:cs typeface="Times New Roman"/>
                <a:sym typeface="Times New Roman"/>
              </a:rPr>
              <a:t>Giải</a:t>
            </a:r>
            <a:r>
              <a:rPr lang="en-US" sz="1500" b="0" i="0" u="none" strike="noStrike" cap="none" dirty="0">
                <a:solidFill>
                  <a:srgbClr val="FF0000"/>
                </a:solidFill>
                <a:latin typeface="Times New Roman"/>
                <a:ea typeface="Times New Roman"/>
                <a:cs typeface="Times New Roman"/>
                <a:sym typeface="Times New Roman"/>
              </a:rPr>
              <a:t> </a:t>
            </a:r>
            <a:r>
              <a:rPr lang="en-US" sz="1500" b="0" i="0" u="none" strike="noStrike" cap="none" dirty="0" err="1">
                <a:solidFill>
                  <a:srgbClr val="FF0000"/>
                </a:solidFill>
                <a:latin typeface="Times New Roman"/>
                <a:ea typeface="Times New Roman"/>
                <a:cs typeface="Times New Roman"/>
                <a:sym typeface="Times New Roman"/>
              </a:rPr>
              <a:t>pháp</a:t>
            </a:r>
            <a:r>
              <a:rPr lang="en-US" sz="1500" b="0" i="0" u="none" strike="noStrike" cap="none" dirty="0">
                <a:solidFill>
                  <a:srgbClr val="FF0000"/>
                </a:solidFill>
                <a:latin typeface="Times New Roman"/>
                <a:ea typeface="Times New Roman"/>
                <a:cs typeface="Times New Roman"/>
                <a:sym typeface="Times New Roman"/>
              </a:rPr>
              <a:t>:</a:t>
            </a:r>
            <a:endParaRPr sz="1500" b="0" i="0" u="none" strike="noStrike" cap="none" dirty="0">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Thúc</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đẩy</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động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cơ</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sửa</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chữa</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tại</a:t>
            </a:r>
            <a:r>
              <a:rPr lang="en-US" sz="1500" b="0" i="0" u="none" strike="noStrike" cap="none" dirty="0">
                <a:solidFill>
                  <a:schemeClr val="dk1"/>
                </a:solidFill>
                <a:latin typeface="Times New Roman"/>
                <a:ea typeface="Times New Roman"/>
                <a:cs typeface="Times New Roman"/>
                <a:sym typeface="Times New Roman"/>
              </a:rPr>
              <a:t> shop.</a:t>
            </a: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Tổ</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chức</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họp</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và</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tìm</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giải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pháp</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với</a:t>
            </a:r>
            <a:r>
              <a:rPr lang="en-US" sz="1500" b="0" i="0" u="none" strike="noStrike" cap="none" dirty="0">
                <a:solidFill>
                  <a:schemeClr val="dk1"/>
                </a:solidFill>
                <a:latin typeface="Times New Roman"/>
                <a:ea typeface="Times New Roman"/>
                <a:cs typeface="Times New Roman"/>
                <a:sym typeface="Times New Roman"/>
              </a:rPr>
              <a:t> Ban KT, VAECO </a:t>
            </a:r>
            <a:r>
              <a:rPr lang="en-US" sz="1500" b="0" i="0" u="none" strike="noStrike" cap="none" dirty="0" err="1">
                <a:solidFill>
                  <a:schemeClr val="dk1"/>
                </a:solidFill>
                <a:latin typeface="Times New Roman"/>
                <a:ea typeface="Times New Roman"/>
                <a:cs typeface="Times New Roman"/>
                <a:sym typeface="Times New Roman"/>
              </a:rPr>
              <a:t>với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danh</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mục</a:t>
            </a:r>
            <a:r>
              <a:rPr lang="en-US" sz="1500" b="0" i="0" u="none" strike="noStrike" cap="none" dirty="0">
                <a:solidFill>
                  <a:schemeClr val="dk1"/>
                </a:solidFill>
                <a:latin typeface="Times New Roman"/>
                <a:ea typeface="Times New Roman"/>
                <a:cs typeface="Times New Roman"/>
                <a:sym typeface="Times New Roman"/>
              </a:rPr>
              <a:t> MPL </a:t>
            </a:r>
            <a:r>
              <a:rPr lang="en-US" sz="1500" b="0" i="0" u="none" strike="noStrike" cap="none" dirty="0" err="1">
                <a:solidFill>
                  <a:schemeClr val="dk1"/>
                </a:solidFill>
                <a:latin typeface="Times New Roman"/>
                <a:ea typeface="Times New Roman"/>
                <a:cs typeface="Times New Roman"/>
                <a:sym typeface="Times New Roman"/>
              </a:rPr>
              <a:t>đc</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tháo</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khi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gửi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sửa</a:t>
            </a:r>
            <a:r>
              <a:rPr lang="en-US" sz="1500" b="0" i="0" u="none" strike="noStrike" cap="none" dirty="0">
                <a:solidFill>
                  <a:schemeClr val="dk1"/>
                </a:solidFill>
                <a:latin typeface="Times New Roman"/>
                <a:ea typeface="Times New Roman"/>
                <a:cs typeface="Times New Roman"/>
                <a:sym typeface="Times New Roman"/>
              </a:rPr>
              <a:t>.</a:t>
            </a: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1" i="0" u="none" strike="noStrike" cap="none" dirty="0">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dirty="0">
              <a:solidFill>
                <a:srgbClr val="000000"/>
              </a:solidFill>
              <a:latin typeface="Times New Roman"/>
              <a:ea typeface="Times New Roman"/>
              <a:cs typeface="Times New Roman"/>
              <a:sym typeface="Times New Roman"/>
            </a:endParaRPr>
          </a:p>
        </p:txBody>
      </p:sp>
      <p:pic>
        <p:nvPicPr>
          <p:cNvPr id="4"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Tree>
    <p:extLst>
      <p:ext uri="{BB962C8B-B14F-4D97-AF65-F5344CB8AC3E}">
        <p14:creationId xmlns:p14="http://schemas.microsoft.com/office/powerpoint/2010/main" val="3852900704"/>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g31ccdae391d_0_38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68</a:t>
            </a:fld>
            <a:endParaRPr/>
          </a:p>
        </p:txBody>
      </p:sp>
      <p:sp>
        <p:nvSpPr>
          <p:cNvPr id="317" name="Google Shape;317;g31ccdae391d_0_389"/>
          <p:cNvSpPr/>
          <p:nvPr/>
        </p:nvSpPr>
        <p:spPr>
          <a:xfrm>
            <a:off x="652475" y="-304800"/>
            <a:ext cx="11051100" cy="73638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chemeClr val="dk1"/>
              </a:buClr>
              <a:buSzPts val="1800"/>
              <a:buFont typeface="Arial"/>
              <a:buNone/>
            </a:pPr>
            <a:endParaRPr sz="1500" b="1" i="0" u="sng"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1" i="0" u="sng"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a:solidFill>
                  <a:srgbClr val="FF0000"/>
                </a:solidFill>
                <a:latin typeface="Times New Roman"/>
                <a:ea typeface="Times New Roman"/>
                <a:cs typeface="Times New Roman"/>
                <a:sym typeface="Times New Roman"/>
              </a:rPr>
              <a:t>-</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a:solidFill>
                  <a:srgbClr val="FF0000"/>
                </a:solidFill>
                <a:latin typeface="Times New Roman"/>
                <a:ea typeface="Times New Roman"/>
                <a:cs typeface="Times New Roman"/>
                <a:sym typeface="Times New Roman"/>
              </a:rPr>
              <a:t>Đội bay ATR:</a:t>
            </a:r>
            <a:endParaRPr sz="1500" b="0" i="0" u="none" strike="noStrike" cap="none" dirty="0">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Số</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lượng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dự</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phòng</a:t>
            </a:r>
            <a:r>
              <a:rPr lang="en-US" sz="1500" b="0" i="0" u="none" strike="noStrike" cap="none" dirty="0">
                <a:solidFill>
                  <a:schemeClr val="dk1"/>
                </a:solidFill>
                <a:latin typeface="Times New Roman"/>
                <a:ea typeface="Times New Roman"/>
                <a:cs typeface="Times New Roman"/>
                <a:sym typeface="Times New Roman"/>
              </a:rPr>
              <a:t>: 06:  03 ENG </a:t>
            </a:r>
            <a:r>
              <a:rPr lang="en-US" sz="1500" b="0" i="0" u="none" strike="noStrike" cap="none" dirty="0" err="1">
                <a:solidFill>
                  <a:schemeClr val="dk1"/>
                </a:solidFill>
                <a:latin typeface="Times New Roman"/>
                <a:ea typeface="Times New Roman"/>
                <a:cs typeface="Times New Roman"/>
                <a:sym typeface="Times New Roman"/>
              </a:rPr>
              <a:t>sở</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hữu</a:t>
            </a:r>
            <a:r>
              <a:rPr lang="en-US" sz="1500" b="0" i="0" u="none" strike="noStrike" cap="none" dirty="0">
                <a:solidFill>
                  <a:schemeClr val="dk1"/>
                </a:solidFill>
                <a:latin typeface="Times New Roman"/>
                <a:ea typeface="Times New Roman"/>
                <a:cs typeface="Times New Roman"/>
                <a:sym typeface="Times New Roman"/>
              </a:rPr>
              <a:t>, 03 ENG </a:t>
            </a:r>
            <a:r>
              <a:rPr lang="en-US" sz="1500" b="0" i="0" u="none" strike="noStrike" cap="none" dirty="0" err="1">
                <a:solidFill>
                  <a:schemeClr val="dk1"/>
                </a:solidFill>
                <a:latin typeface="Times New Roman"/>
                <a:ea typeface="Times New Roman"/>
                <a:cs typeface="Times New Roman"/>
                <a:sym typeface="Times New Roman"/>
              </a:rPr>
              <a:t>thuê</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ngắn</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hạn</a:t>
            </a:r>
            <a:r>
              <a:rPr lang="en-US" sz="1500" b="0" i="0" u="none" strike="noStrike" cap="none" dirty="0">
                <a:solidFill>
                  <a:schemeClr val="dk1"/>
                </a:solidFill>
                <a:latin typeface="Times New Roman"/>
                <a:ea typeface="Times New Roman"/>
                <a:cs typeface="Times New Roman"/>
                <a:sym typeface="Times New Roman"/>
              </a:rPr>
              <a:t>: (ED0321) (ED0036) (ED0715). </a:t>
            </a: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ED0181, ED0238 </a:t>
            </a:r>
            <a:r>
              <a:rPr lang="en-US" sz="1500" b="0" i="0" u="none" strike="noStrike" cap="none" dirty="0" err="1">
                <a:solidFill>
                  <a:schemeClr val="dk1"/>
                </a:solidFill>
                <a:latin typeface="Times New Roman"/>
                <a:ea typeface="Times New Roman"/>
                <a:cs typeface="Times New Roman"/>
                <a:sym typeface="Times New Roman"/>
              </a:rPr>
              <a:t>đang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sửa</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tại</a:t>
            </a:r>
            <a:r>
              <a:rPr lang="en-US" sz="1500" b="0" i="0" u="none" strike="noStrike" cap="none" dirty="0">
                <a:solidFill>
                  <a:schemeClr val="dk1"/>
                </a:solidFill>
                <a:latin typeface="Times New Roman"/>
                <a:ea typeface="Times New Roman"/>
                <a:cs typeface="Times New Roman"/>
                <a:sym typeface="Times New Roman"/>
              </a:rPr>
              <a:t> shop PWC </a:t>
            </a:r>
            <a:r>
              <a:rPr lang="en-US" sz="1500" b="0" i="0" u="none" strike="noStrike" cap="none" dirty="0" err="1">
                <a:solidFill>
                  <a:schemeClr val="dk1"/>
                </a:solidFill>
                <a:latin typeface="Times New Roman"/>
                <a:ea typeface="Times New Roman"/>
                <a:cs typeface="Times New Roman"/>
                <a:sym typeface="Times New Roman"/>
              </a:rPr>
              <a:t>tại</a:t>
            </a:r>
            <a:r>
              <a:rPr lang="en-US" sz="1500" b="0" i="0" u="none" strike="noStrike" cap="none" dirty="0">
                <a:solidFill>
                  <a:schemeClr val="dk1"/>
                </a:solidFill>
                <a:latin typeface="Times New Roman"/>
                <a:ea typeface="Times New Roman"/>
                <a:cs typeface="Times New Roman"/>
                <a:sym typeface="Times New Roman"/>
              </a:rPr>
              <a:t> SING.</a:t>
            </a: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ED0192, ED0239 </a:t>
            </a:r>
            <a:r>
              <a:rPr lang="en-US" sz="1500" b="0" i="0" u="none" strike="noStrike" cap="none" dirty="0" err="1">
                <a:solidFill>
                  <a:schemeClr val="dk1"/>
                </a:solidFill>
                <a:latin typeface="Times New Roman"/>
                <a:ea typeface="Times New Roman"/>
                <a:cs typeface="Times New Roman"/>
                <a:sym typeface="Times New Roman"/>
              </a:rPr>
              <a:t>đang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sửa</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tại</a:t>
            </a:r>
            <a:r>
              <a:rPr lang="en-US" sz="1500" b="0" i="0" u="none" strike="noStrike" cap="none" dirty="0">
                <a:solidFill>
                  <a:schemeClr val="dk1"/>
                </a:solidFill>
                <a:latin typeface="Times New Roman"/>
                <a:ea typeface="Times New Roman"/>
                <a:cs typeface="Times New Roman"/>
                <a:sym typeface="Times New Roman"/>
              </a:rPr>
              <a:t> SA.</a:t>
            </a: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rgbClr val="FF0000"/>
                </a:solidFill>
                <a:latin typeface="Times New Roman"/>
                <a:ea typeface="Times New Roman"/>
                <a:cs typeface="Times New Roman"/>
                <a:sym typeface="Times New Roman"/>
              </a:rPr>
              <a:t>Vướng</a:t>
            </a:r>
            <a:r>
              <a:rPr lang="en-US" sz="1500" b="0" i="0" u="none" strike="noStrike" cap="none" dirty="0">
                <a:solidFill>
                  <a:srgbClr val="FF0000"/>
                </a:solidFill>
                <a:latin typeface="Times New Roman"/>
                <a:ea typeface="Times New Roman"/>
                <a:cs typeface="Times New Roman"/>
                <a:sym typeface="Times New Roman"/>
              </a:rPr>
              <a:t> </a:t>
            </a:r>
            <a:r>
              <a:rPr lang="en-US" sz="1500" b="0" i="0" u="none" strike="noStrike" cap="none" dirty="0" err="1">
                <a:solidFill>
                  <a:srgbClr val="FF0000"/>
                </a:solidFill>
                <a:latin typeface="Times New Roman"/>
                <a:ea typeface="Times New Roman"/>
                <a:cs typeface="Times New Roman"/>
                <a:sym typeface="Times New Roman"/>
              </a:rPr>
              <a:t>mắc</a:t>
            </a:r>
            <a:r>
              <a:rPr lang="en-US" sz="1500" b="0" i="0" u="none" strike="noStrike" cap="none" dirty="0">
                <a:solidFill>
                  <a:srgbClr val="FF0000"/>
                </a:solidFill>
                <a:latin typeface="Times New Roman"/>
                <a:ea typeface="Times New Roman"/>
                <a:cs typeface="Times New Roman"/>
                <a:sym typeface="Times New Roman"/>
              </a:rPr>
              <a:t>/ </a:t>
            </a:r>
            <a:r>
              <a:rPr lang="en-US" sz="1500" b="0" i="0" u="none" strike="noStrike" cap="none" dirty="0" err="1">
                <a:solidFill>
                  <a:srgbClr val="FF0000"/>
                </a:solidFill>
                <a:latin typeface="Times New Roman"/>
                <a:ea typeface="Times New Roman"/>
                <a:cs typeface="Times New Roman"/>
                <a:sym typeface="Times New Roman"/>
              </a:rPr>
              <a:t>Khó</a:t>
            </a:r>
            <a:r>
              <a:rPr lang="en-US" sz="1500" b="0" i="0" u="none" strike="noStrike" cap="none" dirty="0">
                <a:solidFill>
                  <a:srgbClr val="FF0000"/>
                </a:solidFill>
                <a:latin typeface="Times New Roman"/>
                <a:ea typeface="Times New Roman"/>
                <a:cs typeface="Times New Roman"/>
                <a:sym typeface="Times New Roman"/>
              </a:rPr>
              <a:t> </a:t>
            </a:r>
            <a:r>
              <a:rPr lang="en-US" sz="1500" b="0" i="0" u="none" strike="noStrike" cap="none" dirty="0" err="1">
                <a:solidFill>
                  <a:srgbClr val="FF0000"/>
                </a:solidFill>
                <a:latin typeface="Times New Roman"/>
                <a:ea typeface="Times New Roman"/>
                <a:cs typeface="Times New Roman"/>
                <a:sym typeface="Times New Roman"/>
              </a:rPr>
              <a:t>khăn</a:t>
            </a:r>
            <a:r>
              <a:rPr lang="en-US" sz="1500" b="0" i="0" u="none" strike="noStrike" cap="none" dirty="0">
                <a:solidFill>
                  <a:srgbClr val="FF0000"/>
                </a:solidFill>
                <a:latin typeface="Times New Roman"/>
                <a:ea typeface="Times New Roman"/>
                <a:cs typeface="Times New Roman"/>
                <a:sym typeface="Times New Roman"/>
              </a:rPr>
              <a:t>:</a:t>
            </a:r>
            <a:endParaRPr sz="1500" b="0" i="0" u="none" strike="noStrike" cap="none" dirty="0">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Cần</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ưu</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tiên</a:t>
            </a:r>
            <a:r>
              <a:rPr lang="en-US" sz="1500" b="0" i="0" u="none" strike="noStrike" cap="none" dirty="0">
                <a:solidFill>
                  <a:schemeClr val="dk1"/>
                </a:solidFill>
                <a:latin typeface="Times New Roman"/>
                <a:ea typeface="Times New Roman"/>
                <a:cs typeface="Times New Roman"/>
                <a:sym typeface="Times New Roman"/>
              </a:rPr>
              <a:t> push shop PWC </a:t>
            </a:r>
            <a:r>
              <a:rPr lang="en-US" sz="1500" b="0" i="0" u="none" strike="noStrike" cap="none" dirty="0" err="1">
                <a:solidFill>
                  <a:schemeClr val="dk1"/>
                </a:solidFill>
                <a:latin typeface="Times New Roman"/>
                <a:ea typeface="Times New Roman"/>
                <a:cs typeface="Times New Roman"/>
                <a:sym typeface="Times New Roman"/>
              </a:rPr>
              <a:t>và</a:t>
            </a:r>
            <a:r>
              <a:rPr lang="en-US" sz="1500" b="0" i="0" u="none" strike="noStrike" cap="none" dirty="0">
                <a:solidFill>
                  <a:schemeClr val="dk1"/>
                </a:solidFill>
                <a:latin typeface="Times New Roman"/>
                <a:ea typeface="Times New Roman"/>
                <a:cs typeface="Times New Roman"/>
                <a:sym typeface="Times New Roman"/>
              </a:rPr>
              <a:t> SA </a:t>
            </a:r>
            <a:r>
              <a:rPr lang="en-US" sz="1500" b="0" i="0" u="none" strike="noStrike" cap="none" dirty="0" err="1">
                <a:solidFill>
                  <a:schemeClr val="dk1"/>
                </a:solidFill>
                <a:latin typeface="Times New Roman"/>
                <a:ea typeface="Times New Roman"/>
                <a:cs typeface="Times New Roman"/>
                <a:sym typeface="Times New Roman"/>
              </a:rPr>
              <a:t>để</a:t>
            </a:r>
            <a:r>
              <a:rPr lang="en-US" sz="1500" b="0" i="0" u="none" strike="noStrike" cap="none" dirty="0">
                <a:solidFill>
                  <a:schemeClr val="dk1"/>
                </a:solidFill>
                <a:latin typeface="Times New Roman"/>
                <a:ea typeface="Times New Roman"/>
                <a:cs typeface="Times New Roman"/>
                <a:sym typeface="Times New Roman"/>
              </a:rPr>
              <a:t> 2 ENG ED0181 </a:t>
            </a:r>
            <a:r>
              <a:rPr lang="en-US" sz="1500" dirty="0" err="1">
                <a:solidFill>
                  <a:schemeClr val="dk1"/>
                </a:solidFill>
                <a:latin typeface="Times New Roman"/>
                <a:ea typeface="Times New Roman"/>
                <a:cs typeface="Times New Roman"/>
                <a:sym typeface="Times New Roman"/>
              </a:rPr>
              <a:t>hoặc</a:t>
            </a:r>
            <a:r>
              <a:rPr lang="en-US" sz="1500" dirty="0">
                <a:solidFill>
                  <a:schemeClr val="dk1"/>
                </a:solidFill>
                <a:latin typeface="Times New Roman"/>
                <a:ea typeface="Times New Roman"/>
                <a:cs typeface="Times New Roman"/>
                <a:sym typeface="Times New Roman"/>
              </a:rPr>
              <a:t> </a:t>
            </a:r>
            <a:r>
              <a:rPr lang="en-US" sz="1500" b="0" i="0" u="none" strike="noStrike" cap="none" dirty="0">
                <a:solidFill>
                  <a:schemeClr val="dk1"/>
                </a:solidFill>
                <a:latin typeface="Times New Roman"/>
                <a:ea typeface="Times New Roman"/>
                <a:cs typeface="Times New Roman"/>
                <a:sym typeface="Times New Roman"/>
              </a:rPr>
              <a:t>ED0</a:t>
            </a:r>
            <a:r>
              <a:rPr lang="en-US" sz="1500" dirty="0">
                <a:solidFill>
                  <a:schemeClr val="dk1"/>
                </a:solidFill>
                <a:latin typeface="Times New Roman"/>
                <a:ea typeface="Times New Roman"/>
                <a:cs typeface="Times New Roman"/>
                <a:sym typeface="Times New Roman"/>
              </a:rPr>
              <a:t>192</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tàu</a:t>
            </a:r>
            <a:r>
              <a:rPr lang="en-US" sz="1500" b="0" i="0" u="none" strike="noStrike" cap="none" dirty="0">
                <a:solidFill>
                  <a:schemeClr val="dk1"/>
                </a:solidFill>
                <a:latin typeface="Times New Roman"/>
                <a:ea typeface="Times New Roman"/>
                <a:cs typeface="Times New Roman"/>
                <a:sym typeface="Times New Roman"/>
              </a:rPr>
              <a:t> B225 </a:t>
            </a:r>
            <a:r>
              <a:rPr lang="en-US" sz="1500" b="0" i="0" u="none" strike="noStrike" cap="none" dirty="0" err="1">
                <a:solidFill>
                  <a:schemeClr val="dk1"/>
                </a:solidFill>
                <a:latin typeface="Times New Roman"/>
                <a:ea typeface="Times New Roman"/>
                <a:cs typeface="Times New Roman"/>
                <a:sym typeface="Times New Roman"/>
              </a:rPr>
              <a:t>vào</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khai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thác</a:t>
            </a:r>
            <a:r>
              <a:rPr lang="en-US" sz="1500" b="0" i="0" u="none" strike="noStrike" cap="none" dirty="0">
                <a:solidFill>
                  <a:schemeClr val="dk1"/>
                </a:solidFill>
                <a:latin typeface="Times New Roman"/>
                <a:ea typeface="Times New Roman"/>
                <a:cs typeface="Times New Roman"/>
                <a:sym typeface="Times New Roman"/>
              </a:rPr>
              <a:t>.</a:t>
            </a: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&gt;ED0181:</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động</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cơ</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đã</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được</a:t>
            </a:r>
            <a:r>
              <a:rPr lang="en-US" sz="1500" dirty="0">
                <a:solidFill>
                  <a:schemeClr val="dk1"/>
                </a:solidFill>
                <a:latin typeface="Times New Roman"/>
                <a:ea typeface="Times New Roman"/>
                <a:cs typeface="Times New Roman"/>
                <a:sym typeface="Times New Roman"/>
              </a:rPr>
              <a:t> released, </a:t>
            </a:r>
            <a:r>
              <a:rPr lang="en-US" sz="1500" dirty="0" err="1" smtClean="0">
                <a:solidFill>
                  <a:schemeClr val="dk1"/>
                </a:solidFill>
                <a:latin typeface="Times New Roman"/>
                <a:ea typeface="Times New Roman"/>
                <a:cs typeface="Times New Roman"/>
                <a:sym typeface="Times New Roman"/>
              </a:rPr>
              <a:t>về</a:t>
            </a:r>
            <a:r>
              <a:rPr lang="en-US" sz="1500" dirty="0" smtClean="0">
                <a:solidFill>
                  <a:schemeClr val="dk1"/>
                </a:solidFill>
                <a:latin typeface="Times New Roman"/>
                <a:ea typeface="Times New Roman"/>
                <a:cs typeface="Times New Roman"/>
                <a:sym typeface="Times New Roman"/>
              </a:rPr>
              <a:t> </a:t>
            </a:r>
            <a:r>
              <a:rPr lang="en-US" sz="1500" dirty="0">
                <a:solidFill>
                  <a:schemeClr val="dk1"/>
                </a:solidFill>
                <a:latin typeface="Times New Roman"/>
                <a:ea typeface="Times New Roman"/>
                <a:cs typeface="Times New Roman"/>
                <a:sym typeface="Times New Roman"/>
              </a:rPr>
              <a:t>SGN </a:t>
            </a:r>
            <a:r>
              <a:rPr lang="en-US" sz="1500" dirty="0" err="1">
                <a:solidFill>
                  <a:schemeClr val="dk1"/>
                </a:solidFill>
                <a:latin typeface="Times New Roman"/>
                <a:ea typeface="Times New Roman"/>
                <a:cs typeface="Times New Roman"/>
                <a:sym typeface="Times New Roman"/>
              </a:rPr>
              <a:t>ngày</a:t>
            </a:r>
            <a:r>
              <a:rPr lang="en-US" sz="1500" dirty="0">
                <a:solidFill>
                  <a:schemeClr val="dk1"/>
                </a:solidFill>
                <a:latin typeface="Times New Roman"/>
                <a:ea typeface="Times New Roman"/>
                <a:cs typeface="Times New Roman"/>
                <a:sym typeface="Times New Roman"/>
              </a:rPr>
              <a:t> 12/01/2025</a:t>
            </a: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&gt;ED0</a:t>
            </a:r>
            <a:r>
              <a:rPr lang="en-US" sz="1500" dirty="0">
                <a:solidFill>
                  <a:schemeClr val="dk1"/>
                </a:solidFill>
                <a:latin typeface="Times New Roman"/>
                <a:ea typeface="Times New Roman"/>
                <a:cs typeface="Times New Roman"/>
                <a:sym typeface="Times New Roman"/>
              </a:rPr>
              <a:t>192</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dk</a:t>
            </a:r>
            <a:r>
              <a:rPr lang="en-US" sz="1500" b="0" i="0" u="none" strike="noStrike" cap="none" dirty="0">
                <a:solidFill>
                  <a:schemeClr val="dk1"/>
                </a:solidFill>
                <a:latin typeface="Times New Roman"/>
                <a:ea typeface="Times New Roman"/>
                <a:cs typeface="Times New Roman"/>
                <a:sym typeface="Times New Roman"/>
              </a:rPr>
              <a:t> 16/01/2025 </a:t>
            </a:r>
            <a:r>
              <a:rPr lang="en-US" sz="1500" b="0" i="0" u="none" strike="noStrike" cap="none" dirty="0" err="1">
                <a:solidFill>
                  <a:schemeClr val="dk1"/>
                </a:solidFill>
                <a:latin typeface="Times New Roman"/>
                <a:ea typeface="Times New Roman"/>
                <a:cs typeface="Times New Roman"/>
                <a:sym typeface="Times New Roman"/>
              </a:rPr>
              <a:t>s</a:t>
            </a:r>
            <a:r>
              <a:rPr lang="en-US" sz="1500" dirty="0" err="1">
                <a:solidFill>
                  <a:schemeClr val="dk1"/>
                </a:solidFill>
                <a:latin typeface="Times New Roman"/>
                <a:ea typeface="Times New Roman"/>
                <a:cs typeface="Times New Roman"/>
                <a:sym typeface="Times New Roman"/>
              </a:rPr>
              <a:t>ửa</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xong</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dk</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nhận</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động</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cơ</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ngày</a:t>
            </a:r>
            <a:r>
              <a:rPr lang="en-US" sz="1500" dirty="0">
                <a:solidFill>
                  <a:schemeClr val="dk1"/>
                </a:solidFill>
                <a:latin typeface="Times New Roman"/>
                <a:ea typeface="Times New Roman"/>
                <a:cs typeface="Times New Roman"/>
                <a:sym typeface="Times New Roman"/>
              </a:rPr>
              <a:t> 23/01/2025.</a:t>
            </a:r>
            <a:endParaRPr sz="1500"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rgbClr val="FF0000"/>
                </a:solidFill>
                <a:latin typeface="Times New Roman"/>
                <a:ea typeface="Times New Roman"/>
                <a:cs typeface="Times New Roman"/>
                <a:sym typeface="Times New Roman"/>
              </a:rPr>
              <a:t>Giải</a:t>
            </a:r>
            <a:r>
              <a:rPr lang="en-US" sz="1500" b="0" i="0" u="none" strike="noStrike" cap="none" dirty="0">
                <a:solidFill>
                  <a:srgbClr val="FF0000"/>
                </a:solidFill>
                <a:latin typeface="Times New Roman"/>
                <a:ea typeface="Times New Roman"/>
                <a:cs typeface="Times New Roman"/>
                <a:sym typeface="Times New Roman"/>
              </a:rPr>
              <a:t> </a:t>
            </a:r>
            <a:r>
              <a:rPr lang="en-US" sz="1500" b="0" i="0" u="none" strike="noStrike" cap="none" dirty="0" err="1">
                <a:solidFill>
                  <a:srgbClr val="FF0000"/>
                </a:solidFill>
                <a:latin typeface="Times New Roman"/>
                <a:ea typeface="Times New Roman"/>
                <a:cs typeface="Times New Roman"/>
                <a:sym typeface="Times New Roman"/>
              </a:rPr>
              <a:t>pháp</a:t>
            </a:r>
            <a:r>
              <a:rPr lang="en-US" sz="1500" b="0" i="0" u="none" strike="noStrike" cap="none" dirty="0">
                <a:solidFill>
                  <a:srgbClr val="FF0000"/>
                </a:solidFill>
                <a:latin typeface="Times New Roman"/>
                <a:ea typeface="Times New Roman"/>
                <a:cs typeface="Times New Roman"/>
                <a:sym typeface="Times New Roman"/>
              </a:rPr>
              <a:t>:</a:t>
            </a: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Tiếp</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tục</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theo</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sát</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và</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giục</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sửa</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chữa</a:t>
            </a:r>
            <a:r>
              <a:rPr lang="en-US" sz="1500" b="0" i="0" u="none" strike="noStrike" cap="none" dirty="0">
                <a:solidFill>
                  <a:schemeClr val="dk1"/>
                </a:solidFill>
                <a:latin typeface="Times New Roman"/>
                <a:ea typeface="Times New Roman"/>
                <a:cs typeface="Times New Roman"/>
                <a:sym typeface="Times New Roman"/>
              </a:rPr>
              <a:t> ENG </a:t>
            </a:r>
            <a:r>
              <a:rPr lang="en-US" sz="1500" b="0" i="0" u="none" strike="noStrike" cap="none" dirty="0" err="1">
                <a:solidFill>
                  <a:schemeClr val="dk1"/>
                </a:solidFill>
                <a:latin typeface="Times New Roman"/>
                <a:ea typeface="Times New Roman"/>
                <a:cs typeface="Times New Roman"/>
                <a:sym typeface="Times New Roman"/>
              </a:rPr>
              <a:t>tại</a:t>
            </a:r>
            <a:r>
              <a:rPr lang="en-US" sz="1500" b="0" i="0" u="none" strike="noStrike" cap="none" dirty="0">
                <a:solidFill>
                  <a:schemeClr val="dk1"/>
                </a:solidFill>
                <a:latin typeface="Times New Roman"/>
                <a:ea typeface="Times New Roman"/>
                <a:cs typeface="Times New Roman"/>
                <a:sym typeface="Times New Roman"/>
              </a:rPr>
              <a:t> PWC </a:t>
            </a:r>
            <a:r>
              <a:rPr lang="en-US" sz="1500" b="0" i="0" u="none" strike="noStrike" cap="none" dirty="0" err="1">
                <a:solidFill>
                  <a:schemeClr val="dk1"/>
                </a:solidFill>
                <a:latin typeface="Times New Roman"/>
                <a:ea typeface="Times New Roman"/>
                <a:cs typeface="Times New Roman"/>
                <a:sym typeface="Times New Roman"/>
              </a:rPr>
              <a:t>để</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động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cơ</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về</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kịp</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kế</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hoạch</a:t>
            </a:r>
            <a:r>
              <a:rPr lang="en-US" sz="1500" b="0" i="0" u="none" strike="noStrike" cap="none" dirty="0">
                <a:solidFill>
                  <a:schemeClr val="dk1"/>
                </a:solidFill>
                <a:latin typeface="Times New Roman"/>
                <a:ea typeface="Times New Roman"/>
                <a:cs typeface="Times New Roman"/>
                <a:sym typeface="Times New Roman"/>
              </a:rPr>
              <a:t>.</a:t>
            </a: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1" i="0" u="sng"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1" i="0" u="sng" strike="noStrike" cap="none" dirty="0">
              <a:solidFill>
                <a:srgbClr val="000000"/>
              </a:solidFill>
              <a:latin typeface="Times New Roman"/>
              <a:ea typeface="Times New Roman"/>
              <a:cs typeface="Times New Roman"/>
              <a:sym typeface="Times New Roman"/>
            </a:endParaRPr>
          </a:p>
        </p:txBody>
      </p:sp>
      <p:pic>
        <p:nvPicPr>
          <p:cNvPr id="318" name="Google Shape;318;g31ccdae391d_0_389"/>
          <p:cNvPicPr preferRelativeResize="0"/>
          <p:nvPr/>
        </p:nvPicPr>
        <p:blipFill>
          <a:blip r:embed="rId3">
            <a:alphaModFix/>
          </a:blip>
          <a:stretch>
            <a:fillRect/>
          </a:stretch>
        </p:blipFill>
        <p:spPr>
          <a:xfrm>
            <a:off x="578375" y="2990076"/>
            <a:ext cx="10557824" cy="3002950"/>
          </a:xfrm>
          <a:prstGeom prst="rect">
            <a:avLst/>
          </a:prstGeom>
          <a:noFill/>
          <a:ln>
            <a:noFill/>
          </a:ln>
        </p:spPr>
      </p:pic>
      <p:pic>
        <p:nvPicPr>
          <p:cNvPr id="5" name="Google Shape;36;p4" descr="A black and yellow lines on a blue surface&#10;&#10;Description automatically generated"/>
          <p:cNvPicPr preferRelativeResize="0"/>
          <p:nvPr/>
        </p:nvPicPr>
        <p:blipFill rotWithShape="1">
          <a:blip r:embed="rId4">
            <a:alphaModFix/>
          </a:blip>
          <a:srcRect/>
          <a:stretch/>
        </p:blipFill>
        <p:spPr>
          <a:xfrm>
            <a:off x="8650521" y="4650486"/>
            <a:ext cx="3545983" cy="2207517"/>
          </a:xfrm>
          <a:prstGeom prst="rect">
            <a:avLst/>
          </a:prstGeom>
          <a:noFill/>
          <a:ln>
            <a:noFill/>
          </a:ln>
        </p:spPr>
      </p:pic>
    </p:spTree>
    <p:extLst>
      <p:ext uri="{BB962C8B-B14F-4D97-AF65-F5344CB8AC3E}">
        <p14:creationId xmlns:p14="http://schemas.microsoft.com/office/powerpoint/2010/main" val="4038684126"/>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g31ccdae391d_0_396"/>
          <p:cNvSpPr txBox="1">
            <a:spLocks noGrp="1"/>
          </p:cNvSpPr>
          <p:nvPr>
            <p:ph type="title"/>
          </p:nvPr>
        </p:nvSpPr>
        <p:spPr>
          <a:xfrm>
            <a:off x="913579" y="-5641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Kế hoạch động cơ </a:t>
            </a:r>
            <a:endParaRPr sz="2800">
              <a:solidFill>
                <a:srgbClr val="FFC000"/>
              </a:solidFill>
              <a:latin typeface="Times New Roman"/>
              <a:ea typeface="Times New Roman"/>
              <a:cs typeface="Times New Roman"/>
              <a:sym typeface="Times New Roman"/>
            </a:endParaRPr>
          </a:p>
        </p:txBody>
      </p:sp>
      <p:sp>
        <p:nvSpPr>
          <p:cNvPr id="325" name="Google Shape;325;g31ccdae391d_0_396"/>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69</a:t>
            </a:fld>
            <a:endParaRPr/>
          </a:p>
        </p:txBody>
      </p:sp>
      <p:sp>
        <p:nvSpPr>
          <p:cNvPr id="326" name="Google Shape;326;g31ccdae391d_0_396"/>
          <p:cNvSpPr/>
          <p:nvPr/>
        </p:nvSpPr>
        <p:spPr>
          <a:xfrm>
            <a:off x="609900" y="268038"/>
            <a:ext cx="10972200" cy="6626700"/>
          </a:xfrm>
          <a:prstGeom prst="rect">
            <a:avLst/>
          </a:prstGeom>
          <a:noFill/>
          <a:ln>
            <a:noFill/>
          </a:ln>
        </p:spPr>
        <p:txBody>
          <a:bodyPr spcFirstLastPara="1" wrap="square" lIns="91425" tIns="45700" rIns="91425" bIns="45700" anchor="t" anchorCtr="0">
            <a:noAutofit/>
          </a:bodyPr>
          <a:lstStyle/>
          <a:p>
            <a:pPr marL="0" marR="0" lvl="0" indent="0" algn="just" rtl="0">
              <a:lnSpc>
                <a:spcPct val="115000"/>
              </a:lnSpc>
              <a:spcBef>
                <a:spcPts val="0"/>
              </a:spcBef>
              <a:spcAft>
                <a:spcPts val="0"/>
              </a:spcAft>
              <a:buClr>
                <a:srgbClr val="000000"/>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A350: </a:t>
            </a:r>
            <a:r>
              <a:rPr lang="en-US" sz="1600" dirty="0">
                <a:solidFill>
                  <a:schemeClr val="dk1"/>
                </a:solidFill>
                <a:latin typeface="Times New Roman"/>
                <a:ea typeface="Times New Roman"/>
                <a:cs typeface="Times New Roman"/>
                <a:sym typeface="Times New Roman"/>
              </a:rPr>
              <a:t>NIL stock</a:t>
            </a:r>
            <a:r>
              <a:rPr lang="en-US" sz="1600" b="0" i="0" u="none" strike="noStrike" cap="none" dirty="0">
                <a:solidFill>
                  <a:schemeClr val="dk1"/>
                </a:solidFill>
                <a:latin typeface="Times New Roman"/>
                <a:ea typeface="Times New Roman"/>
                <a:cs typeface="Times New Roman"/>
                <a:sym typeface="Times New Roman"/>
              </a:rPr>
              <a:t>.</a:t>
            </a:r>
            <a:endParaRPr sz="1600" b="0" i="0" u="none" strike="noStrike" cap="none"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+ 01 </a:t>
            </a:r>
            <a:r>
              <a:rPr lang="en-US" sz="1600" dirty="0" err="1">
                <a:solidFill>
                  <a:schemeClr val="dk1"/>
                </a:solidFill>
                <a:latin typeface="Times New Roman"/>
                <a:ea typeface="Times New Roman"/>
                <a:cs typeface="Times New Roman"/>
                <a:sym typeface="Times New Roman"/>
              </a:rPr>
              <a:t>động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cơ</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thuê</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mới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23/01 </a:t>
            </a:r>
            <a:r>
              <a:rPr lang="en-US" sz="1600" dirty="0" err="1">
                <a:solidFill>
                  <a:schemeClr val="dk1"/>
                </a:solidFill>
                <a:latin typeface="Times New Roman"/>
                <a:ea typeface="Times New Roman"/>
                <a:cs typeface="Times New Roman"/>
                <a:sym typeface="Times New Roman"/>
              </a:rPr>
              <a:t>về</a:t>
            </a:r>
            <a:r>
              <a:rPr lang="en-US" sz="1600" dirty="0">
                <a:solidFill>
                  <a:schemeClr val="dk1"/>
                </a:solidFill>
                <a:latin typeface="Times New Roman"/>
                <a:ea typeface="Times New Roman"/>
                <a:cs typeface="Times New Roman"/>
                <a:sym typeface="Times New Roman"/>
              </a:rPr>
              <a:t> HAN.</a:t>
            </a:r>
            <a:endParaRPr sz="1600" dirty="0">
              <a:solidFill>
                <a:schemeClr val="dk1"/>
              </a:solidFill>
              <a:latin typeface="Times New Roman"/>
              <a:ea typeface="Times New Roman"/>
              <a:cs typeface="Times New Roman"/>
              <a:sym typeface="Times New Roman"/>
            </a:endParaRPr>
          </a:p>
          <a:p>
            <a:pPr marL="914400" marR="0" lvl="0" indent="0" algn="just" rtl="0">
              <a:lnSpc>
                <a:spcPct val="115000"/>
              </a:lnSpc>
              <a:spcBef>
                <a:spcPts val="0"/>
              </a:spcBef>
              <a:spcAft>
                <a:spcPts val="0"/>
              </a:spcAft>
              <a:buNone/>
            </a:pPr>
            <a:endParaRPr sz="1600" dirty="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B787:</a:t>
            </a:r>
            <a:r>
              <a:rPr lang="en-US" sz="1600" b="0" i="0" u="none" strike="noStrike" cap="none" dirty="0">
                <a:solidFill>
                  <a:schemeClr val="dk1"/>
                </a:solidFill>
                <a:latin typeface="Times New Roman"/>
                <a:ea typeface="Times New Roman"/>
                <a:cs typeface="Times New Roman"/>
                <a:sym typeface="Times New Roman"/>
              </a:rPr>
              <a:t> NIL stock.</a:t>
            </a:r>
            <a:endParaRPr sz="1600"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r>
              <a:rPr lang="en-US" sz="1600" dirty="0">
                <a:solidFill>
                  <a:schemeClr val="dk1"/>
                </a:solidFill>
                <a:latin typeface="Times New Roman"/>
                <a:ea typeface="Times New Roman"/>
                <a:cs typeface="Times New Roman"/>
                <a:sym typeface="Times New Roman"/>
              </a:rPr>
              <a:t>+</a:t>
            </a:r>
            <a:r>
              <a:rPr lang="en-US" sz="1600" dirty="0" err="1">
                <a:solidFill>
                  <a:schemeClr val="dk1"/>
                </a:solidFill>
                <a:latin typeface="Times New Roman"/>
                <a:ea typeface="Times New Roman"/>
                <a:cs typeface="Times New Roman"/>
                <a:sym typeface="Times New Roman"/>
              </a:rPr>
              <a:t>Động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cơ</a:t>
            </a:r>
            <a:r>
              <a:rPr lang="en-US" sz="1600" dirty="0">
                <a:solidFill>
                  <a:schemeClr val="dk1"/>
                </a:solidFill>
                <a:latin typeface="Times New Roman"/>
                <a:ea typeface="Times New Roman"/>
                <a:cs typeface="Times New Roman"/>
                <a:sym typeface="Times New Roman"/>
              </a:rPr>
              <a:t> 958541 </a:t>
            </a:r>
            <a:r>
              <a:rPr lang="en-US" sz="1600" dirty="0" err="1">
                <a:solidFill>
                  <a:schemeClr val="dk1"/>
                </a:solidFill>
                <a:latin typeface="Times New Roman"/>
                <a:ea typeface="Times New Roman"/>
                <a:cs typeface="Times New Roman"/>
                <a:sym typeface="Times New Roman"/>
              </a:rPr>
              <a:t>sửa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tại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GE_CAl</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về</a:t>
            </a:r>
            <a:r>
              <a:rPr lang="en-US" sz="1600" dirty="0">
                <a:solidFill>
                  <a:schemeClr val="dk1"/>
                </a:solidFill>
                <a:latin typeface="Times New Roman"/>
                <a:ea typeface="Times New Roman"/>
                <a:cs typeface="Times New Roman"/>
                <a:sym typeface="Times New Roman"/>
              </a:rPr>
              <a:t> SGN </a:t>
            </a:r>
            <a:r>
              <a:rPr lang="en-US" sz="1600" dirty="0" err="1">
                <a:solidFill>
                  <a:schemeClr val="dk1"/>
                </a:solidFill>
                <a:latin typeface="Times New Roman"/>
                <a:ea typeface="Times New Roman"/>
                <a:cs typeface="Times New Roman"/>
                <a:sym typeface="Times New Roman"/>
              </a:rPr>
              <a:t>ngày</a:t>
            </a:r>
            <a:r>
              <a:rPr lang="en-US" sz="1600" dirty="0">
                <a:solidFill>
                  <a:schemeClr val="dk1"/>
                </a:solidFill>
                <a:latin typeface="Times New Roman"/>
                <a:ea typeface="Times New Roman"/>
                <a:cs typeface="Times New Roman"/>
                <a:sym typeface="Times New Roman"/>
              </a:rPr>
              <a:t> 12/Jan, </a:t>
            </a:r>
            <a:r>
              <a:rPr lang="en-US" sz="1600" dirty="0" err="1">
                <a:solidFill>
                  <a:schemeClr val="dk1"/>
                </a:solidFill>
                <a:latin typeface="Times New Roman"/>
                <a:ea typeface="Times New Roman"/>
                <a:cs typeface="Times New Roman"/>
                <a:sym typeface="Times New Roman"/>
              </a:rPr>
              <a:t>giao</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cho</a:t>
            </a:r>
            <a:r>
              <a:rPr lang="en-US" sz="1600" dirty="0">
                <a:solidFill>
                  <a:schemeClr val="dk1"/>
                </a:solidFill>
                <a:latin typeface="Times New Roman"/>
                <a:ea typeface="Times New Roman"/>
                <a:cs typeface="Times New Roman"/>
                <a:sym typeface="Times New Roman"/>
              </a:rPr>
              <a:t> Vaeco 13/Jan.</a:t>
            </a:r>
            <a:endParaRPr sz="1600"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Động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cơ</a:t>
            </a:r>
            <a:r>
              <a:rPr lang="en-US" sz="1600" dirty="0">
                <a:solidFill>
                  <a:schemeClr val="dk1"/>
                </a:solidFill>
                <a:latin typeface="Times New Roman"/>
                <a:ea typeface="Times New Roman"/>
                <a:cs typeface="Times New Roman"/>
                <a:sym typeface="Times New Roman"/>
              </a:rPr>
              <a:t> 956537 </a:t>
            </a:r>
            <a:r>
              <a:rPr lang="en-US" sz="1600" dirty="0" err="1">
                <a:solidFill>
                  <a:schemeClr val="dk1"/>
                </a:solidFill>
                <a:latin typeface="Times New Roman"/>
                <a:ea typeface="Times New Roman"/>
                <a:cs typeface="Times New Roman"/>
                <a:sym typeface="Times New Roman"/>
              </a:rPr>
              <a:t>sửa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tại</a:t>
            </a:r>
            <a:r>
              <a:rPr lang="en-US" sz="1600" dirty="0">
                <a:solidFill>
                  <a:schemeClr val="dk1"/>
                </a:solidFill>
                <a:latin typeface="Times New Roman"/>
                <a:ea typeface="Times New Roman"/>
                <a:cs typeface="Times New Roman"/>
                <a:sym typeface="Times New Roman"/>
              </a:rPr>
              <a:t> GE_CAL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xong</a:t>
            </a:r>
            <a:r>
              <a:rPr lang="en-US" sz="1600" dirty="0">
                <a:solidFill>
                  <a:schemeClr val="dk1"/>
                </a:solidFill>
                <a:latin typeface="Times New Roman"/>
                <a:ea typeface="Times New Roman"/>
                <a:cs typeface="Times New Roman"/>
                <a:sym typeface="Times New Roman"/>
              </a:rPr>
              <a:t> 16/Feb/2025</a:t>
            </a:r>
            <a:endParaRPr sz="1600"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Động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cơ</a:t>
            </a:r>
            <a:r>
              <a:rPr lang="en-US" sz="1600" dirty="0">
                <a:solidFill>
                  <a:schemeClr val="dk1"/>
                </a:solidFill>
                <a:latin typeface="Times New Roman"/>
                <a:ea typeface="Times New Roman"/>
                <a:cs typeface="Times New Roman"/>
                <a:sym typeface="Times New Roman"/>
              </a:rPr>
              <a:t> 956556 </a:t>
            </a:r>
            <a:r>
              <a:rPr lang="en-US" sz="1600" dirty="0" err="1">
                <a:solidFill>
                  <a:schemeClr val="dk1"/>
                </a:solidFill>
                <a:latin typeface="Times New Roman"/>
                <a:ea typeface="Times New Roman"/>
                <a:cs typeface="Times New Roman"/>
                <a:sym typeface="Times New Roman"/>
              </a:rPr>
              <a:t>sửa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tại</a:t>
            </a:r>
            <a:r>
              <a:rPr lang="en-US" sz="1600" dirty="0">
                <a:solidFill>
                  <a:schemeClr val="dk1"/>
                </a:solidFill>
                <a:latin typeface="Times New Roman"/>
                <a:ea typeface="Times New Roman"/>
                <a:cs typeface="Times New Roman"/>
                <a:sym typeface="Times New Roman"/>
              </a:rPr>
              <a:t> KLM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xong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cuối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tháng</a:t>
            </a:r>
            <a:r>
              <a:rPr lang="en-US" sz="1600" dirty="0">
                <a:solidFill>
                  <a:schemeClr val="dk1"/>
                </a:solidFill>
                <a:latin typeface="Times New Roman"/>
                <a:ea typeface="Times New Roman"/>
                <a:cs typeface="Times New Roman"/>
                <a:sym typeface="Times New Roman"/>
              </a:rPr>
              <a:t> 3/2025</a:t>
            </a:r>
            <a:endParaRPr sz="1600"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rgbClr val="000000"/>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A321 CEO </a:t>
            </a:r>
            <a:r>
              <a:rPr lang="en-US" sz="1600" b="0" i="0" u="none" strike="noStrike" cap="none" dirty="0">
                <a:solidFill>
                  <a:schemeClr val="dk1"/>
                </a:solidFill>
                <a:latin typeface="Times New Roman"/>
                <a:ea typeface="Times New Roman"/>
                <a:cs typeface="Times New Roman"/>
                <a:sym typeface="Times New Roman"/>
              </a:rPr>
              <a:t>: </a:t>
            </a: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Clr>
                <a:srgbClr val="000000"/>
              </a:buClr>
              <a:buSzPts val="1600"/>
              <a:buFont typeface="Arial"/>
              <a:buNone/>
            </a:pP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Động</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cơ</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về</a:t>
            </a:r>
            <a:r>
              <a:rPr lang="en-US" sz="1600" b="0" i="0" u="none" strike="noStrike" cap="none" dirty="0">
                <a:solidFill>
                  <a:schemeClr val="dk1"/>
                </a:solidFill>
                <a:latin typeface="Times New Roman"/>
                <a:ea typeface="Times New Roman"/>
                <a:cs typeface="Times New Roman"/>
                <a:sym typeface="Times New Roman"/>
              </a:rPr>
              <a:t> trong </a:t>
            </a:r>
            <a:r>
              <a:rPr lang="en-US" sz="1600" b="0" i="0" u="none" strike="noStrike" cap="none" dirty="0" err="1">
                <a:solidFill>
                  <a:schemeClr val="dk1"/>
                </a:solidFill>
                <a:latin typeface="Times New Roman"/>
                <a:ea typeface="Times New Roman"/>
                <a:cs typeface="Times New Roman"/>
                <a:sym typeface="Times New Roman"/>
              </a:rPr>
              <a:t>tháng</a:t>
            </a:r>
            <a:r>
              <a:rPr lang="en-US" sz="1600" b="0" i="0" u="none" strike="noStrike" cap="none" dirty="0">
                <a:solidFill>
                  <a:schemeClr val="dk1"/>
                </a:solidFill>
                <a:latin typeface="Times New Roman"/>
                <a:ea typeface="Times New Roman"/>
                <a:cs typeface="Times New Roman"/>
                <a:sym typeface="Times New Roman"/>
              </a:rPr>
              <a:t> 1</a:t>
            </a:r>
            <a:r>
              <a:rPr lang="en-US" sz="1600" dirty="0">
                <a:solidFill>
                  <a:schemeClr val="dk1"/>
                </a:solidFill>
                <a:latin typeface="Times New Roman"/>
                <a:ea typeface="Times New Roman"/>
                <a:cs typeface="Times New Roman"/>
                <a:sym typeface="Times New Roman"/>
              </a:rPr>
              <a:t>: V17951 (15/1/2025), V16001  (18/1/2025</a:t>
            </a:r>
            <a:r>
              <a:rPr lang="en-US" sz="1600" dirty="0" smtClean="0">
                <a:solidFill>
                  <a:schemeClr val="dk1"/>
                </a:solidFill>
                <a:latin typeface="Times New Roman"/>
                <a:ea typeface="Times New Roman"/>
                <a:cs typeface="Times New Roman"/>
                <a:sym typeface="Times New Roman"/>
              </a:rPr>
              <a:t>).</a:t>
            </a:r>
            <a:endParaRPr sz="1600" b="0" i="0" u="none" strike="noStrike" cap="none" dirty="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A321 NEO</a:t>
            </a:r>
            <a:r>
              <a:rPr lang="en-US" sz="1600" b="0" i="0" u="none" strike="noStrike" cap="none" dirty="0">
                <a:solidFill>
                  <a:schemeClr val="dk1"/>
                </a:solidFill>
                <a:latin typeface="Times New Roman"/>
                <a:ea typeface="Times New Roman"/>
                <a:cs typeface="Times New Roman"/>
                <a:sym typeface="Times New Roman"/>
              </a:rPr>
              <a:t>:</a:t>
            </a:r>
            <a:endParaRPr sz="1600"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 P771056 </a:t>
            </a:r>
            <a:r>
              <a:rPr lang="en-US" sz="1600" dirty="0" err="1">
                <a:solidFill>
                  <a:schemeClr val="dk1"/>
                </a:solidFill>
                <a:latin typeface="Times New Roman"/>
                <a:ea typeface="Times New Roman"/>
                <a:cs typeface="Times New Roman"/>
                <a:sym typeface="Times New Roman"/>
              </a:rPr>
              <a:t>về</a:t>
            </a:r>
            <a:r>
              <a:rPr lang="en-US" sz="1600" dirty="0">
                <a:solidFill>
                  <a:schemeClr val="dk1"/>
                </a:solidFill>
                <a:latin typeface="Times New Roman"/>
                <a:ea typeface="Times New Roman"/>
                <a:cs typeface="Times New Roman"/>
                <a:sym typeface="Times New Roman"/>
              </a:rPr>
              <a:t> Vaeco Han 09/01/2025</a:t>
            </a:r>
            <a:endParaRPr sz="1600"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 P770903</a:t>
            </a:r>
            <a:r>
              <a:rPr lang="en-US" sz="1500" dirty="0">
                <a:solidFill>
                  <a:schemeClr val="dk1"/>
                </a:solidFill>
                <a:latin typeface="Times New Roman"/>
                <a:ea typeface="Times New Roman"/>
                <a:cs typeface="Times New Roman"/>
                <a:sym typeface="Times New Roman"/>
              </a:rPr>
              <a:t>: TAT forecast </a:t>
            </a:r>
            <a:r>
              <a:rPr lang="en-US" sz="1500" dirty="0" err="1">
                <a:solidFill>
                  <a:schemeClr val="dk1"/>
                </a:solidFill>
                <a:latin typeface="Times New Roman"/>
                <a:ea typeface="Times New Roman"/>
                <a:cs typeface="Times New Roman"/>
                <a:sym typeface="Times New Roman"/>
              </a:rPr>
              <a:t>tăng</a:t>
            </a:r>
            <a:r>
              <a:rPr lang="en-US" sz="1500" dirty="0">
                <a:solidFill>
                  <a:schemeClr val="dk1"/>
                </a:solidFill>
                <a:latin typeface="Times New Roman"/>
                <a:ea typeface="Times New Roman"/>
                <a:cs typeface="Times New Roman"/>
                <a:sym typeface="Times New Roman"/>
              </a:rPr>
              <a:t> 20 days</a:t>
            </a:r>
            <a:endParaRPr sz="1600" dirty="0">
              <a:solidFill>
                <a:schemeClr val="dk1"/>
              </a:solidFill>
              <a:latin typeface="Times New Roman"/>
              <a:ea typeface="Times New Roman"/>
              <a:cs typeface="Times New Roman"/>
              <a:sym typeface="Times New Roman"/>
            </a:endParaRPr>
          </a:p>
          <a:p>
            <a:pPr marL="914400" marR="0" lvl="0" indent="0" algn="just" rtl="0">
              <a:lnSpc>
                <a:spcPct val="115000"/>
              </a:lnSpc>
              <a:spcBef>
                <a:spcPts val="0"/>
              </a:spcBef>
              <a:spcAft>
                <a:spcPts val="0"/>
              </a:spcAft>
              <a:buClr>
                <a:srgbClr val="000000"/>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ATR:</a:t>
            </a:r>
            <a:r>
              <a:rPr lang="en-US" sz="1600" b="0" i="0" u="none" strike="noStrike" cap="none" dirty="0">
                <a:solidFill>
                  <a:schemeClr val="dk1"/>
                </a:solidFill>
                <a:latin typeface="Times New Roman"/>
                <a:ea typeface="Times New Roman"/>
                <a:cs typeface="Times New Roman"/>
                <a:sym typeface="Times New Roman"/>
              </a:rPr>
              <a:t> </a:t>
            </a:r>
            <a:endParaRPr sz="1600" b="0" i="0" u="none" strike="noStrike" cap="none"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r>
              <a:rPr lang="en-US" sz="1600" b="0" i="0" u="none" strike="noStrike" cap="none" dirty="0">
                <a:solidFill>
                  <a:schemeClr val="dk1"/>
                </a:solidFill>
                <a:latin typeface="Times New Roman"/>
                <a:ea typeface="Times New Roman"/>
                <a:cs typeface="Times New Roman"/>
                <a:sym typeface="Times New Roman"/>
              </a:rPr>
              <a:t>+ED0181 (shop PWC): </a:t>
            </a:r>
            <a:r>
              <a:rPr lang="en-US" sz="1500" dirty="0" err="1">
                <a:solidFill>
                  <a:schemeClr val="dk1"/>
                </a:solidFill>
                <a:latin typeface="Times New Roman"/>
                <a:ea typeface="Times New Roman"/>
                <a:cs typeface="Times New Roman"/>
                <a:sym typeface="Times New Roman"/>
              </a:rPr>
              <a:t>động</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cơ</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đã</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được</a:t>
            </a:r>
            <a:r>
              <a:rPr lang="en-US" sz="1500" dirty="0">
                <a:solidFill>
                  <a:schemeClr val="dk1"/>
                </a:solidFill>
                <a:latin typeface="Times New Roman"/>
                <a:ea typeface="Times New Roman"/>
                <a:cs typeface="Times New Roman"/>
                <a:sym typeface="Times New Roman"/>
              </a:rPr>
              <a:t> released, </a:t>
            </a:r>
            <a:r>
              <a:rPr lang="en-US" sz="1500" dirty="0" err="1" smtClean="0">
                <a:solidFill>
                  <a:schemeClr val="dk1"/>
                </a:solidFill>
                <a:latin typeface="Times New Roman"/>
                <a:ea typeface="Times New Roman"/>
                <a:cs typeface="Times New Roman"/>
                <a:sym typeface="Times New Roman"/>
              </a:rPr>
              <a:t>về</a:t>
            </a:r>
            <a:r>
              <a:rPr lang="en-US" sz="1500" dirty="0" smtClean="0">
                <a:solidFill>
                  <a:schemeClr val="dk1"/>
                </a:solidFill>
                <a:latin typeface="Times New Roman"/>
                <a:ea typeface="Times New Roman"/>
                <a:cs typeface="Times New Roman"/>
                <a:sym typeface="Times New Roman"/>
              </a:rPr>
              <a:t> </a:t>
            </a:r>
            <a:r>
              <a:rPr lang="en-US" sz="1500" dirty="0">
                <a:solidFill>
                  <a:schemeClr val="dk1"/>
                </a:solidFill>
                <a:latin typeface="Times New Roman"/>
                <a:ea typeface="Times New Roman"/>
                <a:cs typeface="Times New Roman"/>
                <a:sym typeface="Times New Roman"/>
              </a:rPr>
              <a:t>SGN </a:t>
            </a:r>
            <a:r>
              <a:rPr lang="en-US" sz="1500" dirty="0" err="1">
                <a:solidFill>
                  <a:schemeClr val="dk1"/>
                </a:solidFill>
                <a:latin typeface="Times New Roman"/>
                <a:ea typeface="Times New Roman"/>
                <a:cs typeface="Times New Roman"/>
                <a:sym typeface="Times New Roman"/>
              </a:rPr>
              <a:t>ngày</a:t>
            </a:r>
            <a:r>
              <a:rPr lang="en-US" sz="1500" dirty="0">
                <a:solidFill>
                  <a:schemeClr val="dk1"/>
                </a:solidFill>
                <a:latin typeface="Times New Roman"/>
                <a:ea typeface="Times New Roman"/>
                <a:cs typeface="Times New Roman"/>
                <a:sym typeface="Times New Roman"/>
              </a:rPr>
              <a:t> 12/01/2025.</a:t>
            </a:r>
            <a:endParaRPr sz="1600" b="0" i="0" u="none" strike="noStrike" cap="none"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r>
              <a:rPr lang="en-US" sz="1600" b="0" i="0" u="none" strike="noStrike" cap="none" dirty="0">
                <a:solidFill>
                  <a:schemeClr val="dk1"/>
                </a:solidFill>
                <a:latin typeface="Times New Roman"/>
                <a:ea typeface="Times New Roman"/>
                <a:cs typeface="Times New Roman"/>
                <a:sym typeface="Times New Roman"/>
              </a:rPr>
              <a:t>+</a:t>
            </a:r>
            <a:r>
              <a:rPr lang="en-US" sz="1600" dirty="0">
                <a:solidFill>
                  <a:schemeClr val="dk1"/>
                </a:solidFill>
                <a:latin typeface="Times New Roman"/>
                <a:ea typeface="Times New Roman"/>
                <a:cs typeface="Times New Roman"/>
                <a:sym typeface="Times New Roman"/>
              </a:rPr>
              <a:t>ED0192</a:t>
            </a:r>
            <a:r>
              <a:rPr lang="en-US" sz="1600" b="0" i="0" u="none" strike="noStrike" cap="none" dirty="0">
                <a:solidFill>
                  <a:schemeClr val="dk1"/>
                </a:solidFill>
                <a:latin typeface="Times New Roman"/>
                <a:ea typeface="Times New Roman"/>
                <a:cs typeface="Times New Roman"/>
                <a:sym typeface="Times New Roman"/>
              </a:rPr>
              <a:t> (shop </a:t>
            </a:r>
            <a:r>
              <a:rPr lang="en-US" sz="1600" b="0" i="0" u="none" strike="noStrike" cap="none" dirty="0" err="1">
                <a:solidFill>
                  <a:schemeClr val="dk1"/>
                </a:solidFill>
                <a:latin typeface="Times New Roman"/>
                <a:ea typeface="Times New Roman"/>
                <a:cs typeface="Times New Roman"/>
                <a:sym typeface="Times New Roman"/>
              </a:rPr>
              <a:t>StandardAero</a:t>
            </a:r>
            <a:r>
              <a:rPr lang="en-US" sz="1600" b="0" i="0" u="none" strike="noStrike" cap="none"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release 16/01/2025 </a:t>
            </a:r>
            <a:r>
              <a:rPr lang="en-US" sz="1600" dirty="0" err="1">
                <a:solidFill>
                  <a:schemeClr val="dk1"/>
                </a:solidFill>
                <a:latin typeface="Times New Roman"/>
                <a:ea typeface="Times New Roman"/>
                <a:cs typeface="Times New Roman"/>
                <a:sym typeface="Times New Roman"/>
              </a:rPr>
              <a:t>và</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dk</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nhận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động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cơ</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ngày</a:t>
            </a:r>
            <a:r>
              <a:rPr lang="en-US" sz="1600" dirty="0">
                <a:solidFill>
                  <a:schemeClr val="dk1"/>
                </a:solidFill>
                <a:latin typeface="Times New Roman"/>
                <a:ea typeface="Times New Roman"/>
                <a:cs typeface="Times New Roman"/>
                <a:sym typeface="Times New Roman"/>
              </a:rPr>
              <a:t>  23/01/2025.</a:t>
            </a:r>
            <a:endParaRPr sz="1600"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endParaRPr sz="1600"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Clr>
                <a:srgbClr val="000000"/>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rgbClr val="000000"/>
              </a:buClr>
              <a:buSzPts val="1600"/>
              <a:buFont typeface="Arial"/>
              <a:buNone/>
            </a:pPr>
            <a:endParaRPr sz="1600" b="1" i="0" u="none" strike="noStrike" cap="none" dirty="0">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1" i="0" u="none" strike="noStrike" cap="none" dirty="0">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1" i="0" u="none" strike="noStrike" cap="none" dirty="0">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Times New Roman"/>
                <a:ea typeface="Times New Roman"/>
                <a:cs typeface="Times New Roman"/>
                <a:sym typeface="Times New Roman"/>
              </a:rPr>
              <a:t>  </a:t>
            </a: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dirty="0">
              <a:solidFill>
                <a:srgbClr val="000000"/>
              </a:solidFill>
              <a:latin typeface="Times New Roman"/>
              <a:ea typeface="Times New Roman"/>
              <a:cs typeface="Times New Roman"/>
              <a:sym typeface="Times New Roman"/>
            </a:endParaRPr>
          </a:p>
        </p:txBody>
      </p:sp>
      <p:pic>
        <p:nvPicPr>
          <p:cNvPr id="5"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Tree>
    <p:extLst>
      <p:ext uri="{BB962C8B-B14F-4D97-AF65-F5344CB8AC3E}">
        <p14:creationId xmlns:p14="http://schemas.microsoft.com/office/powerpoint/2010/main" val="1867233397"/>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g31ccdae391d_0_403"/>
          <p:cNvSpPr txBox="1">
            <a:spLocks noGrp="1"/>
          </p:cNvSpPr>
          <p:nvPr>
            <p:ph type="title"/>
          </p:nvPr>
        </p:nvSpPr>
        <p:spPr>
          <a:xfrm>
            <a:off x="372775" y="0"/>
            <a:ext cx="975900" cy="49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APU</a:t>
            </a:r>
            <a:endParaRPr sz="2800">
              <a:solidFill>
                <a:srgbClr val="FFC000"/>
              </a:solidFill>
              <a:latin typeface="Times New Roman"/>
              <a:ea typeface="Times New Roman"/>
              <a:cs typeface="Times New Roman"/>
              <a:sym typeface="Times New Roman"/>
            </a:endParaRPr>
          </a:p>
        </p:txBody>
      </p:sp>
      <p:sp>
        <p:nvSpPr>
          <p:cNvPr id="333" name="Google Shape;333;g31ccdae391d_0_403"/>
          <p:cNvSpPr txBox="1">
            <a:spLocks noGrp="1"/>
          </p:cNvSpPr>
          <p:nvPr>
            <p:ph type="sldNum" idx="12"/>
          </p:nvPr>
        </p:nvSpPr>
        <p:spPr>
          <a:xfrm>
            <a:off x="10994575" y="5809425"/>
            <a:ext cx="359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70</a:t>
            </a:fld>
            <a:endParaRPr/>
          </a:p>
        </p:txBody>
      </p:sp>
      <p:sp>
        <p:nvSpPr>
          <p:cNvPr id="334" name="Google Shape;334;g31ccdae391d_0_403"/>
          <p:cNvSpPr txBox="1"/>
          <p:nvPr/>
        </p:nvSpPr>
        <p:spPr>
          <a:xfrm>
            <a:off x="7054175" y="537800"/>
            <a:ext cx="4085700" cy="49494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chemeClr val="dk1"/>
              </a:buClr>
              <a:buSzPts val="1100"/>
              <a:buFont typeface="Arial"/>
              <a:buNone/>
            </a:pPr>
            <a:r>
              <a:rPr lang="en-US" sz="1600" b="1" i="0" u="none" strike="noStrike" cap="none" dirty="0">
                <a:solidFill>
                  <a:schemeClr val="dk1"/>
                </a:solidFill>
                <a:latin typeface="Times New Roman"/>
                <a:ea typeface="Times New Roman"/>
                <a:cs typeface="Times New Roman"/>
                <a:sym typeface="Times New Roman"/>
              </a:rPr>
              <a:t>APU A321 </a:t>
            </a:r>
            <a:endParaRPr sz="1600" b="1"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rgbClr val="000000"/>
              </a:buClr>
              <a:buSzPts val="1700"/>
              <a:buFont typeface="Arial"/>
              <a:buNone/>
            </a:pPr>
            <a:r>
              <a:rPr lang="en-US" sz="1700" b="0" i="0" u="none" strike="noStrike" cap="none" dirty="0">
                <a:solidFill>
                  <a:schemeClr val="dk1"/>
                </a:solidFill>
                <a:latin typeface="Times New Roman"/>
                <a:ea typeface="Times New Roman"/>
                <a:cs typeface="Times New Roman"/>
                <a:sym typeface="Times New Roman"/>
              </a:rPr>
              <a:t>+ </a:t>
            </a:r>
            <a:r>
              <a:rPr lang="en-US" sz="1400" b="0" i="0" u="none" strike="noStrike" cap="none" dirty="0">
                <a:solidFill>
                  <a:schemeClr val="dk1"/>
                </a:solidFill>
                <a:latin typeface="Times New Roman"/>
                <a:ea typeface="Times New Roman"/>
                <a:cs typeface="Times New Roman"/>
                <a:sym typeface="Times New Roman"/>
              </a:rPr>
              <a:t>STK:  0</a:t>
            </a:r>
            <a:r>
              <a:rPr lang="en-US" dirty="0">
                <a:solidFill>
                  <a:schemeClr val="dk1"/>
                </a:solidFill>
                <a:latin typeface="Times New Roman"/>
                <a:ea typeface="Times New Roman"/>
                <a:cs typeface="Times New Roman"/>
                <a:sym typeface="Times New Roman"/>
              </a:rPr>
              <a:t>1</a:t>
            </a:r>
            <a:r>
              <a:rPr lang="en-US" sz="1400" b="0" i="0" u="none" strike="noStrike" cap="none" dirty="0">
                <a:solidFill>
                  <a:schemeClr val="dk1"/>
                </a:solidFill>
                <a:latin typeface="Times New Roman"/>
                <a:ea typeface="Times New Roman"/>
                <a:cs typeface="Times New Roman"/>
                <a:sym typeface="Times New Roman"/>
              </a:rPr>
              <a:t> APU </a:t>
            </a:r>
            <a:r>
              <a:rPr lang="en-US" sz="1400" b="0" i="0" u="none" strike="noStrike" cap="none" dirty="0" err="1">
                <a:solidFill>
                  <a:schemeClr val="dk1"/>
                </a:solidFill>
                <a:latin typeface="Times New Roman"/>
                <a:ea typeface="Times New Roman"/>
                <a:cs typeface="Times New Roman"/>
                <a:sym typeface="Times New Roman"/>
              </a:rPr>
              <a:t>tại</a:t>
            </a:r>
            <a:r>
              <a:rPr lang="en-US" sz="1400" b="0" i="0" u="none" strike="noStrike" cap="none" dirty="0">
                <a:solidFill>
                  <a:schemeClr val="dk1"/>
                </a:solidFill>
                <a:latin typeface="Times New Roman"/>
                <a:ea typeface="Times New Roman"/>
                <a:cs typeface="Times New Roman"/>
                <a:sym typeface="Times New Roman"/>
              </a:rPr>
              <a:t> HAN. </a:t>
            </a:r>
            <a:endParaRPr sz="14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rgbClr val="000000"/>
              </a:buClr>
              <a:buSzPts val="1700"/>
              <a:buFont typeface="Arial"/>
              <a:buNone/>
            </a:pPr>
            <a:r>
              <a:rPr lang="en-US" dirty="0">
                <a:solidFill>
                  <a:schemeClr val="dk1"/>
                </a:solidFill>
                <a:latin typeface="Times New Roman"/>
                <a:ea typeface="Times New Roman"/>
                <a:cs typeface="Times New Roman"/>
                <a:sym typeface="Times New Roman"/>
              </a:rPr>
              <a:t>	</a:t>
            </a:r>
            <a:endParaRPr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rgbClr val="000000"/>
              </a:buClr>
              <a:buSzPts val="1700"/>
              <a:buFont typeface="Arial"/>
              <a:buNone/>
            </a:pPr>
            <a:endParaRPr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rgbClr val="000000"/>
              </a:buClr>
              <a:buSzPts val="1700"/>
              <a:buFont typeface="Arial"/>
              <a:buNone/>
            </a:pPr>
            <a:endParaRPr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rgbClr val="000000"/>
              </a:buClr>
              <a:buSzPts val="1400"/>
              <a:buFont typeface="Arial"/>
              <a:buNone/>
            </a:pPr>
            <a:r>
              <a:rPr lang="en-US" sz="1400" b="0" i="0" u="none" strike="noStrike" cap="none" dirty="0">
                <a:solidFill>
                  <a:schemeClr val="dk1"/>
                </a:solidFill>
                <a:latin typeface="Times New Roman"/>
                <a:ea typeface="Times New Roman"/>
                <a:cs typeface="Times New Roman"/>
                <a:sym typeface="Times New Roman"/>
              </a:rPr>
              <a:t>+ </a:t>
            </a:r>
            <a:r>
              <a:rPr lang="en-US" sz="1400" b="0" i="0" u="none" strike="noStrike" cap="none" dirty="0" err="1">
                <a:solidFill>
                  <a:schemeClr val="dk1"/>
                </a:solidFill>
                <a:latin typeface="Times New Roman"/>
                <a:ea typeface="Times New Roman"/>
                <a:cs typeface="Times New Roman"/>
                <a:sym typeface="Times New Roman"/>
              </a:rPr>
              <a:t>Tháng</a:t>
            </a:r>
            <a:r>
              <a:rPr lang="en-US" sz="1400" b="0" i="0" u="none" strike="noStrike" cap="none" dirty="0">
                <a:solidFill>
                  <a:schemeClr val="dk1"/>
                </a:solidFill>
                <a:latin typeface="Times New Roman"/>
                <a:ea typeface="Times New Roman"/>
                <a:cs typeface="Times New Roman"/>
                <a:sym typeface="Times New Roman"/>
              </a:rPr>
              <a:t> </a:t>
            </a:r>
            <a:r>
              <a:rPr lang="en-US" dirty="0">
                <a:solidFill>
                  <a:schemeClr val="dk1"/>
                </a:solidFill>
                <a:latin typeface="Times New Roman"/>
                <a:ea typeface="Times New Roman"/>
                <a:cs typeface="Times New Roman"/>
                <a:sym typeface="Times New Roman"/>
              </a:rPr>
              <a:t>1</a:t>
            </a:r>
            <a:r>
              <a:rPr lang="en-US" sz="1400" b="0" i="0" u="none" strike="noStrike" cap="none" dirty="0">
                <a:solidFill>
                  <a:schemeClr val="dk1"/>
                </a:solidFill>
                <a:latin typeface="Times New Roman"/>
                <a:ea typeface="Times New Roman"/>
                <a:cs typeface="Times New Roman"/>
                <a:sym typeface="Times New Roman"/>
              </a:rPr>
              <a:t>/202</a:t>
            </a:r>
            <a:r>
              <a:rPr lang="en-US" dirty="0">
                <a:solidFill>
                  <a:schemeClr val="dk1"/>
                </a:solidFill>
                <a:latin typeface="Times New Roman"/>
                <a:ea typeface="Times New Roman"/>
                <a:cs typeface="Times New Roman"/>
                <a:sym typeface="Times New Roman"/>
              </a:rPr>
              <a:t>5</a:t>
            </a:r>
            <a:r>
              <a:rPr lang="en-US" sz="1400" b="0" i="0" u="none" strike="noStrike" cap="none" dirty="0">
                <a:solidFill>
                  <a:schemeClr val="dk1"/>
                </a:solidFill>
                <a:latin typeface="Times New Roman"/>
                <a:ea typeface="Times New Roman"/>
                <a:cs typeface="Times New Roman"/>
                <a:sym typeface="Times New Roman"/>
              </a:rPr>
              <a:t>  </a:t>
            </a:r>
            <a:r>
              <a:rPr lang="en-US" sz="1400" b="0" i="0" u="none" strike="noStrike" cap="none" dirty="0" err="1">
                <a:solidFill>
                  <a:schemeClr val="dk1"/>
                </a:solidFill>
                <a:latin typeface="Times New Roman"/>
                <a:ea typeface="Times New Roman"/>
                <a:cs typeface="Times New Roman"/>
                <a:sym typeface="Times New Roman"/>
              </a:rPr>
              <a:t>dk</a:t>
            </a:r>
            <a:r>
              <a:rPr lang="en-US" sz="1400" b="0" i="0" u="none" strike="noStrike" cap="none" dirty="0">
                <a:solidFill>
                  <a:schemeClr val="dk1"/>
                </a:solidFill>
                <a:latin typeface="Times New Roman"/>
                <a:ea typeface="Times New Roman"/>
                <a:cs typeface="Times New Roman"/>
                <a:sym typeface="Times New Roman"/>
              </a:rPr>
              <a:t> </a:t>
            </a:r>
            <a:r>
              <a:rPr lang="en-US" sz="1400" b="0" i="0" u="none" strike="noStrike" cap="none" dirty="0" err="1">
                <a:solidFill>
                  <a:schemeClr val="dk1"/>
                </a:solidFill>
                <a:latin typeface="Times New Roman"/>
                <a:ea typeface="Times New Roman"/>
                <a:cs typeface="Times New Roman"/>
                <a:sym typeface="Times New Roman"/>
              </a:rPr>
              <a:t>về</a:t>
            </a:r>
            <a:r>
              <a:rPr lang="en-US" sz="1400" b="0" i="0" u="none" strike="noStrike" cap="none" dirty="0">
                <a:solidFill>
                  <a:schemeClr val="dk1"/>
                </a:solidFill>
                <a:latin typeface="Times New Roman"/>
                <a:ea typeface="Times New Roman"/>
                <a:cs typeface="Times New Roman"/>
                <a:sym typeface="Times New Roman"/>
              </a:rPr>
              <a:t> 0</a:t>
            </a:r>
            <a:r>
              <a:rPr lang="en-US" dirty="0">
                <a:solidFill>
                  <a:schemeClr val="dk1"/>
                </a:solidFill>
                <a:latin typeface="Times New Roman"/>
                <a:ea typeface="Times New Roman"/>
                <a:cs typeface="Times New Roman"/>
                <a:sym typeface="Times New Roman"/>
              </a:rPr>
              <a:t>3 </a:t>
            </a:r>
            <a:r>
              <a:rPr lang="en-US" sz="1400" b="0" i="0" u="none" strike="noStrike" cap="none" dirty="0">
                <a:solidFill>
                  <a:schemeClr val="dk1"/>
                </a:solidFill>
                <a:latin typeface="Times New Roman"/>
                <a:ea typeface="Times New Roman"/>
                <a:cs typeface="Times New Roman"/>
                <a:sym typeface="Times New Roman"/>
              </a:rPr>
              <a:t>APU.</a:t>
            </a:r>
            <a:endParaRPr sz="14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1"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1" i="0" u="none" strike="noStrike" cap="none" dirty="0">
                <a:solidFill>
                  <a:schemeClr val="dk1"/>
                </a:solidFill>
                <a:latin typeface="Times New Roman"/>
                <a:ea typeface="Times New Roman"/>
                <a:cs typeface="Times New Roman"/>
                <a:sym typeface="Times New Roman"/>
              </a:rPr>
              <a:t>APU A350</a:t>
            </a:r>
            <a:endParaRPr sz="1500" b="1"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400" b="0" i="0" u="none" strike="noStrike" cap="none" dirty="0">
                <a:solidFill>
                  <a:schemeClr val="dk1"/>
                </a:solidFill>
                <a:latin typeface="Times New Roman"/>
                <a:ea typeface="Times New Roman"/>
                <a:cs typeface="Times New Roman"/>
                <a:sym typeface="Times New Roman"/>
              </a:rPr>
              <a:t>+ STK: NIL.</a:t>
            </a:r>
            <a:endParaRPr sz="14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400" b="0" i="0" u="none" strike="noStrike" cap="none" dirty="0">
                <a:solidFill>
                  <a:schemeClr val="dk1"/>
                </a:solidFill>
                <a:latin typeface="Times New Roman"/>
                <a:ea typeface="Times New Roman"/>
                <a:cs typeface="Times New Roman"/>
                <a:sym typeface="Times New Roman"/>
              </a:rPr>
              <a:t>+ 02 APU </a:t>
            </a:r>
            <a:r>
              <a:rPr lang="en-US" sz="1400" b="0" i="0" u="none" strike="noStrike" cap="none" dirty="0" err="1">
                <a:solidFill>
                  <a:schemeClr val="dk1"/>
                </a:solidFill>
                <a:latin typeface="Times New Roman"/>
                <a:ea typeface="Times New Roman"/>
                <a:cs typeface="Times New Roman"/>
                <a:sym typeface="Times New Roman"/>
              </a:rPr>
              <a:t>đang</a:t>
            </a:r>
            <a:r>
              <a:rPr lang="en-US" sz="1400" b="0" i="0" u="none" strike="noStrike" cap="none" dirty="0">
                <a:solidFill>
                  <a:schemeClr val="dk1"/>
                </a:solidFill>
                <a:latin typeface="Times New Roman"/>
                <a:ea typeface="Times New Roman"/>
                <a:cs typeface="Times New Roman"/>
                <a:sym typeface="Times New Roman"/>
              </a:rPr>
              <a:t> </a:t>
            </a:r>
            <a:r>
              <a:rPr lang="en-US" sz="1400" b="0" i="0" u="none" strike="noStrike" cap="none" dirty="0" err="1">
                <a:solidFill>
                  <a:schemeClr val="dk1"/>
                </a:solidFill>
                <a:latin typeface="Times New Roman"/>
                <a:ea typeface="Times New Roman"/>
                <a:cs typeface="Times New Roman"/>
                <a:sym typeface="Times New Roman"/>
              </a:rPr>
              <a:t>sửa</a:t>
            </a:r>
            <a:r>
              <a:rPr lang="en-US" sz="1400" b="0" i="0" u="none" strike="noStrike" cap="none" dirty="0">
                <a:solidFill>
                  <a:schemeClr val="dk1"/>
                </a:solidFill>
                <a:latin typeface="Times New Roman"/>
                <a:ea typeface="Times New Roman"/>
                <a:cs typeface="Times New Roman"/>
                <a:sym typeface="Times New Roman"/>
              </a:rPr>
              <a:t> </a:t>
            </a:r>
            <a:r>
              <a:rPr lang="en-US" sz="1400" b="0" i="0" u="none" strike="noStrike" cap="none" dirty="0" err="1">
                <a:solidFill>
                  <a:schemeClr val="dk1"/>
                </a:solidFill>
                <a:latin typeface="Times New Roman"/>
                <a:ea typeface="Times New Roman"/>
                <a:cs typeface="Times New Roman"/>
                <a:sym typeface="Times New Roman"/>
              </a:rPr>
              <a:t>chữa</a:t>
            </a:r>
            <a:r>
              <a:rPr lang="en-US" sz="1400" b="0" i="0" u="none" strike="noStrike" cap="none" dirty="0">
                <a:solidFill>
                  <a:schemeClr val="dk1"/>
                </a:solidFill>
                <a:latin typeface="Times New Roman"/>
                <a:ea typeface="Times New Roman"/>
                <a:cs typeface="Times New Roman"/>
                <a:sym typeface="Times New Roman"/>
              </a:rPr>
              <a:t> tai shop </a:t>
            </a:r>
            <a:r>
              <a:rPr lang="en-US" sz="1400" b="0" i="0" u="none" strike="noStrike" cap="none" dirty="0" err="1">
                <a:solidFill>
                  <a:schemeClr val="dk1"/>
                </a:solidFill>
                <a:latin typeface="Times New Roman"/>
                <a:ea typeface="Times New Roman"/>
                <a:cs typeface="Times New Roman"/>
                <a:sym typeface="Times New Roman"/>
              </a:rPr>
              <a:t>Lufth</a:t>
            </a:r>
            <a:r>
              <a:rPr lang="en-US" sz="1400" b="0" i="0" u="none" strike="noStrike" cap="none" dirty="0">
                <a:solidFill>
                  <a:schemeClr val="dk1"/>
                </a:solidFill>
                <a:latin typeface="Times New Roman"/>
                <a:ea typeface="Times New Roman"/>
                <a:cs typeface="Times New Roman"/>
                <a:sym typeface="Times New Roman"/>
              </a:rPr>
              <a:t>.</a:t>
            </a:r>
            <a:endParaRPr sz="14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400" b="0" i="0" u="none" strike="noStrike" cap="none" dirty="0">
                <a:solidFill>
                  <a:schemeClr val="dk1"/>
                </a:solidFill>
                <a:latin typeface="Times New Roman"/>
                <a:ea typeface="Times New Roman"/>
                <a:cs typeface="Times New Roman"/>
                <a:sym typeface="Times New Roman"/>
              </a:rPr>
              <a:t>+</a:t>
            </a:r>
            <a:r>
              <a:rPr lang="en-US" dirty="0">
                <a:solidFill>
                  <a:schemeClr val="dk1"/>
                </a:solidFill>
                <a:latin typeface="Times New Roman"/>
                <a:ea typeface="Times New Roman"/>
                <a:cs typeface="Times New Roman"/>
                <a:sym typeface="Times New Roman"/>
              </a:rPr>
              <a:t>LUTH </a:t>
            </a:r>
            <a:r>
              <a:rPr lang="en-US" dirty="0" err="1">
                <a:solidFill>
                  <a:schemeClr val="dk1"/>
                </a:solidFill>
                <a:latin typeface="Times New Roman"/>
                <a:ea typeface="Times New Roman"/>
                <a:cs typeface="Times New Roman"/>
                <a:sym typeface="Times New Roman"/>
              </a:rPr>
              <a:t>đang</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gặp</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tình</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trạng</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khó</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khăn</a:t>
            </a:r>
            <a:r>
              <a:rPr lang="en-US" dirty="0">
                <a:solidFill>
                  <a:schemeClr val="dk1"/>
                </a:solidFill>
                <a:latin typeface="Times New Roman"/>
                <a:ea typeface="Times New Roman"/>
                <a:cs typeface="Times New Roman"/>
                <a:sym typeface="Times New Roman"/>
              </a:rPr>
              <a:t> trong </a:t>
            </a:r>
            <a:r>
              <a:rPr lang="en-US" dirty="0" err="1">
                <a:solidFill>
                  <a:schemeClr val="dk1"/>
                </a:solidFill>
                <a:latin typeface="Times New Roman"/>
                <a:ea typeface="Times New Roman"/>
                <a:cs typeface="Times New Roman"/>
                <a:sym typeface="Times New Roman"/>
              </a:rPr>
              <a:t>chuỗi</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cung</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ứng</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nên</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chưa</a:t>
            </a:r>
            <a:r>
              <a:rPr lang="en-US" dirty="0">
                <a:solidFill>
                  <a:schemeClr val="dk1"/>
                </a:solidFill>
                <a:latin typeface="Times New Roman"/>
                <a:ea typeface="Times New Roman"/>
                <a:cs typeface="Times New Roman"/>
                <a:sym typeface="Times New Roman"/>
              </a:rPr>
              <a:t> confirm </a:t>
            </a:r>
            <a:r>
              <a:rPr lang="en-US" dirty="0" err="1">
                <a:solidFill>
                  <a:schemeClr val="dk1"/>
                </a:solidFill>
                <a:latin typeface="Times New Roman"/>
                <a:ea typeface="Times New Roman"/>
                <a:cs typeface="Times New Roman"/>
                <a:sym typeface="Times New Roman"/>
              </a:rPr>
              <a:t>được</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ngày</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về</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của</a:t>
            </a:r>
            <a:r>
              <a:rPr lang="en-US" dirty="0">
                <a:solidFill>
                  <a:schemeClr val="dk1"/>
                </a:solidFill>
                <a:latin typeface="Times New Roman"/>
                <a:ea typeface="Times New Roman"/>
                <a:cs typeface="Times New Roman"/>
                <a:sym typeface="Times New Roman"/>
              </a:rPr>
              <a:t> 2 APU trong </a:t>
            </a:r>
            <a:r>
              <a:rPr lang="en-US" dirty="0" err="1">
                <a:solidFill>
                  <a:schemeClr val="dk1"/>
                </a:solidFill>
                <a:latin typeface="Times New Roman"/>
                <a:ea typeface="Times New Roman"/>
                <a:cs typeface="Times New Roman"/>
                <a:sym typeface="Times New Roman"/>
              </a:rPr>
              <a:t>tháng</a:t>
            </a:r>
            <a:r>
              <a:rPr lang="en-US" dirty="0">
                <a:solidFill>
                  <a:schemeClr val="dk1"/>
                </a:solidFill>
                <a:latin typeface="Times New Roman"/>
                <a:ea typeface="Times New Roman"/>
                <a:cs typeface="Times New Roman"/>
                <a:sym typeface="Times New Roman"/>
              </a:rPr>
              <a:t> 1.</a:t>
            </a:r>
            <a:endParaRPr sz="14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100" b="0" i="0" u="none" strike="noStrike" cap="none" dirty="0">
                <a:solidFill>
                  <a:schemeClr val="dk1"/>
                </a:solidFill>
                <a:latin typeface="Times New Roman"/>
                <a:ea typeface="Times New Roman"/>
                <a:cs typeface="Times New Roman"/>
                <a:sym typeface="Times New Roman"/>
              </a:rPr>
              <a:t> </a:t>
            </a:r>
            <a:endParaRPr sz="11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1" i="0" u="none" strike="noStrike" cap="none" dirty="0">
                <a:solidFill>
                  <a:schemeClr val="dk1"/>
                </a:solidFill>
                <a:latin typeface="Times New Roman"/>
                <a:ea typeface="Times New Roman"/>
                <a:cs typeface="Times New Roman"/>
                <a:sym typeface="Times New Roman"/>
              </a:rPr>
              <a:t>APU B787 </a:t>
            </a:r>
            <a:endParaRPr sz="1500" b="1"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400" b="0" i="0" u="none" strike="noStrike" cap="none" dirty="0">
                <a:solidFill>
                  <a:schemeClr val="dk1"/>
                </a:solidFill>
                <a:latin typeface="Times New Roman"/>
                <a:ea typeface="Times New Roman"/>
                <a:cs typeface="Times New Roman"/>
                <a:sym typeface="Times New Roman"/>
              </a:rPr>
              <a:t>+ STK: </a:t>
            </a:r>
            <a:r>
              <a:rPr lang="en-US" dirty="0">
                <a:solidFill>
                  <a:schemeClr val="dk1"/>
                </a:solidFill>
                <a:latin typeface="Times New Roman"/>
                <a:ea typeface="Times New Roman"/>
                <a:cs typeface="Times New Roman"/>
                <a:sym typeface="Times New Roman"/>
              </a:rPr>
              <a:t>0</a:t>
            </a:r>
            <a:r>
              <a:rPr lang="en-US" sz="1400" b="0" i="0" u="none" strike="noStrike" cap="none" dirty="0">
                <a:solidFill>
                  <a:schemeClr val="dk1"/>
                </a:solidFill>
                <a:latin typeface="Times New Roman"/>
                <a:ea typeface="Times New Roman"/>
                <a:cs typeface="Times New Roman"/>
                <a:sym typeface="Times New Roman"/>
              </a:rPr>
              <a:t> APU</a:t>
            </a:r>
            <a:endParaRPr sz="14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dirty="0">
                <a:solidFill>
                  <a:schemeClr val="dk1"/>
                </a:solidFill>
                <a:latin typeface="Times New Roman"/>
                <a:ea typeface="Times New Roman"/>
                <a:cs typeface="Times New Roman"/>
                <a:sym typeface="Times New Roman"/>
              </a:rPr>
              <a:t>+ 02 APU </a:t>
            </a:r>
            <a:r>
              <a:rPr lang="en-US" dirty="0" err="1">
                <a:solidFill>
                  <a:schemeClr val="dk1"/>
                </a:solidFill>
                <a:latin typeface="Times New Roman"/>
                <a:ea typeface="Times New Roman"/>
                <a:cs typeface="Times New Roman"/>
                <a:sym typeface="Times New Roman"/>
              </a:rPr>
              <a:t>đang</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sửa</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tại</a:t>
            </a:r>
            <a:r>
              <a:rPr lang="en-US" dirty="0">
                <a:solidFill>
                  <a:schemeClr val="dk1"/>
                </a:solidFill>
                <a:latin typeface="Times New Roman"/>
                <a:ea typeface="Times New Roman"/>
                <a:cs typeface="Times New Roman"/>
                <a:sym typeface="Times New Roman"/>
              </a:rPr>
              <a:t> shop PW Poland.</a:t>
            </a:r>
            <a:endParaRPr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dirty="0">
                <a:solidFill>
                  <a:schemeClr val="dk1"/>
                </a:solidFill>
                <a:latin typeface="Times New Roman"/>
                <a:ea typeface="Times New Roman"/>
                <a:cs typeface="Times New Roman"/>
                <a:sym typeface="Times New Roman"/>
              </a:rPr>
              <a:t>+</a:t>
            </a:r>
            <a:r>
              <a:rPr lang="en-US" dirty="0" err="1">
                <a:solidFill>
                  <a:schemeClr val="dk1"/>
                </a:solidFill>
                <a:latin typeface="Times New Roman"/>
                <a:ea typeface="Times New Roman"/>
                <a:cs typeface="Times New Roman"/>
                <a:sym typeface="Times New Roman"/>
              </a:rPr>
              <a:t>Tháng</a:t>
            </a:r>
            <a:r>
              <a:rPr lang="en-US" dirty="0">
                <a:solidFill>
                  <a:schemeClr val="dk1"/>
                </a:solidFill>
                <a:latin typeface="Times New Roman"/>
                <a:ea typeface="Times New Roman"/>
                <a:cs typeface="Times New Roman"/>
                <a:sym typeface="Times New Roman"/>
              </a:rPr>
              <a:t> 03/2025 </a:t>
            </a:r>
            <a:r>
              <a:rPr lang="en-US" dirty="0" err="1">
                <a:solidFill>
                  <a:schemeClr val="dk1"/>
                </a:solidFill>
                <a:latin typeface="Times New Roman"/>
                <a:ea typeface="Times New Roman"/>
                <a:cs typeface="Times New Roman"/>
                <a:sym typeface="Times New Roman"/>
              </a:rPr>
              <a:t>về</a:t>
            </a:r>
            <a:r>
              <a:rPr lang="en-US" dirty="0">
                <a:solidFill>
                  <a:schemeClr val="dk1"/>
                </a:solidFill>
                <a:latin typeface="Times New Roman"/>
                <a:ea typeface="Times New Roman"/>
                <a:cs typeface="Times New Roman"/>
                <a:sym typeface="Times New Roman"/>
              </a:rPr>
              <a:t> 1 APU.</a:t>
            </a:r>
            <a:endParaRPr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400" b="0" i="0" u="none" strike="noStrike" cap="none" dirty="0">
              <a:solidFill>
                <a:schemeClr val="dk1"/>
              </a:solidFill>
              <a:latin typeface="Times New Roman"/>
              <a:ea typeface="Times New Roman"/>
              <a:cs typeface="Times New Roman"/>
              <a:sym typeface="Times New Roman"/>
            </a:endParaRPr>
          </a:p>
        </p:txBody>
      </p:sp>
      <p:pic>
        <p:nvPicPr>
          <p:cNvPr id="335" name="Google Shape;335;g31ccdae391d_0_403"/>
          <p:cNvPicPr preferRelativeResize="0"/>
          <p:nvPr/>
        </p:nvPicPr>
        <p:blipFill>
          <a:blip r:embed="rId3">
            <a:alphaModFix/>
          </a:blip>
          <a:stretch>
            <a:fillRect/>
          </a:stretch>
        </p:blipFill>
        <p:spPr>
          <a:xfrm>
            <a:off x="7272988" y="1256475"/>
            <a:ext cx="3648075" cy="495300"/>
          </a:xfrm>
          <a:prstGeom prst="rect">
            <a:avLst/>
          </a:prstGeom>
          <a:noFill/>
          <a:ln>
            <a:noFill/>
          </a:ln>
        </p:spPr>
      </p:pic>
      <p:pic>
        <p:nvPicPr>
          <p:cNvPr id="336" name="Google Shape;336;g31ccdae391d_0_403"/>
          <p:cNvPicPr preferRelativeResize="0"/>
          <p:nvPr/>
        </p:nvPicPr>
        <p:blipFill>
          <a:blip r:embed="rId4">
            <a:alphaModFix/>
          </a:blip>
          <a:stretch>
            <a:fillRect/>
          </a:stretch>
        </p:blipFill>
        <p:spPr>
          <a:xfrm>
            <a:off x="447250" y="559800"/>
            <a:ext cx="6480425" cy="5118750"/>
          </a:xfrm>
          <a:prstGeom prst="rect">
            <a:avLst/>
          </a:prstGeom>
          <a:noFill/>
          <a:ln>
            <a:noFill/>
          </a:ln>
        </p:spPr>
      </p:pic>
      <p:pic>
        <p:nvPicPr>
          <p:cNvPr id="7" name="Google Shape;36;p4" descr="A black and yellow lines on a blue surface&#10;&#10;Description automatically generated"/>
          <p:cNvPicPr preferRelativeResize="0"/>
          <p:nvPr/>
        </p:nvPicPr>
        <p:blipFill rotWithShape="1">
          <a:blip r:embed="rId5">
            <a:alphaModFix/>
          </a:blip>
          <a:srcRect/>
          <a:stretch/>
        </p:blipFill>
        <p:spPr>
          <a:xfrm>
            <a:off x="8650521" y="4650486"/>
            <a:ext cx="3545983" cy="2207517"/>
          </a:xfrm>
          <a:prstGeom prst="rect">
            <a:avLst/>
          </a:prstGeom>
          <a:noFill/>
          <a:ln>
            <a:noFill/>
          </a:ln>
        </p:spPr>
      </p:pic>
    </p:spTree>
    <p:extLst>
      <p:ext uri="{BB962C8B-B14F-4D97-AF65-F5344CB8AC3E}">
        <p14:creationId xmlns:p14="http://schemas.microsoft.com/office/powerpoint/2010/main" val="231324824"/>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pic>
        <p:nvPicPr>
          <p:cNvPr id="106" name="Google Shape;106;p8" descr="A blue background with yellow lines&#10;&#10;Description automatically generated"/>
          <p:cNvPicPr preferRelativeResize="0"/>
          <p:nvPr/>
        </p:nvPicPr>
        <p:blipFill rotWithShape="1">
          <a:blip r:embed="rId3">
            <a:alphaModFix/>
          </a:blip>
          <a:srcRect/>
          <a:stretch/>
        </p:blipFill>
        <p:spPr>
          <a:xfrm>
            <a:off x="0" y="1"/>
            <a:ext cx="12192000" cy="6972300"/>
          </a:xfrm>
          <a:prstGeom prst="rect">
            <a:avLst/>
          </a:prstGeom>
          <a:noFill/>
          <a:ln>
            <a:noFill/>
          </a:ln>
        </p:spPr>
      </p:pic>
      <p:sp>
        <p:nvSpPr>
          <p:cNvPr id="107" name="Google Shape;107;p8"/>
          <p:cNvSpPr txBox="1"/>
          <p:nvPr/>
        </p:nvSpPr>
        <p:spPr>
          <a:xfrm>
            <a:off x="1051901" y="2781528"/>
            <a:ext cx="6795451" cy="2800726"/>
          </a:xfrm>
          <a:prstGeom prst="rect">
            <a:avLst/>
          </a:prstGeom>
          <a:noFill/>
          <a:ln>
            <a:noFill/>
          </a:ln>
        </p:spPr>
        <p:txBody>
          <a:bodyPr spcFirstLastPara="1" wrap="square" lIns="91433" tIns="45700" rIns="91433" bIns="45700" anchor="t" anchorCtr="0">
            <a:spAutoFit/>
          </a:bodyPr>
          <a:lstStyle/>
          <a:p>
            <a:r>
              <a:rPr lang="vi" sz="8800" b="1" i="1">
                <a:solidFill>
                  <a:schemeClr val="lt1"/>
                </a:solidFill>
                <a:latin typeface="Montserrat SemiBold"/>
                <a:ea typeface="Montserrat SemiBold"/>
                <a:cs typeface="Montserrat SemiBold"/>
                <a:sym typeface="Montserrat SemiBold"/>
              </a:rPr>
              <a:t>THANK YOU</a:t>
            </a:r>
            <a:endParaRPr sz="8800" b="1" i="1">
              <a:solidFill>
                <a:schemeClr val="lt1"/>
              </a:solidFill>
              <a:latin typeface="Montserrat SemiBold"/>
              <a:ea typeface="Montserrat SemiBold"/>
              <a:cs typeface="Montserrat SemiBold"/>
              <a:sym typeface="Montserrat SemiBold"/>
            </a:endParaRPr>
          </a:p>
        </p:txBody>
      </p:sp>
      <p:sp>
        <p:nvSpPr>
          <p:cNvPr id="108" name="Google Shape;108;p8"/>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vi"/>
              <a:pPr/>
              <a:t>71</a:t>
            </a:fld>
            <a:endParaRPr/>
          </a:p>
        </p:txBody>
      </p:sp>
    </p:spTree>
    <p:extLst>
      <p:ext uri="{BB962C8B-B14F-4D97-AF65-F5344CB8AC3E}">
        <p14:creationId xmlns:p14="http://schemas.microsoft.com/office/powerpoint/2010/main" val="250147210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6-9 MASTER 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2">
      <a:majorFont>
        <a:latin typeface="Calibri"/>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4000" b="1" dirty="0">
            <a:solidFill>
              <a:srgbClr val="D2A43B"/>
            </a:solidFill>
            <a:latin typeface="Montserrat" pitchFamily="2" charset="77"/>
          </a:defRPr>
        </a:defPPr>
      </a:lstStyle>
    </a:txDef>
  </a:objectDefaults>
  <a:extraClrSchemeLst/>
  <a:extLst>
    <a:ext uri="{05A4C25C-085E-4340-85A3-A5531E510DB2}">
      <thm15:themeFamily xmlns:thm15="http://schemas.microsoft.com/office/thememl/2012/main" name="16-9 MASTER TEMPLATE" id="{27E62AC7-19DD-4957-A955-899410374D03}" vid="{6FCB9AC2-3513-4E9D-8834-5C5B1FFFA15A}"/>
    </a:ext>
  </a:ext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4981C"/>
      </a:accent1>
      <a:accent2>
        <a:srgbClr val="212121"/>
      </a:accent2>
      <a:accent3>
        <a:srgbClr val="9CD6DF"/>
      </a:accent3>
      <a:accent4>
        <a:srgbClr val="FFBD0E"/>
      </a:accent4>
      <a:accent5>
        <a:srgbClr val="0097A7"/>
      </a:accent5>
      <a:accent6>
        <a:srgbClr val="DEA610"/>
      </a:accent6>
      <a:hlink>
        <a:srgbClr val="00688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OLD_ID xmlns="e189f61e-1295-4779-a752-040c7fad5177" xsi:nil="true"/>
    <ItemId xmlns="e189f61e-1295-4779-a752-040c7fad5177">0</ItemId>
    <FileName xmlns="e189f61e-1295-4779-a752-040c7fad5177">VNA _ Master template _ 16_9 _ ENG.pptx</FileName>
    <SubLibName xmlns="b6015720-aa74-4be3-ba0d-eab08776cb9b" xsi:nil="true"/>
    <ListName xmlns="e189f61e-1295-4779-a752-040c7fad5177">Com_Notice</ListNam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EF5E1C733973145B1493C5B4700F6CB" ma:contentTypeVersion="5" ma:contentTypeDescription="Create a new document." ma:contentTypeScope="" ma:versionID="312a50383655f8b07477a4ad72a81636">
  <xsd:schema xmlns:xsd="http://www.w3.org/2001/XMLSchema" xmlns:xs="http://www.w3.org/2001/XMLSchema" xmlns:p="http://schemas.microsoft.com/office/2006/metadata/properties" xmlns:ns2="e189f61e-1295-4779-a752-040c7fad5177" xmlns:ns3="b6015720-aa74-4be3-ba0d-eab08776cb9b" targetNamespace="http://schemas.microsoft.com/office/2006/metadata/properties" ma:root="true" ma:fieldsID="5bce5304ba9987326d96874970ac3c5b" ns2:_="" ns3:_="">
    <xsd:import namespace="e189f61e-1295-4779-a752-040c7fad5177"/>
    <xsd:import namespace="b6015720-aa74-4be3-ba0d-eab08776cb9b"/>
    <xsd:element name="properties">
      <xsd:complexType>
        <xsd:sequence>
          <xsd:element name="documentManagement">
            <xsd:complexType>
              <xsd:all>
                <xsd:element ref="ns2:ListName" minOccurs="0"/>
                <xsd:element ref="ns2:ItemId" minOccurs="0"/>
                <xsd:element ref="ns2:FileName" minOccurs="0"/>
                <xsd:element ref="ns2:OLD_ID" minOccurs="0"/>
                <xsd:element ref="ns3:SubLibNa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89f61e-1295-4779-a752-040c7fad5177" elementFormDefault="qualified">
    <xsd:import namespace="http://schemas.microsoft.com/office/2006/documentManagement/types"/>
    <xsd:import namespace="http://schemas.microsoft.com/office/infopath/2007/PartnerControls"/>
    <xsd:element name="ListName" ma:index="8" nillable="true" ma:displayName="ListName" ma:internalName="ListName">
      <xsd:simpleType>
        <xsd:restriction base="dms:Text">
          <xsd:maxLength value="255"/>
        </xsd:restriction>
      </xsd:simpleType>
    </xsd:element>
    <xsd:element name="ItemId" ma:index="9" nillable="true" ma:displayName="ItemId" ma:internalName="ItemId">
      <xsd:simpleType>
        <xsd:restriction base="dms:Text">
          <xsd:maxLength value="255"/>
        </xsd:restriction>
      </xsd:simpleType>
    </xsd:element>
    <xsd:element name="FileName" ma:index="10" nillable="true" ma:displayName="FileName" ma:internalName="FileName">
      <xsd:simpleType>
        <xsd:restriction base="dms:Text">
          <xsd:maxLength value="255"/>
        </xsd:restriction>
      </xsd:simpleType>
    </xsd:element>
    <xsd:element name="OLD_ID" ma:index="11" nillable="true" ma:displayName="OLD_ID" ma:internalName="OLD_ID">
      <xsd:simpleType>
        <xsd:restriction base="dms:Number"/>
      </xsd:simpleType>
    </xsd:element>
  </xsd:schema>
  <xsd:schema xmlns:xsd="http://www.w3.org/2001/XMLSchema" xmlns:xs="http://www.w3.org/2001/XMLSchema" xmlns:dms="http://schemas.microsoft.com/office/2006/documentManagement/types" xmlns:pc="http://schemas.microsoft.com/office/infopath/2007/PartnerControls" targetNamespace="b6015720-aa74-4be3-ba0d-eab08776cb9b" elementFormDefault="qualified">
    <xsd:import namespace="http://schemas.microsoft.com/office/2006/documentManagement/types"/>
    <xsd:import namespace="http://schemas.microsoft.com/office/infopath/2007/PartnerControls"/>
    <xsd:element name="SubLibName" ma:index="12" nillable="true" ma:displayName="SubLibName" ma:internalName="SubLibNam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CE18D4A-261A-4850-B6EF-E8D1177C057C}">
  <ds:schemaRefs>
    <ds:schemaRef ds:uri="http://purl.org/dc/elements/1.1/"/>
    <ds:schemaRef ds:uri="http://schemas.openxmlformats.org/package/2006/metadata/core-properties"/>
    <ds:schemaRef ds:uri="http://purl.org/dc/terms/"/>
    <ds:schemaRef ds:uri="b6015720-aa74-4be3-ba0d-eab08776cb9b"/>
    <ds:schemaRef ds:uri="http://schemas.microsoft.com/office/2006/documentManagement/types"/>
    <ds:schemaRef ds:uri="http://schemas.microsoft.com/office/infopath/2007/PartnerControls"/>
    <ds:schemaRef ds:uri="http://schemas.microsoft.com/office/2006/metadata/properties"/>
    <ds:schemaRef ds:uri="e189f61e-1295-4779-a752-040c7fad5177"/>
    <ds:schemaRef ds:uri="http://www.w3.org/XML/1998/namespace"/>
    <ds:schemaRef ds:uri="http://purl.org/dc/dcmitype/"/>
  </ds:schemaRefs>
</ds:datastoreItem>
</file>

<file path=customXml/itemProps2.xml><?xml version="1.0" encoding="utf-8"?>
<ds:datastoreItem xmlns:ds="http://schemas.openxmlformats.org/officeDocument/2006/customXml" ds:itemID="{EA328AF4-E0C3-4533-80B7-C0A1C2FFEAA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189f61e-1295-4779-a752-040c7fad5177"/>
    <ds:schemaRef ds:uri="b6015720-aa74-4be3-ba0d-eab08776cb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B911D9C-B9DB-42A8-B756-3CC928D5245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72239</TotalTime>
  <Words>11557</Words>
  <Application>Microsoft Office PowerPoint</Application>
  <PresentationFormat>Widescreen</PresentationFormat>
  <Paragraphs>2724</Paragraphs>
  <Slides>72</Slides>
  <Notes>61</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72</vt:i4>
      </vt:variant>
    </vt:vector>
  </HeadingPairs>
  <TitlesOfParts>
    <vt:vector size="84" baseType="lpstr">
      <vt:lpstr>MS PGothic</vt:lpstr>
      <vt:lpstr>Arial</vt:lpstr>
      <vt:lpstr>Arial Narrow</vt:lpstr>
      <vt:lpstr>Calibri</vt:lpstr>
      <vt:lpstr>Cambria</vt:lpstr>
      <vt:lpstr>Montserrat</vt:lpstr>
      <vt:lpstr>Montserrat SemiBold</vt:lpstr>
      <vt:lpstr>Tahoma</vt:lpstr>
      <vt:lpstr>Times New Roman</vt:lpstr>
      <vt:lpstr>Wingdings</vt:lpstr>
      <vt:lpstr>16-9 MASTER TEMPLATE</vt:lpstr>
      <vt:lpstr>Simple Light</vt:lpstr>
      <vt:lpstr>BÁO CÁO KỸ THUẬT (Tuần 02: 06/01/2025 – 12/01/2025)</vt:lpstr>
      <vt:lpstr>Tổng hợp AOG, Delay và GTB/ATB/DIV</vt:lpstr>
      <vt:lpstr>ATB/GTB Comparison</vt:lpstr>
      <vt:lpstr>Các sự kiện ATB/GTB/DIV</vt:lpstr>
      <vt:lpstr>Các sự kiện MOR</vt:lpstr>
      <vt:lpstr>PowerPoint Presentation</vt:lpstr>
      <vt:lpstr>TÌNH TRẠNG KỸ THUẬT ĐỘI BAY – A321</vt:lpstr>
      <vt:lpstr>TÌNH TRẠNG KỸ THUẬT ĐỘI BAY – A321</vt:lpstr>
      <vt:lpstr>TÌNH TRẠNG KỸ THUẬT ĐỘI BAY A320/ A321 </vt:lpstr>
      <vt:lpstr>TÌNH TRẠNG KỸ THUẬT ĐỘI BAY – A350</vt:lpstr>
      <vt:lpstr>TÌNH TRẠNG KỸ THUẬT ĐỘI BAY – A350</vt:lpstr>
      <vt:lpstr>TÌNH TRẠNG KỸ THUẬT ĐỘI BAY – A350</vt:lpstr>
      <vt:lpstr>A893- GTB DUE TO FUEL CTR TK L PMP RUN CONTINOUSLY</vt:lpstr>
      <vt:lpstr>A899- GTB, DM F/CTL STABILIZER E3 ACTUATOR  </vt:lpstr>
      <vt:lpstr>PowerPoint Presentation</vt:lpstr>
      <vt:lpstr>PowerPoint Presentation</vt:lpstr>
      <vt:lpstr>PowerPoint Presentation</vt:lpstr>
      <vt:lpstr>TÌNH TRẠNG KỸ THUẬT ĐỘI BAY – B787</vt:lpstr>
      <vt:lpstr>PowerPoint Presentation</vt:lpstr>
      <vt:lpstr>PowerPoint Presentation</vt:lpstr>
      <vt:lpstr>TÌNH TRẠNG KỸ THUẬT ĐỘI BAY – ATR72</vt:lpstr>
      <vt:lpstr>TÌNH TRẠNG KỸ THUẬT ĐỘI BAY ATR72 </vt:lpstr>
      <vt:lpstr>Dispatch Reliability W02 (06/01/2025-12/01/2025)</vt:lpstr>
      <vt:lpstr>CÁC CÔNG VIỆC TRỌNG ĐIỂM TRONG TUẦN</vt:lpstr>
      <vt:lpstr>KHẢ NĂNG CUNG ỨNG ĐỘNG CƠ/APU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CÁC TÀU BQDB VÀ ĐANG TRONG BẢO DƯỠNG ĐỊNH KỲ (BDĐK)</vt:lpstr>
      <vt:lpstr>CÁC TÀU BQDB VÀ ĐANG TRONG BẢO DƯỠNG ĐỊNH KỲ (BDĐK)</vt:lpstr>
      <vt:lpstr>CÁC TÀU BQDB VÀ ĐANG TRONG BẢO DƯỠNG ĐỊNH KỲ (BDĐK)</vt:lpstr>
      <vt:lpstr>PowerPoint Presentation</vt:lpstr>
      <vt:lpstr>PowerPoint Presentation</vt:lpstr>
      <vt:lpstr>PowerPoint Presentation</vt:lpstr>
      <vt:lpstr>PowerPoint Presentation</vt:lpstr>
      <vt:lpstr>Nhân nhượng trong tuần</vt:lpstr>
      <vt:lpstr>Giờ bay trung bình trong tuần các đội tàu</vt:lpstr>
      <vt:lpstr>Số chuyến bay theo ngày trong tuần các đội tàu</vt:lpstr>
      <vt:lpstr>Số chuyến bay khai thác theo ngày</vt:lpstr>
      <vt:lpstr>A321</vt:lpstr>
      <vt:lpstr>A321</vt:lpstr>
      <vt:lpstr>A321</vt:lpstr>
      <vt:lpstr>A321</vt:lpstr>
      <vt:lpstr>TÌNH TRẠNG APU LRU A321 </vt:lpstr>
      <vt:lpstr>A321 CÁC VẬT TƯ VƯỚNG MẮC KHÁC</vt:lpstr>
      <vt:lpstr>A321 VƯỚNG MẮC VẬT TƯ VAECO</vt:lpstr>
      <vt:lpstr>B787</vt:lpstr>
      <vt:lpstr>B787</vt:lpstr>
      <vt:lpstr>B787</vt:lpstr>
      <vt:lpstr>A350</vt:lpstr>
      <vt:lpstr>A350</vt:lpstr>
      <vt:lpstr>A350</vt:lpstr>
      <vt:lpstr>ATR</vt:lpstr>
      <vt:lpstr>Phanh, bánh lốp cho các đội bay</vt:lpstr>
      <vt:lpstr>Động cơ</vt:lpstr>
      <vt:lpstr>Động cơ</vt:lpstr>
      <vt:lpstr>Động cơ</vt:lpstr>
      <vt:lpstr>PowerPoint Presentation</vt:lpstr>
      <vt:lpstr>PowerPoint Presentation</vt:lpstr>
      <vt:lpstr>Kế hoạch động cơ </vt:lpstr>
      <vt:lpstr>APU</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VNA _ Master template _ 16_9 _ ENG.pptx</dc:title>
  <dc:creator>Vu Chi Thanh-Tech</dc:creator>
  <cp:lastModifiedBy>Microsoft account</cp:lastModifiedBy>
  <cp:revision>11461</cp:revision>
  <cp:lastPrinted>2019-03-27T09:25:07Z</cp:lastPrinted>
  <dcterms:created xsi:type="dcterms:W3CDTF">2018-12-27T04:50:36Z</dcterms:created>
  <dcterms:modified xsi:type="dcterms:W3CDTF">2025-01-12T13:00:02Z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0x0101002EF5E1C733973145B1493C5B4700F6CB</vt:lpwstr>
  </property>
</Properties>
</file>